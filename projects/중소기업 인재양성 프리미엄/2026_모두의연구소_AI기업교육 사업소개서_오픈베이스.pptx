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66" r:id="rId2"/>
  </p:sldMasterIdLst>
  <p:notesMasterIdLst>
    <p:notesMasterId r:id="rId33"/>
  </p:notesMasterIdLst>
  <p:sldIdLst>
    <p:sldId id="295" r:id="rId3"/>
    <p:sldId id="2134805351" r:id="rId4"/>
    <p:sldId id="2134805332" r:id="rId5"/>
    <p:sldId id="259" r:id="rId6"/>
    <p:sldId id="2134805347" r:id="rId7"/>
    <p:sldId id="2134805337" r:id="rId8"/>
    <p:sldId id="263" r:id="rId9"/>
    <p:sldId id="2134805340" r:id="rId10"/>
    <p:sldId id="2134805341" r:id="rId11"/>
    <p:sldId id="2134805357" r:id="rId12"/>
    <p:sldId id="2134805349" r:id="rId13"/>
    <p:sldId id="268" r:id="rId14"/>
    <p:sldId id="299" r:id="rId15"/>
    <p:sldId id="2134805345" r:id="rId16"/>
    <p:sldId id="2134805311" r:id="rId17"/>
    <p:sldId id="2134805299" r:id="rId18"/>
    <p:sldId id="2134805312" r:id="rId19"/>
    <p:sldId id="2134805342" r:id="rId20"/>
    <p:sldId id="2134805310" r:id="rId21"/>
    <p:sldId id="2134805301" r:id="rId22"/>
    <p:sldId id="2134805300" r:id="rId23"/>
    <p:sldId id="2134805354" r:id="rId24"/>
    <p:sldId id="2134805343" r:id="rId25"/>
    <p:sldId id="269" r:id="rId26"/>
    <p:sldId id="2134805318" r:id="rId27"/>
    <p:sldId id="2134805319" r:id="rId28"/>
    <p:sldId id="2134805320" r:id="rId29"/>
    <p:sldId id="2134805326" r:id="rId30"/>
    <p:sldId id="2134805334" r:id="rId31"/>
    <p:sldId id="297" r:id="rId3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F7575C"/>
    <a:srgbClr val="110044"/>
    <a:srgbClr val="88C1FF"/>
    <a:srgbClr val="FFFFFF"/>
    <a:srgbClr val="9B99FF"/>
    <a:srgbClr val="FCCCCF"/>
    <a:srgbClr val="F8515D"/>
    <a:srgbClr val="006FC0"/>
    <a:srgbClr val="0044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61" autoAdjust="0"/>
    <p:restoredTop sz="94660"/>
  </p:normalViewPr>
  <p:slideViewPr>
    <p:cSldViewPr>
      <p:cViewPr varScale="1">
        <p:scale>
          <a:sx n="138" d="100"/>
          <a:sy n="138" d="100"/>
        </p:scale>
        <p:origin x="648" y="114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8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528E5-5605-478C-9E24-EB537E2E0529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01BBF0-1842-4214-BBC7-B1B8BB1916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19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1BBF0-1842-4214-BBC7-B1B8BB19165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016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1475" y="841375"/>
            <a:ext cx="4043363" cy="2274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8:notes"/>
          <p:cNvSpPr txBox="1">
            <a:spLocks noGrp="1"/>
          </p:cNvSpPr>
          <p:nvPr>
            <p:ph type="body" idx="1"/>
          </p:nvPr>
        </p:nvSpPr>
        <p:spPr>
          <a:xfrm>
            <a:off x="986632" y="3241067"/>
            <a:ext cx="7893050" cy="2652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236" tIns="53103" rIns="106236" bIns="53103" anchor="t" anchorCtr="0">
            <a:noAutofit/>
          </a:bodyPr>
          <a:lstStyle/>
          <a:p>
            <a:pPr marL="0" indent="0"/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3" name="Google Shape;313;p8:notes"/>
          <p:cNvSpPr txBox="1">
            <a:spLocks noGrp="1"/>
          </p:cNvSpPr>
          <p:nvPr>
            <p:ph type="sldNum" idx="12"/>
          </p:nvPr>
        </p:nvSpPr>
        <p:spPr>
          <a:xfrm>
            <a:off x="5589198" y="6398976"/>
            <a:ext cx="4275402" cy="336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236" tIns="53103" rIns="106236" bIns="53103" anchor="b" anchorCtr="0">
            <a:noAutofit/>
          </a:bodyPr>
          <a:lstStyle/>
          <a:p>
            <a:pPr algn="r"/>
            <a:fld id="{00000000-1234-1234-1234-123412341234}" type="slidenum">
              <a:rPr lang="en-US" altLang="ko-KR"/>
              <a:pPr algn="r"/>
              <a:t>6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9831C-0FBE-97BF-1FDF-F6F821C37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81E0E6-28ED-4D10-9020-BCF518B8E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D1871D-E446-0451-2A8E-FDCD9904D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B412C2-F894-82F4-1AA6-A93EAE543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01BBF0-1842-4214-BBC7-B1B8BB19165C}" type="slidenum">
              <a: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698746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1BBF0-1842-4214-BBC7-B1B8BB19165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32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>
          <a:extLst>
            <a:ext uri="{FF2B5EF4-FFF2-40B4-BE49-F238E27FC236}">
              <a16:creationId xmlns:a16="http://schemas.microsoft.com/office/drawing/2014/main" id="{7132439A-F436-C8D0-F8A4-E44BFD6FE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>
            <a:extLst>
              <a:ext uri="{FF2B5EF4-FFF2-40B4-BE49-F238E27FC236}">
                <a16:creationId xmlns:a16="http://schemas.microsoft.com/office/drawing/2014/main" id="{B3AEA367-FA36-A000-49A2-DFE0448E71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911475" y="841375"/>
            <a:ext cx="4043363" cy="2274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5" name="Google Shape;365;p13:notes">
            <a:extLst>
              <a:ext uri="{FF2B5EF4-FFF2-40B4-BE49-F238E27FC236}">
                <a16:creationId xmlns:a16="http://schemas.microsoft.com/office/drawing/2014/main" id="{D589847E-7EB7-6F33-269B-EC1A7A9642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6632" y="3241067"/>
            <a:ext cx="7893050" cy="2652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236" tIns="53103" rIns="106236" bIns="53103" anchor="t" anchorCtr="0">
            <a:noAutofit/>
          </a:bodyPr>
          <a:lstStyle/>
          <a:p>
            <a:pPr marL="0" indent="0"/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6" name="Google Shape;366;p13:notes">
            <a:extLst>
              <a:ext uri="{FF2B5EF4-FFF2-40B4-BE49-F238E27FC236}">
                <a16:creationId xmlns:a16="http://schemas.microsoft.com/office/drawing/2014/main" id="{F80DAAF0-1E15-690D-C6F2-9121EC71E1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589198" y="6398976"/>
            <a:ext cx="4275402" cy="336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236" tIns="53103" rIns="106236" bIns="53103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altLang="ko-KR"/>
              <a:pPr algn="r">
                <a:buSzPts val="1200"/>
              </a:pPr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0887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1475" y="841375"/>
            <a:ext cx="4043363" cy="2274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5" name="Google Shape;365;p13:notes"/>
          <p:cNvSpPr txBox="1">
            <a:spLocks noGrp="1"/>
          </p:cNvSpPr>
          <p:nvPr>
            <p:ph type="body" idx="1"/>
          </p:nvPr>
        </p:nvSpPr>
        <p:spPr>
          <a:xfrm>
            <a:off x="986632" y="3241067"/>
            <a:ext cx="7893050" cy="2652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236" tIns="53103" rIns="106236" bIns="53103" anchor="t" anchorCtr="0">
            <a:noAutofit/>
          </a:bodyPr>
          <a:lstStyle/>
          <a:p>
            <a:pPr marL="0" indent="0"/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6" name="Google Shape;366;p13:notes"/>
          <p:cNvSpPr txBox="1">
            <a:spLocks noGrp="1"/>
          </p:cNvSpPr>
          <p:nvPr>
            <p:ph type="sldNum" idx="12"/>
          </p:nvPr>
        </p:nvSpPr>
        <p:spPr>
          <a:xfrm>
            <a:off x="5589198" y="6398976"/>
            <a:ext cx="4275402" cy="336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236" tIns="53103" rIns="106236" bIns="53103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altLang="ko-KR"/>
              <a:pPr algn="r">
                <a:buSzPts val="1200"/>
              </a:pPr>
              <a:t>11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01BBF0-1842-4214-BBC7-B1B8BB19165C}" type="slidenum">
              <a: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70780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01BBF0-1842-4214-BBC7-B1B8BB19165C}" type="slidenum">
              <a: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332831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01BBF0-1842-4214-BBC7-B1B8BB19165C}" type="slidenum">
              <a: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199371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4:notes"/>
          <p:cNvSpPr txBox="1">
            <a:spLocks noGrp="1"/>
          </p:cNvSpPr>
          <p:nvPr>
            <p:ph type="body" idx="1"/>
          </p:nvPr>
        </p:nvSpPr>
        <p:spPr>
          <a:xfrm>
            <a:off x="986632" y="3241067"/>
            <a:ext cx="7893050" cy="2652726"/>
          </a:xfrm>
          <a:prstGeom prst="rect">
            <a:avLst/>
          </a:prstGeom>
        </p:spPr>
        <p:txBody>
          <a:bodyPr spcFirstLastPara="1" wrap="square" lIns="106236" tIns="53103" rIns="106236" bIns="53103" anchor="t" anchorCtr="0">
            <a:noAutofit/>
          </a:bodyPr>
          <a:lstStyle/>
          <a:p>
            <a:pPr marL="0" indent="0"/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1" name="Google Shape;53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1475" y="841375"/>
            <a:ext cx="4043363" cy="2274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322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505BF-A500-CC15-F736-EF4ABC405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CF6FBF-2254-25A8-A711-D442E411E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06E855-0B46-2C9E-4807-67720175E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 라인업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655371-D961-FD0A-2065-484CCAD1B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1BBF0-1842-4214-BBC7-B1B8BB19165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7376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6C529-D9B2-0911-C778-0803AA053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272A1A-03C6-56D2-719E-0FF42FCEF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F2D4F9-B36A-4DB2-F21E-E96CDD0EC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 라인업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350310-E3AC-84D0-F4B8-B9E6E63DA5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1BBF0-1842-4214-BBC7-B1B8BB19165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2604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C5C6D-CE7B-3E01-C518-38C956D7C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D46CE1-D1DD-73CF-D008-8E9084D74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D341E7-C36A-E15A-2B55-1E1443FA9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 라인업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5A7EE4-BE50-5B7D-591B-210A773DB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1BBF0-1842-4214-BBC7-B1B8BB19165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973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5E4A6-A619-46B2-B2BF-C4BD49496445}" type="datetime1">
              <a:rPr lang="en-US" altLang="ko-KR" smtClean="0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448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2685" y="4751387"/>
            <a:ext cx="587832" cy="2286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49452" y="3061461"/>
            <a:ext cx="714375" cy="191135"/>
          </a:xfrm>
          <a:custGeom>
            <a:avLst/>
            <a:gdLst/>
            <a:ahLst/>
            <a:cxnLst/>
            <a:rect l="l" t="t" r="r" b="b"/>
            <a:pathLst>
              <a:path w="714375" h="191135">
                <a:moveTo>
                  <a:pt x="685736" y="140207"/>
                </a:moveTo>
                <a:lnTo>
                  <a:pt x="676292" y="140850"/>
                </a:lnTo>
                <a:lnTo>
                  <a:pt x="663008" y="141446"/>
                </a:lnTo>
                <a:lnTo>
                  <a:pt x="603292" y="142974"/>
                </a:lnTo>
                <a:lnTo>
                  <a:pt x="553605" y="143510"/>
                </a:lnTo>
                <a:lnTo>
                  <a:pt x="554990" y="156337"/>
                </a:lnTo>
                <a:lnTo>
                  <a:pt x="646307" y="154820"/>
                </a:lnTo>
                <a:lnTo>
                  <a:pt x="663525" y="154273"/>
                </a:lnTo>
                <a:lnTo>
                  <a:pt x="676964" y="153677"/>
                </a:lnTo>
                <a:lnTo>
                  <a:pt x="686625" y="153035"/>
                </a:lnTo>
                <a:lnTo>
                  <a:pt x="685736" y="140207"/>
                </a:lnTo>
                <a:close/>
              </a:path>
              <a:path w="714375" h="191135">
                <a:moveTo>
                  <a:pt x="411556" y="127635"/>
                </a:moveTo>
                <a:lnTo>
                  <a:pt x="396811" y="127635"/>
                </a:lnTo>
                <a:lnTo>
                  <a:pt x="396811" y="184912"/>
                </a:lnTo>
                <a:lnTo>
                  <a:pt x="520827" y="184912"/>
                </a:lnTo>
                <a:lnTo>
                  <a:pt x="520827" y="171704"/>
                </a:lnTo>
                <a:lnTo>
                  <a:pt x="411556" y="171704"/>
                </a:lnTo>
                <a:lnTo>
                  <a:pt x="411556" y="127635"/>
                </a:lnTo>
                <a:close/>
              </a:path>
              <a:path w="714375" h="191135">
                <a:moveTo>
                  <a:pt x="465899" y="110236"/>
                </a:moveTo>
                <a:lnTo>
                  <a:pt x="451345" y="110236"/>
                </a:lnTo>
                <a:lnTo>
                  <a:pt x="451345" y="149606"/>
                </a:lnTo>
                <a:lnTo>
                  <a:pt x="465899" y="149606"/>
                </a:lnTo>
                <a:lnTo>
                  <a:pt x="465899" y="110236"/>
                </a:lnTo>
                <a:close/>
              </a:path>
              <a:path w="714375" h="191135">
                <a:moveTo>
                  <a:pt x="545960" y="97155"/>
                </a:moveTo>
                <a:lnTo>
                  <a:pt x="368808" y="97155"/>
                </a:lnTo>
                <a:lnTo>
                  <a:pt x="368808" y="110236"/>
                </a:lnTo>
                <a:lnTo>
                  <a:pt x="545960" y="110236"/>
                </a:lnTo>
                <a:lnTo>
                  <a:pt x="545960" y="97155"/>
                </a:lnTo>
                <a:close/>
              </a:path>
              <a:path w="714375" h="191135">
                <a:moveTo>
                  <a:pt x="332359" y="128269"/>
                </a:moveTo>
                <a:lnTo>
                  <a:pt x="209537" y="128269"/>
                </a:lnTo>
                <a:lnTo>
                  <a:pt x="209537" y="141477"/>
                </a:lnTo>
                <a:lnTo>
                  <a:pt x="317614" y="141477"/>
                </a:lnTo>
                <a:lnTo>
                  <a:pt x="317614" y="190881"/>
                </a:lnTo>
                <a:lnTo>
                  <a:pt x="332359" y="190881"/>
                </a:lnTo>
                <a:lnTo>
                  <a:pt x="332359" y="128269"/>
                </a:lnTo>
                <a:close/>
              </a:path>
              <a:path w="714375" h="191135">
                <a:moveTo>
                  <a:pt x="249923" y="102996"/>
                </a:moveTo>
                <a:lnTo>
                  <a:pt x="235076" y="102996"/>
                </a:lnTo>
                <a:lnTo>
                  <a:pt x="235076" y="128269"/>
                </a:lnTo>
                <a:lnTo>
                  <a:pt x="249923" y="128269"/>
                </a:lnTo>
                <a:lnTo>
                  <a:pt x="249923" y="102996"/>
                </a:lnTo>
                <a:close/>
              </a:path>
              <a:path w="714375" h="191135">
                <a:moveTo>
                  <a:pt x="310883" y="102996"/>
                </a:moveTo>
                <a:lnTo>
                  <a:pt x="296037" y="102996"/>
                </a:lnTo>
                <a:lnTo>
                  <a:pt x="296037" y="128269"/>
                </a:lnTo>
                <a:lnTo>
                  <a:pt x="310883" y="128269"/>
                </a:lnTo>
                <a:lnTo>
                  <a:pt x="310883" y="102996"/>
                </a:lnTo>
                <a:close/>
              </a:path>
              <a:path w="714375" h="191135">
                <a:moveTo>
                  <a:pt x="361556" y="89535"/>
                </a:moveTo>
                <a:lnTo>
                  <a:pt x="184403" y="89535"/>
                </a:lnTo>
                <a:lnTo>
                  <a:pt x="184403" y="102996"/>
                </a:lnTo>
                <a:lnTo>
                  <a:pt x="361556" y="102996"/>
                </a:lnTo>
                <a:lnTo>
                  <a:pt x="361556" y="89535"/>
                </a:lnTo>
                <a:close/>
              </a:path>
              <a:path w="714375" h="191135">
                <a:moveTo>
                  <a:pt x="177152" y="145161"/>
                </a:moveTo>
                <a:lnTo>
                  <a:pt x="0" y="145161"/>
                </a:lnTo>
                <a:lnTo>
                  <a:pt x="0" y="158623"/>
                </a:lnTo>
                <a:lnTo>
                  <a:pt x="177152" y="158623"/>
                </a:lnTo>
                <a:lnTo>
                  <a:pt x="177152" y="145161"/>
                </a:lnTo>
                <a:close/>
              </a:path>
              <a:path w="714375" h="191135">
                <a:moveTo>
                  <a:pt x="60375" y="80263"/>
                </a:moveTo>
                <a:lnTo>
                  <a:pt x="45821" y="80263"/>
                </a:lnTo>
                <a:lnTo>
                  <a:pt x="45821" y="145161"/>
                </a:lnTo>
                <a:lnTo>
                  <a:pt x="60375" y="145161"/>
                </a:lnTo>
                <a:lnTo>
                  <a:pt x="60375" y="80263"/>
                </a:lnTo>
                <a:close/>
              </a:path>
              <a:path w="714375" h="191135">
                <a:moveTo>
                  <a:pt x="108864" y="80263"/>
                </a:moveTo>
                <a:lnTo>
                  <a:pt x="94221" y="80263"/>
                </a:lnTo>
                <a:lnTo>
                  <a:pt x="94221" y="145161"/>
                </a:lnTo>
                <a:lnTo>
                  <a:pt x="108864" y="145161"/>
                </a:lnTo>
                <a:lnTo>
                  <a:pt x="108864" y="80263"/>
                </a:lnTo>
                <a:close/>
              </a:path>
              <a:path w="714375" h="191135">
                <a:moveTo>
                  <a:pt x="151815" y="18033"/>
                </a:moveTo>
                <a:lnTo>
                  <a:pt x="23063" y="18033"/>
                </a:lnTo>
                <a:lnTo>
                  <a:pt x="23063" y="31368"/>
                </a:lnTo>
                <a:lnTo>
                  <a:pt x="136575" y="31368"/>
                </a:lnTo>
                <a:lnTo>
                  <a:pt x="136575" y="59181"/>
                </a:lnTo>
                <a:lnTo>
                  <a:pt x="136402" y="75041"/>
                </a:lnTo>
                <a:lnTo>
                  <a:pt x="135882" y="90423"/>
                </a:lnTo>
                <a:lnTo>
                  <a:pt x="135016" y="105330"/>
                </a:lnTo>
                <a:lnTo>
                  <a:pt x="133807" y="119761"/>
                </a:lnTo>
                <a:lnTo>
                  <a:pt x="148361" y="121412"/>
                </a:lnTo>
                <a:lnTo>
                  <a:pt x="149870" y="104723"/>
                </a:lnTo>
                <a:lnTo>
                  <a:pt x="150950" y="88773"/>
                </a:lnTo>
                <a:lnTo>
                  <a:pt x="151599" y="73584"/>
                </a:lnTo>
                <a:lnTo>
                  <a:pt x="151815" y="59181"/>
                </a:lnTo>
                <a:lnTo>
                  <a:pt x="151815" y="18033"/>
                </a:lnTo>
                <a:close/>
              </a:path>
              <a:path w="714375" h="191135">
                <a:moveTo>
                  <a:pt x="618032" y="14605"/>
                </a:moveTo>
                <a:lnTo>
                  <a:pt x="582015" y="27686"/>
                </a:lnTo>
                <a:lnTo>
                  <a:pt x="567563" y="59943"/>
                </a:lnTo>
                <a:lnTo>
                  <a:pt x="568472" y="69421"/>
                </a:lnTo>
                <a:lnTo>
                  <a:pt x="598363" y="102425"/>
                </a:lnTo>
                <a:lnTo>
                  <a:pt x="618032" y="105663"/>
                </a:lnTo>
                <a:lnTo>
                  <a:pt x="628377" y="104854"/>
                </a:lnTo>
                <a:lnTo>
                  <a:pt x="637828" y="102425"/>
                </a:lnTo>
                <a:lnTo>
                  <a:pt x="646389" y="98377"/>
                </a:lnTo>
                <a:lnTo>
                  <a:pt x="654062" y="92710"/>
                </a:lnTo>
                <a:lnTo>
                  <a:pt x="654295" y="92456"/>
                </a:lnTo>
                <a:lnTo>
                  <a:pt x="618032" y="92456"/>
                </a:lnTo>
                <a:lnTo>
                  <a:pt x="611025" y="91886"/>
                </a:lnTo>
                <a:lnTo>
                  <a:pt x="582803" y="59943"/>
                </a:lnTo>
                <a:lnTo>
                  <a:pt x="582858" y="50418"/>
                </a:lnTo>
                <a:lnTo>
                  <a:pt x="618032" y="27686"/>
                </a:lnTo>
                <a:lnTo>
                  <a:pt x="654011" y="27686"/>
                </a:lnTo>
                <a:lnTo>
                  <a:pt x="646327" y="21945"/>
                </a:lnTo>
                <a:lnTo>
                  <a:pt x="637770" y="17859"/>
                </a:lnTo>
                <a:lnTo>
                  <a:pt x="628339" y="15416"/>
                </a:lnTo>
                <a:lnTo>
                  <a:pt x="618032" y="14605"/>
                </a:lnTo>
                <a:close/>
              </a:path>
              <a:path w="714375" h="191135">
                <a:moveTo>
                  <a:pt x="654011" y="27686"/>
                </a:moveTo>
                <a:lnTo>
                  <a:pt x="618032" y="27686"/>
                </a:lnTo>
                <a:lnTo>
                  <a:pt x="625361" y="28255"/>
                </a:lnTo>
                <a:lnTo>
                  <a:pt x="631917" y="29908"/>
                </a:lnTo>
                <a:lnTo>
                  <a:pt x="637910" y="32722"/>
                </a:lnTo>
                <a:lnTo>
                  <a:pt x="643267" y="36702"/>
                </a:lnTo>
                <a:lnTo>
                  <a:pt x="649998" y="42671"/>
                </a:lnTo>
                <a:lnTo>
                  <a:pt x="653364" y="50418"/>
                </a:lnTo>
                <a:lnTo>
                  <a:pt x="653364" y="59943"/>
                </a:lnTo>
                <a:lnTo>
                  <a:pt x="625212" y="91886"/>
                </a:lnTo>
                <a:lnTo>
                  <a:pt x="618032" y="92456"/>
                </a:lnTo>
                <a:lnTo>
                  <a:pt x="654295" y="92456"/>
                </a:lnTo>
                <a:lnTo>
                  <a:pt x="660382" y="85804"/>
                </a:lnTo>
                <a:lnTo>
                  <a:pt x="664898" y="78041"/>
                </a:lnTo>
                <a:lnTo>
                  <a:pt x="667610" y="69421"/>
                </a:lnTo>
                <a:lnTo>
                  <a:pt x="668515" y="59943"/>
                </a:lnTo>
                <a:lnTo>
                  <a:pt x="667608" y="50796"/>
                </a:lnTo>
                <a:lnTo>
                  <a:pt x="664887" y="42386"/>
                </a:lnTo>
                <a:lnTo>
                  <a:pt x="660355" y="34690"/>
                </a:lnTo>
                <a:lnTo>
                  <a:pt x="654011" y="27686"/>
                </a:lnTo>
                <a:close/>
              </a:path>
              <a:path w="714375" h="191135">
                <a:moveTo>
                  <a:pt x="516178" y="6985"/>
                </a:moveTo>
                <a:lnTo>
                  <a:pt x="398602" y="6985"/>
                </a:lnTo>
                <a:lnTo>
                  <a:pt x="398602" y="75056"/>
                </a:lnTo>
                <a:lnTo>
                  <a:pt x="516178" y="75056"/>
                </a:lnTo>
                <a:lnTo>
                  <a:pt x="516178" y="62102"/>
                </a:lnTo>
                <a:lnTo>
                  <a:pt x="413245" y="62102"/>
                </a:lnTo>
                <a:lnTo>
                  <a:pt x="413245" y="20065"/>
                </a:lnTo>
                <a:lnTo>
                  <a:pt x="516178" y="20065"/>
                </a:lnTo>
                <a:lnTo>
                  <a:pt x="516178" y="6985"/>
                </a:lnTo>
                <a:close/>
              </a:path>
              <a:path w="714375" h="191135">
                <a:moveTo>
                  <a:pt x="516178" y="20065"/>
                </a:moveTo>
                <a:lnTo>
                  <a:pt x="501522" y="20065"/>
                </a:lnTo>
                <a:lnTo>
                  <a:pt x="501522" y="62102"/>
                </a:lnTo>
                <a:lnTo>
                  <a:pt x="516178" y="62102"/>
                </a:lnTo>
                <a:lnTo>
                  <a:pt x="516178" y="20065"/>
                </a:lnTo>
                <a:close/>
              </a:path>
              <a:path w="714375" h="191135">
                <a:moveTo>
                  <a:pt x="272986" y="1777"/>
                </a:moveTo>
                <a:lnTo>
                  <a:pt x="227901" y="11302"/>
                </a:lnTo>
                <a:lnTo>
                  <a:pt x="212013" y="37592"/>
                </a:lnTo>
                <a:lnTo>
                  <a:pt x="212994" y="45354"/>
                </a:lnTo>
                <a:lnTo>
                  <a:pt x="246865" y="70643"/>
                </a:lnTo>
                <a:lnTo>
                  <a:pt x="272986" y="73025"/>
                </a:lnTo>
                <a:lnTo>
                  <a:pt x="286909" y="72429"/>
                </a:lnTo>
                <a:lnTo>
                  <a:pt x="299096" y="70643"/>
                </a:lnTo>
                <a:lnTo>
                  <a:pt x="309546" y="67667"/>
                </a:lnTo>
                <a:lnTo>
                  <a:pt x="318262" y="63500"/>
                </a:lnTo>
                <a:lnTo>
                  <a:pt x="322289" y="60451"/>
                </a:lnTo>
                <a:lnTo>
                  <a:pt x="272986" y="60451"/>
                </a:lnTo>
                <a:lnTo>
                  <a:pt x="262318" y="60071"/>
                </a:lnTo>
                <a:lnTo>
                  <a:pt x="227558" y="44704"/>
                </a:lnTo>
                <a:lnTo>
                  <a:pt x="227558" y="37592"/>
                </a:lnTo>
                <a:lnTo>
                  <a:pt x="230397" y="27424"/>
                </a:lnTo>
                <a:lnTo>
                  <a:pt x="238913" y="20161"/>
                </a:lnTo>
                <a:lnTo>
                  <a:pt x="253110" y="15803"/>
                </a:lnTo>
                <a:lnTo>
                  <a:pt x="272986" y="14350"/>
                </a:lnTo>
                <a:lnTo>
                  <a:pt x="322121" y="14350"/>
                </a:lnTo>
                <a:lnTo>
                  <a:pt x="318058" y="11302"/>
                </a:lnTo>
                <a:lnTo>
                  <a:pt x="309283" y="7135"/>
                </a:lnTo>
                <a:lnTo>
                  <a:pt x="298846" y="4159"/>
                </a:lnTo>
                <a:lnTo>
                  <a:pt x="286747" y="2373"/>
                </a:lnTo>
                <a:lnTo>
                  <a:pt x="272986" y="1777"/>
                </a:lnTo>
                <a:close/>
              </a:path>
              <a:path w="714375" h="191135">
                <a:moveTo>
                  <a:pt x="322121" y="14350"/>
                </a:moveTo>
                <a:lnTo>
                  <a:pt x="272986" y="14350"/>
                </a:lnTo>
                <a:lnTo>
                  <a:pt x="292857" y="15803"/>
                </a:lnTo>
                <a:lnTo>
                  <a:pt x="307054" y="20161"/>
                </a:lnTo>
                <a:lnTo>
                  <a:pt x="315573" y="27424"/>
                </a:lnTo>
                <a:lnTo>
                  <a:pt x="318414" y="37592"/>
                </a:lnTo>
                <a:lnTo>
                  <a:pt x="318414" y="44704"/>
                </a:lnTo>
                <a:lnTo>
                  <a:pt x="272986" y="60451"/>
                </a:lnTo>
                <a:lnTo>
                  <a:pt x="322289" y="60451"/>
                </a:lnTo>
                <a:lnTo>
                  <a:pt x="325122" y="58308"/>
                </a:lnTo>
                <a:lnTo>
                  <a:pt x="330023" y="52260"/>
                </a:lnTo>
                <a:lnTo>
                  <a:pt x="332965" y="45354"/>
                </a:lnTo>
                <a:lnTo>
                  <a:pt x="333946" y="37592"/>
                </a:lnTo>
                <a:lnTo>
                  <a:pt x="332953" y="29662"/>
                </a:lnTo>
                <a:lnTo>
                  <a:pt x="329974" y="22637"/>
                </a:lnTo>
                <a:lnTo>
                  <a:pt x="325009" y="16517"/>
                </a:lnTo>
                <a:lnTo>
                  <a:pt x="322121" y="14350"/>
                </a:lnTo>
                <a:close/>
              </a:path>
              <a:path w="714375" h="191135">
                <a:moveTo>
                  <a:pt x="713943" y="0"/>
                </a:moveTo>
                <a:lnTo>
                  <a:pt x="699185" y="0"/>
                </a:lnTo>
                <a:lnTo>
                  <a:pt x="699185" y="190881"/>
                </a:lnTo>
                <a:lnTo>
                  <a:pt x="713943" y="190881"/>
                </a:lnTo>
                <a:lnTo>
                  <a:pt x="7139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9452" y="3425697"/>
            <a:ext cx="1100455" cy="192405"/>
          </a:xfrm>
          <a:custGeom>
            <a:avLst/>
            <a:gdLst/>
            <a:ahLst/>
            <a:cxnLst/>
            <a:rect l="l" t="t" r="r" b="b"/>
            <a:pathLst>
              <a:path w="1100455" h="192404">
                <a:moveTo>
                  <a:pt x="896619" y="120903"/>
                </a:moveTo>
                <a:lnTo>
                  <a:pt x="779183" y="120903"/>
                </a:lnTo>
                <a:lnTo>
                  <a:pt x="779183" y="187197"/>
                </a:lnTo>
                <a:lnTo>
                  <a:pt x="896619" y="187197"/>
                </a:lnTo>
                <a:lnTo>
                  <a:pt x="896619" y="174116"/>
                </a:lnTo>
                <a:lnTo>
                  <a:pt x="793724" y="174116"/>
                </a:lnTo>
                <a:lnTo>
                  <a:pt x="793724" y="133857"/>
                </a:lnTo>
                <a:lnTo>
                  <a:pt x="896619" y="133857"/>
                </a:lnTo>
                <a:lnTo>
                  <a:pt x="896619" y="120903"/>
                </a:lnTo>
                <a:close/>
              </a:path>
              <a:path w="1100455" h="192404">
                <a:moveTo>
                  <a:pt x="896619" y="133857"/>
                </a:moveTo>
                <a:lnTo>
                  <a:pt x="881760" y="133857"/>
                </a:lnTo>
                <a:lnTo>
                  <a:pt x="881760" y="174116"/>
                </a:lnTo>
                <a:lnTo>
                  <a:pt x="896619" y="174116"/>
                </a:lnTo>
                <a:lnTo>
                  <a:pt x="896619" y="133857"/>
                </a:lnTo>
                <a:close/>
              </a:path>
              <a:path w="1100455" h="192404">
                <a:moveTo>
                  <a:pt x="88582" y="119506"/>
                </a:moveTo>
                <a:lnTo>
                  <a:pt x="43192" y="129031"/>
                </a:lnTo>
                <a:lnTo>
                  <a:pt x="27419" y="154812"/>
                </a:lnTo>
                <a:lnTo>
                  <a:pt x="28402" y="162669"/>
                </a:lnTo>
                <a:lnTo>
                  <a:pt x="62377" y="188118"/>
                </a:lnTo>
                <a:lnTo>
                  <a:pt x="88582" y="190499"/>
                </a:lnTo>
                <a:lnTo>
                  <a:pt x="102551" y="189904"/>
                </a:lnTo>
                <a:lnTo>
                  <a:pt x="114777" y="188118"/>
                </a:lnTo>
                <a:lnTo>
                  <a:pt x="125263" y="185142"/>
                </a:lnTo>
                <a:lnTo>
                  <a:pt x="134010" y="180974"/>
                </a:lnTo>
                <a:lnTo>
                  <a:pt x="138035" y="177926"/>
                </a:lnTo>
                <a:lnTo>
                  <a:pt x="88582" y="177926"/>
                </a:lnTo>
                <a:lnTo>
                  <a:pt x="78059" y="177546"/>
                </a:lnTo>
                <a:lnTo>
                  <a:pt x="42748" y="162051"/>
                </a:lnTo>
                <a:lnTo>
                  <a:pt x="42748" y="147573"/>
                </a:lnTo>
                <a:lnTo>
                  <a:pt x="77902" y="132459"/>
                </a:lnTo>
                <a:lnTo>
                  <a:pt x="88582" y="132079"/>
                </a:lnTo>
                <a:lnTo>
                  <a:pt x="138070" y="132079"/>
                </a:lnTo>
                <a:lnTo>
                  <a:pt x="133959" y="129031"/>
                </a:lnTo>
                <a:lnTo>
                  <a:pt x="125201" y="124864"/>
                </a:lnTo>
                <a:lnTo>
                  <a:pt x="114719" y="121888"/>
                </a:lnTo>
                <a:lnTo>
                  <a:pt x="102512" y="120102"/>
                </a:lnTo>
                <a:lnTo>
                  <a:pt x="88582" y="119506"/>
                </a:lnTo>
                <a:close/>
              </a:path>
              <a:path w="1100455" h="192404">
                <a:moveTo>
                  <a:pt x="138070" y="132079"/>
                </a:moveTo>
                <a:lnTo>
                  <a:pt x="88582" y="132079"/>
                </a:lnTo>
                <a:lnTo>
                  <a:pt x="99216" y="132459"/>
                </a:lnTo>
                <a:lnTo>
                  <a:pt x="108469" y="133588"/>
                </a:lnTo>
                <a:lnTo>
                  <a:pt x="116337" y="135455"/>
                </a:lnTo>
                <a:lnTo>
                  <a:pt x="122821" y="138048"/>
                </a:lnTo>
                <a:lnTo>
                  <a:pt x="130543" y="142112"/>
                </a:lnTo>
                <a:lnTo>
                  <a:pt x="134404" y="147573"/>
                </a:lnTo>
                <a:lnTo>
                  <a:pt x="134404" y="162051"/>
                </a:lnTo>
                <a:lnTo>
                  <a:pt x="99060" y="177546"/>
                </a:lnTo>
                <a:lnTo>
                  <a:pt x="88582" y="177926"/>
                </a:lnTo>
                <a:lnTo>
                  <a:pt x="138035" y="177926"/>
                </a:lnTo>
                <a:lnTo>
                  <a:pt x="140894" y="175762"/>
                </a:lnTo>
                <a:lnTo>
                  <a:pt x="145811" y="169656"/>
                </a:lnTo>
                <a:lnTo>
                  <a:pt x="148762" y="162669"/>
                </a:lnTo>
                <a:lnTo>
                  <a:pt x="149745" y="154812"/>
                </a:lnTo>
                <a:lnTo>
                  <a:pt x="148757" y="147052"/>
                </a:lnTo>
                <a:lnTo>
                  <a:pt x="145796" y="140160"/>
                </a:lnTo>
                <a:lnTo>
                  <a:pt x="140862" y="134149"/>
                </a:lnTo>
                <a:lnTo>
                  <a:pt x="138070" y="132079"/>
                </a:lnTo>
                <a:close/>
              </a:path>
              <a:path w="1100455" h="192404">
                <a:moveTo>
                  <a:pt x="1012571" y="116839"/>
                </a:moveTo>
                <a:lnTo>
                  <a:pt x="966597" y="127126"/>
                </a:lnTo>
                <a:lnTo>
                  <a:pt x="950468" y="153796"/>
                </a:lnTo>
                <a:lnTo>
                  <a:pt x="951396" y="161035"/>
                </a:lnTo>
                <a:lnTo>
                  <a:pt x="986202" y="188309"/>
                </a:lnTo>
                <a:lnTo>
                  <a:pt x="1012571" y="190880"/>
                </a:lnTo>
                <a:lnTo>
                  <a:pt x="1026668" y="190238"/>
                </a:lnTo>
                <a:lnTo>
                  <a:pt x="1039050" y="188309"/>
                </a:lnTo>
                <a:lnTo>
                  <a:pt x="1049718" y="185094"/>
                </a:lnTo>
                <a:lnTo>
                  <a:pt x="1058672" y="180593"/>
                </a:lnTo>
                <a:lnTo>
                  <a:pt x="1061598" y="178307"/>
                </a:lnTo>
                <a:lnTo>
                  <a:pt x="1012571" y="178307"/>
                </a:lnTo>
                <a:lnTo>
                  <a:pt x="1002141" y="177881"/>
                </a:lnTo>
                <a:lnTo>
                  <a:pt x="966216" y="161162"/>
                </a:lnTo>
                <a:lnTo>
                  <a:pt x="966216" y="146557"/>
                </a:lnTo>
                <a:lnTo>
                  <a:pt x="1002141" y="129839"/>
                </a:lnTo>
                <a:lnTo>
                  <a:pt x="1012571" y="129412"/>
                </a:lnTo>
                <a:lnTo>
                  <a:pt x="1061502" y="129412"/>
                </a:lnTo>
                <a:lnTo>
                  <a:pt x="1058545" y="127126"/>
                </a:lnTo>
                <a:lnTo>
                  <a:pt x="1049593" y="122626"/>
                </a:lnTo>
                <a:lnTo>
                  <a:pt x="1038939" y="119411"/>
                </a:lnTo>
                <a:lnTo>
                  <a:pt x="1026594" y="117482"/>
                </a:lnTo>
                <a:lnTo>
                  <a:pt x="1012571" y="116839"/>
                </a:lnTo>
                <a:close/>
              </a:path>
              <a:path w="1100455" h="192404">
                <a:moveTo>
                  <a:pt x="1061502" y="129412"/>
                </a:moveTo>
                <a:lnTo>
                  <a:pt x="1012571" y="129412"/>
                </a:lnTo>
                <a:lnTo>
                  <a:pt x="1023094" y="129839"/>
                </a:lnTo>
                <a:lnTo>
                  <a:pt x="1032367" y="131111"/>
                </a:lnTo>
                <a:lnTo>
                  <a:pt x="1040378" y="133217"/>
                </a:lnTo>
                <a:lnTo>
                  <a:pt x="1047115" y="136143"/>
                </a:lnTo>
                <a:lnTo>
                  <a:pt x="1055243" y="140715"/>
                </a:lnTo>
                <a:lnTo>
                  <a:pt x="1059307" y="146557"/>
                </a:lnTo>
                <a:lnTo>
                  <a:pt x="1059220" y="161162"/>
                </a:lnTo>
                <a:lnTo>
                  <a:pt x="1023094" y="177881"/>
                </a:lnTo>
                <a:lnTo>
                  <a:pt x="1012571" y="178307"/>
                </a:lnTo>
                <a:lnTo>
                  <a:pt x="1061598" y="178307"/>
                </a:lnTo>
                <a:lnTo>
                  <a:pt x="1065746" y="175067"/>
                </a:lnTo>
                <a:lnTo>
                  <a:pt x="1070784" y="168767"/>
                </a:lnTo>
                <a:lnTo>
                  <a:pt x="1073798" y="161680"/>
                </a:lnTo>
                <a:lnTo>
                  <a:pt x="1074801" y="153796"/>
                </a:lnTo>
                <a:lnTo>
                  <a:pt x="1073796" y="145986"/>
                </a:lnTo>
                <a:lnTo>
                  <a:pt x="1070768" y="138937"/>
                </a:lnTo>
                <a:lnTo>
                  <a:pt x="1065692" y="132651"/>
                </a:lnTo>
                <a:lnTo>
                  <a:pt x="1061502" y="129412"/>
                </a:lnTo>
                <a:close/>
              </a:path>
              <a:path w="1100455" h="192404">
                <a:moveTo>
                  <a:pt x="336029" y="111759"/>
                </a:moveTo>
                <a:lnTo>
                  <a:pt x="215582" y="111759"/>
                </a:lnTo>
                <a:lnTo>
                  <a:pt x="215582" y="124713"/>
                </a:lnTo>
                <a:lnTo>
                  <a:pt x="321373" y="124713"/>
                </a:lnTo>
                <a:lnTo>
                  <a:pt x="321373" y="142366"/>
                </a:lnTo>
                <a:lnTo>
                  <a:pt x="215582" y="142366"/>
                </a:lnTo>
                <a:lnTo>
                  <a:pt x="215582" y="186816"/>
                </a:lnTo>
                <a:lnTo>
                  <a:pt x="341071" y="186816"/>
                </a:lnTo>
                <a:lnTo>
                  <a:pt x="341071" y="173862"/>
                </a:lnTo>
                <a:lnTo>
                  <a:pt x="230428" y="173862"/>
                </a:lnTo>
                <a:lnTo>
                  <a:pt x="230428" y="155193"/>
                </a:lnTo>
                <a:lnTo>
                  <a:pt x="336029" y="155193"/>
                </a:lnTo>
                <a:lnTo>
                  <a:pt x="336029" y="111759"/>
                </a:lnTo>
                <a:close/>
              </a:path>
              <a:path w="1100455" h="192404">
                <a:moveTo>
                  <a:pt x="701166" y="129793"/>
                </a:moveTo>
                <a:lnTo>
                  <a:pt x="578345" y="129793"/>
                </a:lnTo>
                <a:lnTo>
                  <a:pt x="578345" y="143001"/>
                </a:lnTo>
                <a:lnTo>
                  <a:pt x="686422" y="143001"/>
                </a:lnTo>
                <a:lnTo>
                  <a:pt x="686422" y="192404"/>
                </a:lnTo>
                <a:lnTo>
                  <a:pt x="701166" y="192404"/>
                </a:lnTo>
                <a:lnTo>
                  <a:pt x="701166" y="129793"/>
                </a:lnTo>
                <a:close/>
              </a:path>
              <a:path w="1100455" h="192404">
                <a:moveTo>
                  <a:pt x="618731" y="104520"/>
                </a:moveTo>
                <a:lnTo>
                  <a:pt x="603885" y="104520"/>
                </a:lnTo>
                <a:lnTo>
                  <a:pt x="603885" y="129793"/>
                </a:lnTo>
                <a:lnTo>
                  <a:pt x="618731" y="129793"/>
                </a:lnTo>
                <a:lnTo>
                  <a:pt x="618731" y="104520"/>
                </a:lnTo>
                <a:close/>
              </a:path>
              <a:path w="1100455" h="192404">
                <a:moveTo>
                  <a:pt x="679691" y="104520"/>
                </a:moveTo>
                <a:lnTo>
                  <a:pt x="664844" y="104520"/>
                </a:lnTo>
                <a:lnTo>
                  <a:pt x="664844" y="129793"/>
                </a:lnTo>
                <a:lnTo>
                  <a:pt x="679691" y="129793"/>
                </a:lnTo>
                <a:lnTo>
                  <a:pt x="679691" y="104520"/>
                </a:lnTo>
                <a:close/>
              </a:path>
              <a:path w="1100455" h="192404">
                <a:moveTo>
                  <a:pt x="730364" y="91058"/>
                </a:moveTo>
                <a:lnTo>
                  <a:pt x="553212" y="91058"/>
                </a:lnTo>
                <a:lnTo>
                  <a:pt x="553212" y="104520"/>
                </a:lnTo>
                <a:lnTo>
                  <a:pt x="730364" y="104520"/>
                </a:lnTo>
                <a:lnTo>
                  <a:pt x="730364" y="91058"/>
                </a:lnTo>
                <a:close/>
              </a:path>
              <a:path w="1100455" h="192404">
                <a:moveTo>
                  <a:pt x="545960" y="146684"/>
                </a:moveTo>
                <a:lnTo>
                  <a:pt x="368808" y="146684"/>
                </a:lnTo>
                <a:lnTo>
                  <a:pt x="368808" y="160146"/>
                </a:lnTo>
                <a:lnTo>
                  <a:pt x="545960" y="160146"/>
                </a:lnTo>
                <a:lnTo>
                  <a:pt x="545960" y="146684"/>
                </a:lnTo>
                <a:close/>
              </a:path>
              <a:path w="1100455" h="192404">
                <a:moveTo>
                  <a:pt x="429183" y="81787"/>
                </a:moveTo>
                <a:lnTo>
                  <a:pt x="414629" y="81787"/>
                </a:lnTo>
                <a:lnTo>
                  <a:pt x="414629" y="146684"/>
                </a:lnTo>
                <a:lnTo>
                  <a:pt x="429183" y="146684"/>
                </a:lnTo>
                <a:lnTo>
                  <a:pt x="429183" y="81787"/>
                </a:lnTo>
                <a:close/>
              </a:path>
              <a:path w="1100455" h="192404">
                <a:moveTo>
                  <a:pt x="477672" y="81787"/>
                </a:moveTo>
                <a:lnTo>
                  <a:pt x="463029" y="81787"/>
                </a:lnTo>
                <a:lnTo>
                  <a:pt x="463029" y="146684"/>
                </a:lnTo>
                <a:lnTo>
                  <a:pt x="477672" y="146684"/>
                </a:lnTo>
                <a:lnTo>
                  <a:pt x="477672" y="81787"/>
                </a:lnTo>
                <a:close/>
              </a:path>
              <a:path w="1100455" h="192404">
                <a:moveTo>
                  <a:pt x="520623" y="19557"/>
                </a:moveTo>
                <a:lnTo>
                  <a:pt x="391871" y="19557"/>
                </a:lnTo>
                <a:lnTo>
                  <a:pt x="391871" y="32893"/>
                </a:lnTo>
                <a:lnTo>
                  <a:pt x="505383" y="32893"/>
                </a:lnTo>
                <a:lnTo>
                  <a:pt x="505383" y="60706"/>
                </a:lnTo>
                <a:lnTo>
                  <a:pt x="505210" y="76565"/>
                </a:lnTo>
                <a:lnTo>
                  <a:pt x="504690" y="91947"/>
                </a:lnTo>
                <a:lnTo>
                  <a:pt x="503824" y="106854"/>
                </a:lnTo>
                <a:lnTo>
                  <a:pt x="502615" y="121284"/>
                </a:lnTo>
                <a:lnTo>
                  <a:pt x="517169" y="122935"/>
                </a:lnTo>
                <a:lnTo>
                  <a:pt x="518678" y="106247"/>
                </a:lnTo>
                <a:lnTo>
                  <a:pt x="519758" y="90296"/>
                </a:lnTo>
                <a:lnTo>
                  <a:pt x="520407" y="75108"/>
                </a:lnTo>
                <a:lnTo>
                  <a:pt x="520623" y="60706"/>
                </a:lnTo>
                <a:lnTo>
                  <a:pt x="520623" y="19557"/>
                </a:lnTo>
                <a:close/>
              </a:path>
              <a:path w="1100455" h="192404">
                <a:moveTo>
                  <a:pt x="177152" y="92836"/>
                </a:moveTo>
                <a:lnTo>
                  <a:pt x="0" y="92836"/>
                </a:lnTo>
                <a:lnTo>
                  <a:pt x="0" y="105917"/>
                </a:lnTo>
                <a:lnTo>
                  <a:pt x="177152" y="105917"/>
                </a:lnTo>
                <a:lnTo>
                  <a:pt x="177152" y="92836"/>
                </a:lnTo>
                <a:close/>
              </a:path>
              <a:path w="1100455" h="192404">
                <a:moveTo>
                  <a:pt x="96100" y="66928"/>
                </a:moveTo>
                <a:lnTo>
                  <a:pt x="81051" y="66928"/>
                </a:lnTo>
                <a:lnTo>
                  <a:pt x="81051" y="92836"/>
                </a:lnTo>
                <a:lnTo>
                  <a:pt x="96100" y="92836"/>
                </a:lnTo>
                <a:lnTo>
                  <a:pt x="96100" y="66928"/>
                </a:lnTo>
                <a:close/>
              </a:path>
              <a:path w="1100455" h="192404">
                <a:moveTo>
                  <a:pt x="107969" y="43560"/>
                </a:moveTo>
                <a:lnTo>
                  <a:pt x="88773" y="43560"/>
                </a:lnTo>
                <a:lnTo>
                  <a:pt x="92999" y="48371"/>
                </a:lnTo>
                <a:lnTo>
                  <a:pt x="128126" y="68103"/>
                </a:lnTo>
                <a:lnTo>
                  <a:pt x="160324" y="75945"/>
                </a:lnTo>
                <a:lnTo>
                  <a:pt x="167855" y="62102"/>
                </a:lnTo>
                <a:lnTo>
                  <a:pt x="157275" y="61553"/>
                </a:lnTo>
                <a:lnTo>
                  <a:pt x="146623" y="59896"/>
                </a:lnTo>
                <a:lnTo>
                  <a:pt x="135896" y="57120"/>
                </a:lnTo>
                <a:lnTo>
                  <a:pt x="125095" y="53212"/>
                </a:lnTo>
                <a:lnTo>
                  <a:pt x="115240" y="48454"/>
                </a:lnTo>
                <a:lnTo>
                  <a:pt x="107969" y="43560"/>
                </a:lnTo>
                <a:close/>
              </a:path>
              <a:path w="1100455" h="192404">
                <a:moveTo>
                  <a:pt x="97485" y="30987"/>
                </a:moveTo>
                <a:lnTo>
                  <a:pt x="79667" y="30987"/>
                </a:lnTo>
                <a:lnTo>
                  <a:pt x="75754" y="37246"/>
                </a:lnTo>
                <a:lnTo>
                  <a:pt x="69848" y="43052"/>
                </a:lnTo>
                <a:lnTo>
                  <a:pt x="30481" y="60071"/>
                </a:lnTo>
                <a:lnTo>
                  <a:pt x="9296" y="62356"/>
                </a:lnTo>
                <a:lnTo>
                  <a:pt x="17818" y="75818"/>
                </a:lnTo>
                <a:lnTo>
                  <a:pt x="60325" y="63626"/>
                </a:lnTo>
                <a:lnTo>
                  <a:pt x="88773" y="43560"/>
                </a:lnTo>
                <a:lnTo>
                  <a:pt x="107969" y="43560"/>
                </a:lnTo>
                <a:lnTo>
                  <a:pt x="107356" y="43148"/>
                </a:lnTo>
                <a:lnTo>
                  <a:pt x="101438" y="37318"/>
                </a:lnTo>
                <a:lnTo>
                  <a:pt x="97485" y="30987"/>
                </a:lnTo>
                <a:close/>
              </a:path>
              <a:path w="1100455" h="192404">
                <a:moveTo>
                  <a:pt x="156476" y="17779"/>
                </a:moveTo>
                <a:lnTo>
                  <a:pt x="20688" y="17779"/>
                </a:lnTo>
                <a:lnTo>
                  <a:pt x="20688" y="30987"/>
                </a:lnTo>
                <a:lnTo>
                  <a:pt x="156476" y="30987"/>
                </a:lnTo>
                <a:lnTo>
                  <a:pt x="156476" y="17779"/>
                </a:lnTo>
                <a:close/>
              </a:path>
              <a:path w="1100455" h="192404">
                <a:moveTo>
                  <a:pt x="96291" y="0"/>
                </a:moveTo>
                <a:lnTo>
                  <a:pt x="81254" y="0"/>
                </a:lnTo>
                <a:lnTo>
                  <a:pt x="81254" y="17779"/>
                </a:lnTo>
                <a:lnTo>
                  <a:pt x="96291" y="17779"/>
                </a:lnTo>
                <a:lnTo>
                  <a:pt x="96291" y="0"/>
                </a:lnTo>
                <a:close/>
              </a:path>
              <a:path w="1100455" h="192404">
                <a:moveTo>
                  <a:pt x="244779" y="46989"/>
                </a:moveTo>
                <a:lnTo>
                  <a:pt x="230022" y="46989"/>
                </a:lnTo>
                <a:lnTo>
                  <a:pt x="230022" y="82168"/>
                </a:lnTo>
                <a:lnTo>
                  <a:pt x="207487" y="82629"/>
                </a:lnTo>
                <a:lnTo>
                  <a:pt x="183210" y="82803"/>
                </a:lnTo>
                <a:lnTo>
                  <a:pt x="184594" y="96011"/>
                </a:lnTo>
                <a:lnTo>
                  <a:pt x="216460" y="95801"/>
                </a:lnTo>
                <a:lnTo>
                  <a:pt x="247519" y="95186"/>
                </a:lnTo>
                <a:lnTo>
                  <a:pt x="277774" y="94190"/>
                </a:lnTo>
                <a:lnTo>
                  <a:pt x="307225" y="92836"/>
                </a:lnTo>
                <a:lnTo>
                  <a:pt x="306563" y="82041"/>
                </a:lnTo>
                <a:lnTo>
                  <a:pt x="244779" y="82041"/>
                </a:lnTo>
                <a:lnTo>
                  <a:pt x="244779" y="46989"/>
                </a:lnTo>
                <a:close/>
              </a:path>
              <a:path w="1100455" h="192404">
                <a:moveTo>
                  <a:pt x="306438" y="80009"/>
                </a:moveTo>
                <a:lnTo>
                  <a:pt x="293412" y="80702"/>
                </a:lnTo>
                <a:lnTo>
                  <a:pt x="278795" y="81264"/>
                </a:lnTo>
                <a:lnTo>
                  <a:pt x="244779" y="82041"/>
                </a:lnTo>
                <a:lnTo>
                  <a:pt x="306563" y="82041"/>
                </a:lnTo>
                <a:lnTo>
                  <a:pt x="306438" y="80009"/>
                </a:lnTo>
                <a:close/>
              </a:path>
              <a:path w="1100455" h="192404">
                <a:moveTo>
                  <a:pt x="294259" y="9270"/>
                </a:moveTo>
                <a:lnTo>
                  <a:pt x="200634" y="9270"/>
                </a:lnTo>
                <a:lnTo>
                  <a:pt x="200634" y="22478"/>
                </a:lnTo>
                <a:lnTo>
                  <a:pt x="279704" y="22478"/>
                </a:lnTo>
                <a:lnTo>
                  <a:pt x="279538" y="30789"/>
                </a:lnTo>
                <a:lnTo>
                  <a:pt x="279038" y="41052"/>
                </a:lnTo>
                <a:lnTo>
                  <a:pt x="278204" y="53268"/>
                </a:lnTo>
                <a:lnTo>
                  <a:pt x="277037" y="67437"/>
                </a:lnTo>
                <a:lnTo>
                  <a:pt x="291185" y="68452"/>
                </a:lnTo>
                <a:lnTo>
                  <a:pt x="292533" y="54401"/>
                </a:lnTo>
                <a:lnTo>
                  <a:pt x="293493" y="39862"/>
                </a:lnTo>
                <a:lnTo>
                  <a:pt x="294068" y="24822"/>
                </a:lnTo>
                <a:lnTo>
                  <a:pt x="294259" y="9270"/>
                </a:lnTo>
                <a:close/>
              </a:path>
              <a:path w="1100455" h="192404">
                <a:moveTo>
                  <a:pt x="641794" y="3301"/>
                </a:moveTo>
                <a:lnTo>
                  <a:pt x="596709" y="12826"/>
                </a:lnTo>
                <a:lnTo>
                  <a:pt x="580821" y="39115"/>
                </a:lnTo>
                <a:lnTo>
                  <a:pt x="581802" y="46878"/>
                </a:lnTo>
                <a:lnTo>
                  <a:pt x="615673" y="72167"/>
                </a:lnTo>
                <a:lnTo>
                  <a:pt x="641794" y="74549"/>
                </a:lnTo>
                <a:lnTo>
                  <a:pt x="655717" y="73953"/>
                </a:lnTo>
                <a:lnTo>
                  <a:pt x="667904" y="72167"/>
                </a:lnTo>
                <a:lnTo>
                  <a:pt x="678354" y="69191"/>
                </a:lnTo>
                <a:lnTo>
                  <a:pt x="687069" y="65024"/>
                </a:lnTo>
                <a:lnTo>
                  <a:pt x="691097" y="61975"/>
                </a:lnTo>
                <a:lnTo>
                  <a:pt x="641794" y="61975"/>
                </a:lnTo>
                <a:lnTo>
                  <a:pt x="631126" y="61594"/>
                </a:lnTo>
                <a:lnTo>
                  <a:pt x="596366" y="46227"/>
                </a:lnTo>
                <a:lnTo>
                  <a:pt x="596366" y="39115"/>
                </a:lnTo>
                <a:lnTo>
                  <a:pt x="599205" y="28948"/>
                </a:lnTo>
                <a:lnTo>
                  <a:pt x="607721" y="21685"/>
                </a:lnTo>
                <a:lnTo>
                  <a:pt x="621918" y="17327"/>
                </a:lnTo>
                <a:lnTo>
                  <a:pt x="641794" y="15875"/>
                </a:lnTo>
                <a:lnTo>
                  <a:pt x="690929" y="15875"/>
                </a:lnTo>
                <a:lnTo>
                  <a:pt x="686866" y="12826"/>
                </a:lnTo>
                <a:lnTo>
                  <a:pt x="678091" y="8659"/>
                </a:lnTo>
                <a:lnTo>
                  <a:pt x="667654" y="5683"/>
                </a:lnTo>
                <a:lnTo>
                  <a:pt x="655555" y="3897"/>
                </a:lnTo>
                <a:lnTo>
                  <a:pt x="641794" y="3301"/>
                </a:lnTo>
                <a:close/>
              </a:path>
              <a:path w="1100455" h="192404">
                <a:moveTo>
                  <a:pt x="690929" y="15875"/>
                </a:moveTo>
                <a:lnTo>
                  <a:pt x="641794" y="15875"/>
                </a:lnTo>
                <a:lnTo>
                  <a:pt x="661665" y="17327"/>
                </a:lnTo>
                <a:lnTo>
                  <a:pt x="675862" y="21685"/>
                </a:lnTo>
                <a:lnTo>
                  <a:pt x="684381" y="28948"/>
                </a:lnTo>
                <a:lnTo>
                  <a:pt x="687222" y="39115"/>
                </a:lnTo>
                <a:lnTo>
                  <a:pt x="687222" y="46227"/>
                </a:lnTo>
                <a:lnTo>
                  <a:pt x="641794" y="61975"/>
                </a:lnTo>
                <a:lnTo>
                  <a:pt x="691097" y="61975"/>
                </a:lnTo>
                <a:lnTo>
                  <a:pt x="693930" y="59832"/>
                </a:lnTo>
                <a:lnTo>
                  <a:pt x="698831" y="53784"/>
                </a:lnTo>
                <a:lnTo>
                  <a:pt x="701773" y="46878"/>
                </a:lnTo>
                <a:lnTo>
                  <a:pt x="702754" y="39115"/>
                </a:lnTo>
                <a:lnTo>
                  <a:pt x="701761" y="31186"/>
                </a:lnTo>
                <a:lnTo>
                  <a:pt x="698782" y="24161"/>
                </a:lnTo>
                <a:lnTo>
                  <a:pt x="693817" y="18041"/>
                </a:lnTo>
                <a:lnTo>
                  <a:pt x="690929" y="15875"/>
                </a:lnTo>
                <a:close/>
              </a:path>
              <a:path w="1100455" h="192404">
                <a:moveTo>
                  <a:pt x="851154" y="11429"/>
                </a:moveTo>
                <a:lnTo>
                  <a:pt x="759485" y="11429"/>
                </a:lnTo>
                <a:lnTo>
                  <a:pt x="759485" y="99186"/>
                </a:lnTo>
                <a:lnTo>
                  <a:pt x="789508" y="99044"/>
                </a:lnTo>
                <a:lnTo>
                  <a:pt x="816043" y="98615"/>
                </a:lnTo>
                <a:lnTo>
                  <a:pt x="839089" y="97901"/>
                </a:lnTo>
                <a:lnTo>
                  <a:pt x="858647" y="96900"/>
                </a:lnTo>
                <a:lnTo>
                  <a:pt x="857883" y="86106"/>
                </a:lnTo>
                <a:lnTo>
                  <a:pt x="774331" y="86106"/>
                </a:lnTo>
                <a:lnTo>
                  <a:pt x="774331" y="61087"/>
                </a:lnTo>
                <a:lnTo>
                  <a:pt x="841375" y="61087"/>
                </a:lnTo>
                <a:lnTo>
                  <a:pt x="841375" y="48387"/>
                </a:lnTo>
                <a:lnTo>
                  <a:pt x="774331" y="48387"/>
                </a:lnTo>
                <a:lnTo>
                  <a:pt x="774331" y="24637"/>
                </a:lnTo>
                <a:lnTo>
                  <a:pt x="851154" y="24637"/>
                </a:lnTo>
                <a:lnTo>
                  <a:pt x="851154" y="11429"/>
                </a:lnTo>
                <a:close/>
              </a:path>
              <a:path w="1100455" h="192404">
                <a:moveTo>
                  <a:pt x="857758" y="84327"/>
                </a:moveTo>
                <a:lnTo>
                  <a:pt x="844508" y="85088"/>
                </a:lnTo>
                <a:lnTo>
                  <a:pt x="828374" y="85645"/>
                </a:lnTo>
                <a:lnTo>
                  <a:pt x="809343" y="85988"/>
                </a:lnTo>
                <a:lnTo>
                  <a:pt x="787400" y="86106"/>
                </a:lnTo>
                <a:lnTo>
                  <a:pt x="857883" y="86106"/>
                </a:lnTo>
                <a:lnTo>
                  <a:pt x="857758" y="84327"/>
                </a:lnTo>
                <a:close/>
              </a:path>
              <a:path w="1100455" h="192404">
                <a:moveTo>
                  <a:pt x="985266" y="23240"/>
                </a:moveTo>
                <a:lnTo>
                  <a:pt x="971169" y="23240"/>
                </a:lnTo>
                <a:lnTo>
                  <a:pt x="971169" y="28066"/>
                </a:lnTo>
                <a:lnTo>
                  <a:pt x="970289" y="38141"/>
                </a:lnTo>
                <a:lnTo>
                  <a:pt x="949741" y="75866"/>
                </a:lnTo>
                <a:lnTo>
                  <a:pt x="922274" y="96011"/>
                </a:lnTo>
                <a:lnTo>
                  <a:pt x="932941" y="106171"/>
                </a:lnTo>
                <a:lnTo>
                  <a:pt x="966015" y="77321"/>
                </a:lnTo>
                <a:lnTo>
                  <a:pt x="978535" y="57657"/>
                </a:lnTo>
                <a:lnTo>
                  <a:pt x="994499" y="57657"/>
                </a:lnTo>
                <a:lnTo>
                  <a:pt x="993195" y="55784"/>
                </a:lnTo>
                <a:lnTo>
                  <a:pt x="988790" y="46735"/>
                </a:lnTo>
                <a:lnTo>
                  <a:pt x="986147" y="37496"/>
                </a:lnTo>
                <a:lnTo>
                  <a:pt x="985266" y="28066"/>
                </a:lnTo>
                <a:lnTo>
                  <a:pt x="985266" y="23240"/>
                </a:lnTo>
                <a:close/>
              </a:path>
              <a:path w="1100455" h="192404">
                <a:moveTo>
                  <a:pt x="994499" y="57657"/>
                </a:moveTo>
                <a:lnTo>
                  <a:pt x="978535" y="57657"/>
                </a:lnTo>
                <a:lnTo>
                  <a:pt x="981630" y="63210"/>
                </a:lnTo>
                <a:lnTo>
                  <a:pt x="1010523" y="92963"/>
                </a:lnTo>
                <a:lnTo>
                  <a:pt x="1023366" y="101345"/>
                </a:lnTo>
                <a:lnTo>
                  <a:pt x="1033018" y="90550"/>
                </a:lnTo>
                <a:lnTo>
                  <a:pt x="1023562" y="85788"/>
                </a:lnTo>
                <a:lnTo>
                  <a:pt x="1014809" y="79882"/>
                </a:lnTo>
                <a:lnTo>
                  <a:pt x="1006746" y="72834"/>
                </a:lnTo>
                <a:lnTo>
                  <a:pt x="999363" y="64643"/>
                </a:lnTo>
                <a:lnTo>
                  <a:pt x="994499" y="57657"/>
                </a:lnTo>
                <a:close/>
              </a:path>
              <a:path w="1100455" h="192404">
                <a:moveTo>
                  <a:pt x="1027430" y="10032"/>
                </a:moveTo>
                <a:lnTo>
                  <a:pt x="929005" y="10032"/>
                </a:lnTo>
                <a:lnTo>
                  <a:pt x="929005" y="23240"/>
                </a:lnTo>
                <a:lnTo>
                  <a:pt x="1027430" y="23240"/>
                </a:lnTo>
                <a:lnTo>
                  <a:pt x="1027430" y="10032"/>
                </a:lnTo>
                <a:close/>
              </a:path>
              <a:path w="1100455" h="192404">
                <a:moveTo>
                  <a:pt x="1071626" y="1524"/>
                </a:moveTo>
                <a:lnTo>
                  <a:pt x="1056767" y="1524"/>
                </a:lnTo>
                <a:lnTo>
                  <a:pt x="1056767" y="111632"/>
                </a:lnTo>
                <a:lnTo>
                  <a:pt x="1071626" y="111632"/>
                </a:lnTo>
                <a:lnTo>
                  <a:pt x="1071626" y="67309"/>
                </a:lnTo>
                <a:lnTo>
                  <a:pt x="1100328" y="67309"/>
                </a:lnTo>
                <a:lnTo>
                  <a:pt x="1100328" y="53847"/>
                </a:lnTo>
                <a:lnTo>
                  <a:pt x="1071626" y="53847"/>
                </a:lnTo>
                <a:lnTo>
                  <a:pt x="1071626" y="1524"/>
                </a:lnTo>
                <a:close/>
              </a:path>
              <a:path w="1100455" h="192404">
                <a:moveTo>
                  <a:pt x="896619" y="1524"/>
                </a:moveTo>
                <a:lnTo>
                  <a:pt x="881760" y="1524"/>
                </a:lnTo>
                <a:lnTo>
                  <a:pt x="881760" y="110362"/>
                </a:lnTo>
                <a:lnTo>
                  <a:pt x="896619" y="110362"/>
                </a:lnTo>
                <a:lnTo>
                  <a:pt x="896619" y="1524"/>
                </a:lnTo>
                <a:close/>
              </a:path>
              <a:path w="1100455" h="192404">
                <a:moveTo>
                  <a:pt x="336029" y="1524"/>
                </a:moveTo>
                <a:lnTo>
                  <a:pt x="321183" y="1524"/>
                </a:lnTo>
                <a:lnTo>
                  <a:pt x="321183" y="101472"/>
                </a:lnTo>
                <a:lnTo>
                  <a:pt x="336029" y="101472"/>
                </a:lnTo>
                <a:lnTo>
                  <a:pt x="336029" y="65531"/>
                </a:lnTo>
                <a:lnTo>
                  <a:pt x="364629" y="65531"/>
                </a:lnTo>
                <a:lnTo>
                  <a:pt x="364629" y="52450"/>
                </a:lnTo>
                <a:lnTo>
                  <a:pt x="336029" y="52450"/>
                </a:lnTo>
                <a:lnTo>
                  <a:pt x="336029" y="1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604644" y="3494023"/>
            <a:ext cx="22225" cy="108585"/>
          </a:xfrm>
          <a:custGeom>
            <a:avLst/>
            <a:gdLst/>
            <a:ahLst/>
            <a:cxnLst/>
            <a:rect l="l" t="t" r="r" b="b"/>
            <a:pathLst>
              <a:path w="22225" h="108585">
                <a:moveTo>
                  <a:pt x="13843" y="86487"/>
                </a:moveTo>
                <a:lnTo>
                  <a:pt x="8001" y="86487"/>
                </a:lnTo>
                <a:lnTo>
                  <a:pt x="5461" y="87629"/>
                </a:lnTo>
                <a:lnTo>
                  <a:pt x="1143" y="91947"/>
                </a:lnTo>
                <a:lnTo>
                  <a:pt x="0" y="94487"/>
                </a:lnTo>
                <a:lnTo>
                  <a:pt x="0" y="100710"/>
                </a:lnTo>
                <a:lnTo>
                  <a:pt x="1143" y="103250"/>
                </a:lnTo>
                <a:lnTo>
                  <a:pt x="5461" y="107568"/>
                </a:lnTo>
                <a:lnTo>
                  <a:pt x="8001" y="108584"/>
                </a:lnTo>
                <a:lnTo>
                  <a:pt x="13843" y="108584"/>
                </a:lnTo>
                <a:lnTo>
                  <a:pt x="16510" y="107441"/>
                </a:lnTo>
                <a:lnTo>
                  <a:pt x="18542" y="105282"/>
                </a:lnTo>
                <a:lnTo>
                  <a:pt x="20701" y="103123"/>
                </a:lnTo>
                <a:lnTo>
                  <a:pt x="21735" y="100710"/>
                </a:lnTo>
                <a:lnTo>
                  <a:pt x="21843" y="94487"/>
                </a:lnTo>
                <a:lnTo>
                  <a:pt x="20701" y="91947"/>
                </a:lnTo>
                <a:lnTo>
                  <a:pt x="16383" y="87629"/>
                </a:lnTo>
                <a:lnTo>
                  <a:pt x="13843" y="86487"/>
                </a:lnTo>
                <a:close/>
              </a:path>
              <a:path w="22225" h="108585">
                <a:moveTo>
                  <a:pt x="13843" y="0"/>
                </a:moveTo>
                <a:lnTo>
                  <a:pt x="8001" y="0"/>
                </a:lnTo>
                <a:lnTo>
                  <a:pt x="5461" y="1143"/>
                </a:lnTo>
                <a:lnTo>
                  <a:pt x="3302" y="3301"/>
                </a:lnTo>
                <a:lnTo>
                  <a:pt x="1143" y="5333"/>
                </a:lnTo>
                <a:lnTo>
                  <a:pt x="0" y="8000"/>
                </a:lnTo>
                <a:lnTo>
                  <a:pt x="0" y="14096"/>
                </a:lnTo>
                <a:lnTo>
                  <a:pt x="1143" y="16763"/>
                </a:lnTo>
                <a:lnTo>
                  <a:pt x="5461" y="21081"/>
                </a:lnTo>
                <a:lnTo>
                  <a:pt x="8001" y="22098"/>
                </a:lnTo>
                <a:lnTo>
                  <a:pt x="13843" y="22098"/>
                </a:lnTo>
                <a:lnTo>
                  <a:pt x="16510" y="21081"/>
                </a:lnTo>
                <a:lnTo>
                  <a:pt x="18542" y="18923"/>
                </a:lnTo>
                <a:lnTo>
                  <a:pt x="20701" y="16763"/>
                </a:lnTo>
                <a:lnTo>
                  <a:pt x="21843" y="14096"/>
                </a:lnTo>
                <a:lnTo>
                  <a:pt x="21843" y="8000"/>
                </a:lnTo>
                <a:lnTo>
                  <a:pt x="20701" y="5333"/>
                </a:lnTo>
                <a:lnTo>
                  <a:pt x="18542" y="3301"/>
                </a:lnTo>
                <a:lnTo>
                  <a:pt x="16383" y="1143"/>
                </a:lnTo>
                <a:lnTo>
                  <a:pt x="138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688592" y="3427221"/>
            <a:ext cx="525780" cy="191135"/>
          </a:xfrm>
          <a:custGeom>
            <a:avLst/>
            <a:gdLst/>
            <a:ahLst/>
            <a:cxnLst/>
            <a:rect l="l" t="t" r="r" b="b"/>
            <a:pathLst>
              <a:path w="525780" h="191135">
                <a:moveTo>
                  <a:pt x="44576" y="128142"/>
                </a:moveTo>
                <a:lnTo>
                  <a:pt x="29718" y="128142"/>
                </a:lnTo>
                <a:lnTo>
                  <a:pt x="29718" y="185292"/>
                </a:lnTo>
                <a:lnTo>
                  <a:pt x="159893" y="185292"/>
                </a:lnTo>
                <a:lnTo>
                  <a:pt x="159893" y="172084"/>
                </a:lnTo>
                <a:lnTo>
                  <a:pt x="44576" y="172084"/>
                </a:lnTo>
                <a:lnTo>
                  <a:pt x="44576" y="128142"/>
                </a:lnTo>
                <a:close/>
              </a:path>
              <a:path w="525780" h="191135">
                <a:moveTo>
                  <a:pt x="155194" y="0"/>
                </a:moveTo>
                <a:lnTo>
                  <a:pt x="140207" y="0"/>
                </a:lnTo>
                <a:lnTo>
                  <a:pt x="140207" y="104647"/>
                </a:lnTo>
                <a:lnTo>
                  <a:pt x="98932" y="104647"/>
                </a:lnTo>
                <a:lnTo>
                  <a:pt x="98932" y="117347"/>
                </a:lnTo>
                <a:lnTo>
                  <a:pt x="140207" y="117347"/>
                </a:lnTo>
                <a:lnTo>
                  <a:pt x="140207" y="148335"/>
                </a:lnTo>
                <a:lnTo>
                  <a:pt x="155194" y="148335"/>
                </a:lnTo>
                <a:lnTo>
                  <a:pt x="155194" y="0"/>
                </a:lnTo>
                <a:close/>
              </a:path>
              <a:path w="525780" h="191135">
                <a:moveTo>
                  <a:pt x="72135" y="87629"/>
                </a:moveTo>
                <a:lnTo>
                  <a:pt x="57531" y="87629"/>
                </a:lnTo>
                <a:lnTo>
                  <a:pt x="57531" y="138429"/>
                </a:lnTo>
                <a:lnTo>
                  <a:pt x="72135" y="138429"/>
                </a:lnTo>
                <a:lnTo>
                  <a:pt x="72135" y="87629"/>
                </a:lnTo>
                <a:close/>
              </a:path>
              <a:path w="525780" h="191135">
                <a:moveTo>
                  <a:pt x="108203" y="9778"/>
                </a:moveTo>
                <a:lnTo>
                  <a:pt x="17780" y="9778"/>
                </a:lnTo>
                <a:lnTo>
                  <a:pt x="17780" y="22859"/>
                </a:lnTo>
                <a:lnTo>
                  <a:pt x="93344" y="22859"/>
                </a:lnTo>
                <a:lnTo>
                  <a:pt x="93273" y="37885"/>
                </a:lnTo>
                <a:lnTo>
                  <a:pt x="71080" y="74199"/>
                </a:lnTo>
                <a:lnTo>
                  <a:pt x="0" y="75056"/>
                </a:lnTo>
                <a:lnTo>
                  <a:pt x="2031" y="89026"/>
                </a:lnTo>
                <a:lnTo>
                  <a:pt x="12293" y="88933"/>
                </a:lnTo>
                <a:lnTo>
                  <a:pt x="57531" y="87629"/>
                </a:lnTo>
                <a:lnTo>
                  <a:pt x="72135" y="87629"/>
                </a:lnTo>
                <a:lnTo>
                  <a:pt x="72135" y="86994"/>
                </a:lnTo>
                <a:lnTo>
                  <a:pt x="106299" y="85756"/>
                </a:lnTo>
                <a:lnTo>
                  <a:pt x="117820" y="85209"/>
                </a:lnTo>
                <a:lnTo>
                  <a:pt x="125602" y="84708"/>
                </a:lnTo>
                <a:lnTo>
                  <a:pt x="124901" y="73025"/>
                </a:lnTo>
                <a:lnTo>
                  <a:pt x="106552" y="73025"/>
                </a:lnTo>
                <a:lnTo>
                  <a:pt x="107293" y="60285"/>
                </a:lnTo>
                <a:lnTo>
                  <a:pt x="107807" y="45497"/>
                </a:lnTo>
                <a:lnTo>
                  <a:pt x="108106" y="28662"/>
                </a:lnTo>
                <a:lnTo>
                  <a:pt x="108203" y="9778"/>
                </a:lnTo>
                <a:close/>
              </a:path>
              <a:path w="525780" h="191135">
                <a:moveTo>
                  <a:pt x="124840" y="72008"/>
                </a:moveTo>
                <a:lnTo>
                  <a:pt x="120395" y="72389"/>
                </a:lnTo>
                <a:lnTo>
                  <a:pt x="106552" y="73025"/>
                </a:lnTo>
                <a:lnTo>
                  <a:pt x="124901" y="73025"/>
                </a:lnTo>
                <a:lnTo>
                  <a:pt x="124840" y="72008"/>
                </a:lnTo>
                <a:close/>
              </a:path>
              <a:path w="525780" h="191135">
                <a:moveTo>
                  <a:pt x="417830" y="124078"/>
                </a:moveTo>
                <a:lnTo>
                  <a:pt x="402970" y="124078"/>
                </a:lnTo>
                <a:lnTo>
                  <a:pt x="402970" y="184657"/>
                </a:lnTo>
                <a:lnTo>
                  <a:pt x="525652" y="184657"/>
                </a:lnTo>
                <a:lnTo>
                  <a:pt x="525652" y="171703"/>
                </a:lnTo>
                <a:lnTo>
                  <a:pt x="417830" y="171703"/>
                </a:lnTo>
                <a:lnTo>
                  <a:pt x="417830" y="124078"/>
                </a:lnTo>
                <a:close/>
              </a:path>
              <a:path w="525780" h="191135">
                <a:moveTo>
                  <a:pt x="520572" y="0"/>
                </a:moveTo>
                <a:lnTo>
                  <a:pt x="505840" y="0"/>
                </a:lnTo>
                <a:lnTo>
                  <a:pt x="505840" y="44195"/>
                </a:lnTo>
                <a:lnTo>
                  <a:pt x="461137" y="44195"/>
                </a:lnTo>
                <a:lnTo>
                  <a:pt x="461137" y="57403"/>
                </a:lnTo>
                <a:lnTo>
                  <a:pt x="505840" y="57403"/>
                </a:lnTo>
                <a:lnTo>
                  <a:pt x="505840" y="139445"/>
                </a:lnTo>
                <a:lnTo>
                  <a:pt x="520572" y="139445"/>
                </a:lnTo>
                <a:lnTo>
                  <a:pt x="520572" y="0"/>
                </a:lnTo>
                <a:close/>
              </a:path>
              <a:path w="525780" h="191135">
                <a:moveTo>
                  <a:pt x="429768" y="6222"/>
                </a:moveTo>
                <a:lnTo>
                  <a:pt x="415416" y="6222"/>
                </a:lnTo>
                <a:lnTo>
                  <a:pt x="415416" y="30860"/>
                </a:lnTo>
                <a:lnTo>
                  <a:pt x="414516" y="41199"/>
                </a:lnTo>
                <a:lnTo>
                  <a:pt x="393668" y="81359"/>
                </a:lnTo>
                <a:lnTo>
                  <a:pt x="366521" y="102361"/>
                </a:lnTo>
                <a:lnTo>
                  <a:pt x="377316" y="112521"/>
                </a:lnTo>
                <a:lnTo>
                  <a:pt x="410326" y="81359"/>
                </a:lnTo>
                <a:lnTo>
                  <a:pt x="423037" y="60197"/>
                </a:lnTo>
                <a:lnTo>
                  <a:pt x="438617" y="60197"/>
                </a:lnTo>
                <a:lnTo>
                  <a:pt x="438126" y="59471"/>
                </a:lnTo>
                <a:lnTo>
                  <a:pt x="433482" y="49879"/>
                </a:lnTo>
                <a:lnTo>
                  <a:pt x="430696" y="40334"/>
                </a:lnTo>
                <a:lnTo>
                  <a:pt x="429768" y="30860"/>
                </a:lnTo>
                <a:lnTo>
                  <a:pt x="429768" y="6222"/>
                </a:lnTo>
                <a:close/>
              </a:path>
              <a:path w="525780" h="191135">
                <a:moveTo>
                  <a:pt x="438617" y="60197"/>
                </a:moveTo>
                <a:lnTo>
                  <a:pt x="423037" y="60197"/>
                </a:lnTo>
                <a:lnTo>
                  <a:pt x="426156" y="65982"/>
                </a:lnTo>
                <a:lnTo>
                  <a:pt x="453961" y="97678"/>
                </a:lnTo>
                <a:lnTo>
                  <a:pt x="467740" y="107568"/>
                </a:lnTo>
                <a:lnTo>
                  <a:pt x="477646" y="96900"/>
                </a:lnTo>
                <a:lnTo>
                  <a:pt x="468719" y="91947"/>
                </a:lnTo>
                <a:lnTo>
                  <a:pt x="460232" y="85661"/>
                </a:lnTo>
                <a:lnTo>
                  <a:pt x="452197" y="78041"/>
                </a:lnTo>
                <a:lnTo>
                  <a:pt x="444626" y="69087"/>
                </a:lnTo>
                <a:lnTo>
                  <a:pt x="438617" y="60197"/>
                </a:lnTo>
                <a:close/>
              </a:path>
              <a:path w="525780" h="191135">
                <a:moveTo>
                  <a:pt x="247014" y="29844"/>
                </a:moveTo>
                <a:lnTo>
                  <a:pt x="232156" y="29844"/>
                </a:lnTo>
                <a:lnTo>
                  <a:pt x="232156" y="45846"/>
                </a:lnTo>
                <a:lnTo>
                  <a:pt x="231298" y="58582"/>
                </a:lnTo>
                <a:lnTo>
                  <a:pt x="218439" y="96265"/>
                </a:lnTo>
                <a:lnTo>
                  <a:pt x="192758" y="128448"/>
                </a:lnTo>
                <a:lnTo>
                  <a:pt x="181990" y="136778"/>
                </a:lnTo>
                <a:lnTo>
                  <a:pt x="193039" y="146938"/>
                </a:lnTo>
                <a:lnTo>
                  <a:pt x="222503" y="115696"/>
                </a:lnTo>
                <a:lnTo>
                  <a:pt x="239649" y="82550"/>
                </a:lnTo>
                <a:lnTo>
                  <a:pt x="254770" y="82550"/>
                </a:lnTo>
                <a:lnTo>
                  <a:pt x="250523" y="70421"/>
                </a:lnTo>
                <a:lnTo>
                  <a:pt x="247894" y="57852"/>
                </a:lnTo>
                <a:lnTo>
                  <a:pt x="247059" y="45846"/>
                </a:lnTo>
                <a:lnTo>
                  <a:pt x="247014" y="29844"/>
                </a:lnTo>
                <a:close/>
              </a:path>
              <a:path w="525780" h="191135">
                <a:moveTo>
                  <a:pt x="254770" y="82550"/>
                </a:moveTo>
                <a:lnTo>
                  <a:pt x="239649" y="82550"/>
                </a:lnTo>
                <a:lnTo>
                  <a:pt x="242123" y="89642"/>
                </a:lnTo>
                <a:lnTo>
                  <a:pt x="263026" y="121894"/>
                </a:lnTo>
                <a:lnTo>
                  <a:pt x="286512" y="144271"/>
                </a:lnTo>
                <a:lnTo>
                  <a:pt x="296671" y="132968"/>
                </a:lnTo>
                <a:lnTo>
                  <a:pt x="286291" y="125682"/>
                </a:lnTo>
                <a:lnTo>
                  <a:pt x="276875" y="116966"/>
                </a:lnTo>
                <a:lnTo>
                  <a:pt x="268436" y="106822"/>
                </a:lnTo>
                <a:lnTo>
                  <a:pt x="260984" y="95249"/>
                </a:lnTo>
                <a:lnTo>
                  <a:pt x="254890" y="82895"/>
                </a:lnTo>
                <a:lnTo>
                  <a:pt x="254770" y="82550"/>
                </a:lnTo>
                <a:close/>
              </a:path>
              <a:path w="525780" h="191135">
                <a:moveTo>
                  <a:pt x="289940" y="16636"/>
                </a:moveTo>
                <a:lnTo>
                  <a:pt x="189610" y="16636"/>
                </a:lnTo>
                <a:lnTo>
                  <a:pt x="189610" y="29844"/>
                </a:lnTo>
                <a:lnTo>
                  <a:pt x="289940" y="29844"/>
                </a:lnTo>
                <a:lnTo>
                  <a:pt x="289940" y="16636"/>
                </a:lnTo>
                <a:close/>
              </a:path>
              <a:path w="525780" h="191135">
                <a:moveTo>
                  <a:pt x="336422" y="0"/>
                </a:moveTo>
                <a:lnTo>
                  <a:pt x="321563" y="0"/>
                </a:lnTo>
                <a:lnTo>
                  <a:pt x="321563" y="190880"/>
                </a:lnTo>
                <a:lnTo>
                  <a:pt x="336422" y="190880"/>
                </a:lnTo>
                <a:lnTo>
                  <a:pt x="3364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0736" y="3446398"/>
            <a:ext cx="2262886" cy="202945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449452" y="3792982"/>
            <a:ext cx="895985" cy="191135"/>
          </a:xfrm>
          <a:custGeom>
            <a:avLst/>
            <a:gdLst/>
            <a:ahLst/>
            <a:cxnLst/>
            <a:rect l="l" t="t" r="r" b="b"/>
            <a:pathLst>
              <a:path w="895985" h="191135">
                <a:moveTo>
                  <a:pt x="332359" y="128295"/>
                </a:moveTo>
                <a:lnTo>
                  <a:pt x="209537" y="128295"/>
                </a:lnTo>
                <a:lnTo>
                  <a:pt x="209537" y="141452"/>
                </a:lnTo>
                <a:lnTo>
                  <a:pt x="317614" y="141452"/>
                </a:lnTo>
                <a:lnTo>
                  <a:pt x="317614" y="190944"/>
                </a:lnTo>
                <a:lnTo>
                  <a:pt x="332359" y="190944"/>
                </a:lnTo>
                <a:lnTo>
                  <a:pt x="332359" y="128295"/>
                </a:lnTo>
                <a:close/>
              </a:path>
              <a:path w="895985" h="191135">
                <a:moveTo>
                  <a:pt x="249923" y="102958"/>
                </a:moveTo>
                <a:lnTo>
                  <a:pt x="235076" y="102958"/>
                </a:lnTo>
                <a:lnTo>
                  <a:pt x="235076" y="128295"/>
                </a:lnTo>
                <a:lnTo>
                  <a:pt x="249923" y="128295"/>
                </a:lnTo>
                <a:lnTo>
                  <a:pt x="249923" y="102958"/>
                </a:lnTo>
                <a:close/>
              </a:path>
              <a:path w="895985" h="191135">
                <a:moveTo>
                  <a:pt x="310883" y="102958"/>
                </a:moveTo>
                <a:lnTo>
                  <a:pt x="296037" y="102958"/>
                </a:lnTo>
                <a:lnTo>
                  <a:pt x="296037" y="128295"/>
                </a:lnTo>
                <a:lnTo>
                  <a:pt x="310883" y="128295"/>
                </a:lnTo>
                <a:lnTo>
                  <a:pt x="310883" y="102958"/>
                </a:lnTo>
                <a:close/>
              </a:path>
              <a:path w="895985" h="191135">
                <a:moveTo>
                  <a:pt x="361556" y="89598"/>
                </a:moveTo>
                <a:lnTo>
                  <a:pt x="184403" y="89598"/>
                </a:lnTo>
                <a:lnTo>
                  <a:pt x="184403" y="102958"/>
                </a:lnTo>
                <a:lnTo>
                  <a:pt x="361556" y="102958"/>
                </a:lnTo>
                <a:lnTo>
                  <a:pt x="361556" y="89598"/>
                </a:lnTo>
                <a:close/>
              </a:path>
              <a:path w="895985" h="191135">
                <a:moveTo>
                  <a:pt x="177152" y="145122"/>
                </a:moveTo>
                <a:lnTo>
                  <a:pt x="0" y="145122"/>
                </a:lnTo>
                <a:lnTo>
                  <a:pt x="0" y="158572"/>
                </a:lnTo>
                <a:lnTo>
                  <a:pt x="177152" y="158572"/>
                </a:lnTo>
                <a:lnTo>
                  <a:pt x="177152" y="145122"/>
                </a:lnTo>
                <a:close/>
              </a:path>
              <a:path w="895985" h="191135">
                <a:moveTo>
                  <a:pt x="60375" y="80264"/>
                </a:moveTo>
                <a:lnTo>
                  <a:pt x="45821" y="80264"/>
                </a:lnTo>
                <a:lnTo>
                  <a:pt x="45821" y="145122"/>
                </a:lnTo>
                <a:lnTo>
                  <a:pt x="60375" y="145122"/>
                </a:lnTo>
                <a:lnTo>
                  <a:pt x="60375" y="80264"/>
                </a:lnTo>
                <a:close/>
              </a:path>
              <a:path w="895985" h="191135">
                <a:moveTo>
                  <a:pt x="108864" y="80264"/>
                </a:moveTo>
                <a:lnTo>
                  <a:pt x="94221" y="80264"/>
                </a:lnTo>
                <a:lnTo>
                  <a:pt x="94221" y="145122"/>
                </a:lnTo>
                <a:lnTo>
                  <a:pt x="108864" y="145122"/>
                </a:lnTo>
                <a:lnTo>
                  <a:pt x="108864" y="80264"/>
                </a:lnTo>
                <a:close/>
              </a:path>
              <a:path w="895985" h="191135">
                <a:moveTo>
                  <a:pt x="151815" y="18034"/>
                </a:moveTo>
                <a:lnTo>
                  <a:pt x="23063" y="18034"/>
                </a:lnTo>
                <a:lnTo>
                  <a:pt x="23063" y="31369"/>
                </a:lnTo>
                <a:lnTo>
                  <a:pt x="136575" y="31369"/>
                </a:lnTo>
                <a:lnTo>
                  <a:pt x="136575" y="59182"/>
                </a:lnTo>
                <a:lnTo>
                  <a:pt x="136402" y="75046"/>
                </a:lnTo>
                <a:lnTo>
                  <a:pt x="135882" y="90431"/>
                </a:lnTo>
                <a:lnTo>
                  <a:pt x="135016" y="105343"/>
                </a:lnTo>
                <a:lnTo>
                  <a:pt x="133807" y="119786"/>
                </a:lnTo>
                <a:lnTo>
                  <a:pt x="148361" y="121462"/>
                </a:lnTo>
                <a:lnTo>
                  <a:pt x="149870" y="104723"/>
                </a:lnTo>
                <a:lnTo>
                  <a:pt x="150950" y="88760"/>
                </a:lnTo>
                <a:lnTo>
                  <a:pt x="151599" y="73578"/>
                </a:lnTo>
                <a:lnTo>
                  <a:pt x="151815" y="59182"/>
                </a:lnTo>
                <a:lnTo>
                  <a:pt x="151815" y="18034"/>
                </a:lnTo>
                <a:close/>
              </a:path>
              <a:path w="895985" h="191135">
                <a:moveTo>
                  <a:pt x="456590" y="17018"/>
                </a:moveTo>
                <a:lnTo>
                  <a:pt x="380187" y="17018"/>
                </a:lnTo>
                <a:lnTo>
                  <a:pt x="380187" y="135216"/>
                </a:lnTo>
                <a:lnTo>
                  <a:pt x="456590" y="135216"/>
                </a:lnTo>
                <a:lnTo>
                  <a:pt x="456590" y="122250"/>
                </a:lnTo>
                <a:lnTo>
                  <a:pt x="394741" y="122250"/>
                </a:lnTo>
                <a:lnTo>
                  <a:pt x="394741" y="29972"/>
                </a:lnTo>
                <a:lnTo>
                  <a:pt x="456590" y="29972"/>
                </a:lnTo>
                <a:lnTo>
                  <a:pt x="456590" y="17018"/>
                </a:lnTo>
                <a:close/>
              </a:path>
              <a:path w="895985" h="191135">
                <a:moveTo>
                  <a:pt x="456590" y="29972"/>
                </a:moveTo>
                <a:lnTo>
                  <a:pt x="441947" y="29972"/>
                </a:lnTo>
                <a:lnTo>
                  <a:pt x="441947" y="122250"/>
                </a:lnTo>
                <a:lnTo>
                  <a:pt x="456590" y="122250"/>
                </a:lnTo>
                <a:lnTo>
                  <a:pt x="456590" y="29972"/>
                </a:lnTo>
                <a:close/>
              </a:path>
              <a:path w="895985" h="191135">
                <a:moveTo>
                  <a:pt x="895985" y="0"/>
                </a:moveTo>
                <a:lnTo>
                  <a:pt x="881126" y="0"/>
                </a:lnTo>
                <a:lnTo>
                  <a:pt x="881126" y="66548"/>
                </a:lnTo>
                <a:lnTo>
                  <a:pt x="836930" y="66548"/>
                </a:lnTo>
                <a:lnTo>
                  <a:pt x="836930" y="79756"/>
                </a:lnTo>
                <a:lnTo>
                  <a:pt x="881126" y="79756"/>
                </a:lnTo>
                <a:lnTo>
                  <a:pt x="881126" y="190944"/>
                </a:lnTo>
                <a:lnTo>
                  <a:pt x="895985" y="190944"/>
                </a:lnTo>
                <a:lnTo>
                  <a:pt x="895985" y="0"/>
                </a:lnTo>
                <a:close/>
              </a:path>
              <a:path w="895985" h="191135">
                <a:moveTo>
                  <a:pt x="804913" y="29845"/>
                </a:moveTo>
                <a:lnTo>
                  <a:pt x="790066" y="29845"/>
                </a:lnTo>
                <a:lnTo>
                  <a:pt x="790066" y="45847"/>
                </a:lnTo>
                <a:lnTo>
                  <a:pt x="789240" y="58565"/>
                </a:lnTo>
                <a:lnTo>
                  <a:pt x="776859" y="96278"/>
                </a:lnTo>
                <a:lnTo>
                  <a:pt x="751664" y="128405"/>
                </a:lnTo>
                <a:lnTo>
                  <a:pt x="740879" y="136804"/>
                </a:lnTo>
                <a:lnTo>
                  <a:pt x="751966" y="147002"/>
                </a:lnTo>
                <a:lnTo>
                  <a:pt x="780770" y="115976"/>
                </a:lnTo>
                <a:lnTo>
                  <a:pt x="797585" y="82562"/>
                </a:lnTo>
                <a:lnTo>
                  <a:pt x="812343" y="82562"/>
                </a:lnTo>
                <a:lnTo>
                  <a:pt x="808315" y="70742"/>
                </a:lnTo>
                <a:lnTo>
                  <a:pt x="805763" y="58071"/>
                </a:lnTo>
                <a:lnTo>
                  <a:pt x="804955" y="45847"/>
                </a:lnTo>
                <a:lnTo>
                  <a:pt x="804913" y="29845"/>
                </a:lnTo>
                <a:close/>
              </a:path>
              <a:path w="895985" h="191135">
                <a:moveTo>
                  <a:pt x="812343" y="82562"/>
                </a:moveTo>
                <a:lnTo>
                  <a:pt x="797585" y="82562"/>
                </a:lnTo>
                <a:lnTo>
                  <a:pt x="804164" y="98781"/>
                </a:lnTo>
                <a:lnTo>
                  <a:pt x="813995" y="114480"/>
                </a:lnTo>
                <a:lnTo>
                  <a:pt x="827076" y="129661"/>
                </a:lnTo>
                <a:lnTo>
                  <a:pt x="843407" y="144322"/>
                </a:lnTo>
                <a:lnTo>
                  <a:pt x="853566" y="132943"/>
                </a:lnTo>
                <a:lnTo>
                  <a:pt x="843304" y="125742"/>
                </a:lnTo>
                <a:lnTo>
                  <a:pt x="834042" y="117108"/>
                </a:lnTo>
                <a:lnTo>
                  <a:pt x="825737" y="106965"/>
                </a:lnTo>
                <a:lnTo>
                  <a:pt x="818527" y="95529"/>
                </a:lnTo>
                <a:lnTo>
                  <a:pt x="812569" y="83227"/>
                </a:lnTo>
                <a:lnTo>
                  <a:pt x="812343" y="82562"/>
                </a:lnTo>
                <a:close/>
              </a:path>
              <a:path w="895985" h="191135">
                <a:moveTo>
                  <a:pt x="846835" y="16637"/>
                </a:moveTo>
                <a:lnTo>
                  <a:pt x="748601" y="16637"/>
                </a:lnTo>
                <a:lnTo>
                  <a:pt x="748601" y="29845"/>
                </a:lnTo>
                <a:lnTo>
                  <a:pt x="846835" y="29845"/>
                </a:lnTo>
                <a:lnTo>
                  <a:pt x="846835" y="16637"/>
                </a:lnTo>
                <a:close/>
              </a:path>
              <a:path w="895985" h="191135">
                <a:moveTo>
                  <a:pt x="588644" y="16256"/>
                </a:moveTo>
                <a:lnTo>
                  <a:pt x="573900" y="16256"/>
                </a:lnTo>
                <a:lnTo>
                  <a:pt x="573900" y="135026"/>
                </a:lnTo>
                <a:lnTo>
                  <a:pt x="615653" y="134747"/>
                </a:lnTo>
                <a:lnTo>
                  <a:pt x="647680" y="133911"/>
                </a:lnTo>
                <a:lnTo>
                  <a:pt x="669983" y="132518"/>
                </a:lnTo>
                <a:lnTo>
                  <a:pt x="682561" y="130568"/>
                </a:lnTo>
                <a:lnTo>
                  <a:pt x="681278" y="121856"/>
                </a:lnTo>
                <a:lnTo>
                  <a:pt x="588644" y="121856"/>
                </a:lnTo>
                <a:lnTo>
                  <a:pt x="588644" y="16256"/>
                </a:lnTo>
                <a:close/>
              </a:path>
              <a:path w="895985" h="191135">
                <a:moveTo>
                  <a:pt x="680681" y="117805"/>
                </a:moveTo>
                <a:lnTo>
                  <a:pt x="667987" y="119579"/>
                </a:lnTo>
                <a:lnTo>
                  <a:pt x="650592" y="120845"/>
                </a:lnTo>
                <a:lnTo>
                  <a:pt x="628496" y="121603"/>
                </a:lnTo>
                <a:lnTo>
                  <a:pt x="601700" y="121856"/>
                </a:lnTo>
                <a:lnTo>
                  <a:pt x="681278" y="121856"/>
                </a:lnTo>
                <a:lnTo>
                  <a:pt x="680681" y="117805"/>
                </a:lnTo>
                <a:close/>
              </a:path>
              <a:path w="895985" h="191135">
                <a:moveTo>
                  <a:pt x="272986" y="1778"/>
                </a:moveTo>
                <a:lnTo>
                  <a:pt x="227901" y="11303"/>
                </a:lnTo>
                <a:lnTo>
                  <a:pt x="212013" y="37592"/>
                </a:lnTo>
                <a:lnTo>
                  <a:pt x="212994" y="45354"/>
                </a:lnTo>
                <a:lnTo>
                  <a:pt x="246865" y="70643"/>
                </a:lnTo>
                <a:lnTo>
                  <a:pt x="272986" y="73025"/>
                </a:lnTo>
                <a:lnTo>
                  <a:pt x="286909" y="72429"/>
                </a:lnTo>
                <a:lnTo>
                  <a:pt x="299096" y="70643"/>
                </a:lnTo>
                <a:lnTo>
                  <a:pt x="309546" y="67667"/>
                </a:lnTo>
                <a:lnTo>
                  <a:pt x="318262" y="63500"/>
                </a:lnTo>
                <a:lnTo>
                  <a:pt x="322289" y="60452"/>
                </a:lnTo>
                <a:lnTo>
                  <a:pt x="272986" y="60452"/>
                </a:lnTo>
                <a:lnTo>
                  <a:pt x="262318" y="60071"/>
                </a:lnTo>
                <a:lnTo>
                  <a:pt x="227558" y="44704"/>
                </a:lnTo>
                <a:lnTo>
                  <a:pt x="227558" y="37592"/>
                </a:lnTo>
                <a:lnTo>
                  <a:pt x="230397" y="27424"/>
                </a:lnTo>
                <a:lnTo>
                  <a:pt x="238913" y="20161"/>
                </a:lnTo>
                <a:lnTo>
                  <a:pt x="253110" y="15803"/>
                </a:lnTo>
                <a:lnTo>
                  <a:pt x="272986" y="14351"/>
                </a:lnTo>
                <a:lnTo>
                  <a:pt x="322121" y="14351"/>
                </a:lnTo>
                <a:lnTo>
                  <a:pt x="318058" y="11303"/>
                </a:lnTo>
                <a:lnTo>
                  <a:pt x="309283" y="7135"/>
                </a:lnTo>
                <a:lnTo>
                  <a:pt x="298846" y="4159"/>
                </a:lnTo>
                <a:lnTo>
                  <a:pt x="286747" y="2373"/>
                </a:lnTo>
                <a:lnTo>
                  <a:pt x="272986" y="1778"/>
                </a:lnTo>
                <a:close/>
              </a:path>
              <a:path w="895985" h="191135">
                <a:moveTo>
                  <a:pt x="322121" y="14351"/>
                </a:moveTo>
                <a:lnTo>
                  <a:pt x="272986" y="14351"/>
                </a:lnTo>
                <a:lnTo>
                  <a:pt x="292857" y="15803"/>
                </a:lnTo>
                <a:lnTo>
                  <a:pt x="307054" y="20161"/>
                </a:lnTo>
                <a:lnTo>
                  <a:pt x="315573" y="27424"/>
                </a:lnTo>
                <a:lnTo>
                  <a:pt x="318414" y="37592"/>
                </a:lnTo>
                <a:lnTo>
                  <a:pt x="318414" y="44704"/>
                </a:lnTo>
                <a:lnTo>
                  <a:pt x="272986" y="60452"/>
                </a:lnTo>
                <a:lnTo>
                  <a:pt x="322289" y="60452"/>
                </a:lnTo>
                <a:lnTo>
                  <a:pt x="325122" y="58308"/>
                </a:lnTo>
                <a:lnTo>
                  <a:pt x="330023" y="52260"/>
                </a:lnTo>
                <a:lnTo>
                  <a:pt x="332965" y="45354"/>
                </a:lnTo>
                <a:lnTo>
                  <a:pt x="333946" y="37592"/>
                </a:lnTo>
                <a:lnTo>
                  <a:pt x="332953" y="29662"/>
                </a:lnTo>
                <a:lnTo>
                  <a:pt x="329974" y="22637"/>
                </a:lnTo>
                <a:lnTo>
                  <a:pt x="325009" y="16517"/>
                </a:lnTo>
                <a:lnTo>
                  <a:pt x="322121" y="14351"/>
                </a:lnTo>
                <a:close/>
              </a:path>
              <a:path w="895985" h="191135">
                <a:moveTo>
                  <a:pt x="711962" y="0"/>
                </a:moveTo>
                <a:lnTo>
                  <a:pt x="697115" y="0"/>
                </a:lnTo>
                <a:lnTo>
                  <a:pt x="697115" y="190944"/>
                </a:lnTo>
                <a:lnTo>
                  <a:pt x="711962" y="190944"/>
                </a:lnTo>
                <a:lnTo>
                  <a:pt x="711962" y="0"/>
                </a:lnTo>
                <a:close/>
              </a:path>
              <a:path w="895985" h="191135">
                <a:moveTo>
                  <a:pt x="531418" y="91274"/>
                </a:moveTo>
                <a:lnTo>
                  <a:pt x="516572" y="91274"/>
                </a:lnTo>
                <a:lnTo>
                  <a:pt x="516572" y="190944"/>
                </a:lnTo>
                <a:lnTo>
                  <a:pt x="531418" y="190944"/>
                </a:lnTo>
                <a:lnTo>
                  <a:pt x="531418" y="91274"/>
                </a:lnTo>
                <a:close/>
              </a:path>
              <a:path w="895985" h="191135">
                <a:moveTo>
                  <a:pt x="492620" y="3937"/>
                </a:moveTo>
                <a:lnTo>
                  <a:pt x="478066" y="3937"/>
                </a:lnTo>
                <a:lnTo>
                  <a:pt x="478066" y="185102"/>
                </a:lnTo>
                <a:lnTo>
                  <a:pt x="492620" y="185102"/>
                </a:lnTo>
                <a:lnTo>
                  <a:pt x="492620" y="91274"/>
                </a:lnTo>
                <a:lnTo>
                  <a:pt x="531418" y="91274"/>
                </a:lnTo>
                <a:lnTo>
                  <a:pt x="531418" y="77978"/>
                </a:lnTo>
                <a:lnTo>
                  <a:pt x="492620" y="77978"/>
                </a:lnTo>
                <a:lnTo>
                  <a:pt x="492620" y="3937"/>
                </a:lnTo>
                <a:close/>
              </a:path>
              <a:path w="895985" h="191135">
                <a:moveTo>
                  <a:pt x="531418" y="0"/>
                </a:moveTo>
                <a:lnTo>
                  <a:pt x="516572" y="0"/>
                </a:lnTo>
                <a:lnTo>
                  <a:pt x="516572" y="77978"/>
                </a:lnTo>
                <a:lnTo>
                  <a:pt x="531418" y="77978"/>
                </a:lnTo>
                <a:lnTo>
                  <a:pt x="5314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475105" y="3859784"/>
            <a:ext cx="22225" cy="109220"/>
          </a:xfrm>
          <a:custGeom>
            <a:avLst/>
            <a:gdLst/>
            <a:ahLst/>
            <a:cxnLst/>
            <a:rect l="l" t="t" r="r" b="b"/>
            <a:pathLst>
              <a:path w="22225" h="109220">
                <a:moveTo>
                  <a:pt x="13842" y="86525"/>
                </a:moveTo>
                <a:lnTo>
                  <a:pt x="8000" y="86525"/>
                </a:lnTo>
                <a:lnTo>
                  <a:pt x="5460" y="87604"/>
                </a:lnTo>
                <a:lnTo>
                  <a:pt x="1142" y="91884"/>
                </a:lnTo>
                <a:lnTo>
                  <a:pt x="0" y="94513"/>
                </a:lnTo>
                <a:lnTo>
                  <a:pt x="0" y="100647"/>
                </a:lnTo>
                <a:lnTo>
                  <a:pt x="1142" y="103238"/>
                </a:lnTo>
                <a:lnTo>
                  <a:pt x="5460" y="107530"/>
                </a:lnTo>
                <a:lnTo>
                  <a:pt x="8000" y="108597"/>
                </a:lnTo>
                <a:lnTo>
                  <a:pt x="13842" y="108597"/>
                </a:lnTo>
                <a:lnTo>
                  <a:pt x="16509" y="107492"/>
                </a:lnTo>
                <a:lnTo>
                  <a:pt x="18541" y="105282"/>
                </a:lnTo>
                <a:lnTo>
                  <a:pt x="20700" y="103073"/>
                </a:lnTo>
                <a:lnTo>
                  <a:pt x="21787" y="100647"/>
                </a:lnTo>
                <a:lnTo>
                  <a:pt x="21843" y="94513"/>
                </a:lnTo>
                <a:lnTo>
                  <a:pt x="20700" y="91884"/>
                </a:lnTo>
                <a:lnTo>
                  <a:pt x="16382" y="87604"/>
                </a:lnTo>
                <a:lnTo>
                  <a:pt x="13842" y="86525"/>
                </a:lnTo>
                <a:close/>
              </a:path>
              <a:path w="22225" h="109220">
                <a:moveTo>
                  <a:pt x="13842" y="0"/>
                </a:moveTo>
                <a:lnTo>
                  <a:pt x="8000" y="0"/>
                </a:lnTo>
                <a:lnTo>
                  <a:pt x="5460" y="1142"/>
                </a:lnTo>
                <a:lnTo>
                  <a:pt x="3301" y="3301"/>
                </a:lnTo>
                <a:lnTo>
                  <a:pt x="1142" y="5333"/>
                </a:lnTo>
                <a:lnTo>
                  <a:pt x="0" y="8000"/>
                </a:lnTo>
                <a:lnTo>
                  <a:pt x="0" y="14147"/>
                </a:lnTo>
                <a:lnTo>
                  <a:pt x="1142" y="16738"/>
                </a:lnTo>
                <a:lnTo>
                  <a:pt x="5460" y="21031"/>
                </a:lnTo>
                <a:lnTo>
                  <a:pt x="8000" y="22097"/>
                </a:lnTo>
                <a:lnTo>
                  <a:pt x="13842" y="22097"/>
                </a:lnTo>
                <a:lnTo>
                  <a:pt x="16509" y="21031"/>
                </a:lnTo>
                <a:lnTo>
                  <a:pt x="18541" y="18884"/>
                </a:lnTo>
                <a:lnTo>
                  <a:pt x="20700" y="16738"/>
                </a:lnTo>
                <a:lnTo>
                  <a:pt x="21843" y="14147"/>
                </a:lnTo>
                <a:lnTo>
                  <a:pt x="21843" y="8000"/>
                </a:lnTo>
                <a:lnTo>
                  <a:pt x="20700" y="5333"/>
                </a:lnTo>
                <a:lnTo>
                  <a:pt x="18541" y="3301"/>
                </a:lnTo>
                <a:lnTo>
                  <a:pt x="16382" y="1142"/>
                </a:lnTo>
                <a:lnTo>
                  <a:pt x="138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561719" y="3792982"/>
            <a:ext cx="537210" cy="191135"/>
          </a:xfrm>
          <a:custGeom>
            <a:avLst/>
            <a:gdLst/>
            <a:ahLst/>
            <a:cxnLst/>
            <a:rect l="l" t="t" r="r" b="b"/>
            <a:pathLst>
              <a:path w="537210" h="191135">
                <a:moveTo>
                  <a:pt x="220091" y="130962"/>
                </a:moveTo>
                <a:lnTo>
                  <a:pt x="205105" y="130962"/>
                </a:lnTo>
                <a:lnTo>
                  <a:pt x="205105" y="184505"/>
                </a:lnTo>
                <a:lnTo>
                  <a:pt x="327532" y="184505"/>
                </a:lnTo>
                <a:lnTo>
                  <a:pt x="327532" y="171348"/>
                </a:lnTo>
                <a:lnTo>
                  <a:pt x="220091" y="171348"/>
                </a:lnTo>
                <a:lnTo>
                  <a:pt x="220091" y="130962"/>
                </a:lnTo>
                <a:close/>
              </a:path>
              <a:path w="537210" h="191135">
                <a:moveTo>
                  <a:pt x="149860" y="116814"/>
                </a:moveTo>
                <a:lnTo>
                  <a:pt x="32893" y="116814"/>
                </a:lnTo>
                <a:lnTo>
                  <a:pt x="32893" y="185699"/>
                </a:lnTo>
                <a:lnTo>
                  <a:pt x="149860" y="185699"/>
                </a:lnTo>
                <a:lnTo>
                  <a:pt x="149860" y="172732"/>
                </a:lnTo>
                <a:lnTo>
                  <a:pt x="47371" y="172732"/>
                </a:lnTo>
                <a:lnTo>
                  <a:pt x="47371" y="129971"/>
                </a:lnTo>
                <a:lnTo>
                  <a:pt x="149860" y="129971"/>
                </a:lnTo>
                <a:lnTo>
                  <a:pt x="149860" y="116814"/>
                </a:lnTo>
                <a:close/>
              </a:path>
              <a:path w="537210" h="191135">
                <a:moveTo>
                  <a:pt x="149860" y="129971"/>
                </a:moveTo>
                <a:lnTo>
                  <a:pt x="135255" y="129971"/>
                </a:lnTo>
                <a:lnTo>
                  <a:pt x="135255" y="172732"/>
                </a:lnTo>
                <a:lnTo>
                  <a:pt x="149860" y="172732"/>
                </a:lnTo>
                <a:lnTo>
                  <a:pt x="149860" y="129971"/>
                </a:lnTo>
                <a:close/>
              </a:path>
              <a:path w="537210" h="191135">
                <a:moveTo>
                  <a:pt x="456056" y="114134"/>
                </a:moveTo>
                <a:lnTo>
                  <a:pt x="440944" y="114134"/>
                </a:lnTo>
                <a:lnTo>
                  <a:pt x="440944" y="190944"/>
                </a:lnTo>
                <a:lnTo>
                  <a:pt x="456056" y="190944"/>
                </a:lnTo>
                <a:lnTo>
                  <a:pt x="456056" y="114134"/>
                </a:lnTo>
                <a:close/>
              </a:path>
              <a:path w="537210" h="191135">
                <a:moveTo>
                  <a:pt x="537082" y="100977"/>
                </a:moveTo>
                <a:lnTo>
                  <a:pt x="359918" y="100977"/>
                </a:lnTo>
                <a:lnTo>
                  <a:pt x="359918" y="114134"/>
                </a:lnTo>
                <a:lnTo>
                  <a:pt x="537082" y="114134"/>
                </a:lnTo>
                <a:lnTo>
                  <a:pt x="537082" y="100977"/>
                </a:lnTo>
                <a:close/>
              </a:path>
              <a:path w="537210" h="191135">
                <a:moveTo>
                  <a:pt x="352679" y="98894"/>
                </a:moveTo>
                <a:lnTo>
                  <a:pt x="175513" y="98894"/>
                </a:lnTo>
                <a:lnTo>
                  <a:pt x="175513" y="112356"/>
                </a:lnTo>
                <a:lnTo>
                  <a:pt x="352679" y="112356"/>
                </a:lnTo>
                <a:lnTo>
                  <a:pt x="352679" y="98894"/>
                </a:lnTo>
                <a:close/>
              </a:path>
              <a:path w="537210" h="191135">
                <a:moveTo>
                  <a:pt x="264032" y="3302"/>
                </a:moveTo>
                <a:lnTo>
                  <a:pt x="220218" y="13843"/>
                </a:lnTo>
                <a:lnTo>
                  <a:pt x="204724" y="41402"/>
                </a:lnTo>
                <a:lnTo>
                  <a:pt x="205700" y="49476"/>
                </a:lnTo>
                <a:lnTo>
                  <a:pt x="238998" y="77025"/>
                </a:lnTo>
                <a:lnTo>
                  <a:pt x="264032" y="79756"/>
                </a:lnTo>
                <a:lnTo>
                  <a:pt x="277346" y="79069"/>
                </a:lnTo>
                <a:lnTo>
                  <a:pt x="289099" y="77025"/>
                </a:lnTo>
                <a:lnTo>
                  <a:pt x="299305" y="73648"/>
                </a:lnTo>
                <a:lnTo>
                  <a:pt x="307975" y="68961"/>
                </a:lnTo>
                <a:lnTo>
                  <a:pt x="310411" y="66929"/>
                </a:lnTo>
                <a:lnTo>
                  <a:pt x="264032" y="66929"/>
                </a:lnTo>
                <a:lnTo>
                  <a:pt x="254222" y="66498"/>
                </a:lnTo>
                <a:lnTo>
                  <a:pt x="220091" y="49149"/>
                </a:lnTo>
                <a:lnTo>
                  <a:pt x="220091" y="33655"/>
                </a:lnTo>
                <a:lnTo>
                  <a:pt x="254222" y="16303"/>
                </a:lnTo>
                <a:lnTo>
                  <a:pt x="264032" y="15875"/>
                </a:lnTo>
                <a:lnTo>
                  <a:pt x="310430" y="15875"/>
                </a:lnTo>
                <a:lnTo>
                  <a:pt x="307975" y="13843"/>
                </a:lnTo>
                <a:lnTo>
                  <a:pt x="299376" y="9249"/>
                </a:lnTo>
                <a:lnTo>
                  <a:pt x="289194" y="5953"/>
                </a:lnTo>
                <a:lnTo>
                  <a:pt x="277417" y="3966"/>
                </a:lnTo>
                <a:lnTo>
                  <a:pt x="264032" y="3302"/>
                </a:lnTo>
                <a:close/>
              </a:path>
              <a:path w="537210" h="191135">
                <a:moveTo>
                  <a:pt x="310430" y="15875"/>
                </a:moveTo>
                <a:lnTo>
                  <a:pt x="264032" y="15875"/>
                </a:lnTo>
                <a:lnTo>
                  <a:pt x="273917" y="16303"/>
                </a:lnTo>
                <a:lnTo>
                  <a:pt x="282622" y="17589"/>
                </a:lnTo>
                <a:lnTo>
                  <a:pt x="290161" y="19732"/>
                </a:lnTo>
                <a:lnTo>
                  <a:pt x="296544" y="22733"/>
                </a:lnTo>
                <a:lnTo>
                  <a:pt x="304164" y="27432"/>
                </a:lnTo>
                <a:lnTo>
                  <a:pt x="307975" y="33655"/>
                </a:lnTo>
                <a:lnTo>
                  <a:pt x="307975" y="49149"/>
                </a:lnTo>
                <a:lnTo>
                  <a:pt x="273917" y="66498"/>
                </a:lnTo>
                <a:lnTo>
                  <a:pt x="264032" y="66929"/>
                </a:lnTo>
                <a:lnTo>
                  <a:pt x="310411" y="66929"/>
                </a:lnTo>
                <a:lnTo>
                  <a:pt x="314829" y="63244"/>
                </a:lnTo>
                <a:lnTo>
                  <a:pt x="319754" y="56753"/>
                </a:lnTo>
                <a:lnTo>
                  <a:pt x="322726" y="49476"/>
                </a:lnTo>
                <a:lnTo>
                  <a:pt x="323723" y="41402"/>
                </a:lnTo>
                <a:lnTo>
                  <a:pt x="322744" y="33327"/>
                </a:lnTo>
                <a:lnTo>
                  <a:pt x="319801" y="26050"/>
                </a:lnTo>
                <a:lnTo>
                  <a:pt x="314882" y="19559"/>
                </a:lnTo>
                <a:lnTo>
                  <a:pt x="310430" y="15875"/>
                </a:lnTo>
                <a:close/>
              </a:path>
              <a:path w="537210" h="191135">
                <a:moveTo>
                  <a:pt x="96647" y="9144"/>
                </a:moveTo>
                <a:lnTo>
                  <a:pt x="12192" y="9144"/>
                </a:lnTo>
                <a:lnTo>
                  <a:pt x="12192" y="22352"/>
                </a:lnTo>
                <a:lnTo>
                  <a:pt x="80137" y="22352"/>
                </a:lnTo>
                <a:lnTo>
                  <a:pt x="77160" y="33589"/>
                </a:lnTo>
                <a:lnTo>
                  <a:pt x="55371" y="66040"/>
                </a:lnTo>
                <a:lnTo>
                  <a:pt x="16331" y="91786"/>
                </a:lnTo>
                <a:lnTo>
                  <a:pt x="0" y="97904"/>
                </a:lnTo>
                <a:lnTo>
                  <a:pt x="10414" y="109689"/>
                </a:lnTo>
                <a:lnTo>
                  <a:pt x="48434" y="89641"/>
                </a:lnTo>
                <a:lnTo>
                  <a:pt x="84645" y="51327"/>
                </a:lnTo>
                <a:lnTo>
                  <a:pt x="95313" y="23427"/>
                </a:lnTo>
                <a:lnTo>
                  <a:pt x="96647" y="9144"/>
                </a:lnTo>
                <a:close/>
              </a:path>
              <a:path w="537210" h="191135">
                <a:moveTo>
                  <a:pt x="456183" y="20320"/>
                </a:moveTo>
                <a:lnTo>
                  <a:pt x="440563" y="20320"/>
                </a:lnTo>
                <a:lnTo>
                  <a:pt x="437703" y="28700"/>
                </a:lnTo>
                <a:lnTo>
                  <a:pt x="432546" y="36687"/>
                </a:lnTo>
                <a:lnTo>
                  <a:pt x="392334" y="62452"/>
                </a:lnTo>
                <a:lnTo>
                  <a:pt x="367283" y="67945"/>
                </a:lnTo>
                <a:lnTo>
                  <a:pt x="376300" y="80264"/>
                </a:lnTo>
                <a:lnTo>
                  <a:pt x="420497" y="63627"/>
                </a:lnTo>
                <a:lnTo>
                  <a:pt x="448437" y="38354"/>
                </a:lnTo>
                <a:lnTo>
                  <a:pt x="465615" y="38354"/>
                </a:lnTo>
                <a:lnTo>
                  <a:pt x="464089" y="36798"/>
                </a:lnTo>
                <a:lnTo>
                  <a:pt x="459017" y="28821"/>
                </a:lnTo>
                <a:lnTo>
                  <a:pt x="456183" y="20320"/>
                </a:lnTo>
                <a:close/>
              </a:path>
              <a:path w="537210" h="191135">
                <a:moveTo>
                  <a:pt x="465615" y="38354"/>
                </a:moveTo>
                <a:lnTo>
                  <a:pt x="448437" y="38354"/>
                </a:lnTo>
                <a:lnTo>
                  <a:pt x="453028" y="44638"/>
                </a:lnTo>
                <a:lnTo>
                  <a:pt x="487880" y="69066"/>
                </a:lnTo>
                <a:lnTo>
                  <a:pt x="521081" y="79121"/>
                </a:lnTo>
                <a:lnTo>
                  <a:pt x="529717" y="67183"/>
                </a:lnTo>
                <a:lnTo>
                  <a:pt x="516382" y="65182"/>
                </a:lnTo>
                <a:lnTo>
                  <a:pt x="503809" y="61849"/>
                </a:lnTo>
                <a:lnTo>
                  <a:pt x="491998" y="57181"/>
                </a:lnTo>
                <a:lnTo>
                  <a:pt x="480949" y="51181"/>
                </a:lnTo>
                <a:lnTo>
                  <a:pt x="471400" y="44251"/>
                </a:lnTo>
                <a:lnTo>
                  <a:pt x="465615" y="38354"/>
                </a:lnTo>
                <a:close/>
              </a:path>
              <a:path w="537210" h="191135">
                <a:moveTo>
                  <a:pt x="517398" y="7112"/>
                </a:moveTo>
                <a:lnTo>
                  <a:pt x="379603" y="7112"/>
                </a:lnTo>
                <a:lnTo>
                  <a:pt x="379603" y="20320"/>
                </a:lnTo>
                <a:lnTo>
                  <a:pt x="517398" y="20320"/>
                </a:lnTo>
                <a:lnTo>
                  <a:pt x="517398" y="7112"/>
                </a:lnTo>
                <a:close/>
              </a:path>
              <a:path w="537210" h="191135">
                <a:moveTo>
                  <a:pt x="149860" y="0"/>
                </a:moveTo>
                <a:lnTo>
                  <a:pt x="135000" y="0"/>
                </a:lnTo>
                <a:lnTo>
                  <a:pt x="135000" y="106222"/>
                </a:lnTo>
                <a:lnTo>
                  <a:pt x="149860" y="106222"/>
                </a:lnTo>
                <a:lnTo>
                  <a:pt x="1498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09673" y="3812159"/>
            <a:ext cx="1592326" cy="20293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3D6BB-3E68-456F-B7A3-E10DD800BD8C}" type="datetime1">
              <a:rPr lang="en-US" altLang="ko-KR" smtClean="0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B51A4-CF6E-44BA-9838-F32135D39D8C}" type="datetime1">
              <a:rPr lang="en-US" altLang="ko-KR" smtClean="0"/>
              <a:t>3/30/2026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1200" y="4792949"/>
            <a:ext cx="587832" cy="2286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54546" y="242824"/>
            <a:ext cx="2663825" cy="0"/>
          </a:xfrm>
          <a:custGeom>
            <a:avLst/>
            <a:gdLst/>
            <a:ahLst/>
            <a:cxnLst/>
            <a:rect l="l" t="t" r="r" b="b"/>
            <a:pathLst>
              <a:path w="2663825">
                <a:moveTo>
                  <a:pt x="0" y="0"/>
                </a:moveTo>
                <a:lnTo>
                  <a:pt x="2663405" y="0"/>
                </a:lnTo>
              </a:path>
            </a:pathLst>
          </a:custGeom>
          <a:ln w="9525">
            <a:solidFill>
              <a:srgbClr val="0044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031045" y="244411"/>
            <a:ext cx="1550670" cy="0"/>
          </a:xfrm>
          <a:custGeom>
            <a:avLst/>
            <a:gdLst/>
            <a:ahLst/>
            <a:cxnLst/>
            <a:rect l="l" t="t" r="r" b="b"/>
            <a:pathLst>
              <a:path w="1550670">
                <a:moveTo>
                  <a:pt x="0" y="0"/>
                </a:moveTo>
                <a:lnTo>
                  <a:pt x="1550479" y="0"/>
                </a:lnTo>
              </a:path>
            </a:pathLst>
          </a:custGeom>
          <a:ln w="22098">
            <a:solidFill>
              <a:srgbClr val="CFCFC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581524" y="0"/>
            <a:ext cx="4562475" cy="5143500"/>
          </a:xfrm>
          <a:custGeom>
            <a:avLst/>
            <a:gdLst/>
            <a:ahLst/>
            <a:cxnLst/>
            <a:rect l="l" t="t" r="r" b="b"/>
            <a:pathLst>
              <a:path w="4562475" h="5143500">
                <a:moveTo>
                  <a:pt x="4562475" y="0"/>
                </a:moveTo>
                <a:lnTo>
                  <a:pt x="0" y="0"/>
                </a:lnTo>
                <a:lnTo>
                  <a:pt x="0" y="5143500"/>
                </a:lnTo>
                <a:lnTo>
                  <a:pt x="4562475" y="5143500"/>
                </a:lnTo>
                <a:lnTo>
                  <a:pt x="4562475" y="0"/>
                </a:lnTo>
                <a:close/>
              </a:path>
            </a:pathLst>
          </a:custGeom>
          <a:solidFill>
            <a:srgbClr val="0044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21AFF-CC83-491E-8F59-6FE3FA1C1961}" type="datetime1">
              <a:rPr lang="en-US" altLang="ko-KR" smtClean="0"/>
              <a:t>3/30/2026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6" name="object 16">
            <a:extLst>
              <a:ext uri="{FF2B5EF4-FFF2-40B4-BE49-F238E27FC236}">
                <a16:creationId xmlns:a16="http://schemas.microsoft.com/office/drawing/2014/main" id="{B5CBCAA1-83E5-E627-E58B-2B5A50BBCD67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8345536" y="4752975"/>
            <a:ext cx="646064" cy="2571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1200" y="4792949"/>
            <a:ext cx="587832" cy="2286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54546" y="242824"/>
            <a:ext cx="2663825" cy="0"/>
          </a:xfrm>
          <a:custGeom>
            <a:avLst/>
            <a:gdLst/>
            <a:ahLst/>
            <a:cxnLst/>
            <a:rect l="l" t="t" r="r" b="b"/>
            <a:pathLst>
              <a:path w="2663825">
                <a:moveTo>
                  <a:pt x="0" y="0"/>
                </a:moveTo>
                <a:lnTo>
                  <a:pt x="2663405" y="0"/>
                </a:lnTo>
              </a:path>
            </a:pathLst>
          </a:custGeom>
          <a:ln w="9525">
            <a:solidFill>
              <a:srgbClr val="0044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035807" y="238125"/>
            <a:ext cx="5848350" cy="12700"/>
          </a:xfrm>
          <a:custGeom>
            <a:avLst/>
            <a:gdLst/>
            <a:ahLst/>
            <a:cxnLst/>
            <a:rect l="l" t="t" r="r" b="b"/>
            <a:pathLst>
              <a:path w="5848350" h="12700">
                <a:moveTo>
                  <a:pt x="0" y="12573"/>
                </a:moveTo>
                <a:lnTo>
                  <a:pt x="5848096" y="0"/>
                </a:lnTo>
              </a:path>
            </a:pathLst>
          </a:custGeom>
          <a:ln w="9525">
            <a:solidFill>
              <a:srgbClr val="CFCFC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601BE-6D3B-40C3-A2C4-A8128260AB9B}" type="datetime1">
              <a:rPr lang="en-US" altLang="ko-KR" smtClean="0"/>
              <a:t>3/30/2026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65212"/>
            <a:ext cx="3886200" cy="7350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A2138-EC77-478C-B91A-412FB96A8DAB}" type="datetime1">
              <a:rPr lang="en-US" altLang="ko-KR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4895850"/>
            <a:ext cx="1066800" cy="182563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14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F9638-1E32-47CD-8493-B8150FE4FF41}" type="datetime1">
              <a:rPr lang="en-US" altLang="ko-KR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4895850"/>
            <a:ext cx="1066800" cy="182563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83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57" y="2203450"/>
            <a:ext cx="3886200" cy="681038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57" y="1453357"/>
            <a:ext cx="3886200" cy="750094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5BA7-AF2D-4854-9CDE-0D0B850A34D9}" type="datetime1">
              <a:rPr lang="en-US" altLang="ko-KR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4895850"/>
            <a:ext cx="1066800" cy="182563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08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241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48AF6-66C2-470C-AA6F-1C5D05C898AA}" type="datetime1">
              <a:rPr lang="en-US" altLang="ko-KR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01000" y="4895850"/>
            <a:ext cx="1066800" cy="182563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35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" y="1087438"/>
            <a:ext cx="2020094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22513" y="767556"/>
            <a:ext cx="2020888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22513" y="1087438"/>
            <a:ext cx="2020888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D743-E394-4194-8E15-A20D7DEFAE58}" type="datetime1">
              <a:rPr lang="en-US" altLang="ko-KR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001000" y="4895850"/>
            <a:ext cx="1066800" cy="182563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33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78A83-5C11-4BC1-943B-C566A8EE53B9}" type="datetime1">
              <a:rPr lang="en-US" altLang="ko-KR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001000" y="4895850"/>
            <a:ext cx="1066800" cy="182563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95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E490-0DE3-4BAF-AD13-4334BA56D938}" type="datetime1">
              <a:rPr lang="en-US" altLang="ko-KR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01000" y="4895850"/>
            <a:ext cx="1066800" cy="182563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09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525" y="136525"/>
            <a:ext cx="2555875" cy="292655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717550"/>
            <a:ext cx="1504157" cy="2345532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90A20-9A40-4286-9D81-3AEB15501EFF}" type="datetime1">
              <a:rPr lang="en-US" altLang="ko-KR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01000" y="4895850"/>
            <a:ext cx="1066800" cy="182563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264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96144" y="306388"/>
            <a:ext cx="2743200" cy="2057400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44" y="2683669"/>
            <a:ext cx="2743200" cy="402431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2AA4F-7C2E-4E32-A331-760F817D5006}" type="datetime1">
              <a:rPr lang="en-US" altLang="ko-KR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01000" y="4895850"/>
            <a:ext cx="1066800" cy="182563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382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92CB-C4A9-49DE-9F8D-1291E1CFB456}" type="datetime1">
              <a:rPr lang="en-US" altLang="ko-KR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4895850"/>
            <a:ext cx="1066800" cy="182563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9277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14700" y="137319"/>
            <a:ext cx="1028700" cy="292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37319"/>
            <a:ext cx="3009900" cy="292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62A72-42D8-45E3-98E8-2F3E7D1DBB82}" type="datetime1">
              <a:rPr lang="en-US" altLang="ko-KR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4895850"/>
            <a:ext cx="1066800" cy="182563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416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>
  <p:cSld name="1_Blank"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31200" y="4792949"/>
            <a:ext cx="58783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2"/>
          <p:cNvSpPr/>
          <p:nvPr/>
        </p:nvSpPr>
        <p:spPr>
          <a:xfrm>
            <a:off x="254546" y="242824"/>
            <a:ext cx="2663825" cy="0"/>
          </a:xfrm>
          <a:custGeom>
            <a:avLst/>
            <a:gdLst/>
            <a:ahLst/>
            <a:cxnLst/>
            <a:rect l="l" t="t" r="r" b="b"/>
            <a:pathLst>
              <a:path w="2663825" h="120000" extrusionOk="0">
                <a:moveTo>
                  <a:pt x="0" y="0"/>
                </a:moveTo>
                <a:lnTo>
                  <a:pt x="2663405" y="0"/>
                </a:lnTo>
              </a:path>
            </a:pathLst>
          </a:custGeom>
          <a:noFill/>
          <a:ln w="9525" cap="flat" cmpd="sng">
            <a:solidFill>
              <a:srgbClr val="0044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5" name="Google Shape;95;p32"/>
          <p:cNvSpPr/>
          <p:nvPr/>
        </p:nvSpPr>
        <p:spPr>
          <a:xfrm>
            <a:off x="3035807" y="238125"/>
            <a:ext cx="5848350" cy="12700"/>
          </a:xfrm>
          <a:custGeom>
            <a:avLst/>
            <a:gdLst/>
            <a:ahLst/>
            <a:cxnLst/>
            <a:rect l="l" t="t" r="r" b="b"/>
            <a:pathLst>
              <a:path w="5848350" h="12700" extrusionOk="0">
                <a:moveTo>
                  <a:pt x="0" y="12573"/>
                </a:moveTo>
                <a:lnTo>
                  <a:pt x="5848096" y="0"/>
                </a:lnTo>
              </a:path>
            </a:pathLst>
          </a:custGeom>
          <a:noFill/>
          <a:ln w="9525" cap="flat" cmpd="sng">
            <a:solidFill>
              <a:srgbClr val="CF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6" name="Google Shape;96;p32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2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435C9CF-10F4-4A54-807C-B012493E1DCF}" type="datetime1">
              <a:rPr lang="en-US" altLang="ko-KR" smtClean="0"/>
              <a:t>3/30/2026</a:t>
            </a:fld>
            <a:endParaRPr/>
          </a:p>
        </p:txBody>
      </p:sp>
      <p:sp>
        <p:nvSpPr>
          <p:cNvPr id="98" name="Google Shape;98;p32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2422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31200" y="4792949"/>
            <a:ext cx="587832" cy="2286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54546" y="242824"/>
            <a:ext cx="2663825" cy="0"/>
          </a:xfrm>
          <a:custGeom>
            <a:avLst/>
            <a:gdLst/>
            <a:ahLst/>
            <a:cxnLst/>
            <a:rect l="l" t="t" r="r" b="b"/>
            <a:pathLst>
              <a:path w="2663825">
                <a:moveTo>
                  <a:pt x="0" y="0"/>
                </a:moveTo>
                <a:lnTo>
                  <a:pt x="2663405" y="0"/>
                </a:lnTo>
              </a:path>
            </a:pathLst>
          </a:custGeom>
          <a:ln w="9525">
            <a:solidFill>
              <a:srgbClr val="0044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716" y="1446733"/>
            <a:ext cx="3743960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9E63D-055D-41D5-BA4F-EC19B7BDFCA3}" type="datetime1">
              <a:rPr lang="en-US" altLang="ko-KR" smtClean="0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520440" y="4917073"/>
            <a:ext cx="2103120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Pretendard" panose="02000503000000020004" pitchFamily="50" charset="-127"/>
          <a:ea typeface="+mj-ea"/>
          <a:cs typeface="Pretendard" panose="02000503000000020004" pitchFamily="50" charset="-127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E2B9D-13E8-40C3-B8C6-539A9DC2C217}" type="datetime1">
              <a:rPr lang="en-US" altLang="ko-KR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1000" y="4895850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9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microsoft.com/office/2007/relationships/hdphoto" Target="../media/hdphoto3.wdp"/><Relationship Id="rId5" Type="http://schemas.openxmlformats.org/officeDocument/2006/relationships/image" Target="../media/image16.png"/><Relationship Id="rId4" Type="http://schemas.microsoft.com/office/2007/relationships/hdphoto" Target="../media/hdphoto2.wdp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microsoft.com/office/2007/relationships/hdphoto" Target="../media/hdphoto4.wdp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5" Type="http://schemas.microsoft.com/office/2007/relationships/hdphoto" Target="../media/hdphoto4.wdp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6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0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B6C3B8-B4F9-316B-474D-3FDD88A51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36EC21E4-436B-C0C3-0FBB-B440A0B2A5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 rot="10800000">
            <a:off x="127000" y="0"/>
            <a:ext cx="9017000" cy="5143500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4B928FEC-788D-C7E7-6F4C-603EB2A3A27F}"/>
              </a:ext>
            </a:extLst>
          </p:cNvPr>
          <p:cNvSpPr txBox="1"/>
          <p:nvPr/>
        </p:nvSpPr>
        <p:spPr>
          <a:xfrm>
            <a:off x="381000" y="2178310"/>
            <a:ext cx="7245350" cy="762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ko-KR" sz="3600" b="1" spc="-3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2026 K-</a:t>
            </a:r>
            <a:r>
              <a:rPr lang="ko-KR" altLang="en-US" sz="3600" b="1" spc="-3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하이테크 플랫폼 사업 소개서</a:t>
            </a:r>
            <a:endParaRPr lang="ko-KR" altLang="en-US" sz="3600" spc="-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0822061-4C14-0C01-68F9-799C69DF302F}"/>
              </a:ext>
            </a:extLst>
          </p:cNvPr>
          <p:cNvSpPr txBox="1"/>
          <p:nvPr/>
        </p:nvSpPr>
        <p:spPr>
          <a:xfrm>
            <a:off x="412750" y="2873635"/>
            <a:ext cx="5537200" cy="2476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 defTabSz="457200" rtl="0">
              <a:lnSpc>
                <a:spcPct val="117777"/>
              </a:lnSpc>
            </a:pPr>
            <a:r>
              <a:rPr lang="en-US" altLang="ko-KR" sz="1400" spc="-15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1400" spc="-15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도구가 아니라</a:t>
            </a:r>
            <a:r>
              <a:rPr lang="en-US" altLang="ko-KR" sz="1400" spc="-15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spc="-15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변화의 시작입니다</a:t>
            </a:r>
            <a:r>
              <a:rPr lang="en-US" altLang="ko-KR" sz="1400" spc="-15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AX</a:t>
            </a:r>
            <a:r>
              <a:rPr lang="ko-KR" altLang="en-US" sz="1400" spc="-15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당신의 조직을 혁신하세요</a:t>
            </a:r>
            <a:r>
              <a:rPr lang="en-US" altLang="ko-KR" sz="1400" kern="1200" spc="-150" dirty="0">
                <a:solidFill>
                  <a:prstClr val="white">
                    <a:lumMod val="85000"/>
                  </a:prstClr>
                </a:solidFill>
                <a:latin typeface="Pretendard" panose="02000503000000020004" pitchFamily="50" charset="-127"/>
                <a:ea typeface="S-Core Dream 4 Regular" panose="020B0503030302020204" pitchFamily="34" charset="-127"/>
                <a:cs typeface="+mn-cs"/>
              </a:rPr>
              <a:t>.</a:t>
            </a:r>
            <a:endParaRPr lang="ko-KR" altLang="en-US" sz="1400" spc="-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24EE1878-4B82-AB42-2D01-31689CF376AF}"/>
              </a:ext>
            </a:extLst>
          </p:cNvPr>
          <p:cNvSpPr txBox="1"/>
          <p:nvPr/>
        </p:nvSpPr>
        <p:spPr>
          <a:xfrm>
            <a:off x="6248400" y="4810095"/>
            <a:ext cx="3003550" cy="200055"/>
          </a:xfrm>
          <a:prstGeom prst="rect">
            <a:avLst/>
          </a:prstGeom>
          <a:ln w="12700">
            <a:miter lim="400000"/>
          </a:ln>
        </p:spPr>
        <p:txBody>
          <a:bodyPr wrap="square" lIns="68579" rIns="68579">
            <a:spAutoFit/>
          </a:bodyPr>
          <a:lstStyle>
            <a:defPPr>
              <a:defRPr kern="0"/>
            </a:defPPr>
            <a:lvl1pPr>
              <a:buClr>
                <a:schemeClr val="lt1"/>
              </a:buClr>
              <a:buSzPts val="1000"/>
              <a:defRPr sz="60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en-US" altLang="ko-KR" sz="700" b="1" dirty="0"/>
              <a:t>Contact</a:t>
            </a:r>
            <a:r>
              <a:rPr lang="en-US" altLang="ko-KR" sz="700" dirty="0"/>
              <a:t>    KHP</a:t>
            </a:r>
            <a:r>
              <a:rPr lang="ko-KR" altLang="en-US" sz="700" dirty="0"/>
              <a:t>팀 김은주 팀장   </a:t>
            </a:r>
            <a:r>
              <a:rPr lang="en-US" altLang="ko-KR" sz="700" dirty="0"/>
              <a:t>kej@modulabs.co.kr  010-7476-1828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79DC2F7E-BBFA-C34E-438A-76376F3E2975}"/>
              </a:ext>
            </a:extLst>
          </p:cNvPr>
          <p:cNvSpPr txBox="1"/>
          <p:nvPr/>
        </p:nvSpPr>
        <p:spPr>
          <a:xfrm>
            <a:off x="381000" y="4541491"/>
            <a:ext cx="358140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68579" rIns="68579">
            <a:spAutoFit/>
          </a:bodyPr>
          <a:lstStyle/>
          <a:p>
            <a:pPr>
              <a:buClr>
                <a:schemeClr val="lt1"/>
              </a:buClr>
              <a:buSzPts val="1000"/>
            </a:pPr>
            <a:endParaRPr lang="en-US" altLang="ko-KR" sz="600" dirty="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>
              <a:buClr>
                <a:schemeClr val="lt1"/>
              </a:buClr>
              <a:buSzPts val="1000"/>
            </a:pPr>
            <a:r>
              <a:rPr lang="en-US" altLang="ko-KR" sz="60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Website : https://biz.modulabs.co.kr/event </a:t>
            </a:r>
          </a:p>
          <a:p>
            <a:pPr>
              <a:buClr>
                <a:schemeClr val="lt1"/>
              </a:buClr>
              <a:buSzPts val="1000"/>
            </a:pPr>
            <a:r>
              <a:rPr lang="en-US" altLang="ko-KR" sz="60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Address : </a:t>
            </a:r>
            <a:r>
              <a:rPr lang="ko-KR" altLang="en-US" sz="60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서울 강남구 강남대로 </a:t>
            </a:r>
            <a:r>
              <a:rPr lang="en-US" altLang="ko-KR" sz="60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324 (</a:t>
            </a:r>
            <a:r>
              <a:rPr lang="ko-KR" altLang="en-US" sz="600" dirty="0" err="1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역삼디오슈페리움</a:t>
            </a:r>
            <a:r>
              <a:rPr lang="en-US" altLang="ko-KR" sz="60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) 2</a:t>
            </a:r>
            <a:r>
              <a:rPr lang="ko-KR" altLang="en-US" sz="60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층 모두의연구소 강남캠퍼스</a:t>
            </a:r>
            <a:endParaRPr lang="en-US" altLang="ko-KR" sz="600" dirty="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>
              <a:buClr>
                <a:schemeClr val="lt1"/>
              </a:buClr>
              <a:buSzPts val="1000"/>
            </a:pPr>
            <a:r>
              <a:rPr lang="ko-KR" altLang="en-US" sz="60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ⓒ ㈜모두의연구소</a:t>
            </a:r>
            <a:r>
              <a:rPr lang="en-US" altLang="ko-KR" sz="60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. All rights reserved.</a:t>
            </a:r>
          </a:p>
        </p:txBody>
      </p:sp>
      <p:pic>
        <p:nvPicPr>
          <p:cNvPr id="6" name="object 16">
            <a:extLst>
              <a:ext uri="{FF2B5EF4-FFF2-40B4-BE49-F238E27FC236}">
                <a16:creationId xmlns:a16="http://schemas.microsoft.com/office/drawing/2014/main" id="{328B5DBB-91CC-E8FA-DB71-84ACC7CB834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54767" y="133350"/>
            <a:ext cx="668006" cy="2659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04768D-433D-2E1F-451A-F0078873407F}"/>
              </a:ext>
            </a:extLst>
          </p:cNvPr>
          <p:cNvSpPr txBox="1"/>
          <p:nvPr/>
        </p:nvSpPr>
        <p:spPr>
          <a:xfrm>
            <a:off x="381000" y="3301739"/>
            <a:ext cx="3267733" cy="565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70000"/>
              </a:lnSpc>
            </a:pP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오픈베이스 </a:t>
            </a: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사내 교육 제안   </a:t>
            </a:r>
            <a:endParaRPr lang="en-US" altLang="ko-KR" sz="1200" b="1" dirty="0">
              <a:solidFill>
                <a:schemeClr val="bg1">
                  <a:lumMod val="8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>
              <a:lnSpc>
                <a:spcPct val="170000"/>
              </a:lnSpc>
            </a:pPr>
            <a:r>
              <a:rPr lang="en-US" altLang="ko-KR" sz="700" b="1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2026-03-30</a:t>
            </a:r>
            <a:endParaRPr lang="en-US" altLang="ko-KR" sz="700" b="1" dirty="0">
              <a:solidFill>
                <a:schemeClr val="bg1">
                  <a:lumMod val="8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5344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54913-497B-C93B-BD8D-7C86B68F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A0835E-12F6-E369-684E-DE16047709ED}"/>
              </a:ext>
            </a:extLst>
          </p:cNvPr>
          <p:cNvSpPr txBox="1"/>
          <p:nvPr/>
        </p:nvSpPr>
        <p:spPr>
          <a:xfrm>
            <a:off x="180000" y="237351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50" dirty="0" err="1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모두의연구소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K-HP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사업 소개</a:t>
            </a:r>
          </a:p>
        </p:txBody>
      </p:sp>
      <p:sp>
        <p:nvSpPr>
          <p:cNvPr id="6" name="Google Shape;81;p3">
            <a:extLst>
              <a:ext uri="{FF2B5EF4-FFF2-40B4-BE49-F238E27FC236}">
                <a16:creationId xmlns:a16="http://schemas.microsoft.com/office/drawing/2014/main" id="{E0277D10-3D9A-1FF8-6E64-6DF6B3C46CD7}"/>
              </a:ext>
            </a:extLst>
          </p:cNvPr>
          <p:cNvSpPr txBox="1"/>
          <p:nvPr/>
        </p:nvSpPr>
        <p:spPr>
          <a:xfrm>
            <a:off x="2286000" y="2480456"/>
            <a:ext cx="4572000" cy="184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l" rtl="0"/>
            <a:endParaRPr sz="900"/>
          </a:p>
        </p:txBody>
      </p:sp>
      <p:cxnSp>
        <p:nvCxnSpPr>
          <p:cNvPr id="14" name="Google Shape;85;p3">
            <a:extLst>
              <a:ext uri="{FF2B5EF4-FFF2-40B4-BE49-F238E27FC236}">
                <a16:creationId xmlns:a16="http://schemas.microsoft.com/office/drawing/2014/main" id="{82317EA4-8F78-E230-623D-A0136DA456DD}"/>
              </a:ext>
            </a:extLst>
          </p:cNvPr>
          <p:cNvCxnSpPr/>
          <p:nvPr/>
        </p:nvCxnSpPr>
        <p:spPr>
          <a:xfrm>
            <a:off x="3927536" y="3271542"/>
            <a:ext cx="4152900" cy="0"/>
          </a:xfrm>
          <a:prstGeom prst="straightConnector1">
            <a:avLst/>
          </a:prstGeom>
          <a:noFill/>
          <a:ln w="28575" cap="flat" cmpd="sng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" name="Google Shape;86;p3">
            <a:extLst>
              <a:ext uri="{FF2B5EF4-FFF2-40B4-BE49-F238E27FC236}">
                <a16:creationId xmlns:a16="http://schemas.microsoft.com/office/drawing/2014/main" id="{2E342221-9C5C-09E5-FBEE-B723D0764D28}"/>
              </a:ext>
            </a:extLst>
          </p:cNvPr>
          <p:cNvCxnSpPr/>
          <p:nvPr/>
        </p:nvCxnSpPr>
        <p:spPr>
          <a:xfrm rot="10800000">
            <a:off x="5638800" y="1633242"/>
            <a:ext cx="0" cy="2743200"/>
          </a:xfrm>
          <a:prstGeom prst="straightConnector1">
            <a:avLst/>
          </a:prstGeom>
          <a:noFill/>
          <a:ln w="28575" cap="flat" cmpd="sng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Google Shape;87;p3">
            <a:extLst>
              <a:ext uri="{FF2B5EF4-FFF2-40B4-BE49-F238E27FC236}">
                <a16:creationId xmlns:a16="http://schemas.microsoft.com/office/drawing/2014/main" id="{0AB8FAB4-EFC7-4C91-9282-227A82FEFDBD}"/>
              </a:ext>
            </a:extLst>
          </p:cNvPr>
          <p:cNvSpPr txBox="1"/>
          <p:nvPr/>
        </p:nvSpPr>
        <p:spPr>
          <a:xfrm>
            <a:off x="5334919" y="1404310"/>
            <a:ext cx="613907" cy="184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rtl="0"/>
            <a:r>
              <a:rPr lang="ko-KR" altLang="en-US" sz="900" b="1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협업기반</a:t>
            </a:r>
            <a:endParaRPr sz="900" b="1" dirty="0">
              <a:solidFill>
                <a:srgbClr val="11004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Google Shape;88;p3">
            <a:extLst>
              <a:ext uri="{FF2B5EF4-FFF2-40B4-BE49-F238E27FC236}">
                <a16:creationId xmlns:a16="http://schemas.microsoft.com/office/drawing/2014/main" id="{E9EB63D7-2A1B-82FD-0299-167FF5ADE95C}"/>
              </a:ext>
            </a:extLst>
          </p:cNvPr>
          <p:cNvSpPr txBox="1"/>
          <p:nvPr/>
        </p:nvSpPr>
        <p:spPr>
          <a:xfrm>
            <a:off x="8077200" y="3179209"/>
            <a:ext cx="613907" cy="184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rtl="0"/>
            <a:r>
              <a:rPr lang="ko-KR" altLang="en-US" sz="900" b="1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현장중심</a:t>
            </a:r>
            <a:endParaRPr sz="900" b="1" dirty="0">
              <a:solidFill>
                <a:srgbClr val="11004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Google Shape;89;p3">
            <a:extLst>
              <a:ext uri="{FF2B5EF4-FFF2-40B4-BE49-F238E27FC236}">
                <a16:creationId xmlns:a16="http://schemas.microsoft.com/office/drawing/2014/main" id="{E5CE1638-5258-04E8-8291-C77EC99B5AD9}"/>
              </a:ext>
            </a:extLst>
          </p:cNvPr>
          <p:cNvSpPr txBox="1"/>
          <p:nvPr/>
        </p:nvSpPr>
        <p:spPr>
          <a:xfrm>
            <a:off x="3348493" y="3179209"/>
            <a:ext cx="613907" cy="184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rtl="0"/>
            <a:r>
              <a:rPr lang="ko-KR" altLang="en-US" sz="900" b="1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개념중심</a:t>
            </a:r>
            <a:endParaRPr sz="900" b="1" dirty="0">
              <a:solidFill>
                <a:srgbClr val="11004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Google Shape;90;p3">
            <a:extLst>
              <a:ext uri="{FF2B5EF4-FFF2-40B4-BE49-F238E27FC236}">
                <a16:creationId xmlns:a16="http://schemas.microsoft.com/office/drawing/2014/main" id="{10137A25-FF25-CBC6-043C-72FA6DEF8134}"/>
              </a:ext>
            </a:extLst>
          </p:cNvPr>
          <p:cNvSpPr txBox="1"/>
          <p:nvPr/>
        </p:nvSpPr>
        <p:spPr>
          <a:xfrm>
            <a:off x="5334919" y="4376442"/>
            <a:ext cx="613907" cy="184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rtl="0"/>
            <a:r>
              <a:rPr lang="ko-KR" altLang="en-US" sz="900" b="1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개인학습</a:t>
            </a:r>
            <a:endParaRPr sz="900" b="1" dirty="0">
              <a:solidFill>
                <a:srgbClr val="11004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Google Shape;91;p3">
            <a:extLst>
              <a:ext uri="{FF2B5EF4-FFF2-40B4-BE49-F238E27FC236}">
                <a16:creationId xmlns:a16="http://schemas.microsoft.com/office/drawing/2014/main" id="{1535A3DF-2220-6204-9E16-B307AB4555FA}"/>
              </a:ext>
            </a:extLst>
          </p:cNvPr>
          <p:cNvSpPr txBox="1"/>
          <p:nvPr/>
        </p:nvSpPr>
        <p:spPr>
          <a:xfrm>
            <a:off x="641975" y="764132"/>
            <a:ext cx="4882709" cy="1058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ko-KR" altLang="en-US" sz="27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실무에 강한 </a:t>
            </a:r>
            <a:r>
              <a:rPr lang="en-US" altLang="ko-KR" sz="27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</a:t>
            </a:r>
            <a:r>
              <a:rPr lang="ko-KR" altLang="en-US" sz="27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인재양성</a:t>
            </a:r>
            <a:br>
              <a:rPr lang="ko-KR" altLang="en-US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</a:br>
            <a:r>
              <a:rPr lang="ko-KR" altLang="en-US" sz="1600" spc="-150" dirty="0" err="1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모두의연구소</a:t>
            </a:r>
            <a:r>
              <a:rPr lang="ko-KR" altLang="en-US" sz="1600" spc="-15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altLang="ko-KR" sz="1600" spc="-15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K-</a:t>
            </a:r>
            <a:r>
              <a:rPr lang="ko-KR" altLang="en-US" sz="1600" spc="-15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하이테크 플랫폼과 함께 합니다</a:t>
            </a:r>
            <a:endParaRPr sz="1600" spc="-150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1" name="Google Shape;92;p3">
            <a:extLst>
              <a:ext uri="{FF2B5EF4-FFF2-40B4-BE49-F238E27FC236}">
                <a16:creationId xmlns:a16="http://schemas.microsoft.com/office/drawing/2014/main" id="{293B69FA-1BCB-D673-215A-ECD818B7DE10}"/>
              </a:ext>
            </a:extLst>
          </p:cNvPr>
          <p:cNvSpPr txBox="1"/>
          <p:nvPr/>
        </p:nvSpPr>
        <p:spPr>
          <a:xfrm>
            <a:off x="605444" y="2038350"/>
            <a:ext cx="3852257" cy="90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l" rtl="0"/>
            <a:r>
              <a:rPr lang="en-US" altLang="ko-KR" sz="14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r>
              <a:rPr lang="ko-KR" altLang="en-US" sz="14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를 도입하는 것만으로는 충분하지 않습니다</a:t>
            </a:r>
            <a:endParaRPr sz="1400" spc="-15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algn="l" rtl="0"/>
            <a:endParaRPr sz="1400" spc="-15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algn="l" rtl="0"/>
            <a:r>
              <a:rPr lang="ko-KR" altLang="en-US" sz="14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진짜 전환은</a:t>
            </a:r>
            <a:r>
              <a:rPr lang="en-US" altLang="ko-KR" sz="14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AI</a:t>
            </a:r>
            <a:r>
              <a:rPr lang="ko-KR" altLang="en-US" sz="14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와 함께 일할 수 있는 사람을</a:t>
            </a:r>
            <a:endParaRPr sz="1400" spc="-15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algn="l" rtl="0"/>
            <a:r>
              <a:rPr lang="ko-KR" altLang="en-US" sz="14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조직 안에서 키우는 것에서 시작됩니다</a:t>
            </a:r>
            <a:endParaRPr spc="-15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Google Shape;93;p3">
            <a:extLst>
              <a:ext uri="{FF2B5EF4-FFF2-40B4-BE49-F238E27FC236}">
                <a16:creationId xmlns:a16="http://schemas.microsoft.com/office/drawing/2014/main" id="{86EBD4AD-8C9B-C66D-E9B4-27D563F7E943}"/>
              </a:ext>
            </a:extLst>
          </p:cNvPr>
          <p:cNvSpPr/>
          <p:nvPr/>
        </p:nvSpPr>
        <p:spPr>
          <a:xfrm>
            <a:off x="6716148" y="1463389"/>
            <a:ext cx="1312404" cy="1312402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rtl="0"/>
            <a:endParaRPr sz="900"/>
          </a:p>
        </p:txBody>
      </p:sp>
      <p:pic>
        <p:nvPicPr>
          <p:cNvPr id="23" name="Google Shape;94;p3">
            <a:extLst>
              <a:ext uri="{FF2B5EF4-FFF2-40B4-BE49-F238E27FC236}">
                <a16:creationId xmlns:a16="http://schemas.microsoft.com/office/drawing/2014/main" id="{4759D046-B955-32CA-C8BA-787A7A0292B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6612" t="4589" r="7566" b="6184"/>
          <a:stretch/>
        </p:blipFill>
        <p:spPr>
          <a:xfrm>
            <a:off x="6858000" y="1708991"/>
            <a:ext cx="1000536" cy="47705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95;p3">
            <a:extLst>
              <a:ext uri="{FF2B5EF4-FFF2-40B4-BE49-F238E27FC236}">
                <a16:creationId xmlns:a16="http://schemas.microsoft.com/office/drawing/2014/main" id="{8F6A7A65-ECDE-AFD5-221B-2CE4F5448F93}"/>
              </a:ext>
            </a:extLst>
          </p:cNvPr>
          <p:cNvSpPr txBox="1"/>
          <p:nvPr/>
        </p:nvSpPr>
        <p:spPr>
          <a:xfrm>
            <a:off x="6781800" y="2217827"/>
            <a:ext cx="1181100" cy="353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rtl="0"/>
            <a:r>
              <a:rPr lang="en-US" altLang="ko-KR" sz="1000" b="1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K-</a:t>
            </a:r>
            <a:r>
              <a:rPr lang="ko-KR" altLang="en-US" sz="1000" b="1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하이테크</a:t>
            </a:r>
            <a:endParaRPr sz="1000" b="1" dirty="0">
              <a:solidFill>
                <a:srgbClr val="11004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algn="ctr" rtl="0"/>
            <a:r>
              <a:rPr lang="ko-KR" altLang="en-US" sz="1000" b="1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플랫폼 </a:t>
            </a:r>
            <a:endParaRPr sz="1000" b="1" dirty="0">
              <a:solidFill>
                <a:srgbClr val="11004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CC21574-BF62-0E61-0F9F-695383FBC6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 wrap="square" lIns="0" tIns="0" rIns="0" bIns="0">
            <a:spAutoFit/>
          </a:bodyPr>
          <a:lstStyle/>
          <a:p>
            <a:pPr algn="ctr"/>
            <a:fld id="{B6F15528-21DE-4FAA-801E-634DDDAF4B2B}" type="slidenum">
              <a:rPr lang="en-US" altLang="ko-KR" sz="900"/>
              <a:pPr algn="ctr"/>
              <a:t>1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936072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06FED-DBCA-22E7-494E-90DFE5955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D6D354-69F4-C79C-605E-EA4CD7C5C08B}"/>
              </a:ext>
            </a:extLst>
          </p:cNvPr>
          <p:cNvSpPr txBox="1"/>
          <p:nvPr/>
        </p:nvSpPr>
        <p:spPr>
          <a:xfrm>
            <a:off x="180000" y="237351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50" dirty="0" err="1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모두의연구소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K-HP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사업 소개</a:t>
            </a:r>
          </a:p>
        </p:txBody>
      </p:sp>
      <p:sp>
        <p:nvSpPr>
          <p:cNvPr id="2" name="Google Shape;138;p6">
            <a:extLst>
              <a:ext uri="{FF2B5EF4-FFF2-40B4-BE49-F238E27FC236}">
                <a16:creationId xmlns:a16="http://schemas.microsoft.com/office/drawing/2014/main" id="{5C3F5317-34BB-A2E0-6F22-C322C7335BCE}"/>
              </a:ext>
            </a:extLst>
          </p:cNvPr>
          <p:cNvSpPr txBox="1"/>
          <p:nvPr/>
        </p:nvSpPr>
        <p:spPr>
          <a:xfrm>
            <a:off x="2286000" y="2480456"/>
            <a:ext cx="4572000" cy="184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l" defTabSz="457200" rtl="0">
              <a:buClr>
                <a:srgbClr val="000000"/>
              </a:buClr>
            </a:pPr>
            <a:endParaRPr sz="900" spc="-15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3" name="Google Shape;142;p6">
            <a:extLst>
              <a:ext uri="{FF2B5EF4-FFF2-40B4-BE49-F238E27FC236}">
                <a16:creationId xmlns:a16="http://schemas.microsoft.com/office/drawing/2014/main" id="{78EBD416-78A0-C1DF-97F7-F95AA6837542}"/>
              </a:ext>
            </a:extLst>
          </p:cNvPr>
          <p:cNvSpPr txBox="1"/>
          <p:nvPr/>
        </p:nvSpPr>
        <p:spPr>
          <a:xfrm>
            <a:off x="641974" y="764132"/>
            <a:ext cx="6688816" cy="1058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algn="l" defTabSz="457200" rtl="0">
              <a:lnSpc>
                <a:spcPct val="150000"/>
              </a:lnSpc>
              <a:buClr>
                <a:srgbClr val="000000"/>
              </a:buClr>
            </a:pPr>
            <a:r>
              <a:rPr lang="ko-KR" altLang="en-US" b="1" spc="-15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직무에 맞춰 설계된 </a:t>
            </a:r>
            <a:r>
              <a:rPr lang="ko-KR" altLang="en-US" sz="27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실습형 </a:t>
            </a:r>
            <a:r>
              <a:rPr lang="en-US" altLang="ko-KR" sz="27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r>
              <a:rPr lang="ko-KR" altLang="en-US" sz="27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교육과정</a:t>
            </a:r>
            <a:br>
              <a:rPr lang="ko-KR" altLang="en-US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</a:br>
            <a:r>
              <a:rPr lang="ko-KR" altLang="en-US" sz="1600" spc="-15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현장에서 바로 적용 가능한 실무 중심 교육</a:t>
            </a:r>
            <a:endParaRPr sz="1600" spc="-15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5" name="Google Shape;143;p6">
            <a:extLst>
              <a:ext uri="{FF2B5EF4-FFF2-40B4-BE49-F238E27FC236}">
                <a16:creationId xmlns:a16="http://schemas.microsoft.com/office/drawing/2014/main" id="{74E7CBAE-8834-28B2-1198-BF6C30589533}"/>
              </a:ext>
            </a:extLst>
          </p:cNvPr>
          <p:cNvSpPr txBox="1"/>
          <p:nvPr/>
        </p:nvSpPr>
        <p:spPr>
          <a:xfrm>
            <a:off x="605444" y="2040573"/>
            <a:ext cx="5261957" cy="477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l" defTabSz="457200" rtl="0">
              <a:buClr>
                <a:srgbClr val="000000"/>
              </a:buClr>
            </a:pPr>
            <a:r>
              <a:rPr lang="ko-KR" altLang="en-US" sz="1400" spc="-15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생성형 </a:t>
            </a:r>
            <a:r>
              <a:rPr lang="en-US" altLang="ko-KR" sz="1400" spc="-15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AI, </a:t>
            </a:r>
            <a:r>
              <a:rPr lang="ko-KR" altLang="en-US" sz="1400" spc="-15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업무 자동화</a:t>
            </a:r>
            <a:r>
              <a:rPr lang="en-US" altLang="ko-KR" sz="1400" spc="-15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1400" spc="-15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사업계획서</a:t>
            </a:r>
            <a:r>
              <a:rPr lang="en-US" altLang="ko-KR" sz="1400" spc="-15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1400" spc="-15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마케팅 콘텐츠 작성</a:t>
            </a:r>
            <a:r>
              <a:rPr lang="en-US" altLang="ko-KR" sz="1400" spc="-15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1400" spc="-150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챗봇</a:t>
            </a:r>
            <a:r>
              <a:rPr lang="ko-KR" altLang="en-US" sz="1400" spc="-15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개발까지</a:t>
            </a:r>
            <a:endParaRPr sz="1400" spc="-150" dirty="0">
              <a:solidFill>
                <a:srgbClr val="7F7F7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algn="l" defTabSz="457200" rtl="0">
              <a:buClr>
                <a:srgbClr val="000000"/>
              </a:buClr>
            </a:pPr>
            <a:r>
              <a:rPr lang="ko-KR" altLang="en-US" sz="1400" spc="-15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직무</a:t>
            </a:r>
            <a:r>
              <a:rPr lang="en-US" altLang="ko-KR" sz="1400" spc="-15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·</a:t>
            </a:r>
            <a:r>
              <a:rPr lang="ko-KR" altLang="en-US" sz="1400" spc="-15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수준별 맞춤형 커리큘럼을 제공합니다</a:t>
            </a:r>
            <a:r>
              <a:rPr lang="en-US" altLang="ko-KR" sz="1400" spc="-15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.</a:t>
            </a:r>
            <a:endParaRPr sz="1400" spc="-150" dirty="0">
              <a:solidFill>
                <a:srgbClr val="7F7F7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grpSp>
        <p:nvGrpSpPr>
          <p:cNvPr id="36" name="Google Shape;144;p6"/>
          <p:cNvGrpSpPr/>
          <p:nvPr/>
        </p:nvGrpSpPr>
        <p:grpSpPr>
          <a:xfrm>
            <a:off x="4231006" y="3857502"/>
            <a:ext cx="902969" cy="395605"/>
            <a:chOff x="4036297" y="4173392"/>
            <a:chExt cx="902969" cy="395605"/>
          </a:xfrm>
        </p:grpSpPr>
        <p:sp>
          <p:nvSpPr>
            <p:cNvPr id="37" name="Google Shape;145;p6"/>
            <p:cNvSpPr/>
            <p:nvPr/>
          </p:nvSpPr>
          <p:spPr>
            <a:xfrm>
              <a:off x="4036297" y="4173392"/>
              <a:ext cx="902969" cy="395605"/>
            </a:xfrm>
            <a:custGeom>
              <a:avLst/>
              <a:gdLst/>
              <a:ahLst/>
              <a:cxnLst/>
              <a:rect l="l" t="t" r="r" b="b"/>
              <a:pathLst>
                <a:path w="902970" h="395604" extrusionOk="0">
                  <a:moveTo>
                    <a:pt x="704849" y="395099"/>
                  </a:moveTo>
                  <a:lnTo>
                    <a:pt x="197549" y="395099"/>
                  </a:lnTo>
                  <a:lnTo>
                    <a:pt x="152253" y="389882"/>
                  </a:lnTo>
                  <a:lnTo>
                    <a:pt x="110672" y="375020"/>
                  </a:lnTo>
                  <a:lnTo>
                    <a:pt x="73992" y="351700"/>
                  </a:lnTo>
                  <a:lnTo>
                    <a:pt x="43399" y="321107"/>
                  </a:lnTo>
                  <a:lnTo>
                    <a:pt x="20079" y="284427"/>
                  </a:lnTo>
                  <a:lnTo>
                    <a:pt x="5217" y="242846"/>
                  </a:lnTo>
                  <a:lnTo>
                    <a:pt x="0" y="197549"/>
                  </a:lnTo>
                  <a:lnTo>
                    <a:pt x="5217" y="152253"/>
                  </a:lnTo>
                  <a:lnTo>
                    <a:pt x="20079" y="110672"/>
                  </a:lnTo>
                  <a:lnTo>
                    <a:pt x="43399" y="73992"/>
                  </a:lnTo>
                  <a:lnTo>
                    <a:pt x="73992" y="43399"/>
                  </a:lnTo>
                  <a:lnTo>
                    <a:pt x="110672" y="20079"/>
                  </a:lnTo>
                  <a:lnTo>
                    <a:pt x="152253" y="5217"/>
                  </a:lnTo>
                  <a:lnTo>
                    <a:pt x="197549" y="0"/>
                  </a:lnTo>
                  <a:lnTo>
                    <a:pt x="704849" y="0"/>
                  </a:lnTo>
                  <a:lnTo>
                    <a:pt x="743569" y="3830"/>
                  </a:lnTo>
                  <a:lnTo>
                    <a:pt x="780448" y="15037"/>
                  </a:lnTo>
                  <a:lnTo>
                    <a:pt x="814450" y="33190"/>
                  </a:lnTo>
                  <a:lnTo>
                    <a:pt x="844538" y="57860"/>
                  </a:lnTo>
                  <a:lnTo>
                    <a:pt x="869209" y="87949"/>
                  </a:lnTo>
                  <a:lnTo>
                    <a:pt x="887362" y="121950"/>
                  </a:lnTo>
                  <a:lnTo>
                    <a:pt x="898569" y="158829"/>
                  </a:lnTo>
                  <a:lnTo>
                    <a:pt x="902399" y="197549"/>
                  </a:lnTo>
                  <a:lnTo>
                    <a:pt x="897182" y="242846"/>
                  </a:lnTo>
                  <a:lnTo>
                    <a:pt x="882320" y="284427"/>
                  </a:lnTo>
                  <a:lnTo>
                    <a:pt x="859000" y="321107"/>
                  </a:lnTo>
                  <a:lnTo>
                    <a:pt x="828407" y="351700"/>
                  </a:lnTo>
                  <a:lnTo>
                    <a:pt x="791727" y="375020"/>
                  </a:lnTo>
                  <a:lnTo>
                    <a:pt x="750146" y="389882"/>
                  </a:lnTo>
                  <a:lnTo>
                    <a:pt x="704849" y="395099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1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 sz="900" spc="-150">
                <a:solidFill>
                  <a:srgbClr val="F8515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146;p6"/>
            <p:cNvSpPr/>
            <p:nvPr/>
          </p:nvSpPr>
          <p:spPr>
            <a:xfrm>
              <a:off x="4036297" y="4173392"/>
              <a:ext cx="902969" cy="395605"/>
            </a:xfrm>
            <a:custGeom>
              <a:avLst/>
              <a:gdLst/>
              <a:ahLst/>
              <a:cxnLst/>
              <a:rect l="l" t="t" r="r" b="b"/>
              <a:pathLst>
                <a:path w="902970" h="395604" extrusionOk="0">
                  <a:moveTo>
                    <a:pt x="0" y="197549"/>
                  </a:moveTo>
                  <a:lnTo>
                    <a:pt x="5217" y="152253"/>
                  </a:lnTo>
                  <a:lnTo>
                    <a:pt x="20079" y="110672"/>
                  </a:lnTo>
                  <a:lnTo>
                    <a:pt x="43399" y="73992"/>
                  </a:lnTo>
                  <a:lnTo>
                    <a:pt x="73992" y="43399"/>
                  </a:lnTo>
                  <a:lnTo>
                    <a:pt x="110672" y="20079"/>
                  </a:lnTo>
                  <a:lnTo>
                    <a:pt x="152253" y="5217"/>
                  </a:lnTo>
                  <a:lnTo>
                    <a:pt x="197549" y="0"/>
                  </a:lnTo>
                  <a:lnTo>
                    <a:pt x="704849" y="0"/>
                  </a:lnTo>
                  <a:lnTo>
                    <a:pt x="743569" y="3830"/>
                  </a:lnTo>
                  <a:lnTo>
                    <a:pt x="780448" y="15037"/>
                  </a:lnTo>
                  <a:lnTo>
                    <a:pt x="814450" y="33190"/>
                  </a:lnTo>
                  <a:lnTo>
                    <a:pt x="844538" y="57860"/>
                  </a:lnTo>
                  <a:lnTo>
                    <a:pt x="869209" y="87949"/>
                  </a:lnTo>
                  <a:lnTo>
                    <a:pt x="887362" y="121950"/>
                  </a:lnTo>
                  <a:lnTo>
                    <a:pt x="898569" y="158829"/>
                  </a:lnTo>
                  <a:lnTo>
                    <a:pt x="902399" y="197549"/>
                  </a:lnTo>
                  <a:lnTo>
                    <a:pt x="897182" y="242846"/>
                  </a:lnTo>
                  <a:lnTo>
                    <a:pt x="882320" y="284427"/>
                  </a:lnTo>
                  <a:lnTo>
                    <a:pt x="859000" y="321107"/>
                  </a:lnTo>
                  <a:lnTo>
                    <a:pt x="828407" y="351700"/>
                  </a:lnTo>
                  <a:lnTo>
                    <a:pt x="791727" y="375020"/>
                  </a:lnTo>
                  <a:lnTo>
                    <a:pt x="750146" y="389882"/>
                  </a:lnTo>
                  <a:lnTo>
                    <a:pt x="704849" y="395099"/>
                  </a:lnTo>
                  <a:lnTo>
                    <a:pt x="197549" y="395099"/>
                  </a:lnTo>
                  <a:lnTo>
                    <a:pt x="152253" y="389882"/>
                  </a:lnTo>
                  <a:lnTo>
                    <a:pt x="110672" y="375020"/>
                  </a:lnTo>
                  <a:lnTo>
                    <a:pt x="73992" y="351700"/>
                  </a:lnTo>
                  <a:lnTo>
                    <a:pt x="43399" y="321107"/>
                  </a:lnTo>
                  <a:lnTo>
                    <a:pt x="20079" y="284427"/>
                  </a:lnTo>
                  <a:lnTo>
                    <a:pt x="5217" y="242846"/>
                  </a:lnTo>
                  <a:lnTo>
                    <a:pt x="0" y="197549"/>
                  </a:lnTo>
                  <a:close/>
                </a:path>
              </a:pathLst>
            </a:custGeom>
            <a:noFill/>
            <a:ln w="19025" cap="flat" cmpd="sng">
              <a:solidFill>
                <a:schemeClr val="accent1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 sz="900" spc="-150">
                <a:solidFill>
                  <a:srgbClr val="F8515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" name="Google Shape;147;p6"/>
          <p:cNvGrpSpPr/>
          <p:nvPr/>
        </p:nvGrpSpPr>
        <p:grpSpPr>
          <a:xfrm>
            <a:off x="67460" y="3857558"/>
            <a:ext cx="2637640" cy="436875"/>
            <a:chOff x="0" y="4173449"/>
            <a:chExt cx="2449195" cy="436875"/>
          </a:xfrm>
          <a:solidFill>
            <a:schemeClr val="tx2"/>
          </a:solidFill>
        </p:grpSpPr>
        <p:sp>
          <p:nvSpPr>
            <p:cNvPr id="148" name="Google Shape;148;p6"/>
            <p:cNvSpPr/>
            <p:nvPr/>
          </p:nvSpPr>
          <p:spPr>
            <a:xfrm>
              <a:off x="0" y="4200749"/>
              <a:ext cx="639445" cy="409575"/>
            </a:xfrm>
            <a:custGeom>
              <a:avLst/>
              <a:gdLst/>
              <a:ahLst/>
              <a:cxnLst/>
              <a:rect l="l" t="t" r="r" b="b"/>
              <a:pathLst>
                <a:path w="639445" h="409575" extrusionOk="0">
                  <a:moveTo>
                    <a:pt x="434550" y="409499"/>
                  </a:moveTo>
                  <a:lnTo>
                    <a:pt x="204749" y="409499"/>
                  </a:lnTo>
                  <a:lnTo>
                    <a:pt x="157802" y="404092"/>
                  </a:lnTo>
                  <a:lnTo>
                    <a:pt x="114706" y="388689"/>
                  </a:lnTo>
                  <a:lnTo>
                    <a:pt x="76689" y="364518"/>
                  </a:lnTo>
                  <a:lnTo>
                    <a:pt x="44981" y="332810"/>
                  </a:lnTo>
                  <a:lnTo>
                    <a:pt x="20811" y="294793"/>
                  </a:lnTo>
                  <a:lnTo>
                    <a:pt x="5407" y="251697"/>
                  </a:lnTo>
                  <a:lnTo>
                    <a:pt x="0" y="204749"/>
                  </a:lnTo>
                  <a:lnTo>
                    <a:pt x="5407" y="157802"/>
                  </a:lnTo>
                  <a:lnTo>
                    <a:pt x="20811" y="114706"/>
                  </a:lnTo>
                  <a:lnTo>
                    <a:pt x="44981" y="76689"/>
                  </a:lnTo>
                  <a:lnTo>
                    <a:pt x="76689" y="44981"/>
                  </a:lnTo>
                  <a:lnTo>
                    <a:pt x="114706" y="20810"/>
                  </a:lnTo>
                  <a:lnTo>
                    <a:pt x="157802" y="5407"/>
                  </a:lnTo>
                  <a:lnTo>
                    <a:pt x="204749" y="0"/>
                  </a:lnTo>
                  <a:lnTo>
                    <a:pt x="434550" y="0"/>
                  </a:lnTo>
                  <a:lnTo>
                    <a:pt x="474681" y="3970"/>
                  </a:lnTo>
                  <a:lnTo>
                    <a:pt x="512904" y="15585"/>
                  </a:lnTo>
                  <a:lnTo>
                    <a:pt x="548145" y="34400"/>
                  </a:lnTo>
                  <a:lnTo>
                    <a:pt x="579330" y="59969"/>
                  </a:lnTo>
                  <a:lnTo>
                    <a:pt x="604899" y="91154"/>
                  </a:lnTo>
                  <a:lnTo>
                    <a:pt x="623714" y="126395"/>
                  </a:lnTo>
                  <a:lnTo>
                    <a:pt x="635329" y="164618"/>
                  </a:lnTo>
                  <a:lnTo>
                    <a:pt x="639300" y="204749"/>
                  </a:lnTo>
                  <a:lnTo>
                    <a:pt x="633892" y="251697"/>
                  </a:lnTo>
                  <a:lnTo>
                    <a:pt x="618488" y="294793"/>
                  </a:lnTo>
                  <a:lnTo>
                    <a:pt x="594318" y="332810"/>
                  </a:lnTo>
                  <a:lnTo>
                    <a:pt x="562610" y="364518"/>
                  </a:lnTo>
                  <a:lnTo>
                    <a:pt x="524593" y="388689"/>
                  </a:lnTo>
                  <a:lnTo>
                    <a:pt x="481497" y="404092"/>
                  </a:lnTo>
                  <a:lnTo>
                    <a:pt x="434550" y="40949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 sz="900" spc="-150">
                <a:solidFill>
                  <a:srgbClr val="F8515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0" y="4173449"/>
              <a:ext cx="2449195" cy="395605"/>
            </a:xfrm>
            <a:custGeom>
              <a:avLst/>
              <a:gdLst/>
              <a:ahLst/>
              <a:cxnLst/>
              <a:rect l="l" t="t" r="r" b="b"/>
              <a:pathLst>
                <a:path w="2449195" h="395604" extrusionOk="0">
                  <a:moveTo>
                    <a:pt x="2251650" y="395099"/>
                  </a:moveTo>
                  <a:lnTo>
                    <a:pt x="197550" y="395099"/>
                  </a:lnTo>
                  <a:lnTo>
                    <a:pt x="152253" y="389882"/>
                  </a:lnTo>
                  <a:lnTo>
                    <a:pt x="110672" y="375020"/>
                  </a:lnTo>
                  <a:lnTo>
                    <a:pt x="73992" y="351700"/>
                  </a:lnTo>
                  <a:lnTo>
                    <a:pt x="43399" y="321107"/>
                  </a:lnTo>
                  <a:lnTo>
                    <a:pt x="20079" y="284427"/>
                  </a:lnTo>
                  <a:lnTo>
                    <a:pt x="5217" y="242846"/>
                  </a:lnTo>
                  <a:lnTo>
                    <a:pt x="0" y="197549"/>
                  </a:lnTo>
                  <a:lnTo>
                    <a:pt x="5217" y="152253"/>
                  </a:lnTo>
                  <a:lnTo>
                    <a:pt x="20079" y="110672"/>
                  </a:lnTo>
                  <a:lnTo>
                    <a:pt x="43399" y="73992"/>
                  </a:lnTo>
                  <a:lnTo>
                    <a:pt x="73992" y="43399"/>
                  </a:lnTo>
                  <a:lnTo>
                    <a:pt x="110672" y="20079"/>
                  </a:lnTo>
                  <a:lnTo>
                    <a:pt x="152253" y="5217"/>
                  </a:lnTo>
                  <a:lnTo>
                    <a:pt x="197550" y="0"/>
                  </a:lnTo>
                  <a:lnTo>
                    <a:pt x="2251650" y="0"/>
                  </a:lnTo>
                  <a:lnTo>
                    <a:pt x="2290370" y="3830"/>
                  </a:lnTo>
                  <a:lnTo>
                    <a:pt x="2327249" y="15037"/>
                  </a:lnTo>
                  <a:lnTo>
                    <a:pt x="2361250" y="33190"/>
                  </a:lnTo>
                  <a:lnTo>
                    <a:pt x="2391338" y="57860"/>
                  </a:lnTo>
                  <a:lnTo>
                    <a:pt x="2416009" y="87949"/>
                  </a:lnTo>
                  <a:lnTo>
                    <a:pt x="2434162" y="121951"/>
                  </a:lnTo>
                  <a:lnTo>
                    <a:pt x="2445369" y="158830"/>
                  </a:lnTo>
                  <a:lnTo>
                    <a:pt x="2449200" y="197549"/>
                  </a:lnTo>
                  <a:lnTo>
                    <a:pt x="2443982" y="242846"/>
                  </a:lnTo>
                  <a:lnTo>
                    <a:pt x="2429120" y="284427"/>
                  </a:lnTo>
                  <a:lnTo>
                    <a:pt x="2405800" y="321107"/>
                  </a:lnTo>
                  <a:lnTo>
                    <a:pt x="2375207" y="351700"/>
                  </a:lnTo>
                  <a:lnTo>
                    <a:pt x="2338527" y="375020"/>
                  </a:lnTo>
                  <a:lnTo>
                    <a:pt x="2296946" y="389882"/>
                  </a:lnTo>
                  <a:lnTo>
                    <a:pt x="2251650" y="39509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 sz="900" spc="-150">
                <a:solidFill>
                  <a:srgbClr val="F8515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" name="Google Shape;150;p6"/>
          <p:cNvSpPr txBox="1"/>
          <p:nvPr/>
        </p:nvSpPr>
        <p:spPr>
          <a:xfrm>
            <a:off x="4505100" y="3935735"/>
            <a:ext cx="515222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algn="l" rtl="0"/>
            <a:r>
              <a:rPr lang="en-US" altLang="ko-KR" sz="13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RAG</a:t>
            </a:r>
            <a:endParaRPr sz="1300" spc="-150" dirty="0">
              <a:solidFill>
                <a:srgbClr val="11004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40" name="Google Shape;151;p6"/>
          <p:cNvSpPr/>
          <p:nvPr/>
        </p:nvSpPr>
        <p:spPr>
          <a:xfrm>
            <a:off x="5210175" y="3857502"/>
            <a:ext cx="1419225" cy="395605"/>
          </a:xfrm>
          <a:custGeom>
            <a:avLst/>
            <a:gdLst/>
            <a:ahLst/>
            <a:cxnLst/>
            <a:rect l="l" t="t" r="r" b="b"/>
            <a:pathLst>
              <a:path w="1419225" h="395604" extrusionOk="0">
                <a:moveTo>
                  <a:pt x="1221449" y="395099"/>
                </a:moveTo>
                <a:lnTo>
                  <a:pt x="197549" y="395099"/>
                </a:lnTo>
                <a:lnTo>
                  <a:pt x="152253" y="389882"/>
                </a:lnTo>
                <a:lnTo>
                  <a:pt x="110672" y="375020"/>
                </a:lnTo>
                <a:lnTo>
                  <a:pt x="73992" y="351700"/>
                </a:lnTo>
                <a:lnTo>
                  <a:pt x="43399" y="321107"/>
                </a:lnTo>
                <a:lnTo>
                  <a:pt x="20079" y="284427"/>
                </a:lnTo>
                <a:lnTo>
                  <a:pt x="5217" y="242846"/>
                </a:lnTo>
                <a:lnTo>
                  <a:pt x="0" y="197549"/>
                </a:lnTo>
                <a:lnTo>
                  <a:pt x="5217" y="152253"/>
                </a:lnTo>
                <a:lnTo>
                  <a:pt x="20079" y="110672"/>
                </a:lnTo>
                <a:lnTo>
                  <a:pt x="43399" y="73992"/>
                </a:lnTo>
                <a:lnTo>
                  <a:pt x="73992" y="43399"/>
                </a:lnTo>
                <a:lnTo>
                  <a:pt x="110672" y="20079"/>
                </a:lnTo>
                <a:lnTo>
                  <a:pt x="152253" y="5217"/>
                </a:lnTo>
                <a:lnTo>
                  <a:pt x="197549" y="0"/>
                </a:lnTo>
                <a:lnTo>
                  <a:pt x="1221449" y="0"/>
                </a:lnTo>
                <a:lnTo>
                  <a:pt x="1260170" y="3830"/>
                </a:lnTo>
                <a:lnTo>
                  <a:pt x="1297049" y="15037"/>
                </a:lnTo>
                <a:lnTo>
                  <a:pt x="1331051" y="33190"/>
                </a:lnTo>
                <a:lnTo>
                  <a:pt x="1361139" y="57860"/>
                </a:lnTo>
                <a:lnTo>
                  <a:pt x="1385809" y="87949"/>
                </a:lnTo>
                <a:lnTo>
                  <a:pt x="1403962" y="121950"/>
                </a:lnTo>
                <a:lnTo>
                  <a:pt x="1415169" y="158829"/>
                </a:lnTo>
                <a:lnTo>
                  <a:pt x="1418999" y="197549"/>
                </a:lnTo>
                <a:lnTo>
                  <a:pt x="1413782" y="242846"/>
                </a:lnTo>
                <a:lnTo>
                  <a:pt x="1398920" y="284427"/>
                </a:lnTo>
                <a:lnTo>
                  <a:pt x="1375600" y="321107"/>
                </a:lnTo>
                <a:lnTo>
                  <a:pt x="1345007" y="351700"/>
                </a:lnTo>
                <a:lnTo>
                  <a:pt x="1308327" y="375020"/>
                </a:lnTo>
                <a:lnTo>
                  <a:pt x="1266746" y="389882"/>
                </a:lnTo>
                <a:lnTo>
                  <a:pt x="1221449" y="39509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l" rtl="0"/>
            <a:endParaRPr sz="900" spc="-150">
              <a:solidFill>
                <a:srgbClr val="1100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152;p6"/>
          <p:cNvSpPr txBox="1"/>
          <p:nvPr/>
        </p:nvSpPr>
        <p:spPr>
          <a:xfrm>
            <a:off x="5375561" y="3935735"/>
            <a:ext cx="1116704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algn="ctr" rtl="0"/>
            <a:r>
              <a:rPr lang="ko-KR" altLang="en-US" sz="13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업무자동화</a:t>
            </a:r>
            <a:endParaRPr sz="1300" spc="-150" dirty="0">
              <a:solidFill>
                <a:srgbClr val="11004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42" name="Google Shape;153;p6"/>
          <p:cNvSpPr txBox="1"/>
          <p:nvPr/>
        </p:nvSpPr>
        <p:spPr>
          <a:xfrm>
            <a:off x="723900" y="3950972"/>
            <a:ext cx="2026033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algn="l" rtl="0"/>
            <a:r>
              <a:rPr lang="ko-KR" altLang="en-US" sz="1300" spc="-150" dirty="0" err="1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고급프롬프트</a:t>
            </a:r>
            <a:r>
              <a:rPr lang="ko-KR" altLang="en-US" sz="1300" spc="-15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엔지니어링</a:t>
            </a:r>
            <a:endParaRPr sz="1300" spc="-150" dirty="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43" name="Google Shape;154;p6"/>
          <p:cNvSpPr/>
          <p:nvPr/>
        </p:nvSpPr>
        <p:spPr>
          <a:xfrm>
            <a:off x="2801768" y="3857502"/>
            <a:ext cx="1342390" cy="395605"/>
          </a:xfrm>
          <a:custGeom>
            <a:avLst/>
            <a:gdLst/>
            <a:ahLst/>
            <a:cxnLst/>
            <a:rect l="l" t="t" r="r" b="b"/>
            <a:pathLst>
              <a:path w="1342389" h="395604" extrusionOk="0">
                <a:moveTo>
                  <a:pt x="1144650" y="395099"/>
                </a:moveTo>
                <a:lnTo>
                  <a:pt x="197549" y="395099"/>
                </a:lnTo>
                <a:lnTo>
                  <a:pt x="152253" y="389882"/>
                </a:lnTo>
                <a:lnTo>
                  <a:pt x="110672" y="375020"/>
                </a:lnTo>
                <a:lnTo>
                  <a:pt x="73992" y="351700"/>
                </a:lnTo>
                <a:lnTo>
                  <a:pt x="43399" y="321107"/>
                </a:lnTo>
                <a:lnTo>
                  <a:pt x="20079" y="284427"/>
                </a:lnTo>
                <a:lnTo>
                  <a:pt x="5217" y="242846"/>
                </a:lnTo>
                <a:lnTo>
                  <a:pt x="0" y="197549"/>
                </a:lnTo>
                <a:lnTo>
                  <a:pt x="5217" y="152253"/>
                </a:lnTo>
                <a:lnTo>
                  <a:pt x="20079" y="110672"/>
                </a:lnTo>
                <a:lnTo>
                  <a:pt x="43399" y="73992"/>
                </a:lnTo>
                <a:lnTo>
                  <a:pt x="73992" y="43399"/>
                </a:lnTo>
                <a:lnTo>
                  <a:pt x="110672" y="20079"/>
                </a:lnTo>
                <a:lnTo>
                  <a:pt x="152253" y="5217"/>
                </a:lnTo>
                <a:lnTo>
                  <a:pt x="197549" y="0"/>
                </a:lnTo>
                <a:lnTo>
                  <a:pt x="1144650" y="0"/>
                </a:lnTo>
                <a:lnTo>
                  <a:pt x="1183370" y="3830"/>
                </a:lnTo>
                <a:lnTo>
                  <a:pt x="1220249" y="15037"/>
                </a:lnTo>
                <a:lnTo>
                  <a:pt x="1254250" y="33190"/>
                </a:lnTo>
                <a:lnTo>
                  <a:pt x="1284338" y="57860"/>
                </a:lnTo>
                <a:lnTo>
                  <a:pt x="1309009" y="87949"/>
                </a:lnTo>
                <a:lnTo>
                  <a:pt x="1327162" y="121950"/>
                </a:lnTo>
                <a:lnTo>
                  <a:pt x="1338369" y="158829"/>
                </a:lnTo>
                <a:lnTo>
                  <a:pt x="1342200" y="197549"/>
                </a:lnTo>
                <a:lnTo>
                  <a:pt x="1336982" y="242846"/>
                </a:lnTo>
                <a:lnTo>
                  <a:pt x="1322120" y="284427"/>
                </a:lnTo>
                <a:lnTo>
                  <a:pt x="1298800" y="321107"/>
                </a:lnTo>
                <a:lnTo>
                  <a:pt x="1268207" y="351700"/>
                </a:lnTo>
                <a:lnTo>
                  <a:pt x="1231527" y="375020"/>
                </a:lnTo>
                <a:lnTo>
                  <a:pt x="1189946" y="389882"/>
                </a:lnTo>
                <a:lnTo>
                  <a:pt x="1144650" y="39509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l" rtl="0"/>
            <a:endParaRPr sz="900" spc="-150">
              <a:solidFill>
                <a:srgbClr val="1100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155;p6"/>
          <p:cNvSpPr txBox="1"/>
          <p:nvPr/>
        </p:nvSpPr>
        <p:spPr>
          <a:xfrm>
            <a:off x="2725739" y="3935735"/>
            <a:ext cx="1465261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algn="ctr" rtl="0"/>
            <a:r>
              <a:rPr lang="en-US" altLang="ko-KR" sz="13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UIUX</a:t>
            </a:r>
            <a:r>
              <a:rPr lang="ko-KR" altLang="en-US" sz="13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디자인</a:t>
            </a:r>
            <a:endParaRPr sz="1300" spc="-150" dirty="0">
              <a:solidFill>
                <a:srgbClr val="11004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45" name="Google Shape;156;p6"/>
          <p:cNvSpPr/>
          <p:nvPr/>
        </p:nvSpPr>
        <p:spPr>
          <a:xfrm>
            <a:off x="8115801" y="3857559"/>
            <a:ext cx="1018540" cy="395605"/>
          </a:xfrm>
          <a:custGeom>
            <a:avLst/>
            <a:gdLst/>
            <a:ahLst/>
            <a:cxnLst/>
            <a:rect l="l" t="t" r="r" b="b"/>
            <a:pathLst>
              <a:path w="1018540" h="395604" extrusionOk="0">
                <a:moveTo>
                  <a:pt x="820949" y="395099"/>
                </a:moveTo>
                <a:lnTo>
                  <a:pt x="197549" y="395099"/>
                </a:lnTo>
                <a:lnTo>
                  <a:pt x="152253" y="389882"/>
                </a:lnTo>
                <a:lnTo>
                  <a:pt x="110672" y="375020"/>
                </a:lnTo>
                <a:lnTo>
                  <a:pt x="73992" y="351700"/>
                </a:lnTo>
                <a:lnTo>
                  <a:pt x="43399" y="321107"/>
                </a:lnTo>
                <a:lnTo>
                  <a:pt x="20079" y="284427"/>
                </a:lnTo>
                <a:lnTo>
                  <a:pt x="5217" y="242846"/>
                </a:lnTo>
                <a:lnTo>
                  <a:pt x="0" y="197549"/>
                </a:lnTo>
                <a:lnTo>
                  <a:pt x="5217" y="152253"/>
                </a:lnTo>
                <a:lnTo>
                  <a:pt x="20079" y="110672"/>
                </a:lnTo>
                <a:lnTo>
                  <a:pt x="43399" y="73992"/>
                </a:lnTo>
                <a:lnTo>
                  <a:pt x="73992" y="43399"/>
                </a:lnTo>
                <a:lnTo>
                  <a:pt x="110672" y="20079"/>
                </a:lnTo>
                <a:lnTo>
                  <a:pt x="152253" y="5217"/>
                </a:lnTo>
                <a:lnTo>
                  <a:pt x="197549" y="0"/>
                </a:lnTo>
                <a:lnTo>
                  <a:pt x="820949" y="0"/>
                </a:lnTo>
                <a:lnTo>
                  <a:pt x="859670" y="3830"/>
                </a:lnTo>
                <a:lnTo>
                  <a:pt x="896549" y="15037"/>
                </a:lnTo>
                <a:lnTo>
                  <a:pt x="930551" y="33190"/>
                </a:lnTo>
                <a:lnTo>
                  <a:pt x="960638" y="57860"/>
                </a:lnTo>
                <a:lnTo>
                  <a:pt x="985309" y="87949"/>
                </a:lnTo>
                <a:lnTo>
                  <a:pt x="1003462" y="121951"/>
                </a:lnTo>
                <a:lnTo>
                  <a:pt x="1014669" y="158830"/>
                </a:lnTo>
                <a:lnTo>
                  <a:pt x="1018499" y="197549"/>
                </a:lnTo>
                <a:lnTo>
                  <a:pt x="1013282" y="242846"/>
                </a:lnTo>
                <a:lnTo>
                  <a:pt x="998420" y="284427"/>
                </a:lnTo>
                <a:lnTo>
                  <a:pt x="975100" y="321107"/>
                </a:lnTo>
                <a:lnTo>
                  <a:pt x="944507" y="351700"/>
                </a:lnTo>
                <a:lnTo>
                  <a:pt x="907827" y="375020"/>
                </a:lnTo>
                <a:lnTo>
                  <a:pt x="866246" y="389882"/>
                </a:lnTo>
                <a:lnTo>
                  <a:pt x="820949" y="39509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l" rtl="0"/>
            <a:endParaRPr sz="900" spc="-150">
              <a:solidFill>
                <a:srgbClr val="1100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157;p6"/>
          <p:cNvSpPr txBox="1"/>
          <p:nvPr/>
        </p:nvSpPr>
        <p:spPr>
          <a:xfrm>
            <a:off x="8365744" y="3935793"/>
            <a:ext cx="518795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algn="l" rtl="0"/>
            <a:r>
              <a:rPr lang="ko-KR" altLang="en-US" sz="1300" spc="-150">
                <a:solidFill>
                  <a:srgbClr val="F8515D"/>
                </a:solidFill>
                <a:latin typeface="Arial"/>
                <a:ea typeface="Arial"/>
                <a:cs typeface="Arial"/>
                <a:sym typeface="Arial"/>
              </a:rPr>
              <a:t>마케팅</a:t>
            </a:r>
            <a:endParaRPr sz="1300" spc="-150">
              <a:solidFill>
                <a:srgbClr val="F851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" name="Google Shape;158;p6"/>
          <p:cNvGrpSpPr/>
          <p:nvPr/>
        </p:nvGrpSpPr>
        <p:grpSpPr>
          <a:xfrm>
            <a:off x="982764" y="3334179"/>
            <a:ext cx="902969" cy="395605"/>
            <a:chOff x="982763" y="3650069"/>
            <a:chExt cx="902969" cy="395605"/>
          </a:xfrm>
        </p:grpSpPr>
        <p:sp>
          <p:nvSpPr>
            <p:cNvPr id="48" name="Google Shape;159;p6"/>
            <p:cNvSpPr/>
            <p:nvPr/>
          </p:nvSpPr>
          <p:spPr>
            <a:xfrm>
              <a:off x="982763" y="3650069"/>
              <a:ext cx="902969" cy="395605"/>
            </a:xfrm>
            <a:custGeom>
              <a:avLst/>
              <a:gdLst/>
              <a:ahLst/>
              <a:cxnLst/>
              <a:rect l="l" t="t" r="r" b="b"/>
              <a:pathLst>
                <a:path w="902969" h="395604" extrusionOk="0">
                  <a:moveTo>
                    <a:pt x="704850" y="395099"/>
                  </a:moveTo>
                  <a:lnTo>
                    <a:pt x="197549" y="395099"/>
                  </a:lnTo>
                  <a:lnTo>
                    <a:pt x="152253" y="389882"/>
                  </a:lnTo>
                  <a:lnTo>
                    <a:pt x="110672" y="375020"/>
                  </a:lnTo>
                  <a:lnTo>
                    <a:pt x="73992" y="351700"/>
                  </a:lnTo>
                  <a:lnTo>
                    <a:pt x="43399" y="321107"/>
                  </a:lnTo>
                  <a:lnTo>
                    <a:pt x="20079" y="284427"/>
                  </a:lnTo>
                  <a:lnTo>
                    <a:pt x="5217" y="242846"/>
                  </a:lnTo>
                  <a:lnTo>
                    <a:pt x="0" y="197549"/>
                  </a:lnTo>
                  <a:lnTo>
                    <a:pt x="5217" y="152253"/>
                  </a:lnTo>
                  <a:lnTo>
                    <a:pt x="20079" y="110672"/>
                  </a:lnTo>
                  <a:lnTo>
                    <a:pt x="43399" y="73992"/>
                  </a:lnTo>
                  <a:lnTo>
                    <a:pt x="73992" y="43399"/>
                  </a:lnTo>
                  <a:lnTo>
                    <a:pt x="110672" y="20079"/>
                  </a:lnTo>
                  <a:lnTo>
                    <a:pt x="152253" y="5217"/>
                  </a:lnTo>
                  <a:lnTo>
                    <a:pt x="197549" y="0"/>
                  </a:lnTo>
                  <a:lnTo>
                    <a:pt x="704850" y="0"/>
                  </a:lnTo>
                  <a:lnTo>
                    <a:pt x="743570" y="3830"/>
                  </a:lnTo>
                  <a:lnTo>
                    <a:pt x="780449" y="15037"/>
                  </a:lnTo>
                  <a:lnTo>
                    <a:pt x="814450" y="33190"/>
                  </a:lnTo>
                  <a:lnTo>
                    <a:pt x="844538" y="57860"/>
                  </a:lnTo>
                  <a:lnTo>
                    <a:pt x="869209" y="87949"/>
                  </a:lnTo>
                  <a:lnTo>
                    <a:pt x="887362" y="121951"/>
                  </a:lnTo>
                  <a:lnTo>
                    <a:pt x="898569" y="158830"/>
                  </a:lnTo>
                  <a:lnTo>
                    <a:pt x="902400" y="197549"/>
                  </a:lnTo>
                  <a:lnTo>
                    <a:pt x="897182" y="242846"/>
                  </a:lnTo>
                  <a:lnTo>
                    <a:pt x="882320" y="284427"/>
                  </a:lnTo>
                  <a:lnTo>
                    <a:pt x="859000" y="321107"/>
                  </a:lnTo>
                  <a:lnTo>
                    <a:pt x="828407" y="351700"/>
                  </a:lnTo>
                  <a:lnTo>
                    <a:pt x="791727" y="375020"/>
                  </a:lnTo>
                  <a:lnTo>
                    <a:pt x="750146" y="389882"/>
                  </a:lnTo>
                  <a:lnTo>
                    <a:pt x="704850" y="395099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1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 sz="900" spc="-150">
                <a:solidFill>
                  <a:srgbClr val="F8515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160;p6"/>
            <p:cNvSpPr/>
            <p:nvPr/>
          </p:nvSpPr>
          <p:spPr>
            <a:xfrm>
              <a:off x="982763" y="3650069"/>
              <a:ext cx="902969" cy="395605"/>
            </a:xfrm>
            <a:custGeom>
              <a:avLst/>
              <a:gdLst/>
              <a:ahLst/>
              <a:cxnLst/>
              <a:rect l="l" t="t" r="r" b="b"/>
              <a:pathLst>
                <a:path w="902969" h="395604" extrusionOk="0">
                  <a:moveTo>
                    <a:pt x="0" y="197549"/>
                  </a:moveTo>
                  <a:lnTo>
                    <a:pt x="5217" y="152253"/>
                  </a:lnTo>
                  <a:lnTo>
                    <a:pt x="20079" y="110672"/>
                  </a:lnTo>
                  <a:lnTo>
                    <a:pt x="43399" y="73992"/>
                  </a:lnTo>
                  <a:lnTo>
                    <a:pt x="73992" y="43399"/>
                  </a:lnTo>
                  <a:lnTo>
                    <a:pt x="110672" y="20079"/>
                  </a:lnTo>
                  <a:lnTo>
                    <a:pt x="152253" y="5217"/>
                  </a:lnTo>
                  <a:lnTo>
                    <a:pt x="197549" y="0"/>
                  </a:lnTo>
                  <a:lnTo>
                    <a:pt x="704850" y="0"/>
                  </a:lnTo>
                  <a:lnTo>
                    <a:pt x="743570" y="3830"/>
                  </a:lnTo>
                  <a:lnTo>
                    <a:pt x="780449" y="15037"/>
                  </a:lnTo>
                  <a:lnTo>
                    <a:pt x="814450" y="33190"/>
                  </a:lnTo>
                  <a:lnTo>
                    <a:pt x="844538" y="57860"/>
                  </a:lnTo>
                  <a:lnTo>
                    <a:pt x="869209" y="87949"/>
                  </a:lnTo>
                  <a:lnTo>
                    <a:pt x="887362" y="121951"/>
                  </a:lnTo>
                  <a:lnTo>
                    <a:pt x="898569" y="158830"/>
                  </a:lnTo>
                  <a:lnTo>
                    <a:pt x="902400" y="197549"/>
                  </a:lnTo>
                  <a:lnTo>
                    <a:pt x="897182" y="242846"/>
                  </a:lnTo>
                  <a:lnTo>
                    <a:pt x="882320" y="284427"/>
                  </a:lnTo>
                  <a:lnTo>
                    <a:pt x="859000" y="321107"/>
                  </a:lnTo>
                  <a:lnTo>
                    <a:pt x="828407" y="351700"/>
                  </a:lnTo>
                  <a:lnTo>
                    <a:pt x="791727" y="375020"/>
                  </a:lnTo>
                  <a:lnTo>
                    <a:pt x="750146" y="389882"/>
                  </a:lnTo>
                  <a:lnTo>
                    <a:pt x="704850" y="395099"/>
                  </a:lnTo>
                  <a:lnTo>
                    <a:pt x="197549" y="395099"/>
                  </a:lnTo>
                  <a:lnTo>
                    <a:pt x="152253" y="389882"/>
                  </a:lnTo>
                  <a:lnTo>
                    <a:pt x="110672" y="375020"/>
                  </a:lnTo>
                  <a:lnTo>
                    <a:pt x="73992" y="351700"/>
                  </a:lnTo>
                  <a:lnTo>
                    <a:pt x="43399" y="321107"/>
                  </a:lnTo>
                  <a:lnTo>
                    <a:pt x="20079" y="284427"/>
                  </a:lnTo>
                  <a:lnTo>
                    <a:pt x="5217" y="242846"/>
                  </a:lnTo>
                  <a:lnTo>
                    <a:pt x="0" y="197549"/>
                  </a:lnTo>
                  <a:close/>
                </a:path>
              </a:pathLst>
            </a:custGeom>
            <a:noFill/>
            <a:ln w="19025" cap="flat" cmpd="sng">
              <a:solidFill>
                <a:schemeClr val="accent1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 sz="900" spc="-150">
                <a:solidFill>
                  <a:srgbClr val="F8515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" name="Google Shape;161;p6"/>
          <p:cNvSpPr txBox="1"/>
          <p:nvPr/>
        </p:nvSpPr>
        <p:spPr>
          <a:xfrm>
            <a:off x="1235266" y="3412413"/>
            <a:ext cx="517335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algn="l" rtl="0"/>
            <a:r>
              <a:rPr lang="ko-KR" altLang="en-US" sz="13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전략</a:t>
            </a:r>
            <a:endParaRPr sz="1300" spc="-150" dirty="0">
              <a:solidFill>
                <a:srgbClr val="11004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51" name="Google Shape;162;p6"/>
          <p:cNvSpPr/>
          <p:nvPr/>
        </p:nvSpPr>
        <p:spPr>
          <a:xfrm>
            <a:off x="6696710" y="3857485"/>
            <a:ext cx="1342390" cy="395605"/>
          </a:xfrm>
          <a:custGeom>
            <a:avLst/>
            <a:gdLst/>
            <a:ahLst/>
            <a:cxnLst/>
            <a:rect l="l" t="t" r="r" b="b"/>
            <a:pathLst>
              <a:path w="1342390" h="395604" extrusionOk="0">
                <a:moveTo>
                  <a:pt x="1144649" y="395099"/>
                </a:moveTo>
                <a:lnTo>
                  <a:pt x="197549" y="395099"/>
                </a:lnTo>
                <a:lnTo>
                  <a:pt x="152253" y="389882"/>
                </a:lnTo>
                <a:lnTo>
                  <a:pt x="110672" y="375020"/>
                </a:lnTo>
                <a:lnTo>
                  <a:pt x="73992" y="351700"/>
                </a:lnTo>
                <a:lnTo>
                  <a:pt x="43399" y="321107"/>
                </a:lnTo>
                <a:lnTo>
                  <a:pt x="20079" y="284427"/>
                </a:lnTo>
                <a:lnTo>
                  <a:pt x="5217" y="242846"/>
                </a:lnTo>
                <a:lnTo>
                  <a:pt x="0" y="197549"/>
                </a:lnTo>
                <a:lnTo>
                  <a:pt x="5217" y="152253"/>
                </a:lnTo>
                <a:lnTo>
                  <a:pt x="20079" y="110672"/>
                </a:lnTo>
                <a:lnTo>
                  <a:pt x="43399" y="73992"/>
                </a:lnTo>
                <a:lnTo>
                  <a:pt x="73992" y="43399"/>
                </a:lnTo>
                <a:lnTo>
                  <a:pt x="110672" y="20079"/>
                </a:lnTo>
                <a:lnTo>
                  <a:pt x="152253" y="5217"/>
                </a:lnTo>
                <a:lnTo>
                  <a:pt x="197549" y="0"/>
                </a:lnTo>
                <a:lnTo>
                  <a:pt x="1144649" y="0"/>
                </a:lnTo>
                <a:lnTo>
                  <a:pt x="1183370" y="3830"/>
                </a:lnTo>
                <a:lnTo>
                  <a:pt x="1220249" y="15037"/>
                </a:lnTo>
                <a:lnTo>
                  <a:pt x="1254251" y="33190"/>
                </a:lnTo>
                <a:lnTo>
                  <a:pt x="1284338" y="57860"/>
                </a:lnTo>
                <a:lnTo>
                  <a:pt x="1309009" y="87949"/>
                </a:lnTo>
                <a:lnTo>
                  <a:pt x="1327162" y="121950"/>
                </a:lnTo>
                <a:lnTo>
                  <a:pt x="1338369" y="158829"/>
                </a:lnTo>
                <a:lnTo>
                  <a:pt x="1342199" y="197549"/>
                </a:lnTo>
                <a:lnTo>
                  <a:pt x="1336982" y="242846"/>
                </a:lnTo>
                <a:lnTo>
                  <a:pt x="1322120" y="284427"/>
                </a:lnTo>
                <a:lnTo>
                  <a:pt x="1298800" y="321107"/>
                </a:lnTo>
                <a:lnTo>
                  <a:pt x="1268207" y="351700"/>
                </a:lnTo>
                <a:lnTo>
                  <a:pt x="1231527" y="375020"/>
                </a:lnTo>
                <a:lnTo>
                  <a:pt x="1189946" y="389882"/>
                </a:lnTo>
                <a:lnTo>
                  <a:pt x="1144649" y="39509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l" rtl="0"/>
            <a:endParaRPr sz="900" spc="-150">
              <a:solidFill>
                <a:srgbClr val="F851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163;p6"/>
          <p:cNvSpPr txBox="1"/>
          <p:nvPr/>
        </p:nvSpPr>
        <p:spPr>
          <a:xfrm>
            <a:off x="6858000" y="3947980"/>
            <a:ext cx="1050146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algn="ctr" rtl="0"/>
            <a:r>
              <a:rPr lang="en-US" altLang="ko-KR" sz="1300" spc="-15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</a:t>
            </a:r>
            <a:r>
              <a:rPr lang="ko-KR" altLang="en-US" sz="1300" spc="-15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에이전트</a:t>
            </a:r>
            <a:endParaRPr sz="1300" spc="-150" dirty="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20790" y="3334184"/>
            <a:ext cx="810895" cy="395605"/>
          </a:xfrm>
          <a:custGeom>
            <a:avLst/>
            <a:gdLst/>
            <a:ahLst/>
            <a:cxnLst/>
            <a:rect l="l" t="t" r="r" b="b"/>
            <a:pathLst>
              <a:path w="810894" h="395604" extrusionOk="0">
                <a:moveTo>
                  <a:pt x="613350" y="395099"/>
                </a:moveTo>
                <a:lnTo>
                  <a:pt x="197549" y="395099"/>
                </a:lnTo>
                <a:lnTo>
                  <a:pt x="152253" y="389882"/>
                </a:lnTo>
                <a:lnTo>
                  <a:pt x="110672" y="375020"/>
                </a:lnTo>
                <a:lnTo>
                  <a:pt x="73992" y="351700"/>
                </a:lnTo>
                <a:lnTo>
                  <a:pt x="43399" y="321107"/>
                </a:lnTo>
                <a:lnTo>
                  <a:pt x="20079" y="284427"/>
                </a:lnTo>
                <a:lnTo>
                  <a:pt x="5217" y="242846"/>
                </a:lnTo>
                <a:lnTo>
                  <a:pt x="0" y="197549"/>
                </a:lnTo>
                <a:lnTo>
                  <a:pt x="5217" y="152253"/>
                </a:lnTo>
                <a:lnTo>
                  <a:pt x="20079" y="110672"/>
                </a:lnTo>
                <a:lnTo>
                  <a:pt x="43399" y="73992"/>
                </a:lnTo>
                <a:lnTo>
                  <a:pt x="73992" y="43399"/>
                </a:lnTo>
                <a:lnTo>
                  <a:pt x="110672" y="20079"/>
                </a:lnTo>
                <a:lnTo>
                  <a:pt x="152253" y="5217"/>
                </a:lnTo>
                <a:lnTo>
                  <a:pt x="197549" y="0"/>
                </a:lnTo>
                <a:lnTo>
                  <a:pt x="613350" y="0"/>
                </a:lnTo>
                <a:lnTo>
                  <a:pt x="652070" y="3830"/>
                </a:lnTo>
                <a:lnTo>
                  <a:pt x="688949" y="15037"/>
                </a:lnTo>
                <a:lnTo>
                  <a:pt x="722950" y="33190"/>
                </a:lnTo>
                <a:lnTo>
                  <a:pt x="753038" y="57860"/>
                </a:lnTo>
                <a:lnTo>
                  <a:pt x="777709" y="87949"/>
                </a:lnTo>
                <a:lnTo>
                  <a:pt x="795862" y="121951"/>
                </a:lnTo>
                <a:lnTo>
                  <a:pt x="807069" y="158830"/>
                </a:lnTo>
                <a:lnTo>
                  <a:pt x="810900" y="197549"/>
                </a:lnTo>
                <a:lnTo>
                  <a:pt x="805682" y="242846"/>
                </a:lnTo>
                <a:lnTo>
                  <a:pt x="790820" y="284427"/>
                </a:lnTo>
                <a:lnTo>
                  <a:pt x="767500" y="321107"/>
                </a:lnTo>
                <a:lnTo>
                  <a:pt x="736907" y="351700"/>
                </a:lnTo>
                <a:lnTo>
                  <a:pt x="700227" y="375020"/>
                </a:lnTo>
                <a:lnTo>
                  <a:pt x="658646" y="389882"/>
                </a:lnTo>
                <a:lnTo>
                  <a:pt x="613350" y="39509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l" rtl="0"/>
            <a:endParaRPr sz="900" spc="-150">
              <a:solidFill>
                <a:srgbClr val="1100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165;p6"/>
          <p:cNvSpPr txBox="1"/>
          <p:nvPr/>
        </p:nvSpPr>
        <p:spPr>
          <a:xfrm>
            <a:off x="249133" y="3412418"/>
            <a:ext cx="354330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algn="l" rtl="0"/>
            <a:r>
              <a:rPr lang="ko-KR" altLang="en-US" sz="1300" spc="-150">
                <a:solidFill>
                  <a:srgbClr val="F8515D"/>
                </a:solidFill>
                <a:latin typeface="Arial"/>
                <a:ea typeface="Arial"/>
                <a:cs typeface="Arial"/>
                <a:sym typeface="Arial"/>
              </a:rPr>
              <a:t>전략</a:t>
            </a:r>
            <a:endParaRPr sz="1300" spc="-150">
              <a:solidFill>
                <a:srgbClr val="F851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166;p6"/>
          <p:cNvGrpSpPr/>
          <p:nvPr/>
        </p:nvGrpSpPr>
        <p:grpSpPr>
          <a:xfrm>
            <a:off x="7136406" y="3334179"/>
            <a:ext cx="1174688" cy="395605"/>
            <a:chOff x="7138905" y="3650069"/>
            <a:chExt cx="1172210" cy="395605"/>
          </a:xfrm>
        </p:grpSpPr>
        <p:sp>
          <p:nvSpPr>
            <p:cNvPr id="55" name="Google Shape;167;p6"/>
            <p:cNvSpPr/>
            <p:nvPr/>
          </p:nvSpPr>
          <p:spPr>
            <a:xfrm>
              <a:off x="7138905" y="3650069"/>
              <a:ext cx="1172210" cy="395605"/>
            </a:xfrm>
            <a:custGeom>
              <a:avLst/>
              <a:gdLst/>
              <a:ahLst/>
              <a:cxnLst/>
              <a:rect l="l" t="t" r="r" b="b"/>
              <a:pathLst>
                <a:path w="1172209" h="395604" extrusionOk="0">
                  <a:moveTo>
                    <a:pt x="974549" y="395099"/>
                  </a:moveTo>
                  <a:lnTo>
                    <a:pt x="197549" y="395099"/>
                  </a:lnTo>
                  <a:lnTo>
                    <a:pt x="152253" y="389882"/>
                  </a:lnTo>
                  <a:lnTo>
                    <a:pt x="110672" y="375020"/>
                  </a:lnTo>
                  <a:lnTo>
                    <a:pt x="73992" y="351700"/>
                  </a:lnTo>
                  <a:lnTo>
                    <a:pt x="43399" y="321107"/>
                  </a:lnTo>
                  <a:lnTo>
                    <a:pt x="20079" y="284427"/>
                  </a:lnTo>
                  <a:lnTo>
                    <a:pt x="5217" y="242846"/>
                  </a:lnTo>
                  <a:lnTo>
                    <a:pt x="0" y="197549"/>
                  </a:lnTo>
                  <a:lnTo>
                    <a:pt x="5217" y="152253"/>
                  </a:lnTo>
                  <a:lnTo>
                    <a:pt x="20079" y="110672"/>
                  </a:lnTo>
                  <a:lnTo>
                    <a:pt x="43399" y="73992"/>
                  </a:lnTo>
                  <a:lnTo>
                    <a:pt x="73992" y="43399"/>
                  </a:lnTo>
                  <a:lnTo>
                    <a:pt x="110672" y="20079"/>
                  </a:lnTo>
                  <a:lnTo>
                    <a:pt x="152253" y="5217"/>
                  </a:lnTo>
                  <a:lnTo>
                    <a:pt x="197549" y="0"/>
                  </a:lnTo>
                  <a:lnTo>
                    <a:pt x="974549" y="0"/>
                  </a:lnTo>
                  <a:lnTo>
                    <a:pt x="1013270" y="3830"/>
                  </a:lnTo>
                  <a:lnTo>
                    <a:pt x="1050149" y="15037"/>
                  </a:lnTo>
                  <a:lnTo>
                    <a:pt x="1084150" y="33190"/>
                  </a:lnTo>
                  <a:lnTo>
                    <a:pt x="1114238" y="57860"/>
                  </a:lnTo>
                  <a:lnTo>
                    <a:pt x="1138909" y="87949"/>
                  </a:lnTo>
                  <a:lnTo>
                    <a:pt x="1157062" y="121951"/>
                  </a:lnTo>
                  <a:lnTo>
                    <a:pt x="1168269" y="158830"/>
                  </a:lnTo>
                  <a:lnTo>
                    <a:pt x="1172099" y="197549"/>
                  </a:lnTo>
                  <a:lnTo>
                    <a:pt x="1166882" y="242846"/>
                  </a:lnTo>
                  <a:lnTo>
                    <a:pt x="1152020" y="284427"/>
                  </a:lnTo>
                  <a:lnTo>
                    <a:pt x="1128700" y="321107"/>
                  </a:lnTo>
                  <a:lnTo>
                    <a:pt x="1098107" y="351700"/>
                  </a:lnTo>
                  <a:lnTo>
                    <a:pt x="1061427" y="375020"/>
                  </a:lnTo>
                  <a:lnTo>
                    <a:pt x="1019846" y="389882"/>
                  </a:lnTo>
                  <a:lnTo>
                    <a:pt x="974549" y="395099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 sz="900" spc="-150">
                <a:solidFill>
                  <a:srgbClr val="F8515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168;p6"/>
            <p:cNvSpPr/>
            <p:nvPr/>
          </p:nvSpPr>
          <p:spPr>
            <a:xfrm>
              <a:off x="7138905" y="3650069"/>
              <a:ext cx="1172210" cy="395605"/>
            </a:xfrm>
            <a:custGeom>
              <a:avLst/>
              <a:gdLst/>
              <a:ahLst/>
              <a:cxnLst/>
              <a:rect l="l" t="t" r="r" b="b"/>
              <a:pathLst>
                <a:path w="1172209" h="395604" extrusionOk="0">
                  <a:moveTo>
                    <a:pt x="0" y="197549"/>
                  </a:moveTo>
                  <a:lnTo>
                    <a:pt x="5217" y="152253"/>
                  </a:lnTo>
                  <a:lnTo>
                    <a:pt x="20079" y="110672"/>
                  </a:lnTo>
                  <a:lnTo>
                    <a:pt x="43399" y="73992"/>
                  </a:lnTo>
                  <a:lnTo>
                    <a:pt x="73992" y="43399"/>
                  </a:lnTo>
                  <a:lnTo>
                    <a:pt x="110672" y="20079"/>
                  </a:lnTo>
                  <a:lnTo>
                    <a:pt x="152253" y="5217"/>
                  </a:lnTo>
                  <a:lnTo>
                    <a:pt x="197549" y="0"/>
                  </a:lnTo>
                  <a:lnTo>
                    <a:pt x="974549" y="0"/>
                  </a:lnTo>
                  <a:lnTo>
                    <a:pt x="1013270" y="3830"/>
                  </a:lnTo>
                  <a:lnTo>
                    <a:pt x="1050149" y="15037"/>
                  </a:lnTo>
                  <a:lnTo>
                    <a:pt x="1084150" y="33190"/>
                  </a:lnTo>
                  <a:lnTo>
                    <a:pt x="1114238" y="57860"/>
                  </a:lnTo>
                  <a:lnTo>
                    <a:pt x="1138909" y="87949"/>
                  </a:lnTo>
                  <a:lnTo>
                    <a:pt x="1157062" y="121951"/>
                  </a:lnTo>
                  <a:lnTo>
                    <a:pt x="1168269" y="158830"/>
                  </a:lnTo>
                  <a:lnTo>
                    <a:pt x="1172099" y="197549"/>
                  </a:lnTo>
                  <a:lnTo>
                    <a:pt x="1166882" y="242846"/>
                  </a:lnTo>
                  <a:lnTo>
                    <a:pt x="1152020" y="284427"/>
                  </a:lnTo>
                  <a:lnTo>
                    <a:pt x="1128700" y="321107"/>
                  </a:lnTo>
                  <a:lnTo>
                    <a:pt x="1098107" y="351700"/>
                  </a:lnTo>
                  <a:lnTo>
                    <a:pt x="1061427" y="375020"/>
                  </a:lnTo>
                  <a:lnTo>
                    <a:pt x="1019846" y="389882"/>
                  </a:lnTo>
                  <a:lnTo>
                    <a:pt x="974549" y="395099"/>
                  </a:lnTo>
                  <a:lnTo>
                    <a:pt x="197549" y="395099"/>
                  </a:lnTo>
                  <a:lnTo>
                    <a:pt x="152253" y="389882"/>
                  </a:lnTo>
                  <a:lnTo>
                    <a:pt x="110672" y="375020"/>
                  </a:lnTo>
                  <a:lnTo>
                    <a:pt x="73992" y="351700"/>
                  </a:lnTo>
                  <a:lnTo>
                    <a:pt x="43399" y="321107"/>
                  </a:lnTo>
                  <a:lnTo>
                    <a:pt x="20079" y="284427"/>
                  </a:lnTo>
                  <a:lnTo>
                    <a:pt x="5217" y="242846"/>
                  </a:lnTo>
                  <a:lnTo>
                    <a:pt x="0" y="197549"/>
                  </a:lnTo>
                  <a:close/>
                </a:path>
              </a:pathLst>
            </a:custGeom>
            <a:noFill/>
            <a:ln w="19025" cap="flat" cmpd="sng">
              <a:solidFill>
                <a:schemeClr val="accent1">
                  <a:lumMod val="20000"/>
                  <a:lumOff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 sz="900" spc="-150">
                <a:solidFill>
                  <a:srgbClr val="F8515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169;p6"/>
          <p:cNvSpPr txBox="1"/>
          <p:nvPr/>
        </p:nvSpPr>
        <p:spPr>
          <a:xfrm>
            <a:off x="7124700" y="3412413"/>
            <a:ext cx="1142772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algn="ctr" rtl="0"/>
            <a:r>
              <a:rPr lang="ko-KR" altLang="en-US" sz="1300" spc="-150" dirty="0" err="1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광고만들기</a:t>
            </a:r>
            <a:endParaRPr sz="1300" spc="-150" dirty="0">
              <a:solidFill>
                <a:srgbClr val="11004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58" name="Google Shape;170;p6"/>
          <p:cNvSpPr/>
          <p:nvPr/>
        </p:nvSpPr>
        <p:spPr>
          <a:xfrm>
            <a:off x="3740955" y="3334146"/>
            <a:ext cx="945515" cy="395605"/>
          </a:xfrm>
          <a:custGeom>
            <a:avLst/>
            <a:gdLst/>
            <a:ahLst/>
            <a:cxnLst/>
            <a:rect l="l" t="t" r="r" b="b"/>
            <a:pathLst>
              <a:path w="945514" h="395604" extrusionOk="0">
                <a:moveTo>
                  <a:pt x="747749" y="395099"/>
                </a:moveTo>
                <a:lnTo>
                  <a:pt x="197549" y="395099"/>
                </a:lnTo>
                <a:lnTo>
                  <a:pt x="152253" y="389882"/>
                </a:lnTo>
                <a:lnTo>
                  <a:pt x="110672" y="375020"/>
                </a:lnTo>
                <a:lnTo>
                  <a:pt x="73992" y="351700"/>
                </a:lnTo>
                <a:lnTo>
                  <a:pt x="43399" y="321107"/>
                </a:lnTo>
                <a:lnTo>
                  <a:pt x="20079" y="284427"/>
                </a:lnTo>
                <a:lnTo>
                  <a:pt x="5217" y="242846"/>
                </a:lnTo>
                <a:lnTo>
                  <a:pt x="0" y="197549"/>
                </a:lnTo>
                <a:lnTo>
                  <a:pt x="5217" y="152253"/>
                </a:lnTo>
                <a:lnTo>
                  <a:pt x="20079" y="110672"/>
                </a:lnTo>
                <a:lnTo>
                  <a:pt x="43399" y="73992"/>
                </a:lnTo>
                <a:lnTo>
                  <a:pt x="73992" y="43399"/>
                </a:lnTo>
                <a:lnTo>
                  <a:pt x="110672" y="20079"/>
                </a:lnTo>
                <a:lnTo>
                  <a:pt x="152253" y="5217"/>
                </a:lnTo>
                <a:lnTo>
                  <a:pt x="197549" y="0"/>
                </a:lnTo>
                <a:lnTo>
                  <a:pt x="747749" y="0"/>
                </a:lnTo>
                <a:lnTo>
                  <a:pt x="786470" y="3830"/>
                </a:lnTo>
                <a:lnTo>
                  <a:pt x="823349" y="15037"/>
                </a:lnTo>
                <a:lnTo>
                  <a:pt x="857350" y="33190"/>
                </a:lnTo>
                <a:lnTo>
                  <a:pt x="887439" y="57860"/>
                </a:lnTo>
                <a:lnTo>
                  <a:pt x="912109" y="87949"/>
                </a:lnTo>
                <a:lnTo>
                  <a:pt x="930262" y="121950"/>
                </a:lnTo>
                <a:lnTo>
                  <a:pt x="941469" y="158829"/>
                </a:lnTo>
                <a:lnTo>
                  <a:pt x="945299" y="197549"/>
                </a:lnTo>
                <a:lnTo>
                  <a:pt x="940082" y="242846"/>
                </a:lnTo>
                <a:lnTo>
                  <a:pt x="925220" y="284427"/>
                </a:lnTo>
                <a:lnTo>
                  <a:pt x="901900" y="321107"/>
                </a:lnTo>
                <a:lnTo>
                  <a:pt x="871307" y="351700"/>
                </a:lnTo>
                <a:lnTo>
                  <a:pt x="834627" y="375020"/>
                </a:lnTo>
                <a:lnTo>
                  <a:pt x="793046" y="389882"/>
                </a:lnTo>
                <a:lnTo>
                  <a:pt x="747749" y="39509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l" rtl="0"/>
            <a:endParaRPr sz="900" spc="-150">
              <a:solidFill>
                <a:srgbClr val="1100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171;p6"/>
          <p:cNvSpPr txBox="1"/>
          <p:nvPr/>
        </p:nvSpPr>
        <p:spPr>
          <a:xfrm>
            <a:off x="4036499" y="3412380"/>
            <a:ext cx="354330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algn="l" rtl="0"/>
            <a:r>
              <a:rPr lang="ko-KR" altLang="en-US" sz="1300" spc="-150" dirty="0" err="1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챗봇</a:t>
            </a:r>
            <a:endParaRPr sz="1300" spc="-150" dirty="0">
              <a:solidFill>
                <a:srgbClr val="11004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60" name="Google Shape;172;p6"/>
          <p:cNvSpPr/>
          <p:nvPr/>
        </p:nvSpPr>
        <p:spPr>
          <a:xfrm>
            <a:off x="2036664" y="3334146"/>
            <a:ext cx="1553210" cy="395605"/>
          </a:xfrm>
          <a:custGeom>
            <a:avLst/>
            <a:gdLst/>
            <a:ahLst/>
            <a:cxnLst/>
            <a:rect l="l" t="t" r="r" b="b"/>
            <a:pathLst>
              <a:path w="1553210" h="395604" extrusionOk="0">
                <a:moveTo>
                  <a:pt x="1355249" y="395099"/>
                </a:moveTo>
                <a:lnTo>
                  <a:pt x="197549" y="395099"/>
                </a:lnTo>
                <a:lnTo>
                  <a:pt x="152253" y="389882"/>
                </a:lnTo>
                <a:lnTo>
                  <a:pt x="110672" y="375020"/>
                </a:lnTo>
                <a:lnTo>
                  <a:pt x="73992" y="351700"/>
                </a:lnTo>
                <a:lnTo>
                  <a:pt x="43399" y="321107"/>
                </a:lnTo>
                <a:lnTo>
                  <a:pt x="20079" y="284427"/>
                </a:lnTo>
                <a:lnTo>
                  <a:pt x="5217" y="242846"/>
                </a:lnTo>
                <a:lnTo>
                  <a:pt x="0" y="197549"/>
                </a:lnTo>
                <a:lnTo>
                  <a:pt x="5217" y="152253"/>
                </a:lnTo>
                <a:lnTo>
                  <a:pt x="20079" y="110672"/>
                </a:lnTo>
                <a:lnTo>
                  <a:pt x="43399" y="73992"/>
                </a:lnTo>
                <a:lnTo>
                  <a:pt x="73992" y="43399"/>
                </a:lnTo>
                <a:lnTo>
                  <a:pt x="110672" y="20079"/>
                </a:lnTo>
                <a:lnTo>
                  <a:pt x="152253" y="5217"/>
                </a:lnTo>
                <a:lnTo>
                  <a:pt x="197549" y="0"/>
                </a:lnTo>
                <a:lnTo>
                  <a:pt x="1355249" y="0"/>
                </a:lnTo>
                <a:lnTo>
                  <a:pt x="1393970" y="3830"/>
                </a:lnTo>
                <a:lnTo>
                  <a:pt x="1430849" y="15037"/>
                </a:lnTo>
                <a:lnTo>
                  <a:pt x="1464850" y="33190"/>
                </a:lnTo>
                <a:lnTo>
                  <a:pt x="1494938" y="57860"/>
                </a:lnTo>
                <a:lnTo>
                  <a:pt x="1519609" y="87949"/>
                </a:lnTo>
                <a:lnTo>
                  <a:pt x="1537762" y="121950"/>
                </a:lnTo>
                <a:lnTo>
                  <a:pt x="1548968" y="158829"/>
                </a:lnTo>
                <a:lnTo>
                  <a:pt x="1552799" y="197549"/>
                </a:lnTo>
                <a:lnTo>
                  <a:pt x="1547582" y="242846"/>
                </a:lnTo>
                <a:lnTo>
                  <a:pt x="1532720" y="284427"/>
                </a:lnTo>
                <a:lnTo>
                  <a:pt x="1509400" y="321107"/>
                </a:lnTo>
                <a:lnTo>
                  <a:pt x="1478807" y="351700"/>
                </a:lnTo>
                <a:lnTo>
                  <a:pt x="1442127" y="375020"/>
                </a:lnTo>
                <a:lnTo>
                  <a:pt x="1400546" y="389882"/>
                </a:lnTo>
                <a:lnTo>
                  <a:pt x="1355249" y="39509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l" rtl="0"/>
            <a:endParaRPr sz="900" spc="-150">
              <a:solidFill>
                <a:srgbClr val="F851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173;p6"/>
          <p:cNvSpPr txBox="1"/>
          <p:nvPr/>
        </p:nvSpPr>
        <p:spPr>
          <a:xfrm>
            <a:off x="2451727" y="3412380"/>
            <a:ext cx="722630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algn="l" rtl="0"/>
            <a:r>
              <a:rPr lang="ko-KR" altLang="en-US" sz="1300" spc="-15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생성형 </a:t>
            </a:r>
            <a:r>
              <a:rPr lang="en-US" altLang="ko-KR" sz="1300" spc="-15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endParaRPr sz="1300" spc="-150" dirty="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pic>
        <p:nvPicPr>
          <p:cNvPr id="174" name="Google Shape;174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3075016"/>
            <a:ext cx="669599" cy="1712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17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33101" y="3097051"/>
            <a:ext cx="810899" cy="12653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176;p6"/>
          <p:cNvSpPr/>
          <p:nvPr/>
        </p:nvSpPr>
        <p:spPr>
          <a:xfrm>
            <a:off x="4762500" y="3334146"/>
            <a:ext cx="2288332" cy="395605"/>
          </a:xfrm>
          <a:custGeom>
            <a:avLst/>
            <a:gdLst/>
            <a:ahLst/>
            <a:cxnLst/>
            <a:rect l="l" t="t" r="r" b="b"/>
            <a:pathLst>
              <a:path w="2449195" h="395604" extrusionOk="0">
                <a:moveTo>
                  <a:pt x="2251650" y="395099"/>
                </a:moveTo>
                <a:lnTo>
                  <a:pt x="197550" y="395099"/>
                </a:lnTo>
                <a:lnTo>
                  <a:pt x="152253" y="389882"/>
                </a:lnTo>
                <a:lnTo>
                  <a:pt x="110672" y="375020"/>
                </a:lnTo>
                <a:lnTo>
                  <a:pt x="73992" y="351700"/>
                </a:lnTo>
                <a:lnTo>
                  <a:pt x="43399" y="321107"/>
                </a:lnTo>
                <a:lnTo>
                  <a:pt x="20079" y="284427"/>
                </a:lnTo>
                <a:lnTo>
                  <a:pt x="5217" y="242846"/>
                </a:lnTo>
                <a:lnTo>
                  <a:pt x="0" y="197549"/>
                </a:lnTo>
                <a:lnTo>
                  <a:pt x="5217" y="152253"/>
                </a:lnTo>
                <a:lnTo>
                  <a:pt x="20079" y="110672"/>
                </a:lnTo>
                <a:lnTo>
                  <a:pt x="43399" y="73992"/>
                </a:lnTo>
                <a:lnTo>
                  <a:pt x="73992" y="43399"/>
                </a:lnTo>
                <a:lnTo>
                  <a:pt x="110672" y="20079"/>
                </a:lnTo>
                <a:lnTo>
                  <a:pt x="152253" y="5217"/>
                </a:lnTo>
                <a:lnTo>
                  <a:pt x="197550" y="0"/>
                </a:lnTo>
                <a:lnTo>
                  <a:pt x="2251650" y="0"/>
                </a:lnTo>
                <a:lnTo>
                  <a:pt x="2290370" y="3830"/>
                </a:lnTo>
                <a:lnTo>
                  <a:pt x="2327249" y="15037"/>
                </a:lnTo>
                <a:lnTo>
                  <a:pt x="2361250" y="33190"/>
                </a:lnTo>
                <a:lnTo>
                  <a:pt x="2391338" y="57860"/>
                </a:lnTo>
                <a:lnTo>
                  <a:pt x="2416009" y="87949"/>
                </a:lnTo>
                <a:lnTo>
                  <a:pt x="2434162" y="121951"/>
                </a:lnTo>
                <a:lnTo>
                  <a:pt x="2445369" y="158830"/>
                </a:lnTo>
                <a:lnTo>
                  <a:pt x="2449200" y="197549"/>
                </a:lnTo>
                <a:lnTo>
                  <a:pt x="2443982" y="242846"/>
                </a:lnTo>
                <a:lnTo>
                  <a:pt x="2429120" y="284427"/>
                </a:lnTo>
                <a:lnTo>
                  <a:pt x="2405800" y="321107"/>
                </a:lnTo>
                <a:lnTo>
                  <a:pt x="2375207" y="351700"/>
                </a:lnTo>
                <a:lnTo>
                  <a:pt x="2338527" y="375020"/>
                </a:lnTo>
                <a:lnTo>
                  <a:pt x="2296946" y="389882"/>
                </a:lnTo>
                <a:lnTo>
                  <a:pt x="2251650" y="39509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l" rtl="0"/>
            <a:endParaRPr sz="900" spc="-150">
              <a:solidFill>
                <a:srgbClr val="F851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177;p6"/>
          <p:cNvSpPr txBox="1"/>
          <p:nvPr/>
        </p:nvSpPr>
        <p:spPr>
          <a:xfrm>
            <a:off x="5067300" y="3429820"/>
            <a:ext cx="1654749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algn="ctr" rtl="0"/>
            <a:r>
              <a:rPr lang="ko-KR" altLang="en-US" sz="1300" spc="-15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마케팅</a:t>
            </a:r>
            <a:r>
              <a:rPr lang="en-US" altLang="ko-KR" sz="1300" spc="-15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1300" spc="-15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사업계획서</a:t>
            </a:r>
            <a:endParaRPr sz="1300" spc="-150" dirty="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65" name="Google Shape;178;p6"/>
          <p:cNvSpPr txBox="1"/>
          <p:nvPr/>
        </p:nvSpPr>
        <p:spPr>
          <a:xfrm>
            <a:off x="3633787" y="4443468"/>
            <a:ext cx="4572000" cy="184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r" rtl="0"/>
            <a:r>
              <a:rPr lang="ko-KR" altLang="en-US" sz="9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고용보험 기금을 납부하는 기업이라면 국비 지원으로 무료 수강 가능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545FD5-5B77-58A0-49AF-633A10CAA1D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3520440" y="4917073"/>
            <a:ext cx="2103120" cy="153888"/>
          </a:xfrm>
        </p:spPr>
        <p:txBody>
          <a:bodyPr/>
          <a:lstStyle/>
          <a:p>
            <a:pPr algn="ctr"/>
            <a:fld id="{B6F15528-21DE-4FAA-801E-634DDDAF4B2B}" type="slidenum">
              <a:rPr lang="en-US" altLang="ko-KR" sz="1000" smtClean="0"/>
              <a:pPr algn="ctr"/>
              <a:t>2</a:t>
            </a:fld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76494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그룹 338">
            <a:extLst>
              <a:ext uri="{FF2B5EF4-FFF2-40B4-BE49-F238E27FC236}">
                <a16:creationId xmlns:a16="http://schemas.microsoft.com/office/drawing/2014/main" id="{FC67ED9B-5783-966E-DDA0-F2C2F1D0E319}"/>
              </a:ext>
            </a:extLst>
          </p:cNvPr>
          <p:cNvGrpSpPr/>
          <p:nvPr/>
        </p:nvGrpSpPr>
        <p:grpSpPr>
          <a:xfrm>
            <a:off x="1824989" y="2187900"/>
            <a:ext cx="5494021" cy="1491656"/>
            <a:chOff x="1143000" y="2209800"/>
            <a:chExt cx="7086600" cy="1924050"/>
          </a:xfrm>
        </p:grpSpPr>
        <p:sp>
          <p:nvSpPr>
            <p:cNvPr id="282" name="object 2">
              <a:extLst>
                <a:ext uri="{FF2B5EF4-FFF2-40B4-BE49-F238E27FC236}">
                  <a16:creationId xmlns:a16="http://schemas.microsoft.com/office/drawing/2014/main" id="{96DDF0E3-ADB8-0BD4-7526-BF0B676AF8E9}"/>
                </a:ext>
              </a:extLst>
            </p:cNvPr>
            <p:cNvSpPr/>
            <p:nvPr/>
          </p:nvSpPr>
          <p:spPr>
            <a:xfrm>
              <a:off x="1143000" y="2209800"/>
              <a:ext cx="7086600" cy="1924050"/>
            </a:xfrm>
            <a:custGeom>
              <a:avLst/>
              <a:gdLst/>
              <a:ahLst/>
              <a:cxnLst/>
              <a:rect l="l" t="t" r="r" b="b"/>
              <a:pathLst>
                <a:path w="7086600" h="1924050">
                  <a:moveTo>
                    <a:pt x="6124575" y="0"/>
                  </a:moveTo>
                  <a:lnTo>
                    <a:pt x="962025" y="0"/>
                  </a:lnTo>
                  <a:lnTo>
                    <a:pt x="914005" y="1177"/>
                  </a:lnTo>
                  <a:lnTo>
                    <a:pt x="866595" y="4672"/>
                  </a:lnTo>
                  <a:lnTo>
                    <a:pt x="819851" y="10429"/>
                  </a:lnTo>
                  <a:lnTo>
                    <a:pt x="773826" y="18394"/>
                  </a:lnTo>
                  <a:lnTo>
                    <a:pt x="728577" y="28511"/>
                  </a:lnTo>
                  <a:lnTo>
                    <a:pt x="684158" y="40726"/>
                  </a:lnTo>
                  <a:lnTo>
                    <a:pt x="640625" y="54983"/>
                  </a:lnTo>
                  <a:lnTo>
                    <a:pt x="598032" y="71227"/>
                  </a:lnTo>
                  <a:lnTo>
                    <a:pt x="556435" y="89403"/>
                  </a:lnTo>
                  <a:lnTo>
                    <a:pt x="515888" y="109457"/>
                  </a:lnTo>
                  <a:lnTo>
                    <a:pt x="476447" y="131332"/>
                  </a:lnTo>
                  <a:lnTo>
                    <a:pt x="438167" y="154973"/>
                  </a:lnTo>
                  <a:lnTo>
                    <a:pt x="401103" y="180327"/>
                  </a:lnTo>
                  <a:lnTo>
                    <a:pt x="365310" y="207337"/>
                  </a:lnTo>
                  <a:lnTo>
                    <a:pt x="330843" y="235949"/>
                  </a:lnTo>
                  <a:lnTo>
                    <a:pt x="297757" y="266107"/>
                  </a:lnTo>
                  <a:lnTo>
                    <a:pt x="266107" y="297757"/>
                  </a:lnTo>
                  <a:lnTo>
                    <a:pt x="235949" y="330843"/>
                  </a:lnTo>
                  <a:lnTo>
                    <a:pt x="207337" y="365310"/>
                  </a:lnTo>
                  <a:lnTo>
                    <a:pt x="180327" y="401103"/>
                  </a:lnTo>
                  <a:lnTo>
                    <a:pt x="154973" y="438167"/>
                  </a:lnTo>
                  <a:lnTo>
                    <a:pt x="131332" y="476447"/>
                  </a:lnTo>
                  <a:lnTo>
                    <a:pt x="109457" y="515888"/>
                  </a:lnTo>
                  <a:lnTo>
                    <a:pt x="89403" y="556435"/>
                  </a:lnTo>
                  <a:lnTo>
                    <a:pt x="71227" y="598032"/>
                  </a:lnTo>
                  <a:lnTo>
                    <a:pt x="54983" y="640625"/>
                  </a:lnTo>
                  <a:lnTo>
                    <a:pt x="40726" y="684158"/>
                  </a:lnTo>
                  <a:lnTo>
                    <a:pt x="28511" y="728577"/>
                  </a:lnTo>
                  <a:lnTo>
                    <a:pt x="18394" y="773826"/>
                  </a:lnTo>
                  <a:lnTo>
                    <a:pt x="10429" y="819851"/>
                  </a:lnTo>
                  <a:lnTo>
                    <a:pt x="4672" y="866595"/>
                  </a:lnTo>
                  <a:lnTo>
                    <a:pt x="1177" y="914005"/>
                  </a:lnTo>
                  <a:lnTo>
                    <a:pt x="0" y="962025"/>
                  </a:lnTo>
                  <a:lnTo>
                    <a:pt x="1177" y="1010044"/>
                  </a:lnTo>
                  <a:lnTo>
                    <a:pt x="4672" y="1057454"/>
                  </a:lnTo>
                  <a:lnTo>
                    <a:pt x="10429" y="1104198"/>
                  </a:lnTo>
                  <a:lnTo>
                    <a:pt x="18394" y="1150223"/>
                  </a:lnTo>
                  <a:lnTo>
                    <a:pt x="28511" y="1195472"/>
                  </a:lnTo>
                  <a:lnTo>
                    <a:pt x="40726" y="1239891"/>
                  </a:lnTo>
                  <a:lnTo>
                    <a:pt x="54983" y="1283424"/>
                  </a:lnTo>
                  <a:lnTo>
                    <a:pt x="71227" y="1326017"/>
                  </a:lnTo>
                  <a:lnTo>
                    <a:pt x="89403" y="1367614"/>
                  </a:lnTo>
                  <a:lnTo>
                    <a:pt x="109457" y="1408161"/>
                  </a:lnTo>
                  <a:lnTo>
                    <a:pt x="131332" y="1447602"/>
                  </a:lnTo>
                  <a:lnTo>
                    <a:pt x="154973" y="1485882"/>
                  </a:lnTo>
                  <a:lnTo>
                    <a:pt x="180327" y="1522946"/>
                  </a:lnTo>
                  <a:lnTo>
                    <a:pt x="207337" y="1558739"/>
                  </a:lnTo>
                  <a:lnTo>
                    <a:pt x="235949" y="1593206"/>
                  </a:lnTo>
                  <a:lnTo>
                    <a:pt x="266107" y="1626292"/>
                  </a:lnTo>
                  <a:lnTo>
                    <a:pt x="297757" y="1657942"/>
                  </a:lnTo>
                  <a:lnTo>
                    <a:pt x="330843" y="1688100"/>
                  </a:lnTo>
                  <a:lnTo>
                    <a:pt x="365310" y="1716712"/>
                  </a:lnTo>
                  <a:lnTo>
                    <a:pt x="401103" y="1743722"/>
                  </a:lnTo>
                  <a:lnTo>
                    <a:pt x="438167" y="1769076"/>
                  </a:lnTo>
                  <a:lnTo>
                    <a:pt x="476447" y="1792717"/>
                  </a:lnTo>
                  <a:lnTo>
                    <a:pt x="515888" y="1814592"/>
                  </a:lnTo>
                  <a:lnTo>
                    <a:pt x="556435" y="1834646"/>
                  </a:lnTo>
                  <a:lnTo>
                    <a:pt x="598032" y="1852822"/>
                  </a:lnTo>
                  <a:lnTo>
                    <a:pt x="640625" y="1869066"/>
                  </a:lnTo>
                  <a:lnTo>
                    <a:pt x="684158" y="1883323"/>
                  </a:lnTo>
                  <a:lnTo>
                    <a:pt x="728577" y="1895538"/>
                  </a:lnTo>
                  <a:lnTo>
                    <a:pt x="773826" y="1905655"/>
                  </a:lnTo>
                  <a:lnTo>
                    <a:pt x="819851" y="1913620"/>
                  </a:lnTo>
                  <a:lnTo>
                    <a:pt x="866595" y="1919377"/>
                  </a:lnTo>
                  <a:lnTo>
                    <a:pt x="914005" y="1922872"/>
                  </a:lnTo>
                  <a:lnTo>
                    <a:pt x="962025" y="1924050"/>
                  </a:lnTo>
                  <a:lnTo>
                    <a:pt x="6124575" y="1924050"/>
                  </a:lnTo>
                  <a:lnTo>
                    <a:pt x="6172594" y="1922872"/>
                  </a:lnTo>
                  <a:lnTo>
                    <a:pt x="6220004" y="1919377"/>
                  </a:lnTo>
                  <a:lnTo>
                    <a:pt x="6266748" y="1913620"/>
                  </a:lnTo>
                  <a:lnTo>
                    <a:pt x="6312773" y="1905655"/>
                  </a:lnTo>
                  <a:lnTo>
                    <a:pt x="6358022" y="1895538"/>
                  </a:lnTo>
                  <a:lnTo>
                    <a:pt x="6402441" y="1883323"/>
                  </a:lnTo>
                  <a:lnTo>
                    <a:pt x="6445974" y="1869066"/>
                  </a:lnTo>
                  <a:lnTo>
                    <a:pt x="6488567" y="1852822"/>
                  </a:lnTo>
                  <a:lnTo>
                    <a:pt x="6530164" y="1834646"/>
                  </a:lnTo>
                  <a:lnTo>
                    <a:pt x="6570711" y="1814592"/>
                  </a:lnTo>
                  <a:lnTo>
                    <a:pt x="6610152" y="1792717"/>
                  </a:lnTo>
                  <a:lnTo>
                    <a:pt x="6648432" y="1769076"/>
                  </a:lnTo>
                  <a:lnTo>
                    <a:pt x="6685496" y="1743722"/>
                  </a:lnTo>
                  <a:lnTo>
                    <a:pt x="6721289" y="1716712"/>
                  </a:lnTo>
                  <a:lnTo>
                    <a:pt x="6755756" y="1688100"/>
                  </a:lnTo>
                  <a:lnTo>
                    <a:pt x="6788842" y="1657942"/>
                  </a:lnTo>
                  <a:lnTo>
                    <a:pt x="6820492" y="1626292"/>
                  </a:lnTo>
                  <a:lnTo>
                    <a:pt x="6850650" y="1593206"/>
                  </a:lnTo>
                  <a:lnTo>
                    <a:pt x="6879262" y="1558739"/>
                  </a:lnTo>
                  <a:lnTo>
                    <a:pt x="6906272" y="1522946"/>
                  </a:lnTo>
                  <a:lnTo>
                    <a:pt x="6931626" y="1485882"/>
                  </a:lnTo>
                  <a:lnTo>
                    <a:pt x="6955267" y="1447602"/>
                  </a:lnTo>
                  <a:lnTo>
                    <a:pt x="6977142" y="1408161"/>
                  </a:lnTo>
                  <a:lnTo>
                    <a:pt x="6997196" y="1367614"/>
                  </a:lnTo>
                  <a:lnTo>
                    <a:pt x="7015372" y="1326017"/>
                  </a:lnTo>
                  <a:lnTo>
                    <a:pt x="7031616" y="1283424"/>
                  </a:lnTo>
                  <a:lnTo>
                    <a:pt x="7045873" y="1239891"/>
                  </a:lnTo>
                  <a:lnTo>
                    <a:pt x="7058088" y="1195472"/>
                  </a:lnTo>
                  <a:lnTo>
                    <a:pt x="7068205" y="1150223"/>
                  </a:lnTo>
                  <a:lnTo>
                    <a:pt x="7076170" y="1104198"/>
                  </a:lnTo>
                  <a:lnTo>
                    <a:pt x="7081927" y="1057454"/>
                  </a:lnTo>
                  <a:lnTo>
                    <a:pt x="7085422" y="1010044"/>
                  </a:lnTo>
                  <a:lnTo>
                    <a:pt x="7086600" y="962025"/>
                  </a:lnTo>
                  <a:lnTo>
                    <a:pt x="7085422" y="914005"/>
                  </a:lnTo>
                  <a:lnTo>
                    <a:pt x="7081927" y="866595"/>
                  </a:lnTo>
                  <a:lnTo>
                    <a:pt x="7076170" y="819851"/>
                  </a:lnTo>
                  <a:lnTo>
                    <a:pt x="7068205" y="773826"/>
                  </a:lnTo>
                  <a:lnTo>
                    <a:pt x="7058088" y="728577"/>
                  </a:lnTo>
                  <a:lnTo>
                    <a:pt x="7045873" y="684158"/>
                  </a:lnTo>
                  <a:lnTo>
                    <a:pt x="7031616" y="640625"/>
                  </a:lnTo>
                  <a:lnTo>
                    <a:pt x="7015372" y="598032"/>
                  </a:lnTo>
                  <a:lnTo>
                    <a:pt x="6997196" y="556435"/>
                  </a:lnTo>
                  <a:lnTo>
                    <a:pt x="6977142" y="515888"/>
                  </a:lnTo>
                  <a:lnTo>
                    <a:pt x="6955267" y="476447"/>
                  </a:lnTo>
                  <a:lnTo>
                    <a:pt x="6931626" y="438167"/>
                  </a:lnTo>
                  <a:lnTo>
                    <a:pt x="6906272" y="401103"/>
                  </a:lnTo>
                  <a:lnTo>
                    <a:pt x="6879262" y="365310"/>
                  </a:lnTo>
                  <a:lnTo>
                    <a:pt x="6850650" y="330843"/>
                  </a:lnTo>
                  <a:lnTo>
                    <a:pt x="6820492" y="297757"/>
                  </a:lnTo>
                  <a:lnTo>
                    <a:pt x="6788842" y="266107"/>
                  </a:lnTo>
                  <a:lnTo>
                    <a:pt x="6755756" y="235949"/>
                  </a:lnTo>
                  <a:lnTo>
                    <a:pt x="6721289" y="207337"/>
                  </a:lnTo>
                  <a:lnTo>
                    <a:pt x="6685496" y="180327"/>
                  </a:lnTo>
                  <a:lnTo>
                    <a:pt x="6648432" y="154973"/>
                  </a:lnTo>
                  <a:lnTo>
                    <a:pt x="6610152" y="131332"/>
                  </a:lnTo>
                  <a:lnTo>
                    <a:pt x="6570711" y="109457"/>
                  </a:lnTo>
                  <a:lnTo>
                    <a:pt x="6530164" y="89403"/>
                  </a:lnTo>
                  <a:lnTo>
                    <a:pt x="6488567" y="71227"/>
                  </a:lnTo>
                  <a:lnTo>
                    <a:pt x="6445974" y="54983"/>
                  </a:lnTo>
                  <a:lnTo>
                    <a:pt x="6402441" y="40726"/>
                  </a:lnTo>
                  <a:lnTo>
                    <a:pt x="6358022" y="28511"/>
                  </a:lnTo>
                  <a:lnTo>
                    <a:pt x="6312773" y="18394"/>
                  </a:lnTo>
                  <a:lnTo>
                    <a:pt x="6266748" y="10429"/>
                  </a:lnTo>
                  <a:lnTo>
                    <a:pt x="6220004" y="4672"/>
                  </a:lnTo>
                  <a:lnTo>
                    <a:pt x="6172594" y="1177"/>
                  </a:lnTo>
                  <a:lnTo>
                    <a:pt x="61245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83" name="object 13">
              <a:extLst>
                <a:ext uri="{FF2B5EF4-FFF2-40B4-BE49-F238E27FC236}">
                  <a16:creationId xmlns:a16="http://schemas.microsoft.com/office/drawing/2014/main" id="{F563BFA5-FE18-D7D7-3721-5F3DA33547AC}"/>
                </a:ext>
              </a:extLst>
            </p:cNvPr>
            <p:cNvSpPr/>
            <p:nvPr/>
          </p:nvSpPr>
          <p:spPr>
            <a:xfrm>
              <a:off x="1409700" y="2332608"/>
              <a:ext cx="1678939" cy="1678939"/>
            </a:xfrm>
            <a:custGeom>
              <a:avLst/>
              <a:gdLst/>
              <a:ahLst/>
              <a:cxnLst/>
              <a:rect l="l" t="t" r="r" b="b"/>
              <a:pathLst>
                <a:path w="1678939" h="1678939">
                  <a:moveTo>
                    <a:pt x="839216" y="0"/>
                  </a:moveTo>
                  <a:lnTo>
                    <a:pt x="791600" y="1328"/>
                  </a:lnTo>
                  <a:lnTo>
                    <a:pt x="744680" y="5265"/>
                  </a:lnTo>
                  <a:lnTo>
                    <a:pt x="698527" y="11742"/>
                  </a:lnTo>
                  <a:lnTo>
                    <a:pt x="653212" y="20685"/>
                  </a:lnTo>
                  <a:lnTo>
                    <a:pt x="608806" y="32026"/>
                  </a:lnTo>
                  <a:lnTo>
                    <a:pt x="565379" y="45693"/>
                  </a:lnTo>
                  <a:lnTo>
                    <a:pt x="523003" y="61616"/>
                  </a:lnTo>
                  <a:lnTo>
                    <a:pt x="481748" y="79722"/>
                  </a:lnTo>
                  <a:lnTo>
                    <a:pt x="441686" y="99943"/>
                  </a:lnTo>
                  <a:lnTo>
                    <a:pt x="402887" y="122207"/>
                  </a:lnTo>
                  <a:lnTo>
                    <a:pt x="365422" y="146442"/>
                  </a:lnTo>
                  <a:lnTo>
                    <a:pt x="329362" y="172580"/>
                  </a:lnTo>
                  <a:lnTo>
                    <a:pt x="294778" y="200547"/>
                  </a:lnTo>
                  <a:lnTo>
                    <a:pt x="261740" y="230275"/>
                  </a:lnTo>
                  <a:lnTo>
                    <a:pt x="230321" y="261691"/>
                  </a:lnTo>
                  <a:lnTo>
                    <a:pt x="200590" y="294726"/>
                  </a:lnTo>
                  <a:lnTo>
                    <a:pt x="172618" y="329308"/>
                  </a:lnTo>
                  <a:lnTo>
                    <a:pt x="146477" y="365366"/>
                  </a:lnTo>
                  <a:lnTo>
                    <a:pt x="122236" y="402831"/>
                  </a:lnTo>
                  <a:lnTo>
                    <a:pt x="99968" y="441630"/>
                  </a:lnTo>
                  <a:lnTo>
                    <a:pt x="79743" y="481693"/>
                  </a:lnTo>
                  <a:lnTo>
                    <a:pt x="61632" y="522950"/>
                  </a:lnTo>
                  <a:lnTo>
                    <a:pt x="45706" y="565329"/>
                  </a:lnTo>
                  <a:lnTo>
                    <a:pt x="32036" y="608761"/>
                  </a:lnTo>
                  <a:lnTo>
                    <a:pt x="20692" y="653173"/>
                  </a:lnTo>
                  <a:lnTo>
                    <a:pt x="11745" y="698495"/>
                  </a:lnTo>
                  <a:lnTo>
                    <a:pt x="5267" y="744657"/>
                  </a:lnTo>
                  <a:lnTo>
                    <a:pt x="1328" y="791587"/>
                  </a:lnTo>
                  <a:lnTo>
                    <a:pt x="0" y="839216"/>
                  </a:lnTo>
                  <a:lnTo>
                    <a:pt x="1328" y="886844"/>
                  </a:lnTo>
                  <a:lnTo>
                    <a:pt x="5267" y="933775"/>
                  </a:lnTo>
                  <a:lnTo>
                    <a:pt x="11745" y="979938"/>
                  </a:lnTo>
                  <a:lnTo>
                    <a:pt x="20692" y="1025261"/>
                  </a:lnTo>
                  <a:lnTo>
                    <a:pt x="32036" y="1069675"/>
                  </a:lnTo>
                  <a:lnTo>
                    <a:pt x="45706" y="1113109"/>
                  </a:lnTo>
                  <a:lnTo>
                    <a:pt x="61632" y="1155490"/>
                  </a:lnTo>
                  <a:lnTo>
                    <a:pt x="79743" y="1196750"/>
                  </a:lnTo>
                  <a:lnTo>
                    <a:pt x="99968" y="1236816"/>
                  </a:lnTo>
                  <a:lnTo>
                    <a:pt x="122236" y="1275618"/>
                  </a:lnTo>
                  <a:lnTo>
                    <a:pt x="146477" y="1313085"/>
                  </a:lnTo>
                  <a:lnTo>
                    <a:pt x="172618" y="1349147"/>
                  </a:lnTo>
                  <a:lnTo>
                    <a:pt x="200590" y="1383732"/>
                  </a:lnTo>
                  <a:lnTo>
                    <a:pt x="230321" y="1416770"/>
                  </a:lnTo>
                  <a:lnTo>
                    <a:pt x="261740" y="1448190"/>
                  </a:lnTo>
                  <a:lnTo>
                    <a:pt x="294778" y="1477920"/>
                  </a:lnTo>
                  <a:lnTo>
                    <a:pt x="329362" y="1505891"/>
                  </a:lnTo>
                  <a:lnTo>
                    <a:pt x="365422" y="1532032"/>
                  </a:lnTo>
                  <a:lnTo>
                    <a:pt x="402887" y="1556270"/>
                  </a:lnTo>
                  <a:lnTo>
                    <a:pt x="441686" y="1578537"/>
                  </a:lnTo>
                  <a:lnTo>
                    <a:pt x="481748" y="1598760"/>
                  </a:lnTo>
                  <a:lnTo>
                    <a:pt x="523003" y="1616870"/>
                  </a:lnTo>
                  <a:lnTo>
                    <a:pt x="565379" y="1632794"/>
                  </a:lnTo>
                  <a:lnTo>
                    <a:pt x="608806" y="1646463"/>
                  </a:lnTo>
                  <a:lnTo>
                    <a:pt x="653212" y="1657806"/>
                  </a:lnTo>
                  <a:lnTo>
                    <a:pt x="698527" y="1666751"/>
                  </a:lnTo>
                  <a:lnTo>
                    <a:pt x="744680" y="1673228"/>
                  </a:lnTo>
                  <a:lnTo>
                    <a:pt x="791600" y="1677167"/>
                  </a:lnTo>
                  <a:lnTo>
                    <a:pt x="839216" y="1678495"/>
                  </a:lnTo>
                  <a:lnTo>
                    <a:pt x="886844" y="1677167"/>
                  </a:lnTo>
                  <a:lnTo>
                    <a:pt x="933776" y="1673228"/>
                  </a:lnTo>
                  <a:lnTo>
                    <a:pt x="979940" y="1666751"/>
                  </a:lnTo>
                  <a:lnTo>
                    <a:pt x="1025265" y="1657806"/>
                  </a:lnTo>
                  <a:lnTo>
                    <a:pt x="1069680" y="1646463"/>
                  </a:lnTo>
                  <a:lnTo>
                    <a:pt x="1113116" y="1632794"/>
                  </a:lnTo>
                  <a:lnTo>
                    <a:pt x="1155500" y="1616870"/>
                  </a:lnTo>
                  <a:lnTo>
                    <a:pt x="1196761" y="1598760"/>
                  </a:lnTo>
                  <a:lnTo>
                    <a:pt x="1236830" y="1578537"/>
                  </a:lnTo>
                  <a:lnTo>
                    <a:pt x="1275635" y="1556270"/>
                  </a:lnTo>
                  <a:lnTo>
                    <a:pt x="1313106" y="1532032"/>
                  </a:lnTo>
                  <a:lnTo>
                    <a:pt x="1349171" y="1505891"/>
                  </a:lnTo>
                  <a:lnTo>
                    <a:pt x="1383759" y="1477920"/>
                  </a:lnTo>
                  <a:lnTo>
                    <a:pt x="1416800" y="1448190"/>
                  </a:lnTo>
                  <a:lnTo>
                    <a:pt x="1448223" y="1416770"/>
                  </a:lnTo>
                  <a:lnTo>
                    <a:pt x="1477957" y="1383732"/>
                  </a:lnTo>
                  <a:lnTo>
                    <a:pt x="1505931" y="1349147"/>
                  </a:lnTo>
                  <a:lnTo>
                    <a:pt x="1532075" y="1313085"/>
                  </a:lnTo>
                  <a:lnTo>
                    <a:pt x="1556316" y="1275618"/>
                  </a:lnTo>
                  <a:lnTo>
                    <a:pt x="1578586" y="1236816"/>
                  </a:lnTo>
                  <a:lnTo>
                    <a:pt x="1598812" y="1196750"/>
                  </a:lnTo>
                  <a:lnTo>
                    <a:pt x="1616924" y="1155490"/>
                  </a:lnTo>
                  <a:lnTo>
                    <a:pt x="1632851" y="1113109"/>
                  </a:lnTo>
                  <a:lnTo>
                    <a:pt x="1646522" y="1069675"/>
                  </a:lnTo>
                  <a:lnTo>
                    <a:pt x="1657866" y="1025261"/>
                  </a:lnTo>
                  <a:lnTo>
                    <a:pt x="1666813" y="979938"/>
                  </a:lnTo>
                  <a:lnTo>
                    <a:pt x="1673291" y="933775"/>
                  </a:lnTo>
                  <a:lnTo>
                    <a:pt x="1677230" y="886844"/>
                  </a:lnTo>
                  <a:lnTo>
                    <a:pt x="1678558" y="839216"/>
                  </a:lnTo>
                  <a:lnTo>
                    <a:pt x="1677230" y="791587"/>
                  </a:lnTo>
                  <a:lnTo>
                    <a:pt x="1673291" y="744657"/>
                  </a:lnTo>
                  <a:lnTo>
                    <a:pt x="1666813" y="698495"/>
                  </a:lnTo>
                  <a:lnTo>
                    <a:pt x="1657866" y="653173"/>
                  </a:lnTo>
                  <a:lnTo>
                    <a:pt x="1646522" y="608761"/>
                  </a:lnTo>
                  <a:lnTo>
                    <a:pt x="1632851" y="565329"/>
                  </a:lnTo>
                  <a:lnTo>
                    <a:pt x="1616924" y="522950"/>
                  </a:lnTo>
                  <a:lnTo>
                    <a:pt x="1598812" y="481693"/>
                  </a:lnTo>
                  <a:lnTo>
                    <a:pt x="1578586" y="441630"/>
                  </a:lnTo>
                  <a:lnTo>
                    <a:pt x="1556316" y="402831"/>
                  </a:lnTo>
                  <a:lnTo>
                    <a:pt x="1532075" y="365366"/>
                  </a:lnTo>
                  <a:lnTo>
                    <a:pt x="1505931" y="329308"/>
                  </a:lnTo>
                  <a:lnTo>
                    <a:pt x="1477957" y="294726"/>
                  </a:lnTo>
                  <a:lnTo>
                    <a:pt x="1448223" y="261691"/>
                  </a:lnTo>
                  <a:lnTo>
                    <a:pt x="1416800" y="230275"/>
                  </a:lnTo>
                  <a:lnTo>
                    <a:pt x="1383759" y="200547"/>
                  </a:lnTo>
                  <a:lnTo>
                    <a:pt x="1349171" y="172580"/>
                  </a:lnTo>
                  <a:lnTo>
                    <a:pt x="1313106" y="146442"/>
                  </a:lnTo>
                  <a:lnTo>
                    <a:pt x="1275635" y="122207"/>
                  </a:lnTo>
                  <a:lnTo>
                    <a:pt x="1236830" y="99943"/>
                  </a:lnTo>
                  <a:lnTo>
                    <a:pt x="1196761" y="79722"/>
                  </a:lnTo>
                  <a:lnTo>
                    <a:pt x="1155500" y="61616"/>
                  </a:lnTo>
                  <a:lnTo>
                    <a:pt x="1113116" y="45693"/>
                  </a:lnTo>
                  <a:lnTo>
                    <a:pt x="1069680" y="32026"/>
                  </a:lnTo>
                  <a:lnTo>
                    <a:pt x="1025265" y="20685"/>
                  </a:lnTo>
                  <a:lnTo>
                    <a:pt x="979940" y="11742"/>
                  </a:lnTo>
                  <a:lnTo>
                    <a:pt x="933776" y="5265"/>
                  </a:lnTo>
                  <a:lnTo>
                    <a:pt x="886844" y="1328"/>
                  </a:lnTo>
                  <a:lnTo>
                    <a:pt x="839216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84" name="object 14">
              <a:extLst>
                <a:ext uri="{FF2B5EF4-FFF2-40B4-BE49-F238E27FC236}">
                  <a16:creationId xmlns:a16="http://schemas.microsoft.com/office/drawing/2014/main" id="{5EBED6F8-A467-069A-6E08-E968F1E4C0D5}"/>
                </a:ext>
              </a:extLst>
            </p:cNvPr>
            <p:cNvSpPr/>
            <p:nvPr/>
          </p:nvSpPr>
          <p:spPr>
            <a:xfrm>
              <a:off x="3811396" y="2301494"/>
              <a:ext cx="1678939" cy="1678939"/>
            </a:xfrm>
            <a:custGeom>
              <a:avLst/>
              <a:gdLst/>
              <a:ahLst/>
              <a:cxnLst/>
              <a:rect l="l" t="t" r="r" b="b"/>
              <a:pathLst>
                <a:path w="1678939" h="1678939">
                  <a:moveTo>
                    <a:pt x="839342" y="0"/>
                  </a:moveTo>
                  <a:lnTo>
                    <a:pt x="791714" y="1328"/>
                  </a:lnTo>
                  <a:lnTo>
                    <a:pt x="744782" y="5267"/>
                  </a:lnTo>
                  <a:lnTo>
                    <a:pt x="698618" y="11745"/>
                  </a:lnTo>
                  <a:lnTo>
                    <a:pt x="653293" y="20692"/>
                  </a:lnTo>
                  <a:lnTo>
                    <a:pt x="608878" y="32036"/>
                  </a:lnTo>
                  <a:lnTo>
                    <a:pt x="565442" y="45706"/>
                  </a:lnTo>
                  <a:lnTo>
                    <a:pt x="523058" y="61632"/>
                  </a:lnTo>
                  <a:lnTo>
                    <a:pt x="481797" y="79743"/>
                  </a:lnTo>
                  <a:lnTo>
                    <a:pt x="441728" y="99968"/>
                  </a:lnTo>
                  <a:lnTo>
                    <a:pt x="402923" y="122236"/>
                  </a:lnTo>
                  <a:lnTo>
                    <a:pt x="365452" y="146477"/>
                  </a:lnTo>
                  <a:lnTo>
                    <a:pt x="329387" y="172618"/>
                  </a:lnTo>
                  <a:lnTo>
                    <a:pt x="294799" y="200590"/>
                  </a:lnTo>
                  <a:lnTo>
                    <a:pt x="261758" y="230321"/>
                  </a:lnTo>
                  <a:lnTo>
                    <a:pt x="230335" y="261740"/>
                  </a:lnTo>
                  <a:lnTo>
                    <a:pt x="200601" y="294778"/>
                  </a:lnTo>
                  <a:lnTo>
                    <a:pt x="172627" y="329362"/>
                  </a:lnTo>
                  <a:lnTo>
                    <a:pt x="146483" y="365422"/>
                  </a:lnTo>
                  <a:lnTo>
                    <a:pt x="122242" y="402887"/>
                  </a:lnTo>
                  <a:lnTo>
                    <a:pt x="99972" y="441686"/>
                  </a:lnTo>
                  <a:lnTo>
                    <a:pt x="79746" y="481748"/>
                  </a:lnTo>
                  <a:lnTo>
                    <a:pt x="61634" y="523003"/>
                  </a:lnTo>
                  <a:lnTo>
                    <a:pt x="45707" y="565379"/>
                  </a:lnTo>
                  <a:lnTo>
                    <a:pt x="32036" y="608806"/>
                  </a:lnTo>
                  <a:lnTo>
                    <a:pt x="20692" y="653212"/>
                  </a:lnTo>
                  <a:lnTo>
                    <a:pt x="11745" y="698527"/>
                  </a:lnTo>
                  <a:lnTo>
                    <a:pt x="5267" y="744680"/>
                  </a:lnTo>
                  <a:lnTo>
                    <a:pt x="1328" y="791600"/>
                  </a:lnTo>
                  <a:lnTo>
                    <a:pt x="0" y="839216"/>
                  </a:lnTo>
                  <a:lnTo>
                    <a:pt x="1328" y="886844"/>
                  </a:lnTo>
                  <a:lnTo>
                    <a:pt x="5267" y="933776"/>
                  </a:lnTo>
                  <a:lnTo>
                    <a:pt x="11745" y="979939"/>
                  </a:lnTo>
                  <a:lnTo>
                    <a:pt x="20692" y="1025264"/>
                  </a:lnTo>
                  <a:lnTo>
                    <a:pt x="32036" y="1069679"/>
                  </a:lnTo>
                  <a:lnTo>
                    <a:pt x="45707" y="1113114"/>
                  </a:lnTo>
                  <a:lnTo>
                    <a:pt x="61634" y="1155498"/>
                  </a:lnTo>
                  <a:lnTo>
                    <a:pt x="79746" y="1196759"/>
                  </a:lnTo>
                  <a:lnTo>
                    <a:pt x="99972" y="1236827"/>
                  </a:lnTo>
                  <a:lnTo>
                    <a:pt x="122242" y="1275632"/>
                  </a:lnTo>
                  <a:lnTo>
                    <a:pt x="146483" y="1313102"/>
                  </a:lnTo>
                  <a:lnTo>
                    <a:pt x="172627" y="1349166"/>
                  </a:lnTo>
                  <a:lnTo>
                    <a:pt x="200601" y="1383754"/>
                  </a:lnTo>
                  <a:lnTo>
                    <a:pt x="230335" y="1416794"/>
                  </a:lnTo>
                  <a:lnTo>
                    <a:pt x="261758" y="1448216"/>
                  </a:lnTo>
                  <a:lnTo>
                    <a:pt x="294799" y="1477950"/>
                  </a:lnTo>
                  <a:lnTo>
                    <a:pt x="329387" y="1505923"/>
                  </a:lnTo>
                  <a:lnTo>
                    <a:pt x="365452" y="1532066"/>
                  </a:lnTo>
                  <a:lnTo>
                    <a:pt x="402923" y="1556307"/>
                  </a:lnTo>
                  <a:lnTo>
                    <a:pt x="441728" y="1578576"/>
                  </a:lnTo>
                  <a:lnTo>
                    <a:pt x="481797" y="1598802"/>
                  </a:lnTo>
                  <a:lnTo>
                    <a:pt x="523058" y="1616913"/>
                  </a:lnTo>
                  <a:lnTo>
                    <a:pt x="565442" y="1632839"/>
                  </a:lnTo>
                  <a:lnTo>
                    <a:pt x="608878" y="1646510"/>
                  </a:lnTo>
                  <a:lnTo>
                    <a:pt x="653293" y="1657854"/>
                  </a:lnTo>
                  <a:lnTo>
                    <a:pt x="698618" y="1666800"/>
                  </a:lnTo>
                  <a:lnTo>
                    <a:pt x="744782" y="1673278"/>
                  </a:lnTo>
                  <a:lnTo>
                    <a:pt x="791714" y="1677217"/>
                  </a:lnTo>
                  <a:lnTo>
                    <a:pt x="839342" y="1678546"/>
                  </a:lnTo>
                  <a:lnTo>
                    <a:pt x="886958" y="1677217"/>
                  </a:lnTo>
                  <a:lnTo>
                    <a:pt x="933878" y="1673278"/>
                  </a:lnTo>
                  <a:lnTo>
                    <a:pt x="980031" y="1666800"/>
                  </a:lnTo>
                  <a:lnTo>
                    <a:pt x="1025346" y="1657854"/>
                  </a:lnTo>
                  <a:lnTo>
                    <a:pt x="1069752" y="1646510"/>
                  </a:lnTo>
                  <a:lnTo>
                    <a:pt x="1113179" y="1632839"/>
                  </a:lnTo>
                  <a:lnTo>
                    <a:pt x="1155555" y="1616913"/>
                  </a:lnTo>
                  <a:lnTo>
                    <a:pt x="1196810" y="1598802"/>
                  </a:lnTo>
                  <a:lnTo>
                    <a:pt x="1236872" y="1578576"/>
                  </a:lnTo>
                  <a:lnTo>
                    <a:pt x="1275671" y="1556307"/>
                  </a:lnTo>
                  <a:lnTo>
                    <a:pt x="1313136" y="1532066"/>
                  </a:lnTo>
                  <a:lnTo>
                    <a:pt x="1349196" y="1505923"/>
                  </a:lnTo>
                  <a:lnTo>
                    <a:pt x="1383780" y="1477950"/>
                  </a:lnTo>
                  <a:lnTo>
                    <a:pt x="1416818" y="1448216"/>
                  </a:lnTo>
                  <a:lnTo>
                    <a:pt x="1448237" y="1416794"/>
                  </a:lnTo>
                  <a:lnTo>
                    <a:pt x="1477968" y="1383754"/>
                  </a:lnTo>
                  <a:lnTo>
                    <a:pt x="1505940" y="1349166"/>
                  </a:lnTo>
                  <a:lnTo>
                    <a:pt x="1532081" y="1313102"/>
                  </a:lnTo>
                  <a:lnTo>
                    <a:pt x="1556322" y="1275632"/>
                  </a:lnTo>
                  <a:lnTo>
                    <a:pt x="1578590" y="1236827"/>
                  </a:lnTo>
                  <a:lnTo>
                    <a:pt x="1598815" y="1196759"/>
                  </a:lnTo>
                  <a:lnTo>
                    <a:pt x="1616926" y="1155498"/>
                  </a:lnTo>
                  <a:lnTo>
                    <a:pt x="1632852" y="1113114"/>
                  </a:lnTo>
                  <a:lnTo>
                    <a:pt x="1646522" y="1069679"/>
                  </a:lnTo>
                  <a:lnTo>
                    <a:pt x="1657866" y="1025264"/>
                  </a:lnTo>
                  <a:lnTo>
                    <a:pt x="1666813" y="979939"/>
                  </a:lnTo>
                  <a:lnTo>
                    <a:pt x="1673291" y="933776"/>
                  </a:lnTo>
                  <a:lnTo>
                    <a:pt x="1677230" y="886844"/>
                  </a:lnTo>
                  <a:lnTo>
                    <a:pt x="1678558" y="839216"/>
                  </a:lnTo>
                  <a:lnTo>
                    <a:pt x="1677230" y="791600"/>
                  </a:lnTo>
                  <a:lnTo>
                    <a:pt x="1673291" y="744680"/>
                  </a:lnTo>
                  <a:lnTo>
                    <a:pt x="1666813" y="698527"/>
                  </a:lnTo>
                  <a:lnTo>
                    <a:pt x="1657866" y="653212"/>
                  </a:lnTo>
                  <a:lnTo>
                    <a:pt x="1646522" y="608806"/>
                  </a:lnTo>
                  <a:lnTo>
                    <a:pt x="1632852" y="565379"/>
                  </a:lnTo>
                  <a:lnTo>
                    <a:pt x="1616926" y="523003"/>
                  </a:lnTo>
                  <a:lnTo>
                    <a:pt x="1598815" y="481748"/>
                  </a:lnTo>
                  <a:lnTo>
                    <a:pt x="1578590" y="441686"/>
                  </a:lnTo>
                  <a:lnTo>
                    <a:pt x="1556322" y="402887"/>
                  </a:lnTo>
                  <a:lnTo>
                    <a:pt x="1532081" y="365422"/>
                  </a:lnTo>
                  <a:lnTo>
                    <a:pt x="1505940" y="329362"/>
                  </a:lnTo>
                  <a:lnTo>
                    <a:pt x="1477968" y="294778"/>
                  </a:lnTo>
                  <a:lnTo>
                    <a:pt x="1448237" y="261740"/>
                  </a:lnTo>
                  <a:lnTo>
                    <a:pt x="1416818" y="230321"/>
                  </a:lnTo>
                  <a:lnTo>
                    <a:pt x="1383780" y="200590"/>
                  </a:lnTo>
                  <a:lnTo>
                    <a:pt x="1349196" y="172618"/>
                  </a:lnTo>
                  <a:lnTo>
                    <a:pt x="1313136" y="146477"/>
                  </a:lnTo>
                  <a:lnTo>
                    <a:pt x="1275671" y="122236"/>
                  </a:lnTo>
                  <a:lnTo>
                    <a:pt x="1236872" y="99968"/>
                  </a:lnTo>
                  <a:lnTo>
                    <a:pt x="1196810" y="79743"/>
                  </a:lnTo>
                  <a:lnTo>
                    <a:pt x="1155555" y="61632"/>
                  </a:lnTo>
                  <a:lnTo>
                    <a:pt x="1113179" y="45706"/>
                  </a:lnTo>
                  <a:lnTo>
                    <a:pt x="1069752" y="32036"/>
                  </a:lnTo>
                  <a:lnTo>
                    <a:pt x="1025346" y="20692"/>
                  </a:lnTo>
                  <a:lnTo>
                    <a:pt x="980031" y="11745"/>
                  </a:lnTo>
                  <a:lnTo>
                    <a:pt x="933878" y="5267"/>
                  </a:lnTo>
                  <a:lnTo>
                    <a:pt x="886958" y="1328"/>
                  </a:lnTo>
                  <a:lnTo>
                    <a:pt x="839342" y="0"/>
                  </a:lnTo>
                  <a:close/>
                </a:path>
              </a:pathLst>
            </a:custGeom>
            <a:solidFill>
              <a:srgbClr val="004483"/>
            </a:solidFill>
          </p:spPr>
          <p:txBody>
            <a:bodyPr wrap="square" lIns="0" tIns="0" rIns="0" bIns="0" rtlCol="0"/>
            <a:lstStyle/>
            <a:p>
              <a:endParaRPr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85" name="object 15">
              <a:extLst>
                <a:ext uri="{FF2B5EF4-FFF2-40B4-BE49-F238E27FC236}">
                  <a16:creationId xmlns:a16="http://schemas.microsoft.com/office/drawing/2014/main" id="{ECEC75A6-EE51-A19F-F203-ABEE36611E2E}"/>
                </a:ext>
              </a:extLst>
            </p:cNvPr>
            <p:cNvSpPr/>
            <p:nvPr/>
          </p:nvSpPr>
          <p:spPr>
            <a:xfrm>
              <a:off x="6208140" y="2301494"/>
              <a:ext cx="1678939" cy="1678939"/>
            </a:xfrm>
            <a:custGeom>
              <a:avLst/>
              <a:gdLst/>
              <a:ahLst/>
              <a:cxnLst/>
              <a:rect l="l" t="t" r="r" b="b"/>
              <a:pathLst>
                <a:path w="1678940" h="1678939">
                  <a:moveTo>
                    <a:pt x="839342" y="0"/>
                  </a:moveTo>
                  <a:lnTo>
                    <a:pt x="791714" y="1328"/>
                  </a:lnTo>
                  <a:lnTo>
                    <a:pt x="744782" y="5267"/>
                  </a:lnTo>
                  <a:lnTo>
                    <a:pt x="698618" y="11745"/>
                  </a:lnTo>
                  <a:lnTo>
                    <a:pt x="653293" y="20692"/>
                  </a:lnTo>
                  <a:lnTo>
                    <a:pt x="608878" y="32036"/>
                  </a:lnTo>
                  <a:lnTo>
                    <a:pt x="565442" y="45706"/>
                  </a:lnTo>
                  <a:lnTo>
                    <a:pt x="523058" y="61632"/>
                  </a:lnTo>
                  <a:lnTo>
                    <a:pt x="481797" y="79743"/>
                  </a:lnTo>
                  <a:lnTo>
                    <a:pt x="441728" y="99968"/>
                  </a:lnTo>
                  <a:lnTo>
                    <a:pt x="402923" y="122236"/>
                  </a:lnTo>
                  <a:lnTo>
                    <a:pt x="365452" y="146477"/>
                  </a:lnTo>
                  <a:lnTo>
                    <a:pt x="329387" y="172618"/>
                  </a:lnTo>
                  <a:lnTo>
                    <a:pt x="294799" y="200590"/>
                  </a:lnTo>
                  <a:lnTo>
                    <a:pt x="261758" y="230321"/>
                  </a:lnTo>
                  <a:lnTo>
                    <a:pt x="230335" y="261740"/>
                  </a:lnTo>
                  <a:lnTo>
                    <a:pt x="200601" y="294778"/>
                  </a:lnTo>
                  <a:lnTo>
                    <a:pt x="172627" y="329362"/>
                  </a:lnTo>
                  <a:lnTo>
                    <a:pt x="146483" y="365422"/>
                  </a:lnTo>
                  <a:lnTo>
                    <a:pt x="122242" y="402887"/>
                  </a:lnTo>
                  <a:lnTo>
                    <a:pt x="99972" y="441686"/>
                  </a:lnTo>
                  <a:lnTo>
                    <a:pt x="79746" y="481748"/>
                  </a:lnTo>
                  <a:lnTo>
                    <a:pt x="61634" y="523003"/>
                  </a:lnTo>
                  <a:lnTo>
                    <a:pt x="45707" y="565379"/>
                  </a:lnTo>
                  <a:lnTo>
                    <a:pt x="32036" y="608806"/>
                  </a:lnTo>
                  <a:lnTo>
                    <a:pt x="20692" y="653212"/>
                  </a:lnTo>
                  <a:lnTo>
                    <a:pt x="11745" y="698527"/>
                  </a:lnTo>
                  <a:lnTo>
                    <a:pt x="5267" y="744680"/>
                  </a:lnTo>
                  <a:lnTo>
                    <a:pt x="1328" y="791600"/>
                  </a:lnTo>
                  <a:lnTo>
                    <a:pt x="0" y="839216"/>
                  </a:lnTo>
                  <a:lnTo>
                    <a:pt x="1328" y="886844"/>
                  </a:lnTo>
                  <a:lnTo>
                    <a:pt x="5267" y="933776"/>
                  </a:lnTo>
                  <a:lnTo>
                    <a:pt x="11745" y="979939"/>
                  </a:lnTo>
                  <a:lnTo>
                    <a:pt x="20692" y="1025264"/>
                  </a:lnTo>
                  <a:lnTo>
                    <a:pt x="32036" y="1069679"/>
                  </a:lnTo>
                  <a:lnTo>
                    <a:pt x="45707" y="1113114"/>
                  </a:lnTo>
                  <a:lnTo>
                    <a:pt x="61634" y="1155498"/>
                  </a:lnTo>
                  <a:lnTo>
                    <a:pt x="79746" y="1196759"/>
                  </a:lnTo>
                  <a:lnTo>
                    <a:pt x="99972" y="1236827"/>
                  </a:lnTo>
                  <a:lnTo>
                    <a:pt x="122242" y="1275632"/>
                  </a:lnTo>
                  <a:lnTo>
                    <a:pt x="146483" y="1313102"/>
                  </a:lnTo>
                  <a:lnTo>
                    <a:pt x="172627" y="1349166"/>
                  </a:lnTo>
                  <a:lnTo>
                    <a:pt x="200601" y="1383754"/>
                  </a:lnTo>
                  <a:lnTo>
                    <a:pt x="230335" y="1416794"/>
                  </a:lnTo>
                  <a:lnTo>
                    <a:pt x="261758" y="1448216"/>
                  </a:lnTo>
                  <a:lnTo>
                    <a:pt x="294799" y="1477950"/>
                  </a:lnTo>
                  <a:lnTo>
                    <a:pt x="329387" y="1505923"/>
                  </a:lnTo>
                  <a:lnTo>
                    <a:pt x="365452" y="1532066"/>
                  </a:lnTo>
                  <a:lnTo>
                    <a:pt x="402923" y="1556307"/>
                  </a:lnTo>
                  <a:lnTo>
                    <a:pt x="441728" y="1578576"/>
                  </a:lnTo>
                  <a:lnTo>
                    <a:pt x="481797" y="1598802"/>
                  </a:lnTo>
                  <a:lnTo>
                    <a:pt x="523058" y="1616913"/>
                  </a:lnTo>
                  <a:lnTo>
                    <a:pt x="565442" y="1632839"/>
                  </a:lnTo>
                  <a:lnTo>
                    <a:pt x="608878" y="1646510"/>
                  </a:lnTo>
                  <a:lnTo>
                    <a:pt x="653293" y="1657854"/>
                  </a:lnTo>
                  <a:lnTo>
                    <a:pt x="698618" y="1666800"/>
                  </a:lnTo>
                  <a:lnTo>
                    <a:pt x="744782" y="1673278"/>
                  </a:lnTo>
                  <a:lnTo>
                    <a:pt x="791714" y="1677217"/>
                  </a:lnTo>
                  <a:lnTo>
                    <a:pt x="839342" y="1678546"/>
                  </a:lnTo>
                  <a:lnTo>
                    <a:pt x="886958" y="1677217"/>
                  </a:lnTo>
                  <a:lnTo>
                    <a:pt x="933878" y="1673278"/>
                  </a:lnTo>
                  <a:lnTo>
                    <a:pt x="980031" y="1666800"/>
                  </a:lnTo>
                  <a:lnTo>
                    <a:pt x="1025346" y="1657854"/>
                  </a:lnTo>
                  <a:lnTo>
                    <a:pt x="1069752" y="1646510"/>
                  </a:lnTo>
                  <a:lnTo>
                    <a:pt x="1113179" y="1632839"/>
                  </a:lnTo>
                  <a:lnTo>
                    <a:pt x="1155555" y="1616913"/>
                  </a:lnTo>
                  <a:lnTo>
                    <a:pt x="1196810" y="1598802"/>
                  </a:lnTo>
                  <a:lnTo>
                    <a:pt x="1236872" y="1578576"/>
                  </a:lnTo>
                  <a:lnTo>
                    <a:pt x="1275671" y="1556307"/>
                  </a:lnTo>
                  <a:lnTo>
                    <a:pt x="1313136" y="1532066"/>
                  </a:lnTo>
                  <a:lnTo>
                    <a:pt x="1349196" y="1505923"/>
                  </a:lnTo>
                  <a:lnTo>
                    <a:pt x="1383780" y="1477950"/>
                  </a:lnTo>
                  <a:lnTo>
                    <a:pt x="1416818" y="1448216"/>
                  </a:lnTo>
                  <a:lnTo>
                    <a:pt x="1448237" y="1416794"/>
                  </a:lnTo>
                  <a:lnTo>
                    <a:pt x="1477968" y="1383754"/>
                  </a:lnTo>
                  <a:lnTo>
                    <a:pt x="1505940" y="1349166"/>
                  </a:lnTo>
                  <a:lnTo>
                    <a:pt x="1532081" y="1313102"/>
                  </a:lnTo>
                  <a:lnTo>
                    <a:pt x="1556322" y="1275632"/>
                  </a:lnTo>
                  <a:lnTo>
                    <a:pt x="1578590" y="1236827"/>
                  </a:lnTo>
                  <a:lnTo>
                    <a:pt x="1598815" y="1196759"/>
                  </a:lnTo>
                  <a:lnTo>
                    <a:pt x="1616926" y="1155498"/>
                  </a:lnTo>
                  <a:lnTo>
                    <a:pt x="1632852" y="1113114"/>
                  </a:lnTo>
                  <a:lnTo>
                    <a:pt x="1646522" y="1069679"/>
                  </a:lnTo>
                  <a:lnTo>
                    <a:pt x="1657866" y="1025264"/>
                  </a:lnTo>
                  <a:lnTo>
                    <a:pt x="1666813" y="979939"/>
                  </a:lnTo>
                  <a:lnTo>
                    <a:pt x="1673291" y="933776"/>
                  </a:lnTo>
                  <a:lnTo>
                    <a:pt x="1677230" y="886844"/>
                  </a:lnTo>
                  <a:lnTo>
                    <a:pt x="1678559" y="839216"/>
                  </a:lnTo>
                  <a:lnTo>
                    <a:pt x="1677230" y="791600"/>
                  </a:lnTo>
                  <a:lnTo>
                    <a:pt x="1673291" y="744680"/>
                  </a:lnTo>
                  <a:lnTo>
                    <a:pt x="1666813" y="698527"/>
                  </a:lnTo>
                  <a:lnTo>
                    <a:pt x="1657866" y="653212"/>
                  </a:lnTo>
                  <a:lnTo>
                    <a:pt x="1646522" y="608806"/>
                  </a:lnTo>
                  <a:lnTo>
                    <a:pt x="1632852" y="565379"/>
                  </a:lnTo>
                  <a:lnTo>
                    <a:pt x="1616926" y="523003"/>
                  </a:lnTo>
                  <a:lnTo>
                    <a:pt x="1598815" y="481748"/>
                  </a:lnTo>
                  <a:lnTo>
                    <a:pt x="1578590" y="441686"/>
                  </a:lnTo>
                  <a:lnTo>
                    <a:pt x="1556322" y="402887"/>
                  </a:lnTo>
                  <a:lnTo>
                    <a:pt x="1532081" y="365422"/>
                  </a:lnTo>
                  <a:lnTo>
                    <a:pt x="1505940" y="329362"/>
                  </a:lnTo>
                  <a:lnTo>
                    <a:pt x="1477968" y="294778"/>
                  </a:lnTo>
                  <a:lnTo>
                    <a:pt x="1448237" y="261740"/>
                  </a:lnTo>
                  <a:lnTo>
                    <a:pt x="1416818" y="230321"/>
                  </a:lnTo>
                  <a:lnTo>
                    <a:pt x="1383780" y="200590"/>
                  </a:lnTo>
                  <a:lnTo>
                    <a:pt x="1349196" y="172618"/>
                  </a:lnTo>
                  <a:lnTo>
                    <a:pt x="1313136" y="146477"/>
                  </a:lnTo>
                  <a:lnTo>
                    <a:pt x="1275671" y="122236"/>
                  </a:lnTo>
                  <a:lnTo>
                    <a:pt x="1236872" y="99968"/>
                  </a:lnTo>
                  <a:lnTo>
                    <a:pt x="1196810" y="79743"/>
                  </a:lnTo>
                  <a:lnTo>
                    <a:pt x="1155555" y="61632"/>
                  </a:lnTo>
                  <a:lnTo>
                    <a:pt x="1113179" y="45706"/>
                  </a:lnTo>
                  <a:lnTo>
                    <a:pt x="1069752" y="32036"/>
                  </a:lnTo>
                  <a:lnTo>
                    <a:pt x="1025346" y="20692"/>
                  </a:lnTo>
                  <a:lnTo>
                    <a:pt x="980031" y="11745"/>
                  </a:lnTo>
                  <a:lnTo>
                    <a:pt x="933878" y="5267"/>
                  </a:lnTo>
                  <a:lnTo>
                    <a:pt x="886958" y="1328"/>
                  </a:lnTo>
                  <a:lnTo>
                    <a:pt x="839342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86" name="object 16">
              <a:extLst>
                <a:ext uri="{FF2B5EF4-FFF2-40B4-BE49-F238E27FC236}">
                  <a16:creationId xmlns:a16="http://schemas.microsoft.com/office/drawing/2014/main" id="{8917B2AB-23C0-1E7E-34F5-709BB240D716}"/>
                </a:ext>
              </a:extLst>
            </p:cNvPr>
            <p:cNvSpPr/>
            <p:nvPr/>
          </p:nvSpPr>
          <p:spPr>
            <a:xfrm>
              <a:off x="5601842" y="3033522"/>
              <a:ext cx="454025" cy="85725"/>
            </a:xfrm>
            <a:custGeom>
              <a:avLst/>
              <a:gdLst/>
              <a:ahLst/>
              <a:cxnLst/>
              <a:rect l="l" t="t" r="r" b="b"/>
              <a:pathLst>
                <a:path w="454025" h="85725">
                  <a:moveTo>
                    <a:pt x="367919" y="0"/>
                  </a:moveTo>
                  <a:lnTo>
                    <a:pt x="367919" y="85725"/>
                  </a:lnTo>
                  <a:lnTo>
                    <a:pt x="424984" y="57150"/>
                  </a:lnTo>
                  <a:lnTo>
                    <a:pt x="382270" y="57150"/>
                  </a:lnTo>
                  <a:lnTo>
                    <a:pt x="382270" y="28575"/>
                  </a:lnTo>
                  <a:lnTo>
                    <a:pt x="425153" y="28575"/>
                  </a:lnTo>
                  <a:lnTo>
                    <a:pt x="367919" y="0"/>
                  </a:lnTo>
                  <a:close/>
                </a:path>
                <a:path w="454025" h="85725">
                  <a:moveTo>
                    <a:pt x="367919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367919" y="57150"/>
                  </a:lnTo>
                  <a:lnTo>
                    <a:pt x="367919" y="28575"/>
                  </a:lnTo>
                  <a:close/>
                </a:path>
                <a:path w="454025" h="85725">
                  <a:moveTo>
                    <a:pt x="425153" y="28575"/>
                  </a:moveTo>
                  <a:lnTo>
                    <a:pt x="382270" y="28575"/>
                  </a:lnTo>
                  <a:lnTo>
                    <a:pt x="382270" y="57150"/>
                  </a:lnTo>
                  <a:lnTo>
                    <a:pt x="424984" y="57150"/>
                  </a:lnTo>
                  <a:lnTo>
                    <a:pt x="453644" y="42798"/>
                  </a:lnTo>
                  <a:lnTo>
                    <a:pt x="425153" y="28575"/>
                  </a:lnTo>
                  <a:close/>
                </a:path>
              </a:pathLst>
            </a:custGeom>
            <a:solidFill>
              <a:srgbClr val="110044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endParaRPr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87" name="object 17">
              <a:extLst>
                <a:ext uri="{FF2B5EF4-FFF2-40B4-BE49-F238E27FC236}">
                  <a16:creationId xmlns:a16="http://schemas.microsoft.com/office/drawing/2014/main" id="{AFFF77DE-19AB-EFBB-35E1-46B646423FD3}"/>
                </a:ext>
              </a:extLst>
            </p:cNvPr>
            <p:cNvSpPr/>
            <p:nvPr/>
          </p:nvSpPr>
          <p:spPr>
            <a:xfrm>
              <a:off x="3164458" y="3024251"/>
              <a:ext cx="454025" cy="85725"/>
            </a:xfrm>
            <a:custGeom>
              <a:avLst/>
              <a:gdLst/>
              <a:ahLst/>
              <a:cxnLst/>
              <a:rect l="l" t="t" r="r" b="b"/>
              <a:pathLst>
                <a:path w="454025" h="85725">
                  <a:moveTo>
                    <a:pt x="367919" y="57145"/>
                  </a:moveTo>
                  <a:lnTo>
                    <a:pt x="367919" y="85725"/>
                  </a:lnTo>
                  <a:lnTo>
                    <a:pt x="424984" y="57150"/>
                  </a:lnTo>
                  <a:lnTo>
                    <a:pt x="367919" y="57145"/>
                  </a:lnTo>
                  <a:close/>
                </a:path>
                <a:path w="454025" h="85725">
                  <a:moveTo>
                    <a:pt x="367919" y="28570"/>
                  </a:moveTo>
                  <a:lnTo>
                    <a:pt x="367919" y="57145"/>
                  </a:lnTo>
                  <a:lnTo>
                    <a:pt x="382143" y="57150"/>
                  </a:lnTo>
                  <a:lnTo>
                    <a:pt x="382143" y="28575"/>
                  </a:lnTo>
                  <a:lnTo>
                    <a:pt x="367919" y="28570"/>
                  </a:lnTo>
                  <a:close/>
                </a:path>
                <a:path w="454025" h="85725">
                  <a:moveTo>
                    <a:pt x="367919" y="0"/>
                  </a:moveTo>
                  <a:lnTo>
                    <a:pt x="367919" y="28570"/>
                  </a:lnTo>
                  <a:lnTo>
                    <a:pt x="382143" y="28575"/>
                  </a:lnTo>
                  <a:lnTo>
                    <a:pt x="382143" y="57150"/>
                  </a:lnTo>
                  <a:lnTo>
                    <a:pt x="424993" y="57145"/>
                  </a:lnTo>
                  <a:lnTo>
                    <a:pt x="453644" y="42799"/>
                  </a:lnTo>
                  <a:lnTo>
                    <a:pt x="367919" y="0"/>
                  </a:lnTo>
                  <a:close/>
                </a:path>
                <a:path w="454025" h="85725">
                  <a:moveTo>
                    <a:pt x="0" y="28448"/>
                  </a:moveTo>
                  <a:lnTo>
                    <a:pt x="0" y="57023"/>
                  </a:lnTo>
                  <a:lnTo>
                    <a:pt x="367919" y="57145"/>
                  </a:lnTo>
                  <a:lnTo>
                    <a:pt x="367919" y="28570"/>
                  </a:lnTo>
                  <a:lnTo>
                    <a:pt x="0" y="28448"/>
                  </a:lnTo>
                  <a:close/>
                </a:path>
              </a:pathLst>
            </a:custGeom>
            <a:solidFill>
              <a:srgbClr val="110044"/>
            </a:solidFill>
          </p:spPr>
          <p:txBody>
            <a:bodyPr wrap="square" lIns="0" tIns="0" rIns="0" bIns="0" rtlCol="0"/>
            <a:lstStyle/>
            <a:p>
              <a:endParaRPr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91" name="object 21">
              <a:extLst>
                <a:ext uri="{FF2B5EF4-FFF2-40B4-BE49-F238E27FC236}">
                  <a16:creationId xmlns:a16="http://schemas.microsoft.com/office/drawing/2014/main" id="{679E32A9-B7B3-30B0-CED6-DDA5AFB01CCA}"/>
                </a:ext>
              </a:extLst>
            </p:cNvPr>
            <p:cNvSpPr/>
            <p:nvPr/>
          </p:nvSpPr>
          <p:spPr>
            <a:xfrm>
              <a:off x="5599557" y="3168650"/>
              <a:ext cx="458470" cy="85725"/>
            </a:xfrm>
            <a:custGeom>
              <a:avLst/>
              <a:gdLst/>
              <a:ahLst/>
              <a:cxnLst/>
              <a:rect l="l" t="t" r="r" b="b"/>
              <a:pathLst>
                <a:path w="458470" h="85725">
                  <a:moveTo>
                    <a:pt x="85725" y="0"/>
                  </a:moveTo>
                  <a:lnTo>
                    <a:pt x="0" y="42925"/>
                  </a:lnTo>
                  <a:lnTo>
                    <a:pt x="85725" y="85725"/>
                  </a:lnTo>
                  <a:lnTo>
                    <a:pt x="85725" y="57150"/>
                  </a:lnTo>
                  <a:lnTo>
                    <a:pt x="71373" y="57150"/>
                  </a:lnTo>
                  <a:lnTo>
                    <a:pt x="71373" y="28575"/>
                  </a:lnTo>
                  <a:lnTo>
                    <a:pt x="85725" y="28575"/>
                  </a:lnTo>
                  <a:lnTo>
                    <a:pt x="85725" y="0"/>
                  </a:lnTo>
                  <a:close/>
                </a:path>
                <a:path w="458470" h="85725">
                  <a:moveTo>
                    <a:pt x="85725" y="28575"/>
                  </a:moveTo>
                  <a:lnTo>
                    <a:pt x="71373" y="28575"/>
                  </a:lnTo>
                  <a:lnTo>
                    <a:pt x="71373" y="57150"/>
                  </a:lnTo>
                  <a:lnTo>
                    <a:pt x="85725" y="57150"/>
                  </a:lnTo>
                  <a:lnTo>
                    <a:pt x="85725" y="28575"/>
                  </a:lnTo>
                  <a:close/>
                </a:path>
                <a:path w="458470" h="85725">
                  <a:moveTo>
                    <a:pt x="458342" y="28575"/>
                  </a:moveTo>
                  <a:lnTo>
                    <a:pt x="85725" y="28575"/>
                  </a:lnTo>
                  <a:lnTo>
                    <a:pt x="85725" y="57150"/>
                  </a:lnTo>
                  <a:lnTo>
                    <a:pt x="458342" y="57150"/>
                  </a:lnTo>
                  <a:lnTo>
                    <a:pt x="458342" y="28575"/>
                  </a:lnTo>
                  <a:close/>
                </a:path>
              </a:pathLst>
            </a:custGeom>
            <a:solidFill>
              <a:srgbClr val="110044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endParaRPr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92" name="object 22">
              <a:extLst>
                <a:ext uri="{FF2B5EF4-FFF2-40B4-BE49-F238E27FC236}">
                  <a16:creationId xmlns:a16="http://schemas.microsoft.com/office/drawing/2014/main" id="{D3F4D156-E26D-2519-E085-E9546344A6C5}"/>
                </a:ext>
              </a:extLst>
            </p:cNvPr>
            <p:cNvSpPr/>
            <p:nvPr/>
          </p:nvSpPr>
          <p:spPr>
            <a:xfrm>
              <a:off x="3155314" y="3161792"/>
              <a:ext cx="458470" cy="85725"/>
            </a:xfrm>
            <a:custGeom>
              <a:avLst/>
              <a:gdLst/>
              <a:ahLst/>
              <a:cxnLst/>
              <a:rect l="l" t="t" r="r" b="b"/>
              <a:pathLst>
                <a:path w="458470" h="85725">
                  <a:moveTo>
                    <a:pt x="85725" y="0"/>
                  </a:moveTo>
                  <a:lnTo>
                    <a:pt x="0" y="42925"/>
                  </a:lnTo>
                  <a:lnTo>
                    <a:pt x="85725" y="85725"/>
                  </a:lnTo>
                  <a:lnTo>
                    <a:pt x="85725" y="57150"/>
                  </a:lnTo>
                  <a:lnTo>
                    <a:pt x="71374" y="57150"/>
                  </a:lnTo>
                  <a:lnTo>
                    <a:pt x="71374" y="28575"/>
                  </a:lnTo>
                  <a:lnTo>
                    <a:pt x="85725" y="28575"/>
                  </a:lnTo>
                  <a:lnTo>
                    <a:pt x="85725" y="0"/>
                  </a:lnTo>
                  <a:close/>
                </a:path>
                <a:path w="458470" h="85725">
                  <a:moveTo>
                    <a:pt x="85725" y="28575"/>
                  </a:moveTo>
                  <a:lnTo>
                    <a:pt x="71374" y="28575"/>
                  </a:lnTo>
                  <a:lnTo>
                    <a:pt x="71374" y="57150"/>
                  </a:lnTo>
                  <a:lnTo>
                    <a:pt x="85725" y="57150"/>
                  </a:lnTo>
                  <a:lnTo>
                    <a:pt x="85725" y="28575"/>
                  </a:lnTo>
                  <a:close/>
                </a:path>
                <a:path w="458470" h="85725">
                  <a:moveTo>
                    <a:pt x="458343" y="28575"/>
                  </a:moveTo>
                  <a:lnTo>
                    <a:pt x="85725" y="28575"/>
                  </a:lnTo>
                  <a:lnTo>
                    <a:pt x="85725" y="57150"/>
                  </a:lnTo>
                  <a:lnTo>
                    <a:pt x="458343" y="57150"/>
                  </a:lnTo>
                  <a:lnTo>
                    <a:pt x="458343" y="28575"/>
                  </a:lnTo>
                  <a:close/>
                </a:path>
              </a:pathLst>
            </a:custGeom>
            <a:solidFill>
              <a:srgbClr val="110044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endParaRPr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338" name="직사각형 337">
            <a:extLst>
              <a:ext uri="{FF2B5EF4-FFF2-40B4-BE49-F238E27FC236}">
                <a16:creationId xmlns:a16="http://schemas.microsoft.com/office/drawing/2014/main" id="{255D22D7-7E63-0A58-8376-15AF31DEB720}"/>
              </a:ext>
            </a:extLst>
          </p:cNvPr>
          <p:cNvSpPr/>
          <p:nvPr/>
        </p:nvSpPr>
        <p:spPr>
          <a:xfrm>
            <a:off x="1153627" y="891035"/>
            <a:ext cx="6781801" cy="1071115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indent="19014" algn="ctr">
              <a:spcAft>
                <a:spcPts val="367"/>
              </a:spcAft>
            </a:pPr>
            <a:r>
              <a:rPr lang="en-US" altLang="ko-KR" sz="2000" b="1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2026</a:t>
            </a:r>
            <a:r>
              <a:rPr lang="ko-KR" altLang="en-US" sz="2000" b="1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년부터 </a:t>
            </a:r>
            <a:r>
              <a:rPr lang="ko-KR" altLang="en-US" sz="2800" b="1" spc="-150" dirty="0" err="1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모두의연구소</a:t>
            </a:r>
            <a:r>
              <a:rPr lang="ko-KR" altLang="en-US" sz="28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8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K-HP </a:t>
            </a:r>
            <a:r>
              <a:rPr lang="ko-KR" altLang="en-US" sz="28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협약기업</a:t>
            </a:r>
            <a:r>
              <a:rPr lang="ko-KR" altLang="en-US" sz="2000" b="1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</a:t>
            </a:r>
            <a:endParaRPr lang="en-US" altLang="ko-KR" sz="2000" b="1" spc="-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indent="19014" algn="ctr">
              <a:spcAft>
                <a:spcPts val="367"/>
              </a:spcAft>
            </a:pPr>
            <a:r>
              <a:rPr lang="ko-KR" altLang="en-US" sz="1400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재직자 훈련부터 세미나</a:t>
            </a:r>
            <a:r>
              <a:rPr lang="en-US" altLang="ko-KR" sz="1400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워크숍까지 아우르는</a:t>
            </a:r>
          </a:p>
          <a:p>
            <a:pPr indent="19014" algn="ctr">
              <a:spcAft>
                <a:spcPts val="367"/>
              </a:spcAft>
            </a:pPr>
            <a:r>
              <a:rPr lang="ko-KR" altLang="en-US" sz="1400" b="1" spc="-15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올인원</a:t>
            </a:r>
            <a:r>
              <a:rPr lang="en-US" altLang="ko-KR" sz="1400" b="1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(All-in-one) </a:t>
            </a:r>
            <a:r>
              <a:rPr lang="ko-KR" altLang="en-US" sz="1400" b="1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맞춤형 </a:t>
            </a:r>
            <a:r>
              <a:rPr lang="en-US" altLang="ko-KR" sz="1400" b="1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400" b="1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</a:t>
            </a:r>
            <a:r>
              <a:rPr lang="ko-KR" altLang="en-US" sz="1400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전액 정부 지원으로 도입하실 수 있습니다</a:t>
            </a:r>
            <a:r>
              <a:rPr lang="en-US" altLang="ko-KR" sz="1400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" altLang="en-US" sz="1100" spc="-150" dirty="0">
              <a:solidFill>
                <a:srgbClr val="59524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214BC251-8D78-2F3D-02C1-52BB07AED9E9}"/>
              </a:ext>
            </a:extLst>
          </p:cNvPr>
          <p:cNvSpPr/>
          <p:nvPr/>
        </p:nvSpPr>
        <p:spPr>
          <a:xfrm>
            <a:off x="1447800" y="3807451"/>
            <a:ext cx="2184727" cy="66929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indent="19014" algn="ctr">
              <a:spcAft>
                <a:spcPts val="367"/>
              </a:spcAft>
            </a:pPr>
            <a:r>
              <a:rPr lang="en-US" altLang="ko" sz="1200" b="1" dirty="0">
                <a:solidFill>
                  <a:srgbClr val="006FC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Agent</a:t>
            </a:r>
            <a:r>
              <a:rPr lang="ko-KR" altLang="en-US" sz="1200" b="1" dirty="0">
                <a:solidFill>
                  <a:srgbClr val="006FC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세미나</a:t>
            </a:r>
          </a:p>
          <a:p>
            <a:pPr indent="19014" algn="ctr">
              <a:spcAft>
                <a:spcPts val="367"/>
              </a:spcAft>
            </a:pPr>
            <a:r>
              <a:rPr lang="en-US" altLang="ko" sz="105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(AI </a:t>
            </a:r>
            <a:r>
              <a:rPr lang="ko-KR" altLang="en-US" sz="105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업무  활용</a:t>
            </a:r>
            <a:r>
              <a:rPr lang="en-US" altLang="ko-KR" sz="105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ko-KR" altLang="en-US" sz="105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트렌드</a:t>
            </a:r>
            <a:r>
              <a:rPr lang="en-US" altLang="ko-KR" sz="105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" altLang="en-US" sz="1050" spc="-15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1" name="직사각형 340">
            <a:extLst>
              <a:ext uri="{FF2B5EF4-FFF2-40B4-BE49-F238E27FC236}">
                <a16:creationId xmlns:a16="http://schemas.microsoft.com/office/drawing/2014/main" id="{7A732E85-B5E1-883B-A3F9-134A10A8CA52}"/>
              </a:ext>
            </a:extLst>
          </p:cNvPr>
          <p:cNvSpPr/>
          <p:nvPr/>
        </p:nvSpPr>
        <p:spPr>
          <a:xfrm>
            <a:off x="3678498" y="3807451"/>
            <a:ext cx="1579302" cy="648840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indent="19014" algn="ctr">
              <a:spcAft>
                <a:spcPts val="367"/>
              </a:spcAft>
            </a:pPr>
            <a:r>
              <a:rPr lang="en-US" altLang="ko-KR" sz="1200" b="1" dirty="0">
                <a:solidFill>
                  <a:srgbClr val="00448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200" b="1" dirty="0" err="1">
                <a:solidFill>
                  <a:srgbClr val="00448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직군별</a:t>
            </a:r>
            <a:r>
              <a:rPr lang="ko-KR" altLang="en-US" sz="1200" b="1" dirty="0">
                <a:solidFill>
                  <a:srgbClr val="00448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맞춤 선택</a:t>
            </a:r>
            <a:endParaRPr lang="en-US" altLang="ko-KR" sz="1200" b="1" dirty="0">
              <a:solidFill>
                <a:srgbClr val="00448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indent="19014" algn="ctr">
              <a:spcAft>
                <a:spcPts val="367"/>
              </a:spcAft>
            </a:pPr>
            <a:r>
              <a:rPr lang="en-US" altLang="ko-KR" sz="105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05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직무  역량  최적화 훈련</a:t>
            </a:r>
            <a:r>
              <a:rPr lang="en-US" altLang="ko-KR" sz="105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" altLang="en-US" sz="1050" spc="-15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2" name="직사각형 341">
            <a:extLst>
              <a:ext uri="{FF2B5EF4-FFF2-40B4-BE49-F238E27FC236}">
                <a16:creationId xmlns:a16="http://schemas.microsoft.com/office/drawing/2014/main" id="{2E7A2ED9-6F59-0204-8AF5-BCE1AB30D4A7}"/>
              </a:ext>
            </a:extLst>
          </p:cNvPr>
          <p:cNvSpPr/>
          <p:nvPr/>
        </p:nvSpPr>
        <p:spPr>
          <a:xfrm>
            <a:off x="5562600" y="3807451"/>
            <a:ext cx="1685896" cy="534213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indent="19014" algn="ctr">
              <a:spcAft>
                <a:spcPts val="367"/>
              </a:spcAft>
            </a:pPr>
            <a:r>
              <a:rPr lang="en-US" altLang="ko-KR" sz="1200" b="1" dirty="0">
                <a:solidFill>
                  <a:srgbClr val="006FC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200" b="1" dirty="0">
                <a:solidFill>
                  <a:srgbClr val="006FC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워크숍</a:t>
            </a:r>
            <a:r>
              <a:rPr lang="en-US" altLang="ko-KR" sz="1200" b="1" dirty="0">
                <a:solidFill>
                  <a:srgbClr val="006FC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b="1" dirty="0" err="1">
                <a:solidFill>
                  <a:srgbClr val="006FC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해커톤</a:t>
            </a:r>
            <a:endParaRPr lang="en-US" altLang="ko-KR" sz="1200" b="1" dirty="0">
              <a:solidFill>
                <a:srgbClr val="006FC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indent="19014" algn="ctr">
              <a:spcAft>
                <a:spcPts val="367"/>
              </a:spcAft>
            </a:pPr>
            <a:r>
              <a:rPr lang="en-US" altLang="ko-KR" sz="1050" dirty="0">
                <a:solidFill>
                  <a:srgbClr val="5952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en-US" altLang="ko-KR" sz="105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05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업무  적용</a:t>
            </a:r>
            <a:r>
              <a:rPr lang="en-US" altLang="ko-KR" sz="105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ko-KR" altLang="en-US" sz="105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사례  도출</a:t>
            </a:r>
            <a:r>
              <a:rPr lang="en-US" altLang="ko-KR" sz="105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" altLang="en-US" sz="1050" spc="-15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4" name="직사각형 343">
            <a:extLst>
              <a:ext uri="{FF2B5EF4-FFF2-40B4-BE49-F238E27FC236}">
                <a16:creationId xmlns:a16="http://schemas.microsoft.com/office/drawing/2014/main" id="{1450AF11-DB3F-44B1-31F7-52AB8184B342}"/>
              </a:ext>
            </a:extLst>
          </p:cNvPr>
          <p:cNvSpPr/>
          <p:nvPr/>
        </p:nvSpPr>
        <p:spPr>
          <a:xfrm>
            <a:off x="3124200" y="3638550"/>
            <a:ext cx="761442" cy="66929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indent="19014" algn="ctr">
              <a:spcAft>
                <a:spcPts val="367"/>
              </a:spcAft>
            </a:pPr>
            <a:r>
              <a:rPr lang="en-US" altLang="ko" sz="4000" b="1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</a:t>
            </a:r>
            <a:endParaRPr lang="ko" sz="4000" dirty="0">
              <a:solidFill>
                <a:srgbClr val="11004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5" name="직사각형 344">
            <a:extLst>
              <a:ext uri="{FF2B5EF4-FFF2-40B4-BE49-F238E27FC236}">
                <a16:creationId xmlns:a16="http://schemas.microsoft.com/office/drawing/2014/main" id="{0A50D6F3-F23A-919A-5EFD-125944A8A00C}"/>
              </a:ext>
            </a:extLst>
          </p:cNvPr>
          <p:cNvSpPr/>
          <p:nvPr/>
        </p:nvSpPr>
        <p:spPr>
          <a:xfrm>
            <a:off x="5029200" y="3638550"/>
            <a:ext cx="761442" cy="66929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indent="19014" algn="ctr">
              <a:spcAft>
                <a:spcPts val="367"/>
              </a:spcAft>
            </a:pPr>
            <a:r>
              <a:rPr lang="en-US" altLang="ko" sz="4000" b="1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</a:t>
            </a:r>
            <a:endParaRPr lang="ko" sz="4000" dirty="0">
              <a:solidFill>
                <a:srgbClr val="11004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122290-B438-3E05-6D43-42A84407B59E}"/>
              </a:ext>
            </a:extLst>
          </p:cNvPr>
          <p:cNvSpPr txBox="1"/>
          <p:nvPr/>
        </p:nvSpPr>
        <p:spPr>
          <a:xfrm>
            <a:off x="180000" y="237351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50" dirty="0" err="1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모두의연구소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K-HP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사업 소개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4AFA74-1C98-6A9F-E884-EB54DF48A248}"/>
              </a:ext>
            </a:extLst>
          </p:cNvPr>
          <p:cNvSpPr txBox="1"/>
          <p:nvPr/>
        </p:nvSpPr>
        <p:spPr>
          <a:xfrm>
            <a:off x="2386441" y="2759120"/>
            <a:ext cx="593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spc="-1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세미나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6C7088-BFA7-875D-D5FC-04CC1A414EE7}"/>
              </a:ext>
            </a:extLst>
          </p:cNvPr>
          <p:cNvSpPr txBox="1"/>
          <p:nvPr/>
        </p:nvSpPr>
        <p:spPr>
          <a:xfrm>
            <a:off x="4101976" y="2759120"/>
            <a:ext cx="8915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spc="-1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재직자 훈련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BF017C-3AEE-C210-64DF-C41EF37F7942}"/>
              </a:ext>
            </a:extLst>
          </p:cNvPr>
          <p:cNvSpPr txBox="1"/>
          <p:nvPr/>
        </p:nvSpPr>
        <p:spPr>
          <a:xfrm>
            <a:off x="6115070" y="2759120"/>
            <a:ext cx="593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spc="-1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워크숍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ABB15D-9B7A-8F6C-8FE1-18AFA4B63C30}"/>
              </a:ext>
            </a:extLst>
          </p:cNvPr>
          <p:cNvSpPr txBox="1"/>
          <p:nvPr/>
        </p:nvSpPr>
        <p:spPr>
          <a:xfrm>
            <a:off x="2258527" y="452993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spc="-150" dirty="0" err="1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모두의연구소</a:t>
            </a:r>
            <a:r>
              <a:rPr lang="ko-KR" altLang="en-US" sz="1400" spc="-15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spc="-15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K-HP</a:t>
            </a:r>
            <a:r>
              <a:rPr lang="ko-KR" altLang="en-US" sz="1400" spc="-15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</a:t>
            </a:r>
            <a:r>
              <a:rPr lang="en-US" altLang="ko-KR" sz="1400" spc="-15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spc="-15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기업별 최적화된 </a:t>
            </a:r>
            <a:r>
              <a:rPr lang="en-US" altLang="ko-KR" sz="1400" spc="-15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400" spc="-15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 솔루션을 제안합니다</a:t>
            </a:r>
            <a:r>
              <a:rPr lang="en-US" altLang="ko-KR" sz="1400" spc="-15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400" spc="-15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F888D49-1E97-0929-338D-C622C6E8320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3520440" y="4917073"/>
            <a:ext cx="2103120" cy="138499"/>
          </a:xfrm>
        </p:spPr>
        <p:txBody>
          <a:bodyPr/>
          <a:lstStyle/>
          <a:p>
            <a:pPr algn="ctr"/>
            <a:fld id="{B6F15528-21DE-4FAA-801E-634DDDAF4B2B}" type="slidenum">
              <a:rPr lang="en-US" altLang="ko-KR" sz="900" smtClean="0"/>
              <a:pPr algn="ctr"/>
              <a:t>3</a:t>
            </a:fld>
            <a:endParaRPr lang="ko-KR" alt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AB464-DBE5-FCC5-2778-C91B6C0D3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A8ECD6-F778-D2F6-F3E3-48FA3DF06C19}"/>
              </a:ext>
            </a:extLst>
          </p:cNvPr>
          <p:cNvSpPr txBox="1"/>
          <p:nvPr/>
        </p:nvSpPr>
        <p:spPr>
          <a:xfrm>
            <a:off x="180000" y="237351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50" dirty="0" err="1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모두의연구소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K-HP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사업 소개</a:t>
            </a:r>
          </a:p>
        </p:txBody>
      </p:sp>
      <p:sp>
        <p:nvSpPr>
          <p:cNvPr id="277" name="Google Shape;277;p10"/>
          <p:cNvSpPr/>
          <p:nvPr/>
        </p:nvSpPr>
        <p:spPr>
          <a:xfrm rot="5400000">
            <a:off x="2725307" y="2429594"/>
            <a:ext cx="683486" cy="190500"/>
          </a:xfrm>
          <a:prstGeom prst="triangle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defTabSz="457200" rtl="0">
              <a:buClr>
                <a:srgbClr val="000000"/>
              </a:buClr>
            </a:pPr>
            <a:endParaRPr sz="900" dirty="0">
              <a:solidFill>
                <a:srgbClr val="BFBFB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78" name="Google Shape;278;p10"/>
          <p:cNvSpPr/>
          <p:nvPr/>
        </p:nvSpPr>
        <p:spPr>
          <a:xfrm rot="5400000">
            <a:off x="4516007" y="2429594"/>
            <a:ext cx="683486" cy="190500"/>
          </a:xfrm>
          <a:prstGeom prst="triangle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defTabSz="457200" rtl="0">
              <a:buClr>
                <a:srgbClr val="000000"/>
              </a:buClr>
            </a:pPr>
            <a:endParaRPr sz="900" dirty="0">
              <a:solidFill>
                <a:srgbClr val="BFBFB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79" name="Google Shape;279;p10"/>
          <p:cNvSpPr/>
          <p:nvPr/>
        </p:nvSpPr>
        <p:spPr>
          <a:xfrm rot="5400000">
            <a:off x="6306707" y="2424399"/>
            <a:ext cx="683486" cy="190500"/>
          </a:xfrm>
          <a:prstGeom prst="triangle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defTabSz="457200" rtl="0">
              <a:buClr>
                <a:srgbClr val="000000"/>
              </a:buClr>
            </a:pPr>
            <a:endParaRPr sz="900" dirty="0">
              <a:solidFill>
                <a:srgbClr val="BFBFB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1511395" y="4057650"/>
            <a:ext cx="6844473" cy="560602"/>
          </a:xfrm>
          <a:prstGeom prst="roundRect">
            <a:avLst>
              <a:gd name="adj" fmla="val 7545"/>
            </a:avLst>
          </a:prstGeom>
          <a:solidFill>
            <a:srgbClr val="88C1FF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defTabSz="457200" rtl="0">
              <a:buClr>
                <a:srgbClr val="000000"/>
              </a:buClr>
            </a:pPr>
            <a:endParaRPr sz="9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84" name="Google Shape;284;p10"/>
          <p:cNvSpPr txBox="1"/>
          <p:nvPr/>
        </p:nvSpPr>
        <p:spPr>
          <a:xfrm>
            <a:off x="381000" y="764132"/>
            <a:ext cx="8420100" cy="712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algn="ctr" defTabSz="457200" rtl="0">
              <a:lnSpc>
                <a:spcPct val="150000"/>
              </a:lnSpc>
              <a:buClr>
                <a:srgbClr val="000000"/>
              </a:buClr>
            </a:pPr>
            <a:r>
              <a:rPr lang="ko-KR" altLang="en-US" sz="2000" b="1" spc="-15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기업부담 없는  </a:t>
            </a:r>
            <a:r>
              <a:rPr lang="ko-KR" altLang="en-US" sz="28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재직자 대상 </a:t>
            </a:r>
            <a:r>
              <a:rPr lang="en-US" altLang="ko-KR" sz="28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AI/DX </a:t>
            </a:r>
            <a:r>
              <a:rPr lang="ko-KR" altLang="en-US" sz="28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무료 </a:t>
            </a:r>
            <a:r>
              <a:rPr lang="ko-KR" altLang="en-US" sz="2000" b="1" spc="-15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교육 기회</a:t>
            </a:r>
            <a:endParaRPr sz="1600" spc="-15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1505363" y="1738746"/>
            <a:ext cx="1468751" cy="1572198"/>
          </a:xfrm>
          <a:prstGeom prst="roundRect">
            <a:avLst>
              <a:gd name="adj" fmla="val 7705"/>
            </a:avLst>
          </a:prstGeom>
          <a:noFill/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defTabSz="457200" rtl="0">
              <a:buClr>
                <a:srgbClr val="000000"/>
              </a:buClr>
            </a:pPr>
            <a:endParaRPr sz="9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1875246" y="1904742"/>
            <a:ext cx="723900" cy="7239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defTabSz="457200" rtl="0">
              <a:buClr>
                <a:srgbClr val="000000"/>
              </a:buClr>
            </a:pPr>
            <a:endParaRPr sz="9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87" name="Google Shape;287;p10"/>
          <p:cNvSpPr txBox="1"/>
          <p:nvPr/>
        </p:nvSpPr>
        <p:spPr>
          <a:xfrm>
            <a:off x="1511395" y="2734351"/>
            <a:ext cx="1468751" cy="415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defTabSz="457200" rtl="0">
              <a:buClr>
                <a:srgbClr val="000000"/>
              </a:buClr>
            </a:pP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수요기업 대상 </a:t>
            </a:r>
            <a:endParaRPr sz="7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algn="ctr" defTabSz="457200" rtl="0">
              <a:buClr>
                <a:srgbClr val="000000"/>
              </a:buClr>
            </a:pP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맞춤형 컨설팅 </a:t>
            </a:r>
            <a:endParaRPr sz="12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3296063" y="1738746"/>
            <a:ext cx="1468751" cy="1572198"/>
          </a:xfrm>
          <a:prstGeom prst="roundRect">
            <a:avLst>
              <a:gd name="adj" fmla="val 7705"/>
            </a:avLst>
          </a:prstGeom>
          <a:noFill/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defTabSz="457200" rtl="0">
              <a:buClr>
                <a:srgbClr val="000000"/>
              </a:buClr>
            </a:pPr>
            <a:endParaRPr sz="9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3665946" y="1904742"/>
            <a:ext cx="723900" cy="7239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defTabSz="457200" rtl="0">
              <a:buClr>
                <a:srgbClr val="000000"/>
              </a:buClr>
            </a:pPr>
            <a:endParaRPr sz="9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90" name="Google Shape;290;p10"/>
          <p:cNvSpPr txBox="1"/>
          <p:nvPr/>
        </p:nvSpPr>
        <p:spPr>
          <a:xfrm>
            <a:off x="3302095" y="2734351"/>
            <a:ext cx="1468751" cy="415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defTabSz="457200" rtl="0">
              <a:buClr>
                <a:srgbClr val="000000"/>
              </a:buClr>
            </a:pP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KHP</a:t>
            </a:r>
            <a:endParaRPr sz="7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algn="ctr" defTabSz="457200" rtl="0">
              <a:buClr>
                <a:srgbClr val="000000"/>
              </a:buClr>
            </a:pP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기업협약서 체결</a:t>
            </a:r>
            <a:endParaRPr sz="12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5088708" y="1733550"/>
            <a:ext cx="1468751" cy="1572198"/>
          </a:xfrm>
          <a:prstGeom prst="roundRect">
            <a:avLst>
              <a:gd name="adj" fmla="val 7705"/>
            </a:avLst>
          </a:prstGeom>
          <a:noFill/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defTabSz="457200" rtl="0">
              <a:buClr>
                <a:srgbClr val="000000"/>
              </a:buClr>
            </a:pPr>
            <a:endParaRPr sz="9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5458591" y="1899546"/>
            <a:ext cx="723900" cy="7239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defTabSz="457200" rtl="0">
              <a:buClr>
                <a:srgbClr val="000000"/>
              </a:buClr>
            </a:pPr>
            <a:endParaRPr sz="9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93" name="Google Shape;293;p10"/>
          <p:cNvSpPr txBox="1"/>
          <p:nvPr/>
        </p:nvSpPr>
        <p:spPr>
          <a:xfrm>
            <a:off x="5094740" y="2729156"/>
            <a:ext cx="1468751" cy="415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defTabSz="457200" rtl="0">
              <a:buClr>
                <a:srgbClr val="000000"/>
              </a:buClr>
            </a:pP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교육과정 </a:t>
            </a:r>
            <a:endParaRPr sz="7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algn="ctr" defTabSz="457200" rtl="0">
              <a:buClr>
                <a:srgbClr val="000000"/>
              </a:buClr>
            </a:pP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협의</a:t>
            </a:r>
            <a:endParaRPr sz="12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6881085" y="1733550"/>
            <a:ext cx="1468751" cy="1572198"/>
          </a:xfrm>
          <a:prstGeom prst="roundRect">
            <a:avLst>
              <a:gd name="adj" fmla="val 7705"/>
            </a:avLst>
          </a:prstGeom>
          <a:noFill/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defTabSz="457200" rtl="0">
              <a:buClr>
                <a:srgbClr val="000000"/>
              </a:buClr>
            </a:pPr>
            <a:endParaRPr sz="9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7250968" y="1899546"/>
            <a:ext cx="723900" cy="7239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defTabSz="457200" rtl="0">
              <a:buClr>
                <a:srgbClr val="000000"/>
              </a:buClr>
            </a:pPr>
            <a:endParaRPr sz="9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96" name="Google Shape;296;p10"/>
          <p:cNvSpPr txBox="1"/>
          <p:nvPr/>
        </p:nvSpPr>
        <p:spPr>
          <a:xfrm>
            <a:off x="6887117" y="2766845"/>
            <a:ext cx="1468751" cy="37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defTabSz="457200" rtl="0">
              <a:lnSpc>
                <a:spcPct val="90000"/>
              </a:lnSpc>
              <a:buClr>
                <a:srgbClr val="000000"/>
              </a:buClr>
            </a:pP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br>
              <a:rPr lang="ko-KR" altLang="en-US" sz="12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</a:b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교육진행</a:t>
            </a:r>
            <a:endParaRPr sz="7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97" name="Google Shape;297;p10"/>
          <p:cNvSpPr txBox="1"/>
          <p:nvPr/>
        </p:nvSpPr>
        <p:spPr>
          <a:xfrm>
            <a:off x="1646646" y="3453246"/>
            <a:ext cx="1181100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defTabSz="457200" rtl="0">
              <a:buClr>
                <a:srgbClr val="000000"/>
              </a:buClr>
            </a:pPr>
            <a:r>
              <a:rPr lang="ko-KR" altLang="en-US" sz="9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기업 맞춤형 교육 주제 도출 및 참여 자격 해당 여부 확인</a:t>
            </a:r>
            <a:endParaRPr sz="7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98" name="Google Shape;298;p10"/>
          <p:cNvSpPr txBox="1"/>
          <p:nvPr/>
        </p:nvSpPr>
        <p:spPr>
          <a:xfrm>
            <a:off x="1913346" y="2085247"/>
            <a:ext cx="647700" cy="415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defTabSz="457200" rtl="0">
              <a:buClr>
                <a:srgbClr val="000000"/>
              </a:buClr>
            </a:pPr>
            <a:r>
              <a:rPr lang="en-US" altLang="ko-KR" sz="2400" b="1" dirty="0">
                <a:solidFill>
                  <a:schemeClr val="tx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01</a:t>
            </a:r>
            <a:endParaRPr sz="2400" dirty="0">
              <a:solidFill>
                <a:schemeClr val="tx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99" name="Google Shape;299;p10"/>
          <p:cNvSpPr txBox="1"/>
          <p:nvPr/>
        </p:nvSpPr>
        <p:spPr>
          <a:xfrm>
            <a:off x="3690404" y="2076450"/>
            <a:ext cx="647700" cy="415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defTabSz="457200" rtl="0">
              <a:buClr>
                <a:srgbClr val="000000"/>
              </a:buClr>
            </a:pPr>
            <a:r>
              <a:rPr lang="en-US" altLang="ko-KR" sz="2400" b="1" dirty="0">
                <a:solidFill>
                  <a:schemeClr val="tx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02</a:t>
            </a:r>
            <a:endParaRPr sz="2400" dirty="0">
              <a:solidFill>
                <a:schemeClr val="tx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5486400" y="2047303"/>
            <a:ext cx="647700" cy="415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defTabSz="457200" rtl="0">
              <a:buClr>
                <a:srgbClr val="000000"/>
              </a:buClr>
            </a:pPr>
            <a:r>
              <a:rPr lang="en-US" altLang="ko-KR" sz="2400" b="1" dirty="0">
                <a:solidFill>
                  <a:schemeClr val="tx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03</a:t>
            </a:r>
            <a:endParaRPr sz="2400" dirty="0">
              <a:solidFill>
                <a:schemeClr val="tx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301" name="Google Shape;301;p10"/>
          <p:cNvSpPr txBox="1"/>
          <p:nvPr/>
        </p:nvSpPr>
        <p:spPr>
          <a:xfrm>
            <a:off x="7277100" y="2058942"/>
            <a:ext cx="647700" cy="415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defTabSz="457200" rtl="0">
              <a:buClr>
                <a:srgbClr val="000000"/>
              </a:buClr>
            </a:pPr>
            <a:r>
              <a:rPr lang="en-US" altLang="ko-KR" sz="2400" b="1" dirty="0">
                <a:solidFill>
                  <a:schemeClr val="tx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04</a:t>
            </a:r>
            <a:endParaRPr sz="2400" dirty="0">
              <a:solidFill>
                <a:schemeClr val="tx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302" name="Google Shape;302;p10"/>
          <p:cNvSpPr txBox="1"/>
          <p:nvPr/>
        </p:nvSpPr>
        <p:spPr>
          <a:xfrm>
            <a:off x="3399482" y="3443894"/>
            <a:ext cx="1181100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defTabSz="457200" rtl="0">
              <a:buClr>
                <a:srgbClr val="000000"/>
              </a:buClr>
            </a:pPr>
            <a:r>
              <a:rPr lang="ko-KR" altLang="en-US" sz="9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수요 기업</a:t>
            </a:r>
            <a:r>
              <a:rPr lang="en-US" altLang="ko-KR" sz="9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-(</a:t>
            </a:r>
            <a:r>
              <a:rPr lang="ko-KR" altLang="en-US" sz="9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주</a:t>
            </a:r>
            <a:r>
              <a:rPr lang="en-US" altLang="ko-KR" sz="9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</a:t>
            </a:r>
            <a:r>
              <a:rPr lang="ko-KR" altLang="en-US" sz="900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모두의연구소</a:t>
            </a:r>
            <a:r>
              <a:rPr lang="ko-KR" altLang="en-US" sz="9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간 협약 체결</a:t>
            </a:r>
            <a:endParaRPr sz="7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303" name="Google Shape;303;p10"/>
          <p:cNvSpPr txBox="1"/>
          <p:nvPr/>
        </p:nvSpPr>
        <p:spPr>
          <a:xfrm>
            <a:off x="5178594" y="3458793"/>
            <a:ext cx="1181100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defTabSz="457200" rtl="0">
              <a:buClr>
                <a:srgbClr val="000000"/>
              </a:buClr>
            </a:pPr>
            <a:r>
              <a:rPr lang="ko-KR" altLang="en-US" sz="9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교육 과정 개설을 위한 세부 내용 협의 </a:t>
            </a:r>
            <a:r>
              <a:rPr lang="en-US" altLang="ko-KR" sz="9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</a:t>
            </a:r>
            <a:r>
              <a:rPr lang="ko-KR" altLang="en-US" sz="9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수강인원</a:t>
            </a:r>
            <a:r>
              <a:rPr lang="en-US" altLang="ko-KR" sz="9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9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시기 등</a:t>
            </a:r>
            <a:r>
              <a:rPr lang="en-US" altLang="ko-KR" sz="9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</a:t>
            </a:r>
            <a:endParaRPr sz="900" dirty="0">
              <a:solidFill>
                <a:srgbClr val="7F7F7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304" name="Google Shape;304;p10"/>
          <p:cNvSpPr txBox="1"/>
          <p:nvPr/>
        </p:nvSpPr>
        <p:spPr>
          <a:xfrm>
            <a:off x="6973387" y="3470046"/>
            <a:ext cx="1181100" cy="323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defTabSz="457200" rtl="0">
              <a:buClr>
                <a:srgbClr val="000000"/>
              </a:buClr>
            </a:pPr>
            <a:r>
              <a:rPr lang="ko-KR" altLang="en-US" sz="9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교육 과정 개설 및 교육생 모집</a:t>
            </a:r>
            <a:endParaRPr sz="7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grpSp>
        <p:nvGrpSpPr>
          <p:cNvPr id="305" name="Google Shape;305;p10"/>
          <p:cNvGrpSpPr/>
          <p:nvPr/>
        </p:nvGrpSpPr>
        <p:grpSpPr>
          <a:xfrm>
            <a:off x="448135" y="1772665"/>
            <a:ext cx="931386" cy="279400"/>
            <a:chOff x="991235" y="3543300"/>
            <a:chExt cx="4781550" cy="558800"/>
          </a:xfrm>
          <a:solidFill>
            <a:schemeClr val="tx2"/>
          </a:solidFill>
        </p:grpSpPr>
        <p:sp>
          <p:nvSpPr>
            <p:cNvPr id="306" name="Google Shape;306;p10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algn="ctr" defTabSz="457200" rtl="0">
                <a:buClr>
                  <a:srgbClr val="000000"/>
                </a:buClr>
              </a:pPr>
              <a:endParaRPr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307" name="Google Shape;307;p10"/>
            <p:cNvSpPr txBox="1"/>
            <p:nvPr/>
          </p:nvSpPr>
          <p:spPr>
            <a:xfrm>
              <a:off x="1130936" y="3654426"/>
              <a:ext cx="4449444" cy="33599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6351" algn="ctr" defTabSz="457200" rtl="0">
                <a:buClr>
                  <a:srgbClr val="000000"/>
                </a:buClr>
              </a:pPr>
              <a:r>
                <a:rPr lang="ko-KR" altLang="en-US" sz="1050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참여절차</a:t>
              </a:r>
              <a:endParaRPr sz="7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308" name="Google Shape;308;p10"/>
          <p:cNvGrpSpPr/>
          <p:nvPr/>
        </p:nvGrpSpPr>
        <p:grpSpPr>
          <a:xfrm>
            <a:off x="457200" y="4057650"/>
            <a:ext cx="931386" cy="279400"/>
            <a:chOff x="991235" y="3543300"/>
            <a:chExt cx="4781550" cy="558800"/>
          </a:xfrm>
          <a:solidFill>
            <a:schemeClr val="tx2"/>
          </a:solidFill>
        </p:grpSpPr>
        <p:sp>
          <p:nvSpPr>
            <p:cNvPr id="309" name="Google Shape;309;p10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algn="ctr" defTabSz="457200" rtl="0">
                <a:buClr>
                  <a:srgbClr val="000000"/>
                </a:buClr>
              </a:pPr>
              <a:endParaRPr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310" name="Google Shape;310;p10"/>
            <p:cNvSpPr txBox="1"/>
            <p:nvPr/>
          </p:nvSpPr>
          <p:spPr>
            <a:xfrm>
              <a:off x="1130936" y="3654426"/>
              <a:ext cx="4449444" cy="33599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6351" algn="ctr" defTabSz="457200" rtl="0">
                <a:buClr>
                  <a:srgbClr val="000000"/>
                </a:buClr>
              </a:pPr>
              <a:r>
                <a:rPr lang="ko-KR" altLang="en-US" sz="1050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신청방법</a:t>
              </a:r>
              <a:endParaRPr sz="7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312" name="Google Shape;312;p10"/>
          <p:cNvSpPr txBox="1"/>
          <p:nvPr/>
        </p:nvSpPr>
        <p:spPr>
          <a:xfrm>
            <a:off x="3665946" y="4680823"/>
            <a:ext cx="4572000" cy="184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r" defTabSz="457200" rtl="0">
              <a:buClr>
                <a:srgbClr val="000000"/>
              </a:buClr>
            </a:pPr>
            <a:r>
              <a:rPr lang="ko-KR" altLang="en-US" sz="9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상기 진행 절차는 진행 상황에 따라 변동될 수 있음</a:t>
            </a:r>
            <a:endParaRPr sz="7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313" name="Google Shape;313;p10"/>
          <p:cNvSpPr txBox="1"/>
          <p:nvPr/>
        </p:nvSpPr>
        <p:spPr>
          <a:xfrm>
            <a:off x="1600200" y="4169997"/>
            <a:ext cx="5889166" cy="353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ctr" anchorCtr="0">
            <a:spAutoFit/>
          </a:bodyPr>
          <a:lstStyle/>
          <a:p>
            <a:pPr algn="l" defTabSz="457200" rtl="0">
              <a:buClr>
                <a:schemeClr val="tx1"/>
              </a:buClr>
              <a:buSzPts val="2000"/>
            </a:pP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신청은 수시로 접수하며</a:t>
            </a: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별도의 마감일은 없습니다</a:t>
            </a: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. / 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이메일 또는 전화를 통해 신청해주세요</a:t>
            </a: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.</a:t>
            </a:r>
            <a:endParaRPr sz="7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algn="l" defTabSz="457200" rtl="0">
              <a:buClr>
                <a:schemeClr val="tx1"/>
              </a:buClr>
              <a:buSzPts val="2000"/>
            </a:pP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kej@modulabs.co.kr / 010-7476-1828 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김은주 팀장</a:t>
            </a:r>
            <a:endParaRPr sz="7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98592FA-F942-C183-B57B-3DC6C1C7B43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3520440" y="4917073"/>
            <a:ext cx="2103120" cy="138499"/>
          </a:xfrm>
        </p:spPr>
        <p:txBody>
          <a:bodyPr/>
          <a:lstStyle/>
          <a:p>
            <a:pPr algn="ctr"/>
            <a:fld id="{B6F15528-21DE-4FAA-801E-634DDDAF4B2B}" type="slidenum">
              <a:rPr lang="en-US" altLang="ko-KR" sz="900" smtClean="0"/>
              <a:pPr algn="ctr"/>
              <a:t>4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231696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34E30-9800-E8C4-3EF0-89B4F3412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862761-0C13-509E-98FE-B753582BE905}"/>
              </a:ext>
            </a:extLst>
          </p:cNvPr>
          <p:cNvSpPr txBox="1"/>
          <p:nvPr/>
        </p:nvSpPr>
        <p:spPr>
          <a:xfrm>
            <a:off x="180000" y="237351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50" dirty="0" err="1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모두의연구소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K-HP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사업 소개</a:t>
            </a:r>
          </a:p>
        </p:txBody>
      </p:sp>
      <p:sp>
        <p:nvSpPr>
          <p:cNvPr id="347" name="Google Shape;347;p12"/>
          <p:cNvSpPr txBox="1"/>
          <p:nvPr/>
        </p:nvSpPr>
        <p:spPr>
          <a:xfrm>
            <a:off x="381000" y="764132"/>
            <a:ext cx="8420100" cy="92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algn="ctr" defTabSz="457200" rtl="0">
              <a:buClr>
                <a:srgbClr val="000000"/>
              </a:buClr>
            </a:pPr>
            <a:r>
              <a:rPr lang="ko-KR" altLang="en-US" sz="2000" b="1" spc="-15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중소 ∙ 중견 기업 재직자 </a:t>
            </a:r>
            <a:r>
              <a:rPr lang="ko-KR" altLang="en-US" sz="28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교육비의 </a:t>
            </a:r>
            <a:r>
              <a:rPr lang="en-US" altLang="ko-KR" sz="28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100%</a:t>
            </a:r>
            <a:r>
              <a:rPr lang="ko-KR" altLang="en-US" sz="2000" b="1" spc="-15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를</a:t>
            </a:r>
            <a:br>
              <a:rPr lang="ko-KR" altLang="en-US" sz="2000" b="1" spc="-150" dirty="0">
                <a:solidFill>
                  <a:srgbClr val="3F3F3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</a:br>
            <a:r>
              <a:rPr lang="ko-KR" altLang="en-US" b="1" spc="-15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대기업 재직자는 교육비의 </a:t>
            </a:r>
            <a:r>
              <a:rPr lang="en-US" altLang="ko-KR" b="1" spc="-15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80%</a:t>
            </a:r>
            <a:r>
              <a:rPr lang="ko-KR" altLang="en-US" b="1" spc="-15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를 지원합니다  </a:t>
            </a:r>
            <a:endParaRPr lang="en-US" altLang="ko-KR" b="1" spc="-15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algn="ctr" defTabSz="457200" rtl="0">
              <a:buClr>
                <a:srgbClr val="000000"/>
              </a:buClr>
            </a:pPr>
            <a:r>
              <a:rPr lang="en-US" altLang="ko-KR" sz="900" spc="-9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</a:t>
            </a:r>
            <a:r>
              <a:rPr lang="ko-KR" altLang="en-US" sz="900" spc="-9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재직자 훈련만 해당</a:t>
            </a:r>
            <a:r>
              <a:rPr lang="en-US" altLang="ko-KR" sz="900" spc="-9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. </a:t>
            </a:r>
            <a:r>
              <a:rPr lang="ko-KR" altLang="en-US" sz="900" spc="-9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세미나</a:t>
            </a:r>
            <a:r>
              <a:rPr lang="en-US" altLang="ko-KR" sz="900" spc="-9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sz="900" spc="-9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및 워크숍은 무료</a:t>
            </a:r>
            <a:r>
              <a:rPr lang="en-US" altLang="ko-KR" sz="900" spc="-9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</a:t>
            </a:r>
            <a:endParaRPr sz="1200" spc="-9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grpSp>
        <p:nvGrpSpPr>
          <p:cNvPr id="348" name="Google Shape;348;p12"/>
          <p:cNvGrpSpPr/>
          <p:nvPr/>
        </p:nvGrpSpPr>
        <p:grpSpPr>
          <a:xfrm>
            <a:off x="448135" y="1772665"/>
            <a:ext cx="931386" cy="279400"/>
            <a:chOff x="991235" y="3543300"/>
            <a:chExt cx="4781550" cy="558800"/>
          </a:xfrm>
          <a:solidFill>
            <a:schemeClr val="tx2"/>
          </a:solidFill>
        </p:grpSpPr>
        <p:sp>
          <p:nvSpPr>
            <p:cNvPr id="349" name="Google Shape;349;p12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algn="ctr" defTabSz="457200" rtl="0">
                <a:buClr>
                  <a:srgbClr val="000000"/>
                </a:buClr>
              </a:pPr>
              <a:endParaRPr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350" name="Google Shape;350;p12"/>
            <p:cNvSpPr txBox="1"/>
            <p:nvPr/>
          </p:nvSpPr>
          <p:spPr>
            <a:xfrm>
              <a:off x="1130936" y="3654426"/>
              <a:ext cx="4449444" cy="33599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6351" algn="ctr" defTabSz="457200" rtl="0">
                <a:buClr>
                  <a:srgbClr val="000000"/>
                </a:buClr>
              </a:pPr>
              <a:r>
                <a:rPr lang="ko-KR" altLang="en-US" sz="1050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지원내용</a:t>
              </a:r>
              <a:endParaRPr sz="7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351" name="Google Shape;351;p12"/>
          <p:cNvGrpSpPr/>
          <p:nvPr/>
        </p:nvGrpSpPr>
        <p:grpSpPr>
          <a:xfrm>
            <a:off x="448135" y="4088004"/>
            <a:ext cx="931386" cy="279400"/>
            <a:chOff x="991235" y="3543300"/>
            <a:chExt cx="4781550" cy="558800"/>
          </a:xfrm>
          <a:solidFill>
            <a:schemeClr val="tx2"/>
          </a:solidFill>
        </p:grpSpPr>
        <p:sp>
          <p:nvSpPr>
            <p:cNvPr id="352" name="Google Shape;352;p12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algn="ctr" defTabSz="457200" rtl="0">
                <a:buClr>
                  <a:srgbClr val="000000"/>
                </a:buClr>
              </a:pPr>
              <a:endParaRPr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353" name="Google Shape;353;p12"/>
            <p:cNvSpPr txBox="1"/>
            <p:nvPr/>
          </p:nvSpPr>
          <p:spPr>
            <a:xfrm>
              <a:off x="1130936" y="3654426"/>
              <a:ext cx="4449444" cy="33599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6351" algn="ctr" defTabSz="457200" rtl="0">
                <a:buClr>
                  <a:srgbClr val="000000"/>
                </a:buClr>
              </a:pPr>
              <a:r>
                <a:rPr lang="ko-KR" altLang="en-US" sz="1050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공통</a:t>
              </a:r>
              <a:endParaRPr sz="7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354" name="Google Shape;354;p12"/>
          <p:cNvSpPr/>
          <p:nvPr/>
        </p:nvSpPr>
        <p:spPr>
          <a:xfrm>
            <a:off x="1511395" y="4057649"/>
            <a:ext cx="4813205" cy="698311"/>
          </a:xfrm>
          <a:prstGeom prst="roundRect">
            <a:avLst>
              <a:gd name="adj" fmla="val 7545"/>
            </a:avLst>
          </a:prstGeom>
          <a:solidFill>
            <a:srgbClr val="88C1FF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defTabSz="457200" rtl="0">
              <a:buClr>
                <a:srgbClr val="000000"/>
              </a:buClr>
            </a:pPr>
            <a:endParaRPr sz="900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355" name="Google Shape;355;p12"/>
          <p:cNvSpPr txBox="1"/>
          <p:nvPr/>
        </p:nvSpPr>
        <p:spPr>
          <a:xfrm>
            <a:off x="1630562" y="4152898"/>
            <a:ext cx="2933700" cy="507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l" defTabSz="457200" rtl="0">
              <a:buClr>
                <a:schemeClr val="tx1"/>
              </a:buClr>
              <a:buSzPts val="2000"/>
            </a:pPr>
            <a:r>
              <a:rPr lang="ko-KR" altLang="en-US" sz="1000" dirty="0">
                <a:solidFill>
                  <a:schemeClr val="tx1"/>
                </a:solidFill>
                <a:latin typeface="HGGothicE" panose="020B0400000000000000" pitchFamily="49" charset="-128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∙</a:t>
            </a:r>
            <a:r>
              <a:rPr lang="ko-KR" altLang="en-US" sz="1000" dirty="0">
                <a:solidFill>
                  <a:schemeClr val="tx1"/>
                </a:solidFill>
                <a:latin typeface="HGGothicE" panose="020B0909000000000000" pitchFamily="49" charset="-128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본사 및 지정</a:t>
            </a: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사내</a:t>
            </a: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 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강의장으로 출강 가능</a:t>
            </a:r>
            <a:endParaRPr lang="en-US" altLang="ko-KR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algn="l" defTabSz="457200" rtl="0">
              <a:buClr>
                <a:schemeClr val="tx1"/>
              </a:buClr>
              <a:buSzPts val="2000"/>
            </a:pPr>
            <a:r>
              <a:rPr lang="ko-KR" altLang="en-US" sz="1000" dirty="0">
                <a:solidFill>
                  <a:schemeClr val="tx1"/>
                </a:solidFill>
                <a:latin typeface="HGGothicE" panose="020B0400000000000000" pitchFamily="49" charset="-128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∙</a:t>
            </a:r>
            <a:r>
              <a:rPr lang="ko-KR" altLang="en-US" sz="1000" dirty="0">
                <a:solidFill>
                  <a:schemeClr val="tx1"/>
                </a:solidFill>
                <a:latin typeface="HGGothicE" panose="020B0909000000000000" pitchFamily="49" charset="-128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유료 툴</a:t>
            </a: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(ChatGPT, Midjourney 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등</a:t>
            </a: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 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무료 제공</a:t>
            </a:r>
            <a:endParaRPr lang="ko-KR" altLang="en-US" sz="7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algn="l" defTabSz="457200" rtl="0">
              <a:buClr>
                <a:schemeClr val="tx1"/>
              </a:buClr>
              <a:buSzPts val="2000"/>
            </a:pPr>
            <a:r>
              <a:rPr lang="ko-KR" altLang="en-US" sz="1000" dirty="0">
                <a:solidFill>
                  <a:schemeClr val="tx1"/>
                </a:solidFill>
                <a:latin typeface="HGGothicE" panose="020B0400000000000000" pitchFamily="49" charset="-128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∙</a:t>
            </a:r>
            <a:r>
              <a:rPr lang="ko-KR" altLang="en-US" sz="1000" dirty="0">
                <a:solidFill>
                  <a:schemeClr val="tx1"/>
                </a:solidFill>
                <a:latin typeface="HGGothicE" panose="020B0909000000000000" pitchFamily="49" charset="-128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고용보험 가입 필수</a:t>
            </a:r>
          </a:p>
        </p:txBody>
      </p:sp>
      <p:grpSp>
        <p:nvGrpSpPr>
          <p:cNvPr id="358" name="Google Shape;358;p12"/>
          <p:cNvGrpSpPr/>
          <p:nvPr/>
        </p:nvGrpSpPr>
        <p:grpSpPr>
          <a:xfrm>
            <a:off x="1505364" y="1772665"/>
            <a:ext cx="6823210" cy="1903985"/>
            <a:chOff x="3010726" y="3545330"/>
            <a:chExt cx="14489909" cy="3807970"/>
          </a:xfrm>
          <a:solidFill>
            <a:srgbClr val="88C1FF"/>
          </a:solidFill>
        </p:grpSpPr>
        <p:sp>
          <p:nvSpPr>
            <p:cNvPr id="359" name="Google Shape;359;p12"/>
            <p:cNvSpPr/>
            <p:nvPr/>
          </p:nvSpPr>
          <p:spPr>
            <a:xfrm>
              <a:off x="3010726" y="3648637"/>
              <a:ext cx="7123874" cy="3704663"/>
            </a:xfrm>
            <a:prstGeom prst="roundRect">
              <a:avLst>
                <a:gd name="adj" fmla="val 2705"/>
              </a:avLst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algn="ctr" defTabSz="457200" rtl="0">
                <a:buClr>
                  <a:srgbClr val="000000"/>
                </a:buClr>
              </a:pPr>
              <a:endParaRPr sz="9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360" name="Google Shape;360;p12"/>
            <p:cNvSpPr/>
            <p:nvPr/>
          </p:nvSpPr>
          <p:spPr>
            <a:xfrm>
              <a:off x="3010726" y="3545330"/>
              <a:ext cx="7123874" cy="2283970"/>
            </a:xfrm>
            <a:prstGeom prst="roundRect">
              <a:avLst>
                <a:gd name="adj" fmla="val 7545"/>
              </a:avLst>
            </a:prstGeom>
            <a:grpFill/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algn="ctr" defTabSz="457200" rtl="0">
                <a:buClr>
                  <a:srgbClr val="000000"/>
                </a:buClr>
              </a:pPr>
              <a:endParaRPr sz="9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361" name="Google Shape;361;p12"/>
            <p:cNvSpPr txBox="1"/>
            <p:nvPr/>
          </p:nvSpPr>
          <p:spPr>
            <a:xfrm>
              <a:off x="3276599" y="3811370"/>
              <a:ext cx="6569499" cy="64629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5713" tIns="22850" rIns="45713" bIns="22850" anchor="t" anchorCtr="0">
              <a:spAutoFit/>
            </a:bodyPr>
            <a:lstStyle/>
            <a:p>
              <a:pPr algn="ctr" defTabSz="457200" rtl="0">
                <a:buClr>
                  <a:srgbClr val="000000"/>
                </a:buClr>
              </a:pPr>
              <a:r>
                <a:rPr lang="en-US" altLang="ko-KR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Price 0% </a:t>
              </a:r>
              <a:endParaRPr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362" name="Google Shape;362;p12"/>
            <p:cNvSpPr txBox="1"/>
            <p:nvPr/>
          </p:nvSpPr>
          <p:spPr>
            <a:xfrm>
              <a:off x="3276599" y="4677366"/>
              <a:ext cx="6705600" cy="830956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5713" tIns="22850" rIns="45713" bIns="22850" anchor="t" anchorCtr="0">
              <a:spAutoFit/>
            </a:bodyPr>
            <a:lstStyle/>
            <a:p>
              <a:pPr algn="ctr" defTabSz="457200" rtl="0">
                <a:buClr>
                  <a:srgbClr val="000000"/>
                </a:buClr>
              </a:pPr>
              <a:r>
                <a:rPr lang="ko-KR" altLang="en-US" sz="12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중소기업</a:t>
              </a:r>
              <a:r>
                <a:rPr lang="en-US" altLang="ko-KR" sz="12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/</a:t>
              </a:r>
              <a:r>
                <a:rPr lang="ko-KR" altLang="en-US" sz="12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중견기업 재직자 대상</a:t>
              </a:r>
              <a:endParaRPr sz="7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  <a:p>
              <a:pPr algn="ctr" defTabSz="457200" rtl="0">
                <a:buClr>
                  <a:srgbClr val="000000"/>
                </a:buClr>
              </a:pPr>
              <a:r>
                <a:rPr lang="ko-KR" altLang="en-US" sz="12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교육비 </a:t>
              </a:r>
              <a:r>
                <a:rPr lang="en-US" altLang="ko-KR" sz="12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100% </a:t>
              </a:r>
              <a:r>
                <a:rPr lang="ko-KR" altLang="en-US" sz="12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지원</a:t>
              </a:r>
              <a:endParaRPr sz="12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363" name="Google Shape;363;p12"/>
            <p:cNvSpPr txBox="1"/>
            <p:nvPr/>
          </p:nvSpPr>
          <p:spPr>
            <a:xfrm>
              <a:off x="3276599" y="6079026"/>
              <a:ext cx="6569499" cy="10156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45713" tIns="22850" rIns="45713" bIns="22850" anchor="t" anchorCtr="0">
              <a:spAutoFit/>
            </a:bodyPr>
            <a:lstStyle/>
            <a:p>
              <a:pPr algn="l" defTabSz="457200" rtl="0">
                <a:buClr>
                  <a:srgbClr val="595959"/>
                </a:buClr>
                <a:buSzPts val="2000"/>
              </a:pPr>
              <a:r>
                <a:rPr lang="ko-KR" altLang="en-US" sz="1000" dirty="0">
                  <a:solidFill>
                    <a:srgbClr val="595959"/>
                  </a:solidFill>
                  <a:latin typeface="HGGothicE" panose="020B0909000000000000" pitchFamily="49" charset="-128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∘</a:t>
              </a:r>
              <a:r>
                <a:rPr lang="ko-KR" altLang="en-US" sz="1000" dirty="0">
                  <a:solidFill>
                    <a:srgbClr val="595959"/>
                  </a:solidFill>
                  <a:latin typeface="Helvetica" panose="020B0604020202020204" pitchFamily="34" charset="0"/>
                  <a:ea typeface="Pretendard" panose="02000503000000020004" pitchFamily="50" charset="-127"/>
                  <a:cs typeface="Helvetica" panose="020B0604020202020204" pitchFamily="34" charset="0"/>
                  <a:sym typeface="Arial"/>
                </a:rPr>
                <a:t> </a:t>
              </a:r>
              <a:r>
                <a:rPr lang="ko-KR" altLang="en-US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무료 수강</a:t>
              </a:r>
              <a:endParaRPr sz="7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  <a:p>
              <a:pPr algn="l" defTabSz="457200" rtl="0">
                <a:buClr>
                  <a:srgbClr val="595959"/>
                </a:buClr>
                <a:buSzPts val="2000"/>
              </a:pPr>
              <a:r>
                <a:rPr lang="ko-KR" altLang="en-US" sz="1000" dirty="0">
                  <a:solidFill>
                    <a:srgbClr val="595959"/>
                  </a:solidFill>
                  <a:latin typeface="HGGothicE" panose="020B0909000000000000" pitchFamily="49" charset="-128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∘</a:t>
              </a:r>
              <a:r>
                <a:rPr lang="ko-KR" altLang="en-US" sz="1000" dirty="0">
                  <a:solidFill>
                    <a:srgbClr val="595959"/>
                  </a:solidFill>
                  <a:latin typeface="Helvetica" panose="020B0604020202020204" pitchFamily="34" charset="0"/>
                  <a:ea typeface="Pretendard" panose="02000503000000020004" pitchFamily="50" charset="-127"/>
                  <a:cs typeface="Helvetica" panose="020B0604020202020204" pitchFamily="34" charset="0"/>
                  <a:sym typeface="Arial"/>
                </a:rPr>
                <a:t> </a:t>
              </a:r>
              <a:r>
                <a:rPr lang="ko-KR" altLang="en-US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수강생 수 </a:t>
              </a:r>
              <a:r>
                <a:rPr lang="en-US" altLang="ko-KR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20</a:t>
              </a:r>
              <a:r>
                <a:rPr lang="ko-KR" altLang="en-US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명 이하 모집 시</a:t>
              </a:r>
              <a:r>
                <a:rPr lang="en-US" altLang="ko-KR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, </a:t>
              </a:r>
              <a:r>
                <a:rPr lang="ko-KR" altLang="en-US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타사 임직원과 함께 수강</a:t>
              </a:r>
              <a:endParaRPr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  <a:p>
              <a:pPr algn="l" defTabSz="457200" rtl="0">
                <a:buClr>
                  <a:srgbClr val="595959"/>
                </a:buClr>
                <a:buSzPts val="2000"/>
              </a:pPr>
              <a:r>
                <a:rPr lang="ko-KR" altLang="en-US" sz="1000" dirty="0">
                  <a:solidFill>
                    <a:srgbClr val="595959"/>
                  </a:solidFill>
                  <a:latin typeface="HGGothicE" panose="020B0909000000000000" pitchFamily="49" charset="-128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∘</a:t>
              </a:r>
              <a:r>
                <a:rPr lang="ko-KR" altLang="en-US" sz="1000" dirty="0">
                  <a:solidFill>
                    <a:srgbClr val="595959"/>
                  </a:solidFill>
                  <a:latin typeface="Helvetica" panose="020B0604020202020204" pitchFamily="34" charset="0"/>
                  <a:ea typeface="Pretendard" panose="02000503000000020004" pitchFamily="50" charset="-127"/>
                  <a:cs typeface="Helvetica" panose="020B0604020202020204" pitchFamily="34" charset="0"/>
                  <a:sym typeface="Arial"/>
                </a:rPr>
                <a:t> </a:t>
              </a:r>
              <a:r>
                <a:rPr lang="ko-KR" altLang="en-US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개강 기준</a:t>
              </a:r>
              <a:r>
                <a:rPr lang="en-US" altLang="ko-KR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: </a:t>
              </a:r>
              <a:r>
                <a:rPr lang="ko-KR" altLang="en-US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수강생  </a:t>
              </a:r>
              <a:r>
                <a:rPr lang="en-US" altLang="ko-KR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20</a:t>
              </a:r>
              <a:r>
                <a:rPr lang="ko-KR" altLang="en-US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명 이상 모집 필수</a:t>
              </a:r>
              <a:endParaRPr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364" name="Google Shape;364;p12"/>
            <p:cNvSpPr/>
            <p:nvPr/>
          </p:nvSpPr>
          <p:spPr>
            <a:xfrm>
              <a:off x="10376761" y="3648637"/>
              <a:ext cx="7123874" cy="3704663"/>
            </a:xfrm>
            <a:prstGeom prst="roundRect">
              <a:avLst>
                <a:gd name="adj" fmla="val 2705"/>
              </a:avLst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algn="ctr" defTabSz="457200" rtl="0">
                <a:buClr>
                  <a:srgbClr val="000000"/>
                </a:buClr>
              </a:pPr>
              <a:endParaRPr sz="9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365" name="Google Shape;365;p12"/>
            <p:cNvSpPr/>
            <p:nvPr/>
          </p:nvSpPr>
          <p:spPr>
            <a:xfrm>
              <a:off x="10376761" y="3545330"/>
              <a:ext cx="7123874" cy="2283970"/>
            </a:xfrm>
            <a:prstGeom prst="roundRect">
              <a:avLst>
                <a:gd name="adj" fmla="val 7545"/>
              </a:avLst>
            </a:prstGeom>
            <a:grpFill/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algn="ctr" defTabSz="457200" rtl="0">
                <a:buClr>
                  <a:srgbClr val="000000"/>
                </a:buClr>
              </a:pPr>
              <a:endParaRPr sz="9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366" name="Google Shape;366;p12"/>
            <p:cNvSpPr txBox="1"/>
            <p:nvPr/>
          </p:nvSpPr>
          <p:spPr>
            <a:xfrm>
              <a:off x="10642634" y="3811370"/>
              <a:ext cx="6569499" cy="64629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5713" tIns="22850" rIns="45713" bIns="22850" anchor="t" anchorCtr="0">
              <a:spAutoFit/>
            </a:bodyPr>
            <a:lstStyle/>
            <a:p>
              <a:pPr algn="ctr" defTabSz="457200" rtl="0">
                <a:buClr>
                  <a:srgbClr val="000000"/>
                </a:buClr>
              </a:pPr>
              <a:r>
                <a:rPr lang="en-US" altLang="ko-KR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self-paying expenses (20%)</a:t>
              </a:r>
              <a:endParaRPr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367" name="Google Shape;367;p12"/>
            <p:cNvSpPr txBox="1"/>
            <p:nvPr/>
          </p:nvSpPr>
          <p:spPr>
            <a:xfrm>
              <a:off x="10642634" y="4677366"/>
              <a:ext cx="6705600" cy="830956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5713" tIns="22850" rIns="45713" bIns="22850" anchor="t" anchorCtr="0">
              <a:spAutoFit/>
            </a:bodyPr>
            <a:lstStyle/>
            <a:p>
              <a:pPr algn="ctr" defTabSz="457200" rtl="0">
                <a:buClr>
                  <a:srgbClr val="000000"/>
                </a:buClr>
              </a:pPr>
              <a:r>
                <a:rPr lang="ko-KR" altLang="en-US" sz="12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대규모기업 재직자 대상</a:t>
              </a:r>
              <a:endParaRPr sz="7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  <a:p>
              <a:pPr algn="ctr" defTabSz="457200" rtl="0">
                <a:buClr>
                  <a:srgbClr val="000000"/>
                </a:buClr>
              </a:pPr>
              <a:r>
                <a:rPr lang="ko-KR" altLang="en-US" sz="12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교육비 </a:t>
              </a:r>
              <a:r>
                <a:rPr lang="en-US" altLang="ko-KR" sz="12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80% </a:t>
              </a:r>
              <a:r>
                <a:rPr lang="ko-KR" altLang="en-US" sz="12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지원</a:t>
              </a:r>
              <a:endParaRPr sz="7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368" name="Google Shape;368;p12"/>
            <p:cNvSpPr txBox="1"/>
            <p:nvPr/>
          </p:nvSpPr>
          <p:spPr>
            <a:xfrm>
              <a:off x="10642634" y="6079026"/>
              <a:ext cx="6569499" cy="10156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45713" tIns="22850" rIns="45713" bIns="22850" anchor="t" anchorCtr="0">
              <a:spAutoFit/>
            </a:bodyPr>
            <a:lstStyle/>
            <a:p>
              <a:pPr algn="l" defTabSz="457200" rtl="0">
                <a:buClr>
                  <a:srgbClr val="595959"/>
                </a:buClr>
                <a:buSzPts val="2000"/>
              </a:pPr>
              <a:r>
                <a:rPr lang="ko-KR" altLang="en-US" sz="1000" dirty="0">
                  <a:solidFill>
                    <a:srgbClr val="595959"/>
                  </a:solidFill>
                  <a:latin typeface="HGGothicE" panose="020B0909000000000000" pitchFamily="49" charset="-128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∘</a:t>
              </a:r>
              <a:r>
                <a:rPr lang="ko-KR" altLang="en-US" sz="1000" dirty="0">
                  <a:solidFill>
                    <a:srgbClr val="595959"/>
                  </a:solidFill>
                  <a:latin typeface="Helvetica" panose="020B0604020202020204" pitchFamily="34" charset="0"/>
                  <a:ea typeface="Pretendard" panose="02000503000000020004" pitchFamily="50" charset="-127"/>
                  <a:cs typeface="Helvetica" panose="020B0604020202020204" pitchFamily="34" charset="0"/>
                  <a:sym typeface="Arial"/>
                </a:rPr>
                <a:t> </a:t>
              </a:r>
              <a:r>
                <a:rPr lang="ko-KR" altLang="en-US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자부담금 </a:t>
              </a:r>
              <a:r>
                <a:rPr lang="en-US" altLang="ko-KR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20% </a:t>
              </a:r>
              <a:r>
                <a:rPr lang="ko-KR" altLang="en-US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발생</a:t>
              </a:r>
              <a:endParaRPr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  <a:p>
              <a:pPr algn="l" defTabSz="457200" rtl="0">
                <a:buClr>
                  <a:srgbClr val="595959"/>
                </a:buClr>
                <a:buSzPts val="2000"/>
              </a:pPr>
              <a:r>
                <a:rPr lang="ko-KR" altLang="en-US" sz="1000" dirty="0">
                  <a:solidFill>
                    <a:srgbClr val="595959"/>
                  </a:solidFill>
                  <a:latin typeface="HGGothicE" panose="020B0909000000000000" pitchFamily="49" charset="-128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∘</a:t>
              </a:r>
              <a:r>
                <a:rPr lang="ko-KR" altLang="en-US" sz="1000" dirty="0">
                  <a:solidFill>
                    <a:srgbClr val="595959"/>
                  </a:solidFill>
                  <a:latin typeface="Helvetica" panose="020B0604020202020204" pitchFamily="34" charset="0"/>
                  <a:ea typeface="Pretendard" panose="02000503000000020004" pitchFamily="50" charset="-127"/>
                  <a:cs typeface="Helvetica" panose="020B0604020202020204" pitchFamily="34" charset="0"/>
                  <a:sym typeface="Arial"/>
                </a:rPr>
                <a:t> </a:t>
              </a:r>
              <a:r>
                <a:rPr lang="ko-KR" altLang="en-US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수강생 </a:t>
              </a:r>
              <a:r>
                <a:rPr lang="en-US" altLang="ko-KR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1</a:t>
              </a:r>
              <a:r>
                <a:rPr lang="ko-KR" altLang="en-US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인 기준 최저 </a:t>
              </a:r>
              <a:r>
                <a:rPr lang="en-US" altLang="ko-KR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10,000</a:t>
              </a:r>
              <a:r>
                <a:rPr lang="ko-KR" altLang="en-US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원대 </a:t>
              </a:r>
              <a:r>
                <a:rPr lang="en-US" altLang="ko-KR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~ </a:t>
              </a:r>
              <a:r>
                <a:rPr lang="ko-KR" altLang="en-US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최고 </a:t>
              </a:r>
              <a:r>
                <a:rPr lang="en-US" altLang="ko-KR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50,000</a:t>
              </a:r>
              <a:r>
                <a:rPr lang="ko-KR" altLang="en-US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원대</a:t>
              </a:r>
              <a:endParaRPr sz="7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  <a:p>
              <a:pPr algn="l" defTabSz="457200" rtl="0">
                <a:buClr>
                  <a:srgbClr val="595959"/>
                </a:buClr>
                <a:buSzPts val="2000"/>
              </a:pPr>
              <a:r>
                <a:rPr lang="ko-KR" altLang="en-US" sz="1000" dirty="0">
                  <a:solidFill>
                    <a:srgbClr val="595959"/>
                  </a:solidFill>
                  <a:latin typeface="HGGothicE" panose="020B0909000000000000" pitchFamily="49" charset="-128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∘</a:t>
              </a:r>
              <a:r>
                <a:rPr lang="ko-KR" altLang="en-US" sz="1000" dirty="0">
                  <a:solidFill>
                    <a:srgbClr val="595959"/>
                  </a:solidFill>
                  <a:latin typeface="Helvetica" panose="020B0604020202020204" pitchFamily="34" charset="0"/>
                  <a:ea typeface="Pretendard" panose="02000503000000020004" pitchFamily="50" charset="-127"/>
                  <a:cs typeface="Helvetica" panose="020B0604020202020204" pitchFamily="34" charset="0"/>
                  <a:sym typeface="Arial"/>
                </a:rPr>
                <a:t> </a:t>
              </a:r>
              <a:r>
                <a:rPr lang="ko-KR" altLang="en-US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개강 기준</a:t>
              </a:r>
              <a:r>
                <a:rPr lang="en-US" altLang="ko-KR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:  </a:t>
              </a:r>
              <a:r>
                <a:rPr lang="ko-KR" altLang="en-US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수강생 </a:t>
              </a:r>
              <a:r>
                <a:rPr lang="en-US" altLang="ko-KR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20</a:t>
              </a:r>
              <a:r>
                <a:rPr lang="ko-KR" altLang="en-US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명 이상 모집 필수</a:t>
              </a:r>
              <a:endParaRPr sz="7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E8290A-BD44-6263-ECF3-D9CA10A0033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3520440" y="4917073"/>
            <a:ext cx="2103120" cy="138499"/>
          </a:xfrm>
        </p:spPr>
        <p:txBody>
          <a:bodyPr/>
          <a:lstStyle/>
          <a:p>
            <a:pPr algn="ctr"/>
            <a:fld id="{B6F15528-21DE-4FAA-801E-634DDDAF4B2B}" type="slidenum">
              <a:rPr lang="en-US" altLang="ko-KR" sz="900" smtClean="0"/>
              <a:pPr algn="ctr"/>
              <a:t>5</a:t>
            </a:fld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382895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5" name="Google Shape;315;p8"/>
          <p:cNvGraphicFramePr/>
          <p:nvPr/>
        </p:nvGraphicFramePr>
        <p:xfrm>
          <a:off x="292302" y="1809750"/>
          <a:ext cx="8599149" cy="2667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2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5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9184">
                  <a:extLst>
                    <a:ext uri="{9D8B030D-6E8A-4147-A177-3AD203B41FA5}">
                      <a16:colId xmlns:a16="http://schemas.microsoft.com/office/drawing/2014/main" val="2419646392"/>
                    </a:ext>
                  </a:extLst>
                </a:gridCol>
                <a:gridCol w="9791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97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u="none" strike="noStrike" cap="none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주제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80" b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AX 마케팅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B3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80" b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AX CRM/세일즈</a:t>
                      </a:r>
                      <a:endParaRPr sz="880" b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B3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80" b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 AX </a:t>
                      </a:r>
                      <a:r>
                        <a:rPr lang="ko-KR" sz="880" b="0" u="none" strike="noStrike" cap="none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사업기획·전략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B3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80" b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 AX </a:t>
                      </a:r>
                      <a:r>
                        <a:rPr lang="ko-KR" sz="880" b="0" u="none" strike="noStrike" cap="none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제품·서비스</a:t>
                      </a:r>
                      <a:endParaRPr sz="880" b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80" b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기획/UX</a:t>
                      </a:r>
                      <a:endParaRPr sz="880" b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B3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80" b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AX 리서치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B3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80" b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AX 데이터 활용</a:t>
                      </a:r>
                      <a:endParaRPr sz="880" b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B3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8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 AX </a:t>
                      </a:r>
                      <a:r>
                        <a:rPr lang="ko-KR" altLang="en-US" sz="880" b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컨텍스트 엔지니어링</a:t>
                      </a:r>
                      <a:endParaRPr lang="en-US" altLang="ko-KR" sz="880" b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B3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80" b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AX HR</a:t>
                      </a:r>
                      <a:endParaRPr sz="880" b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B3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8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u="none" strike="noStrike" cap="none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상세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매체별 파편화된</a:t>
                      </a:r>
                      <a:endParaRPr lang="en-US" altLang="ko-KR" sz="800" u="none" strike="noStrike" cap="none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데이터 통합 분석 및</a:t>
                      </a:r>
                      <a:endParaRPr lang="en-US" altLang="ko-KR" sz="800" u="none" strike="noStrike" cap="none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고객 여정 기반</a:t>
                      </a:r>
                      <a:endParaRPr lang="en-US" altLang="ko-KR" sz="800" u="none" strike="noStrike" cap="none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마케팅 성과 최적화</a:t>
                      </a: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대규모 캠페인</a:t>
                      </a:r>
                      <a:endParaRPr lang="en-US" altLang="ko-KR" sz="800" u="none" strike="noStrike" cap="none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모니터링 자동화</a:t>
                      </a:r>
                      <a:endParaRPr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 err="1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엔터프라이즈급</a:t>
                      </a:r>
                      <a:endParaRPr lang="en-US" altLang="ko-KR"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고객 분류 기반</a:t>
                      </a:r>
                      <a:endParaRPr lang="en-US" altLang="ko-KR"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영업 기획 최적화</a:t>
                      </a:r>
                      <a:r>
                        <a:rPr lang="en-US" altLang="ko-KR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영업 파이프라인</a:t>
                      </a:r>
                      <a:endParaRPr lang="en-US" altLang="ko-KR"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관리 표준화 및</a:t>
                      </a:r>
                      <a:endParaRPr lang="en-US" altLang="ko-KR"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세일즈 리포트</a:t>
                      </a:r>
                      <a:endParaRPr lang="en-US" altLang="ko-KR"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자동 생성</a:t>
                      </a:r>
                      <a:endParaRPr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불확실한 시장에서의</a:t>
                      </a:r>
                      <a:endParaRPr lang="en-US" altLang="ko-KR"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데이터</a:t>
                      </a:r>
                      <a:r>
                        <a:rPr lang="en-US" altLang="ko-KR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 </a:t>
                      </a: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기반</a:t>
                      </a:r>
                      <a:endParaRPr lang="en-US" altLang="ko-KR"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시나리오 </a:t>
                      </a:r>
                      <a:r>
                        <a:rPr lang="ko-KR" altLang="en-US" sz="800" u="none" strike="noStrike" cap="none" dirty="0" err="1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플래닝</a:t>
                      </a:r>
                      <a:r>
                        <a:rPr lang="en-US" altLang="ko-KR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신규 사업 타당성</a:t>
                      </a:r>
                      <a:endParaRPr lang="en-US" altLang="ko-KR"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검토 및 투자 </a:t>
                      </a:r>
                      <a:r>
                        <a:rPr lang="en-US" altLang="ko-KR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ROI</a:t>
                      </a: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분석 고도화</a:t>
                      </a:r>
                      <a:endParaRPr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제품 생애 주기</a:t>
                      </a: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(PLC)</a:t>
                      </a: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전반의 효율화</a:t>
                      </a: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사용자 대규모 행동</a:t>
                      </a: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데이터 분석 및</a:t>
                      </a:r>
                      <a:endParaRPr lang="en-US" altLang="ko-KR" sz="800" u="none" strike="noStrike" cap="none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글로벌 표준 </a:t>
                      </a: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UI/UX</a:t>
                      </a: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운영 프로세스 통합</a:t>
                      </a:r>
                      <a:endParaRPr lang="ko-KR" altLang="en-US"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글로벌 시장 트렌드</a:t>
                      </a:r>
                      <a:endParaRPr lang="en-US" altLang="ko-KR" sz="800" u="none" strike="noStrike" cap="none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및 경쟁사 동향</a:t>
                      </a:r>
                      <a:endParaRPr lang="en-US" altLang="ko-KR" sz="800" u="none" strike="noStrike" cap="none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실시간 센싱 자동화</a:t>
                      </a: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정기 보고서 체계</a:t>
                      </a:r>
                      <a:endParaRPr lang="en-US" altLang="ko-KR" sz="800" u="none" strike="noStrike" cap="none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구축을 통한</a:t>
                      </a:r>
                      <a:endParaRPr lang="en-US" altLang="ko-KR" sz="800" u="none" strike="noStrike" cap="none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 err="1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인텔리전스</a:t>
                      </a: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 자산화</a:t>
                      </a:r>
                      <a:endParaRPr sz="800" u="none" strike="noStrike" cap="none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부서별로 산재된</a:t>
                      </a:r>
                      <a:endParaRPr lang="en-US" altLang="ko-KR"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데이터의 시각화 및</a:t>
                      </a:r>
                      <a:endParaRPr lang="en-US" altLang="ko-KR"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대시보드</a:t>
                      </a:r>
                      <a:r>
                        <a:rPr lang="en-US" altLang="ko-KR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 </a:t>
                      </a: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구축</a:t>
                      </a:r>
                      <a:r>
                        <a:rPr lang="en-US" altLang="ko-KR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경영진 의사결정</a:t>
                      </a:r>
                      <a:endParaRPr lang="en-US" altLang="ko-KR"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지원용 실시간</a:t>
                      </a:r>
                      <a:endParaRPr lang="en-US" altLang="ko-KR"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리포팅 체계 수립</a:t>
                      </a:r>
                      <a:endParaRPr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사내 지식 자산</a:t>
                      </a:r>
                      <a:endParaRPr lang="en-US" altLang="ko-KR"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en-US" altLang="ko-KR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(</a:t>
                      </a: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매뉴얼</a:t>
                      </a:r>
                      <a:r>
                        <a:rPr lang="en-US" altLang="ko-KR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/</a:t>
                      </a: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보고서</a:t>
                      </a:r>
                      <a:r>
                        <a:rPr lang="en-US" altLang="ko-KR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)</a:t>
                      </a: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의</a:t>
                      </a:r>
                      <a:endParaRPr lang="en-US" altLang="ko-KR"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en-US" altLang="ko-KR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AI </a:t>
                      </a: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학습 최적화</a:t>
                      </a:r>
                      <a:r>
                        <a:rPr lang="en-US" altLang="ko-KR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보안 규정을 준수하는 전사 전용</a:t>
                      </a:r>
                      <a:endParaRPr lang="en-US" altLang="ko-KR"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en-US" altLang="ko-KR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AI </a:t>
                      </a: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답변 체계</a:t>
                      </a:r>
                      <a:r>
                        <a:rPr lang="en-US" altLang="ko-KR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 </a:t>
                      </a: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구축</a:t>
                      </a:r>
                      <a:endParaRPr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대규모 채용</a:t>
                      </a: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/</a:t>
                      </a: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평가</a:t>
                      </a:r>
                      <a:endParaRPr lang="en-US" altLang="ko-KR" sz="800" u="none" strike="noStrike" cap="none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프로세스 자동화 및</a:t>
                      </a:r>
                      <a:endParaRPr lang="en-US" altLang="ko-KR" sz="800" u="none" strike="noStrike" cap="none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인사 운영 효율화</a:t>
                      </a: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HR </a:t>
                      </a: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데이터를 활용한</a:t>
                      </a:r>
                      <a:endParaRPr lang="en-US" altLang="ko-KR" sz="800" u="none" strike="noStrike" cap="none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조직 건강도 진단 및</a:t>
                      </a:r>
                      <a:endParaRPr lang="en-US" altLang="ko-KR" sz="800" u="none" strike="noStrike" cap="none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리포트 자동화</a:t>
                      </a:r>
                      <a:endParaRPr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u="none" strike="noStrike" cap="none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대상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퍼포먼스</a:t>
                      </a: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/</a:t>
                      </a: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브랜드</a:t>
                      </a:r>
                      <a:endParaRPr lang="en-US" altLang="ko-KR" sz="800" u="none" strike="noStrike" cap="none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마케터</a:t>
                      </a: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, CRM </a:t>
                      </a: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팀</a:t>
                      </a: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마케팅 </a:t>
                      </a:r>
                      <a:r>
                        <a:rPr lang="ko-KR" altLang="en-US" sz="800" u="none" strike="noStrike" cap="none" dirty="0" err="1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전략실</a:t>
                      </a:r>
                      <a:endParaRPr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영업본부</a:t>
                      </a: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CRM </a:t>
                      </a: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기획팀</a:t>
                      </a: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영업지원</a:t>
                      </a:r>
                      <a:endParaRPr lang="en-US" altLang="ko-KR" sz="800" u="none" strike="noStrike" cap="none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(Sales Ops)</a:t>
                      </a:r>
                      <a:endParaRPr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전략기획실</a:t>
                      </a: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경영지원본부</a:t>
                      </a: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사업개발팀</a:t>
                      </a:r>
                      <a:endParaRPr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PO/PM, UX</a:t>
                      </a: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리서치팀</a:t>
                      </a: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서비스</a:t>
                      </a:r>
                      <a:endParaRPr lang="en-US" altLang="ko-KR" sz="800" u="none" strike="noStrike" cap="none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기획</a:t>
                      </a: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/</a:t>
                      </a: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디자인팀</a:t>
                      </a:r>
                      <a:endParaRPr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전략리서치팀</a:t>
                      </a: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마케팅</a:t>
                      </a: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/</a:t>
                      </a: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사업 기획자</a:t>
                      </a:r>
                      <a:endParaRPr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전략기획</a:t>
                      </a: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재무</a:t>
                      </a: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/CFO</a:t>
                      </a: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조직</a:t>
                      </a: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데이터 </a:t>
                      </a:r>
                      <a:r>
                        <a:rPr lang="ko-KR" altLang="en-US" sz="800" u="none" strike="noStrike" cap="none" dirty="0" err="1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분석팀</a:t>
                      </a:r>
                      <a:endParaRPr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en-US" altLang="ko-KR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AX </a:t>
                      </a: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추진 </a:t>
                      </a:r>
                      <a:r>
                        <a:rPr lang="en-US" altLang="ko-KR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TF, </a:t>
                      </a: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지식관리</a:t>
                      </a:r>
                      <a:r>
                        <a:rPr lang="en-US" altLang="ko-KR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(KM)</a:t>
                      </a: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팀</a:t>
                      </a:r>
                      <a:r>
                        <a:rPr lang="en-US" altLang="ko-KR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, IT</a:t>
                      </a:r>
                      <a:r>
                        <a:rPr lang="ko-KR" altLang="en-US" sz="800" u="none" strike="noStrike" cap="none" dirty="0">
                          <a:solidFill>
                            <a:schemeClr val="dk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전략</a:t>
                      </a:r>
                      <a:endParaRPr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HRBP, </a:t>
                      </a: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인사팀</a:t>
                      </a: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교육</a:t>
                      </a:r>
                      <a:r>
                        <a:rPr lang="en-US" altLang="ko-KR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(L&amp;D) </a:t>
                      </a:r>
                      <a:r>
                        <a:rPr lang="ko-KR" altLang="en-US" sz="800" u="none" strike="noStrike" cap="none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담당자</a:t>
                      </a:r>
                      <a:endParaRPr sz="800" u="none" strike="noStrike" cap="none" dirty="0">
                        <a:solidFill>
                          <a:schemeClr val="dk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6" name="Google Shape;316;p8"/>
          <p:cNvSpPr/>
          <p:nvPr/>
        </p:nvSpPr>
        <p:spPr>
          <a:xfrm>
            <a:off x="799163" y="742950"/>
            <a:ext cx="7609373" cy="742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19014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</a:t>
            </a:r>
            <a:r>
              <a:rPr lang="ko-KR" sz="2800" b="1" spc="-150" dirty="0" err="1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Agent</a:t>
            </a:r>
            <a:r>
              <a:rPr lang="ko-KR" sz="28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세미나</a:t>
            </a:r>
            <a:r>
              <a:rPr lang="ko-KR" sz="2000" b="1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는</a:t>
            </a:r>
            <a:endParaRPr sz="2000" b="1" spc="-150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lvl="0" indent="19014" algn="ctr" rtl="0">
              <a:spcBef>
                <a:spcPts val="367"/>
              </a:spcBef>
              <a:spcAft>
                <a:spcPts val="0"/>
              </a:spcAft>
              <a:buNone/>
            </a:pPr>
            <a:r>
              <a:rPr lang="ko-KR" sz="1400" spc="-15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AI를</a:t>
            </a:r>
            <a:r>
              <a:rPr lang="ko-KR" sz="1400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통해 업무 혁신을 이뤄낸 현업 전문가들의 생생한 경험과 활용 전략을 공유합니다</a:t>
            </a:r>
            <a:endParaRPr spc="-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7" name="Google Shape;317;p8"/>
          <p:cNvSpPr txBox="1"/>
          <p:nvPr/>
        </p:nvSpPr>
        <p:spPr>
          <a:xfrm>
            <a:off x="180000" y="237351"/>
            <a:ext cx="2443298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150" dirty="0" err="1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모두의연구소</a:t>
            </a:r>
            <a:r>
              <a:rPr 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K-</a:t>
            </a:r>
            <a:r>
              <a:rPr lang="ko-KR" sz="1200" spc="-150" dirty="0" err="1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HP사업</a:t>
            </a:r>
            <a:r>
              <a:rPr 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소개 –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세미나</a:t>
            </a:r>
            <a:endParaRPr sz="1200" spc="-150" dirty="0">
              <a:solidFill>
                <a:srgbClr val="11004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318" name="Google Shape;318;p8"/>
          <p:cNvSpPr txBox="1"/>
          <p:nvPr/>
        </p:nvSpPr>
        <p:spPr>
          <a:xfrm>
            <a:off x="6476999" y="4505295"/>
            <a:ext cx="241445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기업 내 </a:t>
            </a:r>
            <a:r>
              <a:rPr lang="en-US" alt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25</a:t>
            </a:r>
            <a:r>
              <a:rPr 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명 이상 참여 시 </a:t>
            </a:r>
            <a:r>
              <a:rPr lang="ko-KR" altLang="en-US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참여가능</a:t>
            </a:r>
            <a:r>
              <a:rPr lang="en-US" alt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</a:t>
            </a:r>
            <a:r>
              <a:rPr lang="ko-KR" altLang="en-US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최대 </a:t>
            </a:r>
            <a:r>
              <a:rPr lang="en-US" alt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40</a:t>
            </a:r>
            <a:r>
              <a:rPr lang="ko-KR" altLang="en-US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명</a:t>
            </a:r>
            <a:r>
              <a:rPr lang="en-US" alt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방문</a:t>
            </a:r>
            <a:r>
              <a:rPr lang="en-US" alt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세미나도</a:t>
            </a:r>
            <a:r>
              <a:rPr 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가능하며, 세미나 주제는 변경될 수 있습니다.</a:t>
            </a:r>
            <a:endParaRPr sz="700" dirty="0">
              <a:solidFill>
                <a:srgbClr val="7F7F7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5BBFA00-33D2-D93A-4816-366058DC912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3520440" y="4917073"/>
            <a:ext cx="2103120" cy="138499"/>
          </a:xfrm>
        </p:spPr>
        <p:txBody>
          <a:bodyPr/>
          <a:lstStyle/>
          <a:p>
            <a:pPr algn="ctr"/>
            <a:fld id="{B6F15528-21DE-4FAA-801E-634DDDAF4B2B}" type="slidenum">
              <a:rPr lang="en-US" altLang="ko-KR" sz="900" smtClean="0"/>
              <a:pPr algn="ctr"/>
              <a:t>6</a:t>
            </a:fld>
            <a:endParaRPr lang="ko-KR" alt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B3263-E9E5-6E9E-4E56-DD0409E4E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2" name="표 281">
            <a:extLst>
              <a:ext uri="{FF2B5EF4-FFF2-40B4-BE49-F238E27FC236}">
                <a16:creationId xmlns:a16="http://schemas.microsoft.com/office/drawing/2014/main" id="{CD3481E2-5D5F-C5C8-466B-2C61E92ED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992931"/>
              </p:ext>
            </p:extLst>
          </p:nvPr>
        </p:nvGraphicFramePr>
        <p:xfrm>
          <a:off x="261823" y="1733550"/>
          <a:ext cx="8620364" cy="2863759"/>
        </p:xfrm>
        <a:graphic>
          <a:graphicData uri="http://schemas.openxmlformats.org/drawingml/2006/table">
            <a:tbl>
              <a:tblPr/>
              <a:tblGrid>
                <a:gridCol w="423977">
                  <a:extLst>
                    <a:ext uri="{9D8B030D-6E8A-4147-A177-3AD203B41FA5}">
                      <a16:colId xmlns:a16="http://schemas.microsoft.com/office/drawing/2014/main" val="257915793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73093304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20283336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1037525620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351933156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820212697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1046625682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719582089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4284879733"/>
                    </a:ext>
                  </a:extLst>
                </a:gridCol>
                <a:gridCol w="571504">
                  <a:extLst>
                    <a:ext uri="{9D8B030D-6E8A-4147-A177-3AD203B41FA5}">
                      <a16:colId xmlns:a16="http://schemas.microsoft.com/office/drawing/2014/main" val="3845365635"/>
                    </a:ext>
                  </a:extLst>
                </a:gridCol>
                <a:gridCol w="571504">
                  <a:extLst>
                    <a:ext uri="{9D8B030D-6E8A-4147-A177-3AD203B41FA5}">
                      <a16:colId xmlns:a16="http://schemas.microsoft.com/office/drawing/2014/main" val="1742978433"/>
                    </a:ext>
                  </a:extLst>
                </a:gridCol>
                <a:gridCol w="646229">
                  <a:extLst>
                    <a:ext uri="{9D8B030D-6E8A-4147-A177-3AD203B41FA5}">
                      <a16:colId xmlns:a16="http://schemas.microsoft.com/office/drawing/2014/main" val="109036888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920817626"/>
                    </a:ext>
                  </a:extLst>
                </a:gridCol>
              </a:tblGrid>
              <a:tr h="381000"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로드맵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전체 공통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현업 담당 </a:t>
                      </a:r>
                      <a:r>
                        <a:rPr lang="en-US" altLang="ko-KR" sz="900" b="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dirty="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비개발</a:t>
                      </a:r>
                      <a:r>
                        <a:rPr lang="ko-KR" altLang="en-US" sz="900" b="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직군</a:t>
                      </a:r>
                      <a:r>
                        <a:rPr lang="en-US" altLang="ko-KR" sz="900" b="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기술 담당 </a:t>
                      </a:r>
                      <a:r>
                        <a:rPr lang="en-US" altLang="ko-KR" sz="900" b="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개발 직군</a:t>
                      </a:r>
                      <a:r>
                        <a:rPr lang="en-US" altLang="ko-KR" sz="900" b="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888430"/>
                  </a:ext>
                </a:extLst>
              </a:tr>
              <a:tr h="21264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</a:t>
                      </a:r>
                      <a:r>
                        <a:rPr lang="ko-KR" altLang="en-US" sz="800" b="1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리터러시</a:t>
                      </a:r>
                      <a:endParaRPr lang="ko-KR" altLang="en-US" sz="800" b="1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AX </a:t>
                      </a:r>
                      <a:r>
                        <a:rPr lang="ko-KR" altLang="en-US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사업기획</a:t>
                      </a:r>
                      <a:r>
                        <a:rPr lang="en-US" altLang="ko-KR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‧</a:t>
                      </a:r>
                      <a:r>
                        <a:rPr lang="ko-KR" altLang="en-US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전략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AX </a:t>
                      </a:r>
                      <a:r>
                        <a:rPr lang="ko-KR" altLang="en-US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크리에이터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AX </a:t>
                      </a:r>
                      <a:r>
                        <a:rPr lang="ko-KR" altLang="en-US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데이터 활용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AX </a:t>
                      </a:r>
                      <a:r>
                        <a:rPr lang="ko-KR" altLang="en-US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프로세스 자동화</a:t>
                      </a:r>
                      <a:endParaRPr lang="ko-KR" altLang="en-US" b="1" dirty="0"/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프롬프트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·RAG·LLM 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응용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542003"/>
                  </a:ext>
                </a:extLst>
              </a:tr>
              <a:tr h="415363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대상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전사 구성원 공통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전략기획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영업제안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CRM, 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영업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기획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마케팅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영상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음악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디자인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 직무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기획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세일즈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8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고객관리</a:t>
                      </a:r>
                      <a:endParaRPr lang="ko-KR" altLang="en-US" dirty="0"/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개발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엔지니어</a:t>
                      </a:r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547880"/>
                  </a:ext>
                </a:extLst>
              </a:tr>
              <a:tr h="32895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세미나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트렌드</a:t>
                      </a:r>
                      <a:endParaRPr lang="en-US" altLang="ko-KR" sz="800" b="1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트렌드를 읽는 눈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내일의 경쟁력을 확보하는 인사이트 세미나 시리즈</a:t>
                      </a:r>
                      <a:endParaRPr lang="en-US" altLang="ko-KR" sz="800" b="1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ko-KR" altLang="en-US" sz="7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ko-KR" altLang="en-US" sz="8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1818676"/>
                  </a:ext>
                </a:extLst>
              </a:tr>
              <a:tr h="544703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재직자</a:t>
                      </a:r>
                      <a:br>
                        <a:rPr lang="ko-KR" altLang="en-US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훈련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활용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ko-KR" altLang="en-US" sz="7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ko-KR" altLang="en-US" sz="7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ChatGPT</a:t>
                      </a:r>
                      <a:r>
                        <a:rPr lang="ko-KR" altLang="en-US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로</a:t>
                      </a:r>
                      <a:endParaRPr lang="en-US" altLang="ko-KR" sz="7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보고서</a:t>
                      </a:r>
                      <a:r>
                        <a:rPr lang="en-US" altLang="ko-KR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</a:t>
                      </a:r>
                      <a:r>
                        <a:rPr lang="ko-KR" altLang="en-US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사업계획서</a:t>
                      </a:r>
                      <a:endParaRPr lang="en-US" altLang="ko-KR" sz="7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ko-KR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r>
                        <a:rPr lang="ko-KR" altLang="en-US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 만에 완성하기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i="0" dirty="0">
                          <a:solidFill>
                            <a:schemeClr val="accent2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700" i="0" dirty="0">
                          <a:solidFill>
                            <a:schemeClr val="accent2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신설</a:t>
                      </a:r>
                      <a:r>
                        <a:rPr lang="en-US" altLang="ko-KR" sz="700" i="0" dirty="0">
                          <a:solidFill>
                            <a:schemeClr val="accent2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i="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세일즈</a:t>
                      </a:r>
                      <a:r>
                        <a:rPr lang="en-US" altLang="ko-KR" sz="700" i="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&amp;</a:t>
                      </a:r>
                      <a:r>
                        <a:rPr lang="ko-KR" altLang="en-US" sz="700" i="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마케팅</a:t>
                      </a:r>
                      <a:endParaRPr lang="en-US" altLang="ko-KR" sz="700" i="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i="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프로세스 </a:t>
                      </a:r>
                      <a:r>
                        <a:rPr lang="en-US" altLang="ko-KR" sz="700" i="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</a:t>
                      </a:r>
                      <a:r>
                        <a:rPr lang="ko-KR" altLang="en-US" sz="700" i="0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리터칭</a:t>
                      </a:r>
                      <a:endParaRPr lang="ko-KR" altLang="en-US" sz="7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i="0" dirty="0">
                          <a:solidFill>
                            <a:schemeClr val="accent2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700" i="0" dirty="0">
                          <a:solidFill>
                            <a:schemeClr val="accent2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신설</a:t>
                      </a:r>
                      <a:r>
                        <a:rPr lang="en-US" altLang="ko-KR" sz="700" i="0" dirty="0">
                          <a:solidFill>
                            <a:schemeClr val="accent2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algn="ctr"/>
                      <a:r>
                        <a:rPr lang="ko-KR" altLang="en-US" sz="700" i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자료 조사부터 슬라이드까지</a:t>
                      </a:r>
                      <a:r>
                        <a:rPr lang="en-US" altLang="ko-KR" sz="700" i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</a:p>
                    <a:p>
                      <a:pPr algn="ctr"/>
                      <a:r>
                        <a:rPr lang="en-US" altLang="ko-KR" sz="700" i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</a:t>
                      </a:r>
                      <a:r>
                        <a:rPr lang="ko-KR" altLang="en-US" sz="700" i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프레젠테이션 자동화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3167"/>
                        </a:buClr>
                        <a:buSzPts val="1200"/>
                        <a:buFontTx/>
                        <a:buNone/>
                        <a:tabLst/>
                        <a:defRPr/>
                      </a:pPr>
                      <a:r>
                        <a:rPr lang="en-US" altLang="ko-KR" sz="700" i="0" dirty="0">
                          <a:solidFill>
                            <a:schemeClr val="accent2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700" i="0" dirty="0">
                          <a:solidFill>
                            <a:schemeClr val="accent2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신설</a:t>
                      </a:r>
                      <a:r>
                        <a:rPr lang="en-US" altLang="ko-KR" sz="700" i="0" dirty="0">
                          <a:solidFill>
                            <a:schemeClr val="accent2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  <a:endParaRPr lang="en-US" altLang="ko-KR" sz="700" i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lvl="0" algn="ctr">
                        <a:buClr>
                          <a:srgbClr val="163167"/>
                        </a:buClr>
                        <a:buSzPts val="1200"/>
                      </a:pPr>
                      <a:r>
                        <a:rPr lang="ko-KR" altLang="en-US" sz="700" i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비전공자도 가능한 비즈니스 콘텐츠 제작</a:t>
                      </a:r>
                    </a:p>
                    <a:p>
                      <a:pPr lvl="0" algn="ctr">
                        <a:buClr>
                          <a:srgbClr val="163167"/>
                        </a:buClr>
                        <a:buSzPts val="1200"/>
                      </a:pPr>
                      <a:r>
                        <a:rPr lang="ko-KR" altLang="en-US" sz="700" i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700" i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AI </a:t>
                      </a:r>
                      <a:r>
                        <a:rPr lang="ko-KR" altLang="en-US" sz="700" i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이미지</a:t>
                      </a:r>
                      <a:r>
                        <a:rPr lang="en-US" altLang="ko-KR" sz="700" i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700" i="0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영상만들기</a:t>
                      </a:r>
                      <a:endParaRPr lang="ko-KR" altLang="en-US" sz="700" i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i="0" dirty="0">
                          <a:solidFill>
                            <a:schemeClr val="accent2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700" i="0" dirty="0">
                          <a:solidFill>
                            <a:schemeClr val="accent2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신설</a:t>
                      </a:r>
                      <a:r>
                        <a:rPr lang="en-US" altLang="ko-KR" sz="700" i="0" dirty="0">
                          <a:solidFill>
                            <a:schemeClr val="accent2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i="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데이터를 활용한</a:t>
                      </a:r>
                      <a:endParaRPr lang="en-US" altLang="ko-KR" sz="700" i="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i="0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바이브코딩</a:t>
                      </a:r>
                      <a:r>
                        <a:rPr lang="ko-KR" altLang="en-US" sz="700" i="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700" i="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 to Z</a:t>
                      </a:r>
                      <a:endParaRPr lang="ko-KR" altLang="en-US" sz="7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생성형</a:t>
                      </a:r>
                      <a:r>
                        <a:rPr lang="en-US" altLang="ko-KR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</a:t>
                      </a:r>
                      <a:r>
                        <a:rPr lang="ko-KR" altLang="en-US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를 활용한</a:t>
                      </a:r>
                      <a:endParaRPr lang="en-US" altLang="ko-KR" sz="7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업무자동화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i="0" dirty="0">
                          <a:solidFill>
                            <a:schemeClr val="accent2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700" i="0" dirty="0">
                          <a:solidFill>
                            <a:schemeClr val="accent2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신설</a:t>
                      </a:r>
                      <a:r>
                        <a:rPr lang="en-US" altLang="ko-KR" sz="700" i="0" dirty="0">
                          <a:solidFill>
                            <a:schemeClr val="accent2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  <a:endParaRPr lang="en-US" altLang="ko-KR" sz="7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나만의 업무 비서</a:t>
                      </a:r>
                      <a:r>
                        <a:rPr lang="en-US" altLang="ko-KR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워크플로우 </a:t>
                      </a:r>
                      <a:r>
                        <a:rPr lang="en-US" altLang="ko-KR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</a:t>
                      </a:r>
                      <a:r>
                        <a:rPr lang="ko-KR" altLang="en-US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에이전트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</a:t>
                      </a:r>
                      <a:r>
                        <a:rPr lang="ko-KR" altLang="en-US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와 협업하기</a:t>
                      </a:r>
                      <a:r>
                        <a:rPr lang="en-US" altLang="ko-KR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LLM Agent </a:t>
                      </a:r>
                      <a:r>
                        <a:rPr lang="ko-KR" altLang="en-US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고급 </a:t>
                      </a:r>
                      <a:r>
                        <a:rPr lang="ko-KR" altLang="en-US" sz="700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챗봇</a:t>
                      </a:r>
                      <a:r>
                        <a:rPr lang="ko-KR" altLang="en-US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개발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</a:t>
                      </a:r>
                      <a:r>
                        <a:rPr lang="ko-KR" altLang="en-US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와 협업하기</a:t>
                      </a:r>
                      <a:r>
                        <a:rPr lang="en-US" altLang="ko-KR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고급프롬프트</a:t>
                      </a:r>
                      <a:r>
                        <a:rPr lang="ko-KR" altLang="en-US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&amp; </a:t>
                      </a:r>
                      <a:r>
                        <a:rPr lang="ko-KR" altLang="en-US" sz="700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바이브코딩</a:t>
                      </a:r>
                      <a:endParaRPr lang="ko-KR" altLang="en-US" sz="7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171824"/>
                  </a:ext>
                </a:extLst>
              </a:tr>
              <a:tr h="5982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이해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회사의 생산성을</a:t>
                      </a:r>
                      <a:endParaRPr lang="en-US" altLang="ko-KR" sz="7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높이는</a:t>
                      </a:r>
                      <a:r>
                        <a:rPr lang="en-US" altLang="ko-KR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ChatGPT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활용법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i="0" dirty="0">
                          <a:solidFill>
                            <a:schemeClr val="accent2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700" i="0" dirty="0">
                          <a:solidFill>
                            <a:schemeClr val="accent2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신설</a:t>
                      </a:r>
                      <a:r>
                        <a:rPr lang="en-US" altLang="ko-KR" sz="700" i="0" dirty="0">
                          <a:solidFill>
                            <a:schemeClr val="accent2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  <a:r>
                        <a:rPr lang="en-US" altLang="ko-KR" sz="700" i="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700" i="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업무자동화의 혁신</a:t>
                      </a:r>
                      <a:r>
                        <a:rPr lang="en-US" altLang="ko-KR" sz="700" i="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!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ko-KR" sz="700" i="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Microsoft 365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ko-KR" sz="700" i="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Copilot </a:t>
                      </a:r>
                      <a:r>
                        <a:rPr lang="ko-KR" altLang="en-US" sz="700" i="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활용법</a:t>
                      </a:r>
                      <a:endParaRPr lang="ko-KR" altLang="en-US" sz="7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7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951889"/>
                  </a:ext>
                </a:extLst>
              </a:tr>
              <a:tr h="3728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워크숍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문제</a:t>
                      </a:r>
                      <a:br>
                        <a:rPr lang="ko-KR" altLang="en-US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8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해결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배움을 넘어 성과로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현업의 난제를 해결하는 실전 솔루션 워크숍</a:t>
                      </a: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ko-KR" altLang="en-US" sz="7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ko-KR" altLang="en-US" sz="8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435" marR="15435" marT="10290" marB="10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327557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7F0E2787-BAC0-DEB4-1E7F-14DF4B500F54}"/>
              </a:ext>
            </a:extLst>
          </p:cNvPr>
          <p:cNvSpPr/>
          <p:nvPr/>
        </p:nvSpPr>
        <p:spPr>
          <a:xfrm>
            <a:off x="799163" y="742950"/>
            <a:ext cx="7609373" cy="742655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indent="19014" algn="ctr">
              <a:spcAft>
                <a:spcPts val="367"/>
              </a:spcAft>
            </a:pPr>
            <a:r>
              <a:rPr lang="en-US" altLang="ko-KR" sz="28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2800" b="1" spc="-150" dirty="0" err="1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직군별</a:t>
            </a:r>
            <a:r>
              <a:rPr lang="ko-KR" altLang="en-US" sz="28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맞춤 선택 가능한 재직자 훈련</a:t>
            </a:r>
            <a:r>
              <a:rPr lang="ko-KR" altLang="en-US" sz="2000" b="1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</a:t>
            </a:r>
            <a:endParaRPr lang="en-US" altLang="ko-KR" sz="2000" b="1" spc="-15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indent="19014" algn="ctr">
              <a:spcAft>
                <a:spcPts val="367"/>
              </a:spcAft>
            </a:pPr>
            <a:r>
              <a:rPr lang="en-US" altLang="ko-KR" sz="1400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</a:t>
            </a:r>
            <a:r>
              <a:rPr lang="ko-KR" altLang="en-US" sz="1400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자형 실무인재 양성을 위한 </a:t>
            </a:r>
            <a:r>
              <a:rPr lang="en-US" altLang="ko-KR" sz="1400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&lt;</a:t>
            </a:r>
            <a:r>
              <a:rPr lang="ko-KR" altLang="en-US" sz="1400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이론 이해 </a:t>
            </a:r>
            <a:r>
              <a:rPr lang="en-US" altLang="ko-KR" sz="1400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</a:t>
            </a:r>
            <a:r>
              <a:rPr lang="ko-KR" altLang="en-US" sz="1400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실무 활용</a:t>
            </a:r>
            <a:r>
              <a:rPr lang="en-US" altLang="ko-KR" sz="1400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&gt;</a:t>
            </a:r>
            <a:r>
              <a:rPr lang="ko-KR" altLang="en-US" sz="1400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모듈형 교육입니다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57BCD8-C81B-9E45-02A0-76B79A9C6698}"/>
              </a:ext>
            </a:extLst>
          </p:cNvPr>
          <p:cNvSpPr txBox="1"/>
          <p:nvPr/>
        </p:nvSpPr>
        <p:spPr>
          <a:xfrm>
            <a:off x="180000" y="237351"/>
            <a:ext cx="23294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50" dirty="0" err="1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모두의연구소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K-HP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사업 소개 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재직자 훈련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9330BC-7B77-5490-C831-450E2B2AE06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3520440" y="4917073"/>
            <a:ext cx="2103120" cy="138499"/>
          </a:xfrm>
        </p:spPr>
        <p:txBody>
          <a:bodyPr/>
          <a:lstStyle/>
          <a:p>
            <a:pPr algn="ctr"/>
            <a:fld id="{B6F15528-21DE-4FAA-801E-634DDDAF4B2B}" type="slidenum">
              <a:rPr lang="en-US" altLang="ko-KR" sz="900" smtClean="0"/>
              <a:pPr algn="ctr"/>
              <a:t>7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096425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42B45A-D7EB-8E49-F5BC-61B032B61912}"/>
              </a:ext>
            </a:extLst>
          </p:cNvPr>
          <p:cNvCxnSpPr>
            <a:cxnSpLocks/>
          </p:cNvCxnSpPr>
          <p:nvPr/>
        </p:nvCxnSpPr>
        <p:spPr>
          <a:xfrm>
            <a:off x="637200" y="3646497"/>
            <a:ext cx="216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5DDF8C5-0E25-856C-378A-B848E6B2BD15}"/>
              </a:ext>
            </a:extLst>
          </p:cNvPr>
          <p:cNvSpPr txBox="1"/>
          <p:nvPr/>
        </p:nvSpPr>
        <p:spPr>
          <a:xfrm>
            <a:off x="3302743" y="2948286"/>
            <a:ext cx="23045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u="sng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경영진</a:t>
            </a:r>
            <a:r>
              <a:rPr lang="en-US" altLang="ko-KR" sz="1600" b="1" u="sng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/C</a:t>
            </a:r>
            <a:r>
              <a:rPr lang="ko-KR" altLang="en-US" sz="1600" b="1" u="sng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레벨을 위한</a:t>
            </a:r>
            <a:endParaRPr lang="en-US" altLang="ko-KR" sz="1600" b="1" u="sng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600" b="1" u="sng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전략 워크샵</a:t>
            </a:r>
            <a:endParaRPr lang="ko-KR" altLang="en-US" sz="1600" b="1" u="sng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7B607C-1A05-891A-C2CA-5C1BEEA8426C}"/>
              </a:ext>
            </a:extLst>
          </p:cNvPr>
          <p:cNvSpPr txBox="1"/>
          <p:nvPr/>
        </p:nvSpPr>
        <p:spPr>
          <a:xfrm>
            <a:off x="5965218" y="3102174"/>
            <a:ext cx="2667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u="sng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600" b="1" u="sng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컴패니언</a:t>
            </a:r>
            <a:r>
              <a:rPr lang="en-US" altLang="ko-KR" sz="1600" b="1" u="sng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b="1" u="sng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설계 워크샵</a:t>
            </a:r>
            <a:endParaRPr lang="ko-KR" altLang="en-US" sz="1600" b="1" u="sng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3C1880-A48E-83AB-3312-C849426D3625}"/>
              </a:ext>
            </a:extLst>
          </p:cNvPr>
          <p:cNvSpPr txBox="1"/>
          <p:nvPr/>
        </p:nvSpPr>
        <p:spPr>
          <a:xfrm>
            <a:off x="470012" y="2948286"/>
            <a:ext cx="24943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u="sng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600" b="1" u="sng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업무 자동화</a:t>
            </a:r>
            <a:endParaRPr lang="en-US" altLang="ko-KR" sz="1600" b="1" u="sng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600" b="1" u="sng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디자인씽킹</a:t>
            </a:r>
            <a:r>
              <a:rPr lang="ko-KR" altLang="en-US" sz="1600" b="1" u="sng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워크샵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A50C231-7990-451F-FFA1-B76342B8BFD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07261"/>
            <a:ext cx="2520000" cy="1440000"/>
          </a:xfrm>
          <a:prstGeom prst="round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7211056-DB5C-15FD-A04C-510193694AA9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195000" y="1407261"/>
            <a:ext cx="2520000" cy="1440000"/>
          </a:xfrm>
          <a:prstGeom prst="round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20AF485-06A2-D4C2-C216-2714BADAD037}"/>
              </a:ext>
            </a:extLst>
          </p:cNvPr>
          <p:cNvCxnSpPr>
            <a:cxnSpLocks/>
          </p:cNvCxnSpPr>
          <p:nvPr/>
        </p:nvCxnSpPr>
        <p:spPr>
          <a:xfrm>
            <a:off x="3375000" y="3646497"/>
            <a:ext cx="216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C3DE08A-0FB0-813C-3DED-35EB1BD3107D}"/>
              </a:ext>
            </a:extLst>
          </p:cNvPr>
          <p:cNvCxnSpPr>
            <a:cxnSpLocks/>
          </p:cNvCxnSpPr>
          <p:nvPr/>
        </p:nvCxnSpPr>
        <p:spPr>
          <a:xfrm>
            <a:off x="6218718" y="3646497"/>
            <a:ext cx="216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AE7687F-AB09-246D-3F20-B16B477796EB}"/>
              </a:ext>
            </a:extLst>
          </p:cNvPr>
          <p:cNvSpPr txBox="1"/>
          <p:nvPr/>
        </p:nvSpPr>
        <p:spPr>
          <a:xfrm>
            <a:off x="5965218" y="3768864"/>
            <a:ext cx="2667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&lt;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컴패니언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카드 키트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&gt;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활용해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1)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제품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서비스의 방향성과 문제 정의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 algn="ctr"/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2)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아이디어를 구체화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 algn="ctr"/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3)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실무 적용 가능한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시나리오 도출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FEEA0C-85F1-AAB9-9C8A-F60E8B8F829D}"/>
              </a:ext>
            </a:extLst>
          </p:cNvPr>
          <p:cNvSpPr txBox="1"/>
          <p:nvPr/>
        </p:nvSpPr>
        <p:spPr>
          <a:xfrm>
            <a:off x="543028" y="3768864"/>
            <a:ext cx="23483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실무에서 반복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소모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병목이 잦은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지점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찾아내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자동화함으로써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직무 흐름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(Job Flow)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재설계하는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업무 효율화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자동화 과정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530EB8-0F33-2427-A5D6-197F99277B89}"/>
              </a:ext>
            </a:extLst>
          </p:cNvPr>
          <p:cNvSpPr txBox="1"/>
          <p:nvPr/>
        </p:nvSpPr>
        <p:spPr>
          <a:xfrm>
            <a:off x="3280828" y="3768864"/>
            <a:ext cx="2348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 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Pain Point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진단하고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 algn="ctr"/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DX/AX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캔버스를 활용해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실제로 실행 가능한 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혁신 전략과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액션플랜 도출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B2275A4-4D7E-DE60-E156-8DF165656EE3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038718" y="1407261"/>
            <a:ext cx="2520000" cy="1440000"/>
          </a:xfrm>
          <a:prstGeom prst="round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7732A1A-E88F-C436-B420-EDBFF7A44154}"/>
              </a:ext>
            </a:extLst>
          </p:cNvPr>
          <p:cNvSpPr txBox="1"/>
          <p:nvPr/>
        </p:nvSpPr>
        <p:spPr>
          <a:xfrm>
            <a:off x="180000" y="237351"/>
            <a:ext cx="20826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50" dirty="0" err="1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모두의연구소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K-HP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사업 소개 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워크숍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B7B8850-DD5A-A654-6718-810B5581D0B0}"/>
              </a:ext>
            </a:extLst>
          </p:cNvPr>
          <p:cNvSpPr/>
          <p:nvPr/>
        </p:nvSpPr>
        <p:spPr>
          <a:xfrm>
            <a:off x="799163" y="438150"/>
            <a:ext cx="7609373" cy="742655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marL="0" marR="0" lvl="0" indent="19014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67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28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워크숍</a:t>
            </a:r>
            <a:r>
              <a:rPr lang="en-US" altLang="ko-KR" sz="28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2800" b="1" spc="-150" dirty="0" err="1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해커톤</a:t>
            </a:r>
            <a:r>
              <a: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</a:t>
            </a:r>
            <a:endParaRPr lang="ko-KR" altLang="en-US" sz="2800" b="1" spc="-150" dirty="0">
              <a:solidFill>
                <a:srgbClr val="11004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indent="19014" algn="ctr">
              <a:spcAft>
                <a:spcPts val="367"/>
              </a:spcAft>
            </a:pPr>
            <a:r>
              <a:rPr lang="ko-KR" altLang="en-US" sz="1400" spc="-1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실제 업무에 바로 적용할 수 있는 사례를 만들어 내는 실전 프로젝트입니다</a:t>
            </a:r>
          </a:p>
        </p:txBody>
      </p:sp>
      <p:sp>
        <p:nvSpPr>
          <p:cNvPr id="2" name="Google Shape;318;p8">
            <a:extLst>
              <a:ext uri="{FF2B5EF4-FFF2-40B4-BE49-F238E27FC236}">
                <a16:creationId xmlns:a16="http://schemas.microsoft.com/office/drawing/2014/main" id="{B13D0006-BD51-96C4-DEC2-A5914CEDA459}"/>
              </a:ext>
            </a:extLst>
          </p:cNvPr>
          <p:cNvSpPr txBox="1"/>
          <p:nvPr/>
        </p:nvSpPr>
        <p:spPr>
          <a:xfrm>
            <a:off x="6324600" y="4599116"/>
            <a:ext cx="241445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기업 내 </a:t>
            </a:r>
            <a:r>
              <a:rPr lang="en-US" alt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25</a:t>
            </a:r>
            <a:r>
              <a:rPr 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명 이상 참여 시 </a:t>
            </a:r>
            <a:r>
              <a:rPr lang="ko-KR" altLang="en-US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참여가능</a:t>
            </a:r>
            <a:r>
              <a:rPr lang="en-US" alt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</a:t>
            </a:r>
            <a:r>
              <a:rPr lang="ko-KR" altLang="en-US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최대 </a:t>
            </a:r>
            <a:r>
              <a:rPr lang="en-US" alt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30</a:t>
            </a:r>
            <a:r>
              <a:rPr lang="ko-KR" altLang="en-US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명</a:t>
            </a:r>
            <a:r>
              <a:rPr lang="en-US" alt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방문</a:t>
            </a:r>
            <a:r>
              <a:rPr lang="en-US" alt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워크숍도</a:t>
            </a:r>
            <a:r>
              <a:rPr 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가능하며, </a:t>
            </a:r>
            <a:r>
              <a:rPr lang="ko-KR" altLang="en-US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워크숍 </a:t>
            </a:r>
            <a:r>
              <a:rPr 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주제는 변경될 수 있습니다.</a:t>
            </a:r>
            <a:endParaRPr sz="700" dirty="0">
              <a:solidFill>
                <a:srgbClr val="7F7F7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42115F-25D6-3149-EDD2-BA44A519571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3520440" y="4917073"/>
            <a:ext cx="2103120" cy="138499"/>
          </a:xfrm>
        </p:spPr>
        <p:txBody>
          <a:bodyPr/>
          <a:lstStyle/>
          <a:p>
            <a:pPr algn="ctr"/>
            <a:fld id="{B6F15528-21DE-4FAA-801E-634DDDAF4B2B}" type="slidenum">
              <a:rPr lang="en-US" altLang="ko-KR" sz="900" smtClean="0"/>
              <a:pPr algn="ctr"/>
              <a:t>8</a:t>
            </a:fld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3628649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>
          <a:extLst>
            <a:ext uri="{FF2B5EF4-FFF2-40B4-BE49-F238E27FC236}">
              <a16:creationId xmlns:a16="http://schemas.microsoft.com/office/drawing/2014/main" id="{8A6E7D13-F18B-DEE3-E6B1-F0DC78350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3">
            <a:extLst>
              <a:ext uri="{FF2B5EF4-FFF2-40B4-BE49-F238E27FC236}">
                <a16:creationId xmlns:a16="http://schemas.microsoft.com/office/drawing/2014/main" id="{90CA811D-022C-2682-C651-D1B9D17229B2}"/>
              </a:ext>
            </a:extLst>
          </p:cNvPr>
          <p:cNvSpPr txBox="1"/>
          <p:nvPr/>
        </p:nvSpPr>
        <p:spPr>
          <a:xfrm>
            <a:off x="180000" y="237351"/>
            <a:ext cx="309660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o-KR" altLang="en-US" sz="1200" spc="-150" dirty="0" err="1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모두의연구소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K-HP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사업 소개 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세미나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워크숍 리스트업</a:t>
            </a:r>
          </a:p>
        </p:txBody>
      </p:sp>
      <p:sp>
        <p:nvSpPr>
          <p:cNvPr id="377" name="Google Shape;377;p13">
            <a:extLst>
              <a:ext uri="{FF2B5EF4-FFF2-40B4-BE49-F238E27FC236}">
                <a16:creationId xmlns:a16="http://schemas.microsoft.com/office/drawing/2014/main" id="{BF52CE3A-72BF-1BCD-BA54-D585D9AA10E8}"/>
              </a:ext>
            </a:extLst>
          </p:cNvPr>
          <p:cNvSpPr txBox="1"/>
          <p:nvPr/>
        </p:nvSpPr>
        <p:spPr>
          <a:xfrm>
            <a:off x="381000" y="469078"/>
            <a:ext cx="8420100" cy="80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2000" b="1" i="0" u="none" strike="noStrike" cap="none" spc="-15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K-HP 교육은 재직자의 </a:t>
            </a:r>
            <a:r>
              <a:rPr lang="ko-KR" sz="2800" b="1" i="0" u="none" strike="noStrike" cap="none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실무 활용도</a:t>
            </a:r>
            <a:r>
              <a:rPr lang="ko-KR" sz="2000" b="1" i="0" u="none" strike="noStrike" cap="none" spc="-15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를 높이기 위해</a:t>
            </a:r>
            <a:endParaRPr sz="2000" b="1" i="0" u="none" strike="noStrike" cap="none" spc="-15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</a:pPr>
            <a:r>
              <a:rPr lang="ko-KR" altLang="en-US" sz="1600" b="0" i="0" u="none" strike="noStrike" cap="none" spc="-150" dirty="0">
                <a:solidFill>
                  <a:srgbClr val="3F3F3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현직자의 인사이트를 활발히 공유하는 네트워크를 만들어 나갑니다</a:t>
            </a:r>
            <a:endParaRPr sz="1600" b="0" i="0" u="none" strike="noStrike" cap="none" spc="-15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A5DBAD7-1F3D-71E3-C63C-805DA1216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308781"/>
              </p:ext>
            </p:extLst>
          </p:nvPr>
        </p:nvGraphicFramePr>
        <p:xfrm>
          <a:off x="289112" y="1428750"/>
          <a:ext cx="8565776" cy="3125957"/>
        </p:xfrm>
        <a:graphic>
          <a:graphicData uri="http://schemas.openxmlformats.org/drawingml/2006/table">
            <a:tbl>
              <a:tblPr/>
              <a:tblGrid>
                <a:gridCol w="981514">
                  <a:extLst>
                    <a:ext uri="{9D8B030D-6E8A-4147-A177-3AD203B41FA5}">
                      <a16:colId xmlns:a16="http://schemas.microsoft.com/office/drawing/2014/main" val="2261679939"/>
                    </a:ext>
                  </a:extLst>
                </a:gridCol>
                <a:gridCol w="1293180">
                  <a:extLst>
                    <a:ext uri="{9D8B030D-6E8A-4147-A177-3AD203B41FA5}">
                      <a16:colId xmlns:a16="http://schemas.microsoft.com/office/drawing/2014/main" val="180964907"/>
                    </a:ext>
                  </a:extLst>
                </a:gridCol>
                <a:gridCol w="3288615">
                  <a:extLst>
                    <a:ext uri="{9D8B030D-6E8A-4147-A177-3AD203B41FA5}">
                      <a16:colId xmlns:a16="http://schemas.microsoft.com/office/drawing/2014/main" val="3655786437"/>
                    </a:ext>
                  </a:extLst>
                </a:gridCol>
                <a:gridCol w="1508352">
                  <a:extLst>
                    <a:ext uri="{9D8B030D-6E8A-4147-A177-3AD203B41FA5}">
                      <a16:colId xmlns:a16="http://schemas.microsoft.com/office/drawing/2014/main" val="202552209"/>
                    </a:ext>
                  </a:extLst>
                </a:gridCol>
                <a:gridCol w="1494115">
                  <a:extLst>
                    <a:ext uri="{9D8B030D-6E8A-4147-A177-3AD203B41FA5}">
                      <a16:colId xmlns:a16="http://schemas.microsoft.com/office/drawing/2014/main" val="327339511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구분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키워드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주제 </a:t>
                      </a:r>
                      <a:r>
                        <a:rPr lang="en-US" altLang="ko-KR" sz="10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0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 가능</a:t>
                      </a:r>
                      <a:r>
                        <a:rPr lang="en-US" altLang="ko-KR" sz="10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연사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대상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069808"/>
                  </a:ext>
                </a:extLst>
              </a:tr>
              <a:tr h="3178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세미나 </a:t>
                      </a:r>
                      <a:r>
                        <a:rPr lang="en-US" altLang="ko-KR" sz="900" b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</a:t>
                      </a:r>
                      <a:r>
                        <a:rPr lang="en-US" sz="900" b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h)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AX </a:t>
                      </a: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사업기획</a:t>
                      </a: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전략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[Strategic Sales Enablement] AI </a:t>
                      </a: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시대의 </a:t>
                      </a: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B2B </a:t>
                      </a: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전략 수립</a:t>
                      </a: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데이터에서 실행으로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김용수 </a:t>
                      </a: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프리랜서</a:t>
                      </a: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사업</a:t>
                      </a: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기획 직군 실무진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749548"/>
                  </a:ext>
                </a:extLst>
              </a:tr>
              <a:tr h="3178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세미나 </a:t>
                      </a:r>
                      <a:r>
                        <a:rPr lang="en-US" altLang="ko-KR" sz="9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</a:t>
                      </a:r>
                      <a:r>
                        <a:rPr lang="en-US" sz="9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h)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AX </a:t>
                      </a: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데이터 활용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[AI-Driven Growth] AI</a:t>
                      </a: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를 활용한 데이터 분석과 지표 개선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오세규 </a:t>
                      </a: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플래터</a:t>
                      </a: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워크랩</a:t>
                      </a: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기획</a:t>
                      </a:r>
                      <a:r>
                        <a:rPr lang="en-US" altLang="ko-KR" sz="9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/PM/</a:t>
                      </a:r>
                      <a:r>
                        <a:rPr lang="ko-KR" altLang="en-US" sz="9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데이터 직군 실무진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465278"/>
                  </a:ext>
                </a:extLst>
              </a:tr>
              <a:tr h="3178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세미나 </a:t>
                      </a:r>
                      <a:r>
                        <a:rPr lang="en-US" altLang="ko-KR" sz="900" b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</a:t>
                      </a:r>
                      <a:r>
                        <a:rPr lang="en-US" sz="900" b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h)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9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AX </a:t>
                      </a:r>
                      <a:r>
                        <a:rPr lang="ko-KR" altLang="en-US" sz="9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컨텍스트 엔지니어링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9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[Contextual Prompting] </a:t>
                      </a:r>
                      <a:r>
                        <a:rPr lang="ko-KR" altLang="en-US" sz="9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비즈니스 맥락을 주입하는 고급 컨텍스트 설계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정민주 </a:t>
                      </a: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삼성전자</a:t>
                      </a: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기획</a:t>
                      </a:r>
                      <a:r>
                        <a:rPr lang="en-US" altLang="ko-KR" sz="9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9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데이터 직군 실무진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954840"/>
                  </a:ext>
                </a:extLst>
              </a:tr>
              <a:tr h="3178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세미나 </a:t>
                      </a:r>
                      <a:r>
                        <a:rPr lang="en-US" altLang="ko-KR" sz="9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</a:t>
                      </a:r>
                      <a:r>
                        <a:rPr lang="en-US" sz="9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h)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AX CRM/</a:t>
                      </a: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세일즈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[Data-Driven Sales Pipe] </a:t>
                      </a: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데이터로 설계하는 </a:t>
                      </a: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B2B </a:t>
                      </a: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세일즈 파이프라인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김한규 </a:t>
                      </a: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비즈니스캔버스</a:t>
                      </a: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세일즈 리더</a:t>
                      </a: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세일즈 직군 실무진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323688"/>
                  </a:ext>
                </a:extLst>
              </a:tr>
              <a:tr h="3178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세미나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h)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AX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마케팅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[Content Automation Strategy]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마케팅 콘텐츠 제작의 자동화와 개인화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강슬기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en-US" sz="9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ConnectAX)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마케팅 직군 실무진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381031"/>
                  </a:ext>
                </a:extLst>
              </a:tr>
              <a:tr h="3178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세미나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h)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AX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제품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서비스기획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UX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[Human-Centric AX Design]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기술보다 중요한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'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인간 중심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' UX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설계 원칙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박민아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컴패노이드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랩스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상품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서비스기획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/PD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직군 실무진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657949"/>
                  </a:ext>
                </a:extLst>
              </a:tr>
              <a:tr h="3064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워크숍 </a:t>
                      </a:r>
                      <a:r>
                        <a:rPr lang="en-US" altLang="ko-KR" sz="9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(4</a:t>
                      </a:r>
                      <a:r>
                        <a:rPr lang="en-US" sz="9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h)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</a:t>
                      </a: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레벨 전략과제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Agent</a:t>
                      </a: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를 이용한 전략과제 문제정의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김유정 </a:t>
                      </a: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이노핏파트너스</a:t>
                      </a: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C-Level, </a:t>
                      </a:r>
                      <a:r>
                        <a:rPr lang="ko-KR" altLang="en-US" sz="9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리더급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312145"/>
                  </a:ext>
                </a:extLst>
              </a:tr>
              <a:tr h="3064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워크숍 </a:t>
                      </a:r>
                      <a:r>
                        <a:rPr lang="en-US" altLang="ko-KR" sz="9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(4</a:t>
                      </a:r>
                      <a:r>
                        <a:rPr lang="en-US" sz="900" b="1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h)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</a:t>
                      </a: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레벨 전략과제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900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디자인씽킹</a:t>
                      </a: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기법을 이용한 전략과제 문제정의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김건희 </a:t>
                      </a: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디자인씽킹코리아</a:t>
                      </a:r>
                      <a:r>
                        <a:rPr lang="en-US" altLang="ko-KR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9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C-Level, </a:t>
                      </a:r>
                      <a:r>
                        <a:rPr lang="ko-KR" altLang="en-US" sz="900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리더급</a:t>
                      </a:r>
                      <a:endParaRPr lang="ko-KR" altLang="en-US" sz="9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392176"/>
                  </a:ext>
                </a:extLst>
              </a:tr>
              <a:tr h="3178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워크숍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h)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서비스 기획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일상 속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컴패니언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서비스 기획하기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박민아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컴패노이드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랩스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실무진</a:t>
                      </a:r>
                    </a:p>
                  </a:txBody>
                  <a:tcPr marL="19273" marR="1927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421574"/>
                  </a:ext>
                </a:extLst>
              </a:tr>
            </a:tbl>
          </a:graphicData>
        </a:graphic>
      </p:graphicFrame>
      <p:sp>
        <p:nvSpPr>
          <p:cNvPr id="4" name="Google Shape;318;p8">
            <a:extLst>
              <a:ext uri="{FF2B5EF4-FFF2-40B4-BE49-F238E27FC236}">
                <a16:creationId xmlns:a16="http://schemas.microsoft.com/office/drawing/2014/main" id="{055C0F5B-FB07-8BEB-BA10-78E42B9B51D8}"/>
              </a:ext>
            </a:extLst>
          </p:cNvPr>
          <p:cNvSpPr txBox="1"/>
          <p:nvPr/>
        </p:nvSpPr>
        <p:spPr>
          <a:xfrm>
            <a:off x="5715000" y="4581536"/>
            <a:ext cx="3200400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* 기업 내 30명 이상 참여 시 방문</a:t>
            </a:r>
            <a:r>
              <a:rPr lang="ko-KR" altLang="en-US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도</a:t>
            </a:r>
            <a:r>
              <a:rPr 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가능하며, 주제는 변경될 수 있습니다.</a:t>
            </a:r>
            <a:endParaRPr sz="700" dirty="0">
              <a:solidFill>
                <a:srgbClr val="7F7F7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21F2D3C-503C-A820-F0EF-613CF1003DD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3520440" y="4917073"/>
            <a:ext cx="2103120" cy="138499"/>
          </a:xfrm>
        </p:spPr>
        <p:txBody>
          <a:bodyPr/>
          <a:lstStyle/>
          <a:p>
            <a:pPr algn="ctr"/>
            <a:fld id="{B6F15528-21DE-4FAA-801E-634DDDAF4B2B}" type="slidenum">
              <a:rPr lang="en-US" altLang="ko-KR" sz="900" smtClean="0"/>
              <a:pPr algn="ctr"/>
              <a:t>9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210677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0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5685AC-C065-E291-6F98-C51FFF311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05E94FA0-B60C-C01C-8D23-95E463C1DB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 rot="10800000">
            <a:off x="127000" y="0"/>
            <a:ext cx="9017000" cy="5143500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36891DCF-70CD-D394-6557-13EC4291B959}"/>
              </a:ext>
            </a:extLst>
          </p:cNvPr>
          <p:cNvSpPr txBox="1"/>
          <p:nvPr/>
        </p:nvSpPr>
        <p:spPr>
          <a:xfrm>
            <a:off x="374650" y="2419350"/>
            <a:ext cx="5721350" cy="12001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b="1" spc="-1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재직자 훈련 상세</a:t>
            </a:r>
            <a:endParaRPr lang="en-US" altLang="ko-KR" sz="3600" b="1" spc="-1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600" b="0" i="0" u="none" strike="noStrike" kern="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D5570FE8-08D8-AD01-708A-5B6B053F176C}"/>
              </a:ext>
            </a:extLst>
          </p:cNvPr>
          <p:cNvSpPr txBox="1"/>
          <p:nvPr/>
        </p:nvSpPr>
        <p:spPr>
          <a:xfrm>
            <a:off x="381000" y="4541491"/>
            <a:ext cx="292100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68579" rIns="68579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ts val="1000"/>
              <a:buFontTx/>
              <a:buNone/>
              <a:tabLst/>
              <a:defRPr/>
            </a:pPr>
            <a:endParaRPr kumimoji="0" lang="en-US" altLang="ko-KR" sz="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ts val="1000"/>
              <a:buFontTx/>
              <a:buNone/>
              <a:tabLst/>
              <a:defRPr/>
            </a:pP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Website : www.modulabs.co.kr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ts val="1000"/>
              <a:buFontTx/>
              <a:buNone/>
              <a:tabLst/>
              <a:defRPr/>
            </a:pP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Address : </a:t>
            </a: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서울 강남구 강남대로 </a:t>
            </a: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324 (</a:t>
            </a:r>
            <a:r>
              <a:rPr kumimoji="0" lang="ko-KR" altLang="en-US" sz="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역삼디오슈페리움</a:t>
            </a: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) 2</a:t>
            </a: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층 모두의연구소 강남캠퍼스</a:t>
            </a:r>
            <a:endParaRPr kumimoji="0" lang="en-US" altLang="ko-KR" sz="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ts val="1000"/>
              <a:buFontTx/>
              <a:buNone/>
              <a:tabLst/>
              <a:defRPr/>
            </a:pP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ⓒ ㈜모두의연구소</a:t>
            </a: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. All rights reserved.</a:t>
            </a:r>
          </a:p>
        </p:txBody>
      </p:sp>
      <p:pic>
        <p:nvPicPr>
          <p:cNvPr id="4" name="object 16">
            <a:extLst>
              <a:ext uri="{FF2B5EF4-FFF2-40B4-BE49-F238E27FC236}">
                <a16:creationId xmlns:a16="http://schemas.microsoft.com/office/drawing/2014/main" id="{32C78509-6DEE-1DC7-5D3D-3AC6C536395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54767" y="133350"/>
            <a:ext cx="668006" cy="265910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1D046066-2417-500F-BBA5-C2F9DE9664F4}"/>
              </a:ext>
            </a:extLst>
          </p:cNvPr>
          <p:cNvSpPr txBox="1">
            <a:spLocks/>
          </p:cNvSpPr>
          <p:nvPr/>
        </p:nvSpPr>
        <p:spPr>
          <a:xfrm>
            <a:off x="3520440" y="4917073"/>
            <a:ext cx="210312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altLang="ko-KR"/>
              <a:pPr/>
              <a:t>10</a:t>
            </a:fld>
            <a:endParaRPr lang="ko-KR" altLang="en-US" dirty="0"/>
          </a:p>
        </p:txBody>
      </p:sp>
      <p:sp>
        <p:nvSpPr>
          <p:cNvPr id="10" name="슬라이드 번호 개체 틀 4">
            <a:extLst>
              <a:ext uri="{FF2B5EF4-FFF2-40B4-BE49-F238E27FC236}">
                <a16:creationId xmlns:a16="http://schemas.microsoft.com/office/drawing/2014/main" id="{9F6027EA-2EED-04B4-1E85-CD90300FC64D}"/>
              </a:ext>
            </a:extLst>
          </p:cNvPr>
          <p:cNvSpPr txBox="1">
            <a:spLocks/>
          </p:cNvSpPr>
          <p:nvPr/>
        </p:nvSpPr>
        <p:spPr>
          <a:xfrm>
            <a:off x="3672840" y="4933950"/>
            <a:ext cx="2103120" cy="138499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algn="ctr"/>
            <a:fld id="{B6F15528-21DE-4FAA-801E-634DDDAF4B2B}" type="slidenum">
              <a:rPr lang="en-US" altLang="ko-KR" sz="900" smtClean="0"/>
              <a:pPr algn="ctr"/>
              <a:t>10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975159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3"/>
          <p:cNvSpPr txBox="1"/>
          <p:nvPr/>
        </p:nvSpPr>
        <p:spPr>
          <a:xfrm>
            <a:off x="180000" y="237351"/>
            <a:ext cx="131959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0044"/>
              </a:buClr>
              <a:buSzPts val="1200"/>
              <a:buFont typeface="Arial"/>
              <a:buNone/>
            </a:pPr>
            <a:r>
              <a:rPr lang="ko-KR" sz="1200" b="0" i="0" u="none" strike="noStrike" cap="none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재직자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훈련</a:t>
            </a:r>
            <a:r>
              <a:rPr lang="ko-KR" sz="1200" b="0" i="0" u="none" strike="noStrike" cap="none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– 커리큘럼</a:t>
            </a:r>
            <a:endParaRPr spc="-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369" name="Google Shape;369;p13"/>
          <p:cNvCxnSpPr/>
          <p:nvPr/>
        </p:nvCxnSpPr>
        <p:spPr>
          <a:xfrm>
            <a:off x="206282" y="1593850"/>
            <a:ext cx="4206555" cy="0"/>
          </a:xfrm>
          <a:prstGeom prst="straightConnector1">
            <a:avLst/>
          </a:prstGeom>
          <a:noFill/>
          <a:ln w="9525" cap="flat" cmpd="sng">
            <a:solidFill>
              <a:srgbClr val="F29E9E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70" name="Google Shape;370;p13"/>
          <p:cNvGrpSpPr/>
          <p:nvPr/>
        </p:nvGrpSpPr>
        <p:grpSpPr>
          <a:xfrm>
            <a:off x="1843866" y="1454150"/>
            <a:ext cx="931386" cy="279400"/>
            <a:chOff x="991235" y="3543300"/>
            <a:chExt cx="4781550" cy="558800"/>
          </a:xfrm>
        </p:grpSpPr>
        <p:sp>
          <p:nvSpPr>
            <p:cNvPr id="371" name="Google Shape;371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endParaRPr sz="900" b="0" i="0" u="none" strike="noStrike" cap="non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372" name="Google Shape;372;p13"/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lang="ko-KR" sz="1000" b="0" i="0" u="none" strike="noStrike" cap="none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2~3일 과정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cxnSp>
        <p:nvCxnSpPr>
          <p:cNvPr id="373" name="Google Shape;373;p13"/>
          <p:cNvCxnSpPr/>
          <p:nvPr/>
        </p:nvCxnSpPr>
        <p:spPr>
          <a:xfrm>
            <a:off x="4714067" y="1581150"/>
            <a:ext cx="4206555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74" name="Google Shape;374;p13"/>
          <p:cNvGrpSpPr/>
          <p:nvPr/>
        </p:nvGrpSpPr>
        <p:grpSpPr>
          <a:xfrm>
            <a:off x="6351651" y="1454150"/>
            <a:ext cx="931386" cy="279400"/>
            <a:chOff x="991235" y="3543300"/>
            <a:chExt cx="4781550" cy="558800"/>
          </a:xfrm>
        </p:grpSpPr>
        <p:sp>
          <p:nvSpPr>
            <p:cNvPr id="375" name="Google Shape;375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endParaRPr sz="900" b="0" i="0" u="none" strike="noStrike" cap="non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376" name="Google Shape;376;p13"/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lang="ko-KR" sz="1000" b="0" i="0" u="none" strike="noStrike" cap="none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1일 과정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377" name="Google Shape;377;p13"/>
          <p:cNvSpPr txBox="1"/>
          <p:nvPr/>
        </p:nvSpPr>
        <p:spPr>
          <a:xfrm>
            <a:off x="381000" y="469078"/>
            <a:ext cx="8420100" cy="80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2000" b="1" i="0" u="none" strike="noStrike" cap="none" spc="-15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K-HP 교육은 재직자의 </a:t>
            </a:r>
            <a:r>
              <a:rPr lang="ko-KR" sz="2800" b="1" i="0" u="none" strike="noStrike" cap="none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실무 활용도</a:t>
            </a:r>
            <a:r>
              <a:rPr lang="ko-KR" sz="2000" b="1" i="0" u="none" strike="noStrike" cap="none" spc="-15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를 높이기 위해</a:t>
            </a:r>
            <a:endParaRPr sz="2000" b="1" i="0" u="none" strike="noStrike" cap="none" spc="-15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lvl="0" algn="ctr">
              <a:spcBef>
                <a:spcPts val="515"/>
              </a:spcBef>
              <a:buClr>
                <a:srgbClr val="3F3F3F"/>
              </a:buClr>
              <a:buSzPts val="1600"/>
            </a:pPr>
            <a:r>
              <a:rPr lang="ko-KR" sz="1600" b="0" i="0" u="none" strike="noStrike" cap="none" spc="-150" dirty="0">
                <a:solidFill>
                  <a:srgbClr val="3F3F3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이론 –</a:t>
            </a:r>
            <a:r>
              <a:rPr lang="en-US" altLang="ko-KR" sz="1600" b="0" i="0" u="none" strike="noStrike" cap="none" spc="-150" dirty="0">
                <a:solidFill>
                  <a:srgbClr val="3F3F3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sz="1600" spc="-150" dirty="0">
                <a:solidFill>
                  <a:srgbClr val="3F3F3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시연 </a:t>
            </a:r>
            <a:r>
              <a:rPr lang="ko-KR" altLang="ko-KR" sz="1600" spc="-150" dirty="0">
                <a:solidFill>
                  <a:srgbClr val="3F3F3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</a:t>
            </a:r>
            <a:r>
              <a:rPr lang="en-US" altLang="ko-KR" sz="1600" spc="-150" dirty="0">
                <a:solidFill>
                  <a:srgbClr val="3F3F3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spc="-150" dirty="0">
                <a:solidFill>
                  <a:srgbClr val="3F3F3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실습</a:t>
            </a:r>
            <a:r>
              <a:rPr lang="ko-KR" sz="1600" b="0" i="0" u="none" strike="noStrike" cap="none" spc="-150" dirty="0">
                <a:solidFill>
                  <a:srgbClr val="3F3F3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방식으로 설계되었습니다</a:t>
            </a:r>
            <a:endParaRPr sz="1600" b="0" i="0" u="none" strike="noStrike" cap="none" spc="-15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193637" y="3790950"/>
            <a:ext cx="4262091" cy="972000"/>
          </a:xfrm>
          <a:prstGeom prst="roundRect">
            <a:avLst>
              <a:gd name="adj" fmla="val 2705"/>
            </a:avLst>
          </a:prstGeom>
          <a:solidFill>
            <a:srgbClr val="FCCC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2621021" y="3825492"/>
            <a:ext cx="1748088" cy="903873"/>
          </a:xfrm>
          <a:prstGeom prst="roundRect">
            <a:avLst>
              <a:gd name="adj" fmla="val 270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</a:pPr>
            <a:endParaRPr sz="600" b="0" i="0" u="none" strike="noStrike" cap="non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380" name="Google Shape;380;p13"/>
          <p:cNvSpPr txBox="1"/>
          <p:nvPr/>
        </p:nvSpPr>
        <p:spPr>
          <a:xfrm>
            <a:off x="2576867" y="3866416"/>
            <a:ext cx="1815114" cy="251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167"/>
              </a:buClr>
              <a:buSzPts val="1200"/>
              <a:buFont typeface="Arial"/>
              <a:buNone/>
            </a:pPr>
            <a:r>
              <a:rPr lang="ko-KR" sz="800" b="0" i="0" u="none" strike="noStrike" cap="none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AI와</a:t>
            </a:r>
            <a:r>
              <a:rPr lang="ko-KR" sz="8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협업하기: </a:t>
            </a:r>
            <a:r>
              <a:rPr lang="ko-KR" altLang="en-US" sz="800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고급프롬프트</a:t>
            </a:r>
            <a:r>
              <a:rPr lang="ko-KR" altLang="en-US" sz="8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8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&amp; </a:t>
            </a:r>
            <a:r>
              <a:rPr lang="ko-KR" altLang="en-US" sz="800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바이브코딩</a:t>
            </a:r>
            <a:endParaRPr lang="en-US" altLang="ko-KR" sz="800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167"/>
              </a:buClr>
              <a:buSzPts val="1200"/>
              <a:buFont typeface="Arial"/>
              <a:buNone/>
            </a:pPr>
            <a:r>
              <a:rPr lang="en-US" sz="5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5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</a:t>
            </a:r>
            <a:r>
              <a:rPr lang="en-US" altLang="ko-KR" sz="5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5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개발자를 위한 고급 프롬프트 엔지니어링</a:t>
            </a:r>
            <a:r>
              <a:rPr lang="en-US" altLang="ko-KR" sz="5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sz="500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1" name="Google Shape;381;p13"/>
          <p:cNvSpPr txBox="1"/>
          <p:nvPr/>
        </p:nvSpPr>
        <p:spPr>
          <a:xfrm>
            <a:off x="2621021" y="4158297"/>
            <a:ext cx="1748088" cy="375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128588" marR="0" lvl="0" indent="-1285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E9E"/>
              </a:buClr>
              <a:buSzPts val="1000"/>
              <a:buFont typeface="Noto Sans Symbols"/>
              <a:buChar char="✔"/>
            </a:pPr>
            <a: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고급 프롬프트 엔지니어링 역량 강화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28588" marR="0" lvl="0" indent="-1285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E9E"/>
              </a:buClr>
              <a:buSzPts val="1000"/>
              <a:buFont typeface="Noto Sans Symbols"/>
              <a:buChar char="✔"/>
            </a:pPr>
            <a: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최신 LLM 기술 활용</a:t>
            </a:r>
            <a:endParaRPr sz="700" b="0" i="0" u="none" strike="noStrike" cap="none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128588" marR="0" lvl="0" indent="-1285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E9E"/>
              </a:buClr>
              <a:buSzPts val="1000"/>
              <a:buFont typeface="Noto Sans Symbols"/>
              <a:buChar char="✔"/>
            </a:pPr>
            <a: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기반 서비스의 효율성/품질 향상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382" name="Google Shape;382;p13"/>
          <p:cNvGrpSpPr/>
          <p:nvPr/>
        </p:nvGrpSpPr>
        <p:grpSpPr>
          <a:xfrm>
            <a:off x="3282240" y="4548866"/>
            <a:ext cx="427593" cy="124645"/>
            <a:chOff x="991235" y="3543300"/>
            <a:chExt cx="4781550" cy="558800"/>
          </a:xfrm>
        </p:grpSpPr>
        <p:sp>
          <p:nvSpPr>
            <p:cNvPr id="383" name="Google Shape;383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384" name="Google Shape;384;p13"/>
            <p:cNvSpPr txBox="1"/>
            <p:nvPr/>
          </p:nvSpPr>
          <p:spPr>
            <a:xfrm>
              <a:off x="1130938" y="3654423"/>
              <a:ext cx="4449442" cy="373700"/>
            </a:xfrm>
            <a:prstGeom prst="rect">
              <a:avLst/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2일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385" name="Google Shape;385;p13"/>
          <p:cNvGrpSpPr/>
          <p:nvPr/>
        </p:nvGrpSpPr>
        <p:grpSpPr>
          <a:xfrm>
            <a:off x="3731080" y="4548866"/>
            <a:ext cx="468417" cy="124645"/>
            <a:chOff x="991235" y="3543300"/>
            <a:chExt cx="4781550" cy="558800"/>
          </a:xfrm>
        </p:grpSpPr>
        <p:sp>
          <p:nvSpPr>
            <p:cNvPr id="386" name="Google Shape;386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387" name="Google Shape;387;p13"/>
            <p:cNvSpPr txBox="1"/>
            <p:nvPr/>
          </p:nvSpPr>
          <p:spPr>
            <a:xfrm>
              <a:off x="1130930" y="3654423"/>
              <a:ext cx="4449446" cy="373700"/>
            </a:xfrm>
            <a:prstGeom prst="rect">
              <a:avLst/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14시간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cxnSp>
        <p:nvCxnSpPr>
          <p:cNvPr id="388" name="Google Shape;388;p13"/>
          <p:cNvCxnSpPr/>
          <p:nvPr/>
        </p:nvCxnSpPr>
        <p:spPr>
          <a:xfrm>
            <a:off x="2685065" y="4125179"/>
            <a:ext cx="1620000" cy="1"/>
          </a:xfrm>
          <a:prstGeom prst="straightConnector1">
            <a:avLst/>
          </a:prstGeom>
          <a:noFill/>
          <a:ln w="9525" cap="flat" cmpd="sng">
            <a:solidFill>
              <a:srgbClr val="F29E9E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89" name="Google Shape;389;p13"/>
          <p:cNvGrpSpPr/>
          <p:nvPr/>
        </p:nvGrpSpPr>
        <p:grpSpPr>
          <a:xfrm>
            <a:off x="2809522" y="4548866"/>
            <a:ext cx="427593" cy="124645"/>
            <a:chOff x="991235" y="3543300"/>
            <a:chExt cx="4781550" cy="558800"/>
          </a:xfrm>
        </p:grpSpPr>
        <p:sp>
          <p:nvSpPr>
            <p:cNvPr id="390" name="Google Shape;390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391" name="Google Shape;391;p13"/>
            <p:cNvSpPr txBox="1"/>
            <p:nvPr/>
          </p:nvSpPr>
          <p:spPr>
            <a:xfrm>
              <a:off x="1130938" y="3654423"/>
              <a:ext cx="4449442" cy="373700"/>
            </a:xfrm>
            <a:prstGeom prst="rect">
              <a:avLst/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고급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392" name="Google Shape;392;p13"/>
          <p:cNvSpPr/>
          <p:nvPr/>
        </p:nvSpPr>
        <p:spPr>
          <a:xfrm>
            <a:off x="842299" y="3825918"/>
            <a:ext cx="1748088" cy="903873"/>
          </a:xfrm>
          <a:prstGeom prst="roundRect">
            <a:avLst>
              <a:gd name="adj" fmla="val 270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</a:pPr>
            <a:endParaRPr sz="600" b="0" i="0" u="none" strike="noStrike" cap="non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393" name="Google Shape;393;p13"/>
          <p:cNvSpPr txBox="1"/>
          <p:nvPr/>
        </p:nvSpPr>
        <p:spPr>
          <a:xfrm>
            <a:off x="811423" y="3890657"/>
            <a:ext cx="1815721" cy="175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167"/>
              </a:buClr>
              <a:buSzPts val="1200"/>
              <a:buFont typeface="Arial"/>
              <a:buNone/>
            </a:pPr>
            <a:r>
              <a:rPr lang="ko-KR" sz="800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AI와</a:t>
            </a:r>
            <a:r>
              <a:rPr lang="ko-KR" sz="8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협업하기: LLM </a:t>
            </a:r>
            <a:r>
              <a:rPr lang="ko-KR" sz="800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Agent</a:t>
            </a:r>
            <a:r>
              <a:rPr lang="ko-KR" sz="8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고급 </a:t>
            </a:r>
            <a:r>
              <a:rPr lang="ko-KR" sz="800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챗봇</a:t>
            </a:r>
            <a:r>
              <a:rPr lang="ko-KR" sz="8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개발</a:t>
            </a:r>
            <a:endParaRPr sz="800" b="0" i="0" u="none" strike="noStrike" cap="none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394" name="Google Shape;394;p13"/>
          <p:cNvSpPr txBox="1"/>
          <p:nvPr/>
        </p:nvSpPr>
        <p:spPr>
          <a:xfrm>
            <a:off x="842299" y="4212583"/>
            <a:ext cx="1748088" cy="267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128588" marR="0" lvl="0" indent="-1285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E9E"/>
              </a:buClr>
              <a:buSzPts val="1000"/>
              <a:buFont typeface="Noto Sans Symbols"/>
              <a:buChar char="✔"/>
            </a:pPr>
            <a: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RAG</a:t>
            </a:r>
            <a:r>
              <a:rPr lang="ko-KR" sz="6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</a:t>
            </a:r>
            <a:r>
              <a:rPr lang="ko-KR" sz="600" b="0" i="0" u="none" strike="noStrike" cap="none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Retrieval-Augmented</a:t>
            </a:r>
            <a:r>
              <a:rPr lang="ko-KR" sz="6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sz="600" b="0" i="0" u="none" strike="noStrike" cap="none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Generation</a:t>
            </a:r>
            <a:r>
              <a:rPr lang="ko-KR" sz="6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 </a:t>
            </a:r>
            <a: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활용하여 고급 </a:t>
            </a:r>
            <a:r>
              <a:rPr lang="ko-KR" sz="700" b="0" i="0" u="none" strike="noStrike" cap="none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챗봇</a:t>
            </a:r>
            <a: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개발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395" name="Google Shape;395;p13"/>
          <p:cNvGrpSpPr/>
          <p:nvPr/>
        </p:nvGrpSpPr>
        <p:grpSpPr>
          <a:xfrm>
            <a:off x="1503518" y="4549292"/>
            <a:ext cx="427593" cy="124645"/>
            <a:chOff x="991235" y="3543300"/>
            <a:chExt cx="4781550" cy="558800"/>
          </a:xfrm>
        </p:grpSpPr>
        <p:sp>
          <p:nvSpPr>
            <p:cNvPr id="396" name="Google Shape;396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397" name="Google Shape;397;p13"/>
            <p:cNvSpPr txBox="1"/>
            <p:nvPr/>
          </p:nvSpPr>
          <p:spPr>
            <a:xfrm>
              <a:off x="1130938" y="3654423"/>
              <a:ext cx="4449442" cy="373700"/>
            </a:xfrm>
            <a:prstGeom prst="rect">
              <a:avLst/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3일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398" name="Google Shape;398;p13"/>
          <p:cNvGrpSpPr/>
          <p:nvPr/>
        </p:nvGrpSpPr>
        <p:grpSpPr>
          <a:xfrm>
            <a:off x="1952358" y="4549292"/>
            <a:ext cx="468417" cy="124645"/>
            <a:chOff x="991235" y="3543300"/>
            <a:chExt cx="4781550" cy="558800"/>
          </a:xfrm>
        </p:grpSpPr>
        <p:sp>
          <p:nvSpPr>
            <p:cNvPr id="399" name="Google Shape;399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00" name="Google Shape;400;p13"/>
            <p:cNvSpPr txBox="1"/>
            <p:nvPr/>
          </p:nvSpPr>
          <p:spPr>
            <a:xfrm>
              <a:off x="1130930" y="3654423"/>
              <a:ext cx="4449446" cy="373700"/>
            </a:xfrm>
            <a:prstGeom prst="rect">
              <a:avLst/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21시간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cxnSp>
        <p:nvCxnSpPr>
          <p:cNvPr id="401" name="Google Shape;401;p13"/>
          <p:cNvCxnSpPr/>
          <p:nvPr/>
        </p:nvCxnSpPr>
        <p:spPr>
          <a:xfrm>
            <a:off x="906343" y="4125605"/>
            <a:ext cx="1620000" cy="1"/>
          </a:xfrm>
          <a:prstGeom prst="straightConnector1">
            <a:avLst/>
          </a:prstGeom>
          <a:noFill/>
          <a:ln w="9525" cap="flat" cmpd="sng">
            <a:solidFill>
              <a:srgbClr val="F29E9E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02" name="Google Shape;402;p13"/>
          <p:cNvGrpSpPr/>
          <p:nvPr/>
        </p:nvGrpSpPr>
        <p:grpSpPr>
          <a:xfrm>
            <a:off x="1030800" y="4549292"/>
            <a:ext cx="427593" cy="124645"/>
            <a:chOff x="991235" y="3543300"/>
            <a:chExt cx="4781550" cy="558800"/>
          </a:xfrm>
        </p:grpSpPr>
        <p:sp>
          <p:nvSpPr>
            <p:cNvPr id="403" name="Google Shape;403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04" name="Google Shape;404;p13"/>
            <p:cNvSpPr txBox="1"/>
            <p:nvPr/>
          </p:nvSpPr>
          <p:spPr>
            <a:xfrm>
              <a:off x="1130938" y="3654423"/>
              <a:ext cx="4449442" cy="373700"/>
            </a:xfrm>
            <a:prstGeom prst="rect">
              <a:avLst/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고급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405" name="Google Shape;405;p13"/>
          <p:cNvSpPr/>
          <p:nvPr/>
        </p:nvSpPr>
        <p:spPr>
          <a:xfrm>
            <a:off x="249173" y="3820545"/>
            <a:ext cx="506192" cy="888004"/>
          </a:xfrm>
          <a:prstGeom prst="roundRect">
            <a:avLst>
              <a:gd name="adj" fmla="val 270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-KR" sz="800" b="1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기술</a:t>
            </a:r>
            <a:endParaRPr sz="800" b="1" i="0" u="none" strike="noStrike" cap="non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-KR" altLang="en-US" sz="800" b="1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실무</a:t>
            </a:r>
            <a:endParaRPr sz="800" b="1" i="0" u="none" strike="noStrike" cap="non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-KR" sz="800" b="1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(개발</a:t>
            </a:r>
            <a:endParaRPr sz="800" b="1" i="0" u="none" strike="noStrike" cap="non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-KR" sz="800" b="1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직군)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180000" y="1809750"/>
            <a:ext cx="4266228" cy="1944000"/>
          </a:xfrm>
          <a:prstGeom prst="roundRect">
            <a:avLst>
              <a:gd name="adj" fmla="val 2705"/>
            </a:avLst>
          </a:prstGeom>
          <a:solidFill>
            <a:srgbClr val="FCCC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2623474" y="2811697"/>
            <a:ext cx="1748088" cy="903873"/>
          </a:xfrm>
          <a:prstGeom prst="roundRect">
            <a:avLst>
              <a:gd name="adj" fmla="val 270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</a:pPr>
            <a:endParaRPr sz="600" b="0" i="0" u="none" strike="noStrike" cap="non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408" name="Google Shape;408;p13"/>
          <p:cNvSpPr txBox="1"/>
          <p:nvPr/>
        </p:nvSpPr>
        <p:spPr>
          <a:xfrm>
            <a:off x="2602748" y="2829559"/>
            <a:ext cx="1772167" cy="298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lvl="0" algn="ctr">
              <a:buClr>
                <a:srgbClr val="163167"/>
              </a:buClr>
              <a:buSzPts val="1200"/>
            </a:pPr>
            <a:r>
              <a:rPr lang="ko-KR" altLang="en-US" sz="8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비전공자도 가능한 비즈니스 콘텐츠 제작</a:t>
            </a:r>
            <a:endParaRPr lang="en-US" altLang="ko-KR" sz="800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ctr">
              <a:buClr>
                <a:srgbClr val="163167"/>
              </a:buClr>
              <a:buSzPts val="1200"/>
            </a:pPr>
            <a:r>
              <a:rPr lang="ko-KR" altLang="en-US" sz="8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8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AI </a:t>
            </a:r>
            <a:r>
              <a:rPr lang="ko-KR" altLang="en-US" sz="8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이미지</a:t>
            </a:r>
            <a:r>
              <a:rPr lang="en-US" altLang="ko-KR" sz="8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800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영상만들기</a:t>
            </a:r>
            <a:endParaRPr sz="800" b="0" i="0" u="none" strike="noStrike" cap="none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409" name="Google Shape;409;p13"/>
          <p:cNvSpPr txBox="1"/>
          <p:nvPr/>
        </p:nvSpPr>
        <p:spPr>
          <a:xfrm>
            <a:off x="2623474" y="3181780"/>
            <a:ext cx="1748088" cy="26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128588" marR="0" lvl="0" indent="-1285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E9E"/>
              </a:buClr>
              <a:buSzPts val="1000"/>
              <a:buFont typeface="Noto Sans Symbols"/>
              <a:buChar char="✔"/>
            </a:pPr>
            <a: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생성형 AI 기술 활용</a:t>
            </a:r>
            <a:r>
              <a:rPr lang="ko-KR" altLang="en-US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한 콘텐츠 제작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28588" marR="0" lvl="0" indent="-1285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E9E"/>
              </a:buClr>
              <a:buSzPts val="1000"/>
              <a:buFont typeface="Noto Sans Symbols"/>
              <a:buChar char="✔"/>
            </a:pPr>
            <a: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15초 내외의 </a:t>
            </a:r>
            <a:r>
              <a:rPr lang="ko-KR" sz="700" b="0" i="0" u="none" strike="noStrike" cap="none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숏폼</a:t>
            </a:r>
            <a: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컨텐츠 기획, 제작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10" name="Google Shape;410;p13"/>
          <p:cNvGrpSpPr/>
          <p:nvPr/>
        </p:nvGrpSpPr>
        <p:grpSpPr>
          <a:xfrm>
            <a:off x="3284693" y="3526751"/>
            <a:ext cx="427593" cy="124645"/>
            <a:chOff x="991235" y="3543300"/>
            <a:chExt cx="4781550" cy="558800"/>
          </a:xfrm>
        </p:grpSpPr>
        <p:sp>
          <p:nvSpPr>
            <p:cNvPr id="411" name="Google Shape;411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12" name="Google Shape;412;p13"/>
            <p:cNvSpPr txBox="1"/>
            <p:nvPr/>
          </p:nvSpPr>
          <p:spPr>
            <a:xfrm>
              <a:off x="1130938" y="3654423"/>
              <a:ext cx="4449442" cy="373700"/>
            </a:xfrm>
            <a:prstGeom prst="rect">
              <a:avLst/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2일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413" name="Google Shape;413;p13"/>
          <p:cNvGrpSpPr/>
          <p:nvPr/>
        </p:nvGrpSpPr>
        <p:grpSpPr>
          <a:xfrm>
            <a:off x="3733533" y="3526751"/>
            <a:ext cx="468417" cy="124645"/>
            <a:chOff x="991235" y="3543300"/>
            <a:chExt cx="4781550" cy="558800"/>
          </a:xfrm>
        </p:grpSpPr>
        <p:sp>
          <p:nvSpPr>
            <p:cNvPr id="414" name="Google Shape;414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15" name="Google Shape;415;p13"/>
            <p:cNvSpPr txBox="1"/>
            <p:nvPr/>
          </p:nvSpPr>
          <p:spPr>
            <a:xfrm>
              <a:off x="1130930" y="3654423"/>
              <a:ext cx="4449446" cy="373700"/>
            </a:xfrm>
            <a:prstGeom prst="rect">
              <a:avLst/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14시간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cxnSp>
        <p:nvCxnSpPr>
          <p:cNvPr id="416" name="Google Shape;416;p13"/>
          <p:cNvCxnSpPr/>
          <p:nvPr/>
        </p:nvCxnSpPr>
        <p:spPr>
          <a:xfrm>
            <a:off x="2687518" y="3129604"/>
            <a:ext cx="1620000" cy="1"/>
          </a:xfrm>
          <a:prstGeom prst="straightConnector1">
            <a:avLst/>
          </a:prstGeom>
          <a:noFill/>
          <a:ln w="9525" cap="flat" cmpd="sng">
            <a:solidFill>
              <a:srgbClr val="F29E9E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17" name="Google Shape;417;p13"/>
          <p:cNvGrpSpPr/>
          <p:nvPr/>
        </p:nvGrpSpPr>
        <p:grpSpPr>
          <a:xfrm>
            <a:off x="2811975" y="3526751"/>
            <a:ext cx="427593" cy="124645"/>
            <a:chOff x="991235" y="3543300"/>
            <a:chExt cx="4781550" cy="558800"/>
          </a:xfrm>
        </p:grpSpPr>
        <p:sp>
          <p:nvSpPr>
            <p:cNvPr id="418" name="Google Shape;418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19" name="Google Shape;419;p13"/>
            <p:cNvSpPr txBox="1"/>
            <p:nvPr/>
          </p:nvSpPr>
          <p:spPr>
            <a:xfrm>
              <a:off x="1130938" y="3654423"/>
              <a:ext cx="4449442" cy="373700"/>
            </a:xfrm>
            <a:prstGeom prst="rect">
              <a:avLst/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중급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420" name="Google Shape;420;p13"/>
          <p:cNvSpPr/>
          <p:nvPr/>
        </p:nvSpPr>
        <p:spPr>
          <a:xfrm>
            <a:off x="2625564" y="1872253"/>
            <a:ext cx="1748088" cy="903873"/>
          </a:xfrm>
          <a:prstGeom prst="roundRect">
            <a:avLst>
              <a:gd name="adj" fmla="val 270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</a:pPr>
            <a:endParaRPr sz="600" b="0" i="0" u="none" strike="noStrike" cap="non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421" name="Google Shape;421;p13"/>
          <p:cNvSpPr txBox="1"/>
          <p:nvPr/>
        </p:nvSpPr>
        <p:spPr>
          <a:xfrm>
            <a:off x="2604838" y="1962447"/>
            <a:ext cx="1795968" cy="175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167"/>
              </a:buClr>
              <a:buSzPts val="1200"/>
              <a:buFont typeface="Arial"/>
              <a:buNone/>
            </a:pPr>
            <a:r>
              <a:rPr lang="ko-KR" sz="8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나만의 업무 비서, 워크플로우 AI 에이전트</a:t>
            </a:r>
            <a:endParaRPr sz="800" b="0" i="0" u="none" strike="noStrike" cap="none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422" name="Google Shape;422;p13"/>
          <p:cNvSpPr txBox="1"/>
          <p:nvPr/>
        </p:nvSpPr>
        <p:spPr>
          <a:xfrm>
            <a:off x="2625564" y="2243881"/>
            <a:ext cx="1748088" cy="267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128588" marR="0" lvl="0" indent="-1285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E9E"/>
              </a:buClr>
              <a:buSzPts val="1000"/>
              <a:buFont typeface="Noto Sans Symbols"/>
              <a:buChar char="✔"/>
            </a:pPr>
            <a: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프롬프트 엔지니어링 이해</a:t>
            </a:r>
            <a:endParaRPr sz="700" b="0" i="0" u="none" strike="noStrike" cap="none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128588" marR="0" lvl="0" indent="-1285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E9E"/>
              </a:buClr>
              <a:buSzPts val="1000"/>
              <a:buFont typeface="Noto Sans Symbols"/>
              <a:buChar char="✔"/>
            </a:pPr>
            <a:r>
              <a:rPr lang="ko-KR" sz="7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n8n, </a:t>
            </a:r>
            <a:r>
              <a:rPr lang="ko-KR" sz="700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Make</a:t>
            </a:r>
            <a:r>
              <a:rPr lang="ko-KR" sz="7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워크플로우로 반복 업무 효율화</a:t>
            </a:r>
            <a:endParaRPr sz="700" b="0" i="0" u="none" strike="noStrike" cap="none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grpSp>
        <p:nvGrpSpPr>
          <p:cNvPr id="423" name="Google Shape;423;p13"/>
          <p:cNvGrpSpPr/>
          <p:nvPr/>
        </p:nvGrpSpPr>
        <p:grpSpPr>
          <a:xfrm>
            <a:off x="3286783" y="2588852"/>
            <a:ext cx="427593" cy="124645"/>
            <a:chOff x="991235" y="3543300"/>
            <a:chExt cx="4781550" cy="558800"/>
          </a:xfrm>
        </p:grpSpPr>
        <p:sp>
          <p:nvSpPr>
            <p:cNvPr id="424" name="Google Shape;424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25" name="Google Shape;425;p13"/>
            <p:cNvSpPr txBox="1"/>
            <p:nvPr/>
          </p:nvSpPr>
          <p:spPr>
            <a:xfrm>
              <a:off x="1130938" y="3654423"/>
              <a:ext cx="4449442" cy="373700"/>
            </a:xfrm>
            <a:prstGeom prst="rect">
              <a:avLst/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2일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426" name="Google Shape;426;p13"/>
          <p:cNvGrpSpPr/>
          <p:nvPr/>
        </p:nvGrpSpPr>
        <p:grpSpPr>
          <a:xfrm>
            <a:off x="3735623" y="2588852"/>
            <a:ext cx="468417" cy="124645"/>
            <a:chOff x="991235" y="3543300"/>
            <a:chExt cx="4781550" cy="558800"/>
          </a:xfrm>
        </p:grpSpPr>
        <p:sp>
          <p:nvSpPr>
            <p:cNvPr id="427" name="Google Shape;427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28" name="Google Shape;428;p13"/>
            <p:cNvSpPr txBox="1"/>
            <p:nvPr/>
          </p:nvSpPr>
          <p:spPr>
            <a:xfrm>
              <a:off x="1130930" y="3654423"/>
              <a:ext cx="4449446" cy="373700"/>
            </a:xfrm>
            <a:prstGeom prst="rect">
              <a:avLst/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14시간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cxnSp>
        <p:nvCxnSpPr>
          <p:cNvPr id="429" name="Google Shape;429;p13"/>
          <p:cNvCxnSpPr/>
          <p:nvPr/>
        </p:nvCxnSpPr>
        <p:spPr>
          <a:xfrm>
            <a:off x="2689608" y="2180136"/>
            <a:ext cx="1620000" cy="1"/>
          </a:xfrm>
          <a:prstGeom prst="straightConnector1">
            <a:avLst/>
          </a:prstGeom>
          <a:noFill/>
          <a:ln w="9525" cap="flat" cmpd="sng">
            <a:solidFill>
              <a:srgbClr val="F29E9E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30" name="Google Shape;430;p13"/>
          <p:cNvGrpSpPr/>
          <p:nvPr/>
        </p:nvGrpSpPr>
        <p:grpSpPr>
          <a:xfrm>
            <a:off x="2814065" y="2588852"/>
            <a:ext cx="427593" cy="124645"/>
            <a:chOff x="991235" y="3543300"/>
            <a:chExt cx="4781550" cy="558800"/>
          </a:xfrm>
        </p:grpSpPr>
        <p:sp>
          <p:nvSpPr>
            <p:cNvPr id="431" name="Google Shape;431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32" name="Google Shape;432;p13"/>
            <p:cNvSpPr txBox="1"/>
            <p:nvPr/>
          </p:nvSpPr>
          <p:spPr>
            <a:xfrm>
              <a:off x="1130938" y="3654423"/>
              <a:ext cx="4449442" cy="373700"/>
            </a:xfrm>
            <a:prstGeom prst="rect">
              <a:avLst/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중급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433" name="Google Shape;433;p13"/>
          <p:cNvSpPr/>
          <p:nvPr/>
        </p:nvSpPr>
        <p:spPr>
          <a:xfrm>
            <a:off x="244001" y="1859804"/>
            <a:ext cx="506192" cy="1831414"/>
          </a:xfrm>
          <a:prstGeom prst="roundRect">
            <a:avLst>
              <a:gd name="adj" fmla="val 270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-KR" sz="800" b="1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현업</a:t>
            </a:r>
            <a:endParaRPr lang="ko-KR" altLang="en-US" sz="800" b="1" i="0" u="none" strike="noStrike" cap="non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-KR" altLang="en-US" sz="800" b="1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실무</a:t>
            </a:r>
            <a:endParaRPr lang="ko-KR" altLang="en-US" sz="800" b="1" i="0" u="none" strike="noStrike" cap="non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-KR" sz="800" b="1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</a:t>
            </a:r>
            <a:r>
              <a:rPr lang="ko-KR" sz="800" b="1" i="0" u="none" strike="noStrike" cap="non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비개발직군</a:t>
            </a:r>
            <a:r>
              <a:rPr lang="ko-KR" sz="800" b="1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839361" y="1867170"/>
            <a:ext cx="1748088" cy="903873"/>
          </a:xfrm>
          <a:prstGeom prst="roundRect">
            <a:avLst>
              <a:gd name="adj" fmla="val 270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</a:pPr>
            <a:endParaRPr sz="600" b="0" i="0" u="none" strike="noStrike" cap="non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435" name="Google Shape;435;p13"/>
          <p:cNvSpPr txBox="1"/>
          <p:nvPr/>
        </p:nvSpPr>
        <p:spPr>
          <a:xfrm>
            <a:off x="974712" y="1962447"/>
            <a:ext cx="1477387" cy="175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167"/>
              </a:buClr>
              <a:buSzPts val="1200"/>
              <a:buFont typeface="Arial"/>
              <a:buNone/>
            </a:pPr>
            <a:r>
              <a:rPr lang="ko-KR" sz="800" b="0" i="0" u="none" strike="noStrike" cap="none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생성형AI를</a:t>
            </a:r>
            <a:r>
              <a:rPr lang="ko-KR" sz="8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활용한 업무자동화</a:t>
            </a:r>
            <a:endParaRPr sz="800" b="0" i="0" u="none" strike="noStrike" cap="none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436" name="Google Shape;436;p13"/>
          <p:cNvSpPr txBox="1"/>
          <p:nvPr/>
        </p:nvSpPr>
        <p:spPr>
          <a:xfrm>
            <a:off x="839361" y="2243881"/>
            <a:ext cx="1748088" cy="26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128588" marR="0" lvl="0" indent="-1285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E9E"/>
              </a:buClr>
              <a:buSzPts val="1000"/>
              <a:buFont typeface="Noto Sans Symbols"/>
              <a:buChar char="✔"/>
            </a:pPr>
            <a: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생성형 AI 기술 활용</a:t>
            </a:r>
            <a:endParaRPr sz="700" b="0" i="0" u="none" strike="noStrike" cap="none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128588" marR="0" lvl="0" indent="-1285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E9E"/>
              </a:buClr>
              <a:buSzPts val="1000"/>
              <a:buFont typeface="Noto Sans Symbols"/>
              <a:buChar char="✔"/>
            </a:pPr>
            <a: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분석-기획-문서 작성 능력 향상</a:t>
            </a:r>
            <a:endParaRPr sz="700" b="0" i="0" u="none" strike="noStrike" cap="none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grpSp>
        <p:nvGrpSpPr>
          <p:cNvPr id="437" name="Google Shape;437;p13"/>
          <p:cNvGrpSpPr/>
          <p:nvPr/>
        </p:nvGrpSpPr>
        <p:grpSpPr>
          <a:xfrm>
            <a:off x="1500580" y="2588852"/>
            <a:ext cx="427593" cy="124645"/>
            <a:chOff x="991235" y="3543300"/>
            <a:chExt cx="4781550" cy="558800"/>
          </a:xfrm>
        </p:grpSpPr>
        <p:sp>
          <p:nvSpPr>
            <p:cNvPr id="438" name="Google Shape;438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39" name="Google Shape;439;p13"/>
            <p:cNvSpPr txBox="1"/>
            <p:nvPr/>
          </p:nvSpPr>
          <p:spPr>
            <a:xfrm>
              <a:off x="1130938" y="3654423"/>
              <a:ext cx="4449442" cy="373700"/>
            </a:xfrm>
            <a:prstGeom prst="rect">
              <a:avLst/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2일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440" name="Google Shape;440;p13"/>
          <p:cNvGrpSpPr/>
          <p:nvPr/>
        </p:nvGrpSpPr>
        <p:grpSpPr>
          <a:xfrm>
            <a:off x="1949420" y="2588852"/>
            <a:ext cx="468417" cy="124645"/>
            <a:chOff x="991235" y="3543300"/>
            <a:chExt cx="4781550" cy="558800"/>
          </a:xfrm>
        </p:grpSpPr>
        <p:sp>
          <p:nvSpPr>
            <p:cNvPr id="441" name="Google Shape;441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42" name="Google Shape;442;p13"/>
            <p:cNvSpPr txBox="1"/>
            <p:nvPr/>
          </p:nvSpPr>
          <p:spPr>
            <a:xfrm>
              <a:off x="1130930" y="3654423"/>
              <a:ext cx="4449446" cy="373700"/>
            </a:xfrm>
            <a:prstGeom prst="rect">
              <a:avLst/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14시간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cxnSp>
        <p:nvCxnSpPr>
          <p:cNvPr id="443" name="Google Shape;443;p13"/>
          <p:cNvCxnSpPr/>
          <p:nvPr/>
        </p:nvCxnSpPr>
        <p:spPr>
          <a:xfrm>
            <a:off x="903405" y="2180136"/>
            <a:ext cx="1620000" cy="1"/>
          </a:xfrm>
          <a:prstGeom prst="straightConnector1">
            <a:avLst/>
          </a:prstGeom>
          <a:noFill/>
          <a:ln w="9525" cap="flat" cmpd="sng">
            <a:solidFill>
              <a:srgbClr val="F29E9E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44" name="Google Shape;444;p13"/>
          <p:cNvGrpSpPr/>
          <p:nvPr/>
        </p:nvGrpSpPr>
        <p:grpSpPr>
          <a:xfrm>
            <a:off x="1027862" y="2588852"/>
            <a:ext cx="427593" cy="124645"/>
            <a:chOff x="991235" y="3543300"/>
            <a:chExt cx="4781550" cy="558800"/>
          </a:xfrm>
        </p:grpSpPr>
        <p:sp>
          <p:nvSpPr>
            <p:cNvPr id="445" name="Google Shape;445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46" name="Google Shape;446;p13"/>
            <p:cNvSpPr txBox="1"/>
            <p:nvPr/>
          </p:nvSpPr>
          <p:spPr>
            <a:xfrm>
              <a:off x="1130938" y="3654423"/>
              <a:ext cx="4449442" cy="373700"/>
            </a:xfrm>
            <a:prstGeom prst="rect">
              <a:avLst/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중</a:t>
              </a: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급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447" name="Google Shape;447;p13"/>
          <p:cNvSpPr/>
          <p:nvPr/>
        </p:nvSpPr>
        <p:spPr>
          <a:xfrm>
            <a:off x="839361" y="2804140"/>
            <a:ext cx="1748088" cy="903873"/>
          </a:xfrm>
          <a:prstGeom prst="roundRect">
            <a:avLst>
              <a:gd name="adj" fmla="val 270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</a:pPr>
            <a:endParaRPr sz="600" b="0" i="0" u="none" strike="noStrike" cap="non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448" name="Google Shape;448;p13"/>
          <p:cNvSpPr txBox="1"/>
          <p:nvPr/>
        </p:nvSpPr>
        <p:spPr>
          <a:xfrm>
            <a:off x="974712" y="2829559"/>
            <a:ext cx="1477387" cy="298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rgbClr val="163167"/>
              </a:buClr>
              <a:buSzPts val="1200"/>
              <a:buNone/>
              <a:defRPr sz="80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자료 조사부터 슬라이드까지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AI </a:t>
            </a:r>
            <a:r>
              <a:rPr lang="ko-KR" altLang="en-US" dirty="0"/>
              <a:t>프레젠테이션 자동화</a:t>
            </a:r>
            <a:endParaRPr dirty="0"/>
          </a:p>
        </p:txBody>
      </p:sp>
      <p:sp>
        <p:nvSpPr>
          <p:cNvPr id="449" name="Google Shape;449;p13"/>
          <p:cNvSpPr txBox="1"/>
          <p:nvPr/>
        </p:nvSpPr>
        <p:spPr>
          <a:xfrm>
            <a:off x="839361" y="3181780"/>
            <a:ext cx="1845704" cy="267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128588" marR="0" lvl="0" indent="-1285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E9E"/>
              </a:buClr>
              <a:buSzPts val="1000"/>
              <a:buFont typeface="Noto Sans Symbols"/>
              <a:buChar char="✔"/>
            </a:pPr>
            <a:r>
              <a:rPr lang="ko-KR" altLang="en-US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자료 조사부터 프레젠테이션 기획</a:t>
            </a:r>
            <a:r>
              <a:rPr lang="en-US" alt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·</a:t>
            </a:r>
            <a:r>
              <a:rPr lang="ko-KR" altLang="en-US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영상 제작까지 이어지는 </a:t>
            </a:r>
            <a:r>
              <a:rPr lang="ko-KR" altLang="en-US" sz="700" b="0" i="0" u="none" strike="noStrike" cap="none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올인원</a:t>
            </a:r>
            <a:r>
              <a:rPr lang="en-US" alt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(All-in-One) </a:t>
            </a:r>
            <a:r>
              <a:rPr lang="ko-KR" altLang="en-US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기획 </a:t>
            </a:r>
            <a:endParaRPr sz="700" b="0" i="0" u="none" strike="noStrike" cap="none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grpSp>
        <p:nvGrpSpPr>
          <p:cNvPr id="450" name="Google Shape;450;p13"/>
          <p:cNvGrpSpPr/>
          <p:nvPr/>
        </p:nvGrpSpPr>
        <p:grpSpPr>
          <a:xfrm>
            <a:off x="1500580" y="3526751"/>
            <a:ext cx="427593" cy="124645"/>
            <a:chOff x="991235" y="3543300"/>
            <a:chExt cx="4781550" cy="558800"/>
          </a:xfrm>
        </p:grpSpPr>
        <p:sp>
          <p:nvSpPr>
            <p:cNvPr id="451" name="Google Shape;451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52" name="Google Shape;452;p13"/>
            <p:cNvSpPr txBox="1"/>
            <p:nvPr/>
          </p:nvSpPr>
          <p:spPr>
            <a:xfrm>
              <a:off x="1130938" y="3654423"/>
              <a:ext cx="4449442" cy="373700"/>
            </a:xfrm>
            <a:prstGeom prst="rect">
              <a:avLst/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2일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453" name="Google Shape;453;p13"/>
          <p:cNvGrpSpPr/>
          <p:nvPr/>
        </p:nvGrpSpPr>
        <p:grpSpPr>
          <a:xfrm>
            <a:off x="1949420" y="3526751"/>
            <a:ext cx="468417" cy="124645"/>
            <a:chOff x="991235" y="3543300"/>
            <a:chExt cx="4781550" cy="558800"/>
          </a:xfrm>
        </p:grpSpPr>
        <p:sp>
          <p:nvSpPr>
            <p:cNvPr id="454" name="Google Shape;454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55" name="Google Shape;455;p13"/>
            <p:cNvSpPr txBox="1"/>
            <p:nvPr/>
          </p:nvSpPr>
          <p:spPr>
            <a:xfrm>
              <a:off x="1130930" y="3654423"/>
              <a:ext cx="4449446" cy="373700"/>
            </a:xfrm>
            <a:prstGeom prst="rect">
              <a:avLst/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10시간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cxnSp>
        <p:nvCxnSpPr>
          <p:cNvPr id="456" name="Google Shape;456;p13"/>
          <p:cNvCxnSpPr/>
          <p:nvPr/>
        </p:nvCxnSpPr>
        <p:spPr>
          <a:xfrm>
            <a:off x="903405" y="3129604"/>
            <a:ext cx="1620000" cy="1"/>
          </a:xfrm>
          <a:prstGeom prst="straightConnector1">
            <a:avLst/>
          </a:prstGeom>
          <a:noFill/>
          <a:ln w="9525" cap="flat" cmpd="sng">
            <a:solidFill>
              <a:srgbClr val="F29E9E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57" name="Google Shape;457;p13"/>
          <p:cNvGrpSpPr/>
          <p:nvPr/>
        </p:nvGrpSpPr>
        <p:grpSpPr>
          <a:xfrm>
            <a:off x="1027862" y="3526751"/>
            <a:ext cx="427593" cy="124645"/>
            <a:chOff x="991235" y="3543300"/>
            <a:chExt cx="4781550" cy="558800"/>
          </a:xfrm>
        </p:grpSpPr>
        <p:sp>
          <p:nvSpPr>
            <p:cNvPr id="458" name="Google Shape;458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59" name="Google Shape;459;p13"/>
            <p:cNvSpPr txBox="1"/>
            <p:nvPr/>
          </p:nvSpPr>
          <p:spPr>
            <a:xfrm>
              <a:off x="1130938" y="3654423"/>
              <a:ext cx="4449442" cy="373700"/>
            </a:xfrm>
            <a:prstGeom prst="rect">
              <a:avLst/>
            </a:prstGeom>
            <a:solidFill>
              <a:srgbClr val="FCCCC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중급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460" name="Google Shape;460;p13"/>
          <p:cNvSpPr/>
          <p:nvPr/>
        </p:nvSpPr>
        <p:spPr>
          <a:xfrm>
            <a:off x="4654394" y="2837550"/>
            <a:ext cx="4266228" cy="1944000"/>
          </a:xfrm>
          <a:prstGeom prst="roundRect">
            <a:avLst>
              <a:gd name="adj" fmla="val 2705"/>
            </a:avLst>
          </a:prstGeom>
          <a:solidFill>
            <a:srgbClr val="88C1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5324516" y="3813520"/>
            <a:ext cx="1748088" cy="903873"/>
          </a:xfrm>
          <a:prstGeom prst="roundRect">
            <a:avLst>
              <a:gd name="adj" fmla="val 270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</a:pPr>
            <a:endParaRPr sz="600" b="0" i="0" u="none" strike="noStrike" cap="non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462" name="Google Shape;462;p13"/>
          <p:cNvSpPr txBox="1"/>
          <p:nvPr/>
        </p:nvSpPr>
        <p:spPr>
          <a:xfrm>
            <a:off x="5459867" y="3869524"/>
            <a:ext cx="1477387" cy="175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167"/>
              </a:buClr>
              <a:buSzPts val="1200"/>
              <a:buFont typeface="Arial"/>
              <a:buNone/>
            </a:pPr>
            <a:r>
              <a:rPr lang="ko-KR" sz="800" b="0" i="0" u="none" strike="noStrike" cap="none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세일즈&amp;마케팅</a:t>
            </a:r>
            <a:r>
              <a:rPr lang="ko-KR" sz="8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프로세스 AI </a:t>
            </a:r>
            <a:r>
              <a:rPr lang="ko-KR" sz="800" b="0" i="0" u="none" strike="noStrike" cap="none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리터칭</a:t>
            </a:r>
            <a:r>
              <a:rPr lang="ko-KR" sz="8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endParaRPr sz="800" b="0" i="0" u="none" strike="noStrike" cap="none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463" name="Google Shape;463;p13"/>
          <p:cNvSpPr txBox="1"/>
          <p:nvPr/>
        </p:nvSpPr>
        <p:spPr>
          <a:xfrm>
            <a:off x="5324516" y="4165183"/>
            <a:ext cx="1748088" cy="26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128588" marR="0" lvl="0" indent="-1285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1000"/>
              <a:buFont typeface="Noto Sans Symbols"/>
              <a:buChar char="✔"/>
            </a:pPr>
            <a: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기반 </a:t>
            </a:r>
            <a:r>
              <a:rPr lang="ko-KR" sz="700" b="0" i="0" u="none" strike="noStrike" cap="none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시장·고객</a:t>
            </a:r>
            <a: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분석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28588" marR="0" lvl="0" indent="-1285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1000"/>
              <a:buFont typeface="Noto Sans Symbols"/>
              <a:buChar char="✔"/>
            </a:pPr>
            <a: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세일즈 &amp; 마케팅 프로세스 자동화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64" name="Google Shape;464;p13"/>
          <p:cNvGrpSpPr/>
          <p:nvPr/>
        </p:nvGrpSpPr>
        <p:grpSpPr>
          <a:xfrm>
            <a:off x="5985735" y="4510154"/>
            <a:ext cx="427593" cy="124645"/>
            <a:chOff x="991235" y="3543300"/>
            <a:chExt cx="4781550" cy="558800"/>
          </a:xfrm>
        </p:grpSpPr>
        <p:sp>
          <p:nvSpPr>
            <p:cNvPr id="465" name="Google Shape;465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66" name="Google Shape;466;p13"/>
            <p:cNvSpPr txBox="1"/>
            <p:nvPr/>
          </p:nvSpPr>
          <p:spPr>
            <a:xfrm>
              <a:off x="1130938" y="3654423"/>
              <a:ext cx="4449442" cy="373700"/>
            </a:xfrm>
            <a:prstGeom prst="rect">
              <a:avLst/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1일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467" name="Google Shape;467;p13"/>
          <p:cNvGrpSpPr/>
          <p:nvPr/>
        </p:nvGrpSpPr>
        <p:grpSpPr>
          <a:xfrm>
            <a:off x="6434575" y="4510154"/>
            <a:ext cx="468417" cy="124645"/>
            <a:chOff x="991235" y="3543300"/>
            <a:chExt cx="4781550" cy="558800"/>
          </a:xfrm>
        </p:grpSpPr>
        <p:sp>
          <p:nvSpPr>
            <p:cNvPr id="468" name="Google Shape;468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69" name="Google Shape;469;p13"/>
            <p:cNvSpPr txBox="1"/>
            <p:nvPr/>
          </p:nvSpPr>
          <p:spPr>
            <a:xfrm>
              <a:off x="1130930" y="3654423"/>
              <a:ext cx="4449446" cy="373700"/>
            </a:xfrm>
            <a:prstGeom prst="rect">
              <a:avLst/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7시간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cxnSp>
        <p:nvCxnSpPr>
          <p:cNvPr id="470" name="Google Shape;470;p13"/>
          <p:cNvCxnSpPr/>
          <p:nvPr/>
        </p:nvCxnSpPr>
        <p:spPr>
          <a:xfrm>
            <a:off x="5388560" y="4113007"/>
            <a:ext cx="1620000" cy="1"/>
          </a:xfrm>
          <a:prstGeom prst="straightConnector1">
            <a:avLst/>
          </a:prstGeom>
          <a:noFill/>
          <a:ln w="9525" cap="flat" cmpd="sng">
            <a:solidFill>
              <a:srgbClr val="4F81B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71" name="Google Shape;471;p13"/>
          <p:cNvGrpSpPr/>
          <p:nvPr/>
        </p:nvGrpSpPr>
        <p:grpSpPr>
          <a:xfrm>
            <a:off x="5513017" y="4510154"/>
            <a:ext cx="427593" cy="124645"/>
            <a:chOff x="991235" y="3543300"/>
            <a:chExt cx="4781550" cy="558800"/>
          </a:xfrm>
        </p:grpSpPr>
        <p:sp>
          <p:nvSpPr>
            <p:cNvPr id="472" name="Google Shape;472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73" name="Google Shape;473;p13"/>
            <p:cNvSpPr txBox="1"/>
            <p:nvPr/>
          </p:nvSpPr>
          <p:spPr>
            <a:xfrm>
              <a:off x="1130938" y="3654423"/>
              <a:ext cx="4449442" cy="373700"/>
            </a:xfrm>
            <a:prstGeom prst="rect">
              <a:avLst/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중급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474" name="Google Shape;474;p13"/>
          <p:cNvSpPr/>
          <p:nvPr/>
        </p:nvSpPr>
        <p:spPr>
          <a:xfrm>
            <a:off x="7093836" y="2887604"/>
            <a:ext cx="1748088" cy="903873"/>
          </a:xfrm>
          <a:prstGeom prst="roundRect">
            <a:avLst>
              <a:gd name="adj" fmla="val 270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</a:pPr>
            <a:endParaRPr sz="600" b="0" i="0" u="none" strike="noStrike" cap="non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475" name="Google Shape;475;p13"/>
          <p:cNvSpPr txBox="1"/>
          <p:nvPr/>
        </p:nvSpPr>
        <p:spPr>
          <a:xfrm>
            <a:off x="7170716" y="2943608"/>
            <a:ext cx="1637975" cy="175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167"/>
              </a:buClr>
              <a:buSzPts val="1200"/>
              <a:buFont typeface="Arial"/>
              <a:buNone/>
            </a:pPr>
            <a:r>
              <a:rPr lang="ko-KR" sz="8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데이터를 활용한 </a:t>
            </a:r>
            <a:r>
              <a:rPr lang="ko-KR" sz="800" b="0" i="0" u="none" strike="noStrike" cap="none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바이브코딩</a:t>
            </a:r>
            <a:r>
              <a:rPr lang="ko-KR" sz="8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sz="800" b="0" i="0" u="none" strike="noStrike" cap="none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</a:t>
            </a:r>
            <a:r>
              <a:rPr lang="ko-KR" sz="8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sz="800" b="0" i="0" u="none" strike="noStrike" cap="none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to</a:t>
            </a:r>
            <a:r>
              <a:rPr lang="ko-KR" sz="8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sz="800" b="0" i="0" u="none" strike="noStrike" cap="none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Z</a:t>
            </a:r>
            <a:r>
              <a:rPr lang="ko-KR" sz="8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endParaRPr sz="800" b="0" i="0" u="none" strike="noStrike" cap="none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476" name="Google Shape;476;p13"/>
          <p:cNvSpPr txBox="1"/>
          <p:nvPr/>
        </p:nvSpPr>
        <p:spPr>
          <a:xfrm>
            <a:off x="7093836" y="3239267"/>
            <a:ext cx="1748088" cy="267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128588" marR="0" lvl="0" indent="-1285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1000"/>
              <a:buFont typeface="Noto Sans Symbols"/>
              <a:buChar char="✔"/>
            </a:pPr>
            <a:r>
              <a:rPr lang="ko-KR" sz="700" b="0" i="0" u="none" strike="noStrike" cap="none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AI를</a:t>
            </a:r>
            <a: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활용한 아이디어 발굴 및 기초 시장 분석으로 개인 업무 연계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77" name="Google Shape;477;p13"/>
          <p:cNvGrpSpPr/>
          <p:nvPr/>
        </p:nvGrpSpPr>
        <p:grpSpPr>
          <a:xfrm>
            <a:off x="7755055" y="3584238"/>
            <a:ext cx="427593" cy="124645"/>
            <a:chOff x="991235" y="3543300"/>
            <a:chExt cx="4781550" cy="558800"/>
          </a:xfrm>
        </p:grpSpPr>
        <p:sp>
          <p:nvSpPr>
            <p:cNvPr id="478" name="Google Shape;478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79" name="Google Shape;479;p13"/>
            <p:cNvSpPr txBox="1"/>
            <p:nvPr/>
          </p:nvSpPr>
          <p:spPr>
            <a:xfrm>
              <a:off x="1130938" y="3654423"/>
              <a:ext cx="4449442" cy="373700"/>
            </a:xfrm>
            <a:prstGeom prst="rect">
              <a:avLst/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1일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480" name="Google Shape;480;p13"/>
          <p:cNvGrpSpPr/>
          <p:nvPr/>
        </p:nvGrpSpPr>
        <p:grpSpPr>
          <a:xfrm>
            <a:off x="8203895" y="3584238"/>
            <a:ext cx="468417" cy="124645"/>
            <a:chOff x="991235" y="3543300"/>
            <a:chExt cx="4781550" cy="558800"/>
          </a:xfrm>
        </p:grpSpPr>
        <p:sp>
          <p:nvSpPr>
            <p:cNvPr id="481" name="Google Shape;481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82" name="Google Shape;482;p13"/>
            <p:cNvSpPr txBox="1"/>
            <p:nvPr/>
          </p:nvSpPr>
          <p:spPr>
            <a:xfrm>
              <a:off x="1130930" y="3654423"/>
              <a:ext cx="4449446" cy="373700"/>
            </a:xfrm>
            <a:prstGeom prst="rect">
              <a:avLst/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7시간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cxnSp>
        <p:nvCxnSpPr>
          <p:cNvPr id="483" name="Google Shape;483;p13"/>
          <p:cNvCxnSpPr/>
          <p:nvPr/>
        </p:nvCxnSpPr>
        <p:spPr>
          <a:xfrm>
            <a:off x="7157880" y="3187091"/>
            <a:ext cx="1620000" cy="1"/>
          </a:xfrm>
          <a:prstGeom prst="straightConnector1">
            <a:avLst/>
          </a:prstGeom>
          <a:noFill/>
          <a:ln w="9525" cap="flat" cmpd="sng">
            <a:solidFill>
              <a:srgbClr val="4F81B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84" name="Google Shape;484;p13"/>
          <p:cNvGrpSpPr/>
          <p:nvPr/>
        </p:nvGrpSpPr>
        <p:grpSpPr>
          <a:xfrm>
            <a:off x="7282337" y="3584238"/>
            <a:ext cx="427593" cy="124645"/>
            <a:chOff x="991235" y="3543300"/>
            <a:chExt cx="4781550" cy="558800"/>
          </a:xfrm>
        </p:grpSpPr>
        <p:sp>
          <p:nvSpPr>
            <p:cNvPr id="485" name="Google Shape;485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86" name="Google Shape;486;p13"/>
            <p:cNvSpPr txBox="1"/>
            <p:nvPr/>
          </p:nvSpPr>
          <p:spPr>
            <a:xfrm>
              <a:off x="1130938" y="3654423"/>
              <a:ext cx="4449442" cy="373700"/>
            </a:xfrm>
            <a:prstGeom prst="rect">
              <a:avLst/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중</a:t>
              </a: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급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487" name="Google Shape;487;p13"/>
          <p:cNvSpPr/>
          <p:nvPr/>
        </p:nvSpPr>
        <p:spPr>
          <a:xfrm>
            <a:off x="5323349" y="2882914"/>
            <a:ext cx="1748088" cy="903873"/>
          </a:xfrm>
          <a:prstGeom prst="roundRect">
            <a:avLst>
              <a:gd name="adj" fmla="val 270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</a:pPr>
            <a:endParaRPr sz="600" b="0" i="0" u="none" strike="noStrike" cap="non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488" name="Google Shape;488;p13"/>
          <p:cNvSpPr txBox="1"/>
          <p:nvPr/>
        </p:nvSpPr>
        <p:spPr>
          <a:xfrm>
            <a:off x="5458699" y="2892518"/>
            <a:ext cx="1477387" cy="29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167"/>
              </a:buClr>
              <a:buSzPts val="1200"/>
              <a:buFont typeface="Arial"/>
              <a:buNone/>
            </a:pPr>
            <a:r>
              <a:rPr lang="ko-KR" sz="800" b="0" i="0" u="none" strike="noStrike" cap="none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ChatGPT로</a:t>
            </a:r>
            <a:r>
              <a:rPr lang="ko-KR" sz="8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sz="800" b="0" i="0" u="none" strike="noStrike" cap="none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보고서,사업계획서</a:t>
            </a:r>
            <a:r>
              <a:rPr lang="ko-KR" sz="8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1시간 만에 완성하기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9" name="Google Shape;489;p13"/>
          <p:cNvSpPr txBox="1"/>
          <p:nvPr/>
        </p:nvSpPr>
        <p:spPr>
          <a:xfrm>
            <a:off x="5323349" y="3235507"/>
            <a:ext cx="1748088" cy="26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128588" marR="0" lvl="0" indent="-1285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1000"/>
              <a:buFont typeface="Noto Sans Symbols"/>
              <a:buChar char="✔"/>
            </a:pPr>
            <a: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다양한 생성형 AI 기술을 활용하여</a:t>
            </a:r>
            <a:b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</a:br>
            <a: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사업계획서를 빠르게 작성하고 품질 향상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90" name="Google Shape;490;p13"/>
          <p:cNvGrpSpPr/>
          <p:nvPr/>
        </p:nvGrpSpPr>
        <p:grpSpPr>
          <a:xfrm>
            <a:off x="5984568" y="3580478"/>
            <a:ext cx="427593" cy="124645"/>
            <a:chOff x="991235" y="3543300"/>
            <a:chExt cx="4781550" cy="558800"/>
          </a:xfrm>
        </p:grpSpPr>
        <p:sp>
          <p:nvSpPr>
            <p:cNvPr id="491" name="Google Shape;491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92" name="Google Shape;492;p13"/>
            <p:cNvSpPr txBox="1"/>
            <p:nvPr/>
          </p:nvSpPr>
          <p:spPr>
            <a:xfrm>
              <a:off x="1130938" y="3654423"/>
              <a:ext cx="4449442" cy="373700"/>
            </a:xfrm>
            <a:prstGeom prst="rect">
              <a:avLst/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1일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493" name="Google Shape;493;p13"/>
          <p:cNvGrpSpPr/>
          <p:nvPr/>
        </p:nvGrpSpPr>
        <p:grpSpPr>
          <a:xfrm>
            <a:off x="6433408" y="3580478"/>
            <a:ext cx="468417" cy="124645"/>
            <a:chOff x="991235" y="3543300"/>
            <a:chExt cx="4781550" cy="558800"/>
          </a:xfrm>
        </p:grpSpPr>
        <p:sp>
          <p:nvSpPr>
            <p:cNvPr id="494" name="Google Shape;494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95" name="Google Shape;495;p13"/>
            <p:cNvSpPr txBox="1"/>
            <p:nvPr/>
          </p:nvSpPr>
          <p:spPr>
            <a:xfrm>
              <a:off x="1130930" y="3654423"/>
              <a:ext cx="4449446" cy="373700"/>
            </a:xfrm>
            <a:prstGeom prst="rect">
              <a:avLst/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5시간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cxnSp>
        <p:nvCxnSpPr>
          <p:cNvPr id="496" name="Google Shape;496;p13"/>
          <p:cNvCxnSpPr/>
          <p:nvPr/>
        </p:nvCxnSpPr>
        <p:spPr>
          <a:xfrm>
            <a:off x="5387393" y="3171762"/>
            <a:ext cx="1620000" cy="1"/>
          </a:xfrm>
          <a:prstGeom prst="straightConnector1">
            <a:avLst/>
          </a:prstGeom>
          <a:noFill/>
          <a:ln w="9525" cap="flat" cmpd="sng">
            <a:solidFill>
              <a:srgbClr val="4F81B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97" name="Google Shape;497;p13"/>
          <p:cNvGrpSpPr/>
          <p:nvPr/>
        </p:nvGrpSpPr>
        <p:grpSpPr>
          <a:xfrm>
            <a:off x="5511850" y="3580478"/>
            <a:ext cx="427593" cy="124645"/>
            <a:chOff x="991235" y="3543300"/>
            <a:chExt cx="4781550" cy="558800"/>
          </a:xfrm>
        </p:grpSpPr>
        <p:sp>
          <p:nvSpPr>
            <p:cNvPr id="498" name="Google Shape;498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499" name="Google Shape;499;p13"/>
            <p:cNvSpPr txBox="1"/>
            <p:nvPr/>
          </p:nvSpPr>
          <p:spPr>
            <a:xfrm>
              <a:off x="1130938" y="3654423"/>
              <a:ext cx="4449442" cy="373700"/>
            </a:xfrm>
            <a:prstGeom prst="rect">
              <a:avLst/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초급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500" name="Google Shape;500;p13"/>
          <p:cNvSpPr/>
          <p:nvPr/>
        </p:nvSpPr>
        <p:spPr>
          <a:xfrm>
            <a:off x="4718395" y="2887604"/>
            <a:ext cx="506192" cy="1831414"/>
          </a:xfrm>
          <a:prstGeom prst="roundRect">
            <a:avLst>
              <a:gd name="adj" fmla="val 270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-KR" sz="800" b="1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현업</a:t>
            </a:r>
            <a:endParaRPr sz="800" b="1" i="0" u="none" strike="noStrike" cap="non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-KR" altLang="en-US" sz="800" b="1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실무</a:t>
            </a:r>
            <a:endParaRPr sz="800" b="1" i="0" u="none" strike="noStrike" cap="non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-KR" sz="800" b="1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</a:t>
            </a:r>
            <a:r>
              <a:rPr lang="ko-KR" sz="800" b="1" i="0" u="none" strike="noStrike" cap="non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비개발직군</a:t>
            </a:r>
            <a:r>
              <a:rPr lang="ko-KR" sz="800" b="1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1" name="Google Shape;501;p13"/>
          <p:cNvSpPr/>
          <p:nvPr/>
        </p:nvSpPr>
        <p:spPr>
          <a:xfrm>
            <a:off x="4651604" y="1784832"/>
            <a:ext cx="4262091" cy="972000"/>
          </a:xfrm>
          <a:prstGeom prst="roundRect">
            <a:avLst>
              <a:gd name="adj" fmla="val 2705"/>
            </a:avLst>
          </a:prstGeom>
          <a:solidFill>
            <a:srgbClr val="88C1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502" name="Google Shape;502;p13"/>
          <p:cNvSpPr/>
          <p:nvPr/>
        </p:nvSpPr>
        <p:spPr>
          <a:xfrm>
            <a:off x="5300489" y="1814427"/>
            <a:ext cx="1748088" cy="903873"/>
          </a:xfrm>
          <a:prstGeom prst="roundRect">
            <a:avLst>
              <a:gd name="adj" fmla="val 270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</a:pPr>
            <a:endParaRPr sz="600" b="0" i="0" u="none" strike="noStrike" cap="non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503" name="Google Shape;503;p13"/>
          <p:cNvSpPr txBox="1"/>
          <p:nvPr/>
        </p:nvSpPr>
        <p:spPr>
          <a:xfrm>
            <a:off x="5113941" y="1881607"/>
            <a:ext cx="2117460" cy="175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167"/>
              </a:buClr>
              <a:buSzPts val="1200"/>
              <a:buFont typeface="Arial"/>
              <a:buNone/>
            </a:pPr>
            <a:r>
              <a:rPr lang="ko-KR" sz="8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회사의 생산성을 높이는 </a:t>
            </a:r>
            <a:r>
              <a:rPr lang="ko-KR" sz="800" b="0" i="0" u="none" strike="noStrike" cap="none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ChatGPT</a:t>
            </a:r>
            <a:r>
              <a:rPr lang="ko-KR" sz="8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활용법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4" name="Google Shape;504;p13"/>
          <p:cNvSpPr txBox="1"/>
          <p:nvPr/>
        </p:nvSpPr>
        <p:spPr>
          <a:xfrm>
            <a:off x="5300489" y="2203533"/>
            <a:ext cx="1748088" cy="26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128588" marR="0" lvl="0" indent="-1285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1000"/>
              <a:buFont typeface="Noto Sans Symbols"/>
              <a:buChar char="✔"/>
            </a:pPr>
            <a: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다양한 </a:t>
            </a:r>
            <a:r>
              <a:rPr lang="ko-KR" sz="700" b="0" i="0" u="none" strike="noStrike" cap="none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생성형AI</a:t>
            </a:r>
            <a: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툴 활용법을 학습하여</a:t>
            </a:r>
            <a:b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</a:br>
            <a: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업무 효율성 극대화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505" name="Google Shape;505;p13"/>
          <p:cNvGrpSpPr/>
          <p:nvPr/>
        </p:nvGrpSpPr>
        <p:grpSpPr>
          <a:xfrm>
            <a:off x="5961708" y="2540242"/>
            <a:ext cx="427593" cy="124645"/>
            <a:chOff x="991235" y="3543300"/>
            <a:chExt cx="4781550" cy="558800"/>
          </a:xfrm>
        </p:grpSpPr>
        <p:sp>
          <p:nvSpPr>
            <p:cNvPr id="506" name="Google Shape;506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07" name="Google Shape;507;p13"/>
            <p:cNvSpPr txBox="1"/>
            <p:nvPr/>
          </p:nvSpPr>
          <p:spPr>
            <a:xfrm>
              <a:off x="1130938" y="3654423"/>
              <a:ext cx="4449442" cy="373700"/>
            </a:xfrm>
            <a:prstGeom prst="rect">
              <a:avLst/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1일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08" name="Google Shape;508;p13"/>
          <p:cNvGrpSpPr/>
          <p:nvPr/>
        </p:nvGrpSpPr>
        <p:grpSpPr>
          <a:xfrm>
            <a:off x="6410548" y="2540242"/>
            <a:ext cx="468417" cy="124645"/>
            <a:chOff x="991235" y="3543300"/>
            <a:chExt cx="4781550" cy="558800"/>
          </a:xfrm>
        </p:grpSpPr>
        <p:sp>
          <p:nvSpPr>
            <p:cNvPr id="509" name="Google Shape;509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10" name="Google Shape;510;p13"/>
            <p:cNvSpPr txBox="1"/>
            <p:nvPr/>
          </p:nvSpPr>
          <p:spPr>
            <a:xfrm>
              <a:off x="1130930" y="3654423"/>
              <a:ext cx="4449446" cy="373700"/>
            </a:xfrm>
            <a:prstGeom prst="rect">
              <a:avLst/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7시간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cxnSp>
        <p:nvCxnSpPr>
          <p:cNvPr id="511" name="Google Shape;511;p13"/>
          <p:cNvCxnSpPr/>
          <p:nvPr/>
        </p:nvCxnSpPr>
        <p:spPr>
          <a:xfrm>
            <a:off x="5364533" y="2116555"/>
            <a:ext cx="1620000" cy="1"/>
          </a:xfrm>
          <a:prstGeom prst="straightConnector1">
            <a:avLst/>
          </a:prstGeom>
          <a:noFill/>
          <a:ln w="9525" cap="flat" cmpd="sng">
            <a:solidFill>
              <a:srgbClr val="4F81B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12" name="Google Shape;512;p13"/>
          <p:cNvGrpSpPr/>
          <p:nvPr/>
        </p:nvGrpSpPr>
        <p:grpSpPr>
          <a:xfrm>
            <a:off x="5488990" y="2540242"/>
            <a:ext cx="427593" cy="124645"/>
            <a:chOff x="991235" y="3543300"/>
            <a:chExt cx="4781550" cy="558800"/>
          </a:xfrm>
        </p:grpSpPr>
        <p:sp>
          <p:nvSpPr>
            <p:cNvPr id="513" name="Google Shape;513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14" name="Google Shape;514;p13"/>
            <p:cNvSpPr txBox="1"/>
            <p:nvPr/>
          </p:nvSpPr>
          <p:spPr>
            <a:xfrm>
              <a:off x="1130938" y="3654423"/>
              <a:ext cx="4449442" cy="373700"/>
            </a:xfrm>
            <a:prstGeom prst="rect">
              <a:avLst/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초급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515" name="Google Shape;515;p13"/>
          <p:cNvSpPr/>
          <p:nvPr/>
        </p:nvSpPr>
        <p:spPr>
          <a:xfrm>
            <a:off x="7086600" y="1814427"/>
            <a:ext cx="1748088" cy="903873"/>
          </a:xfrm>
          <a:prstGeom prst="roundRect">
            <a:avLst>
              <a:gd name="adj" fmla="val 270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</a:pPr>
            <a:endParaRPr sz="600" b="0" i="0" u="none" strike="noStrike" cap="non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516" name="Google Shape;516;p13"/>
          <p:cNvSpPr txBox="1"/>
          <p:nvPr/>
        </p:nvSpPr>
        <p:spPr>
          <a:xfrm>
            <a:off x="7221950" y="1819246"/>
            <a:ext cx="1477387" cy="29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167"/>
              </a:buClr>
              <a:buSzPts val="1200"/>
              <a:buFont typeface="Arial"/>
              <a:buNone/>
            </a:pPr>
            <a:r>
              <a:rPr lang="ko-KR" sz="8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업무자동화의 혁신!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167"/>
              </a:buClr>
              <a:buSzPts val="1200"/>
              <a:buFont typeface="Arial"/>
              <a:buNone/>
            </a:pPr>
            <a:r>
              <a:rPr lang="ko-KR" sz="8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Microsoft 365 </a:t>
            </a:r>
            <a:r>
              <a:rPr lang="ko-KR" sz="800" b="0" i="0" u="none" strike="noStrike" cap="none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Copilot</a:t>
            </a:r>
            <a:r>
              <a:rPr lang="ko-KR" sz="8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활용법 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7" name="Google Shape;517;p13"/>
          <p:cNvSpPr txBox="1"/>
          <p:nvPr/>
        </p:nvSpPr>
        <p:spPr>
          <a:xfrm>
            <a:off x="7086600" y="2203533"/>
            <a:ext cx="1748088" cy="26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128588" marR="0" lvl="0" indent="-1285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1000"/>
              <a:buFont typeface="Noto Sans Symbols"/>
              <a:buChar char="✔"/>
            </a:pPr>
            <a: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다양한 MS 365 앱에 연동하는 </a:t>
            </a:r>
            <a:r>
              <a:rPr lang="ko-KR" sz="700" b="0" i="0" u="none" strike="noStrike" cap="none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Copilot</a:t>
            </a:r>
            <a:r>
              <a:rPr lang="ko-KR" sz="700" b="0" i="0" u="none" strike="noStrike" cap="none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프롬프트 작성 기법으로 실제 업무 활용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518" name="Google Shape;518;p13"/>
          <p:cNvGrpSpPr/>
          <p:nvPr/>
        </p:nvGrpSpPr>
        <p:grpSpPr>
          <a:xfrm>
            <a:off x="7747819" y="2540242"/>
            <a:ext cx="427593" cy="124645"/>
            <a:chOff x="991235" y="3543300"/>
            <a:chExt cx="4781550" cy="558800"/>
          </a:xfrm>
        </p:grpSpPr>
        <p:sp>
          <p:nvSpPr>
            <p:cNvPr id="519" name="Google Shape;519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20" name="Google Shape;520;p13"/>
            <p:cNvSpPr txBox="1"/>
            <p:nvPr/>
          </p:nvSpPr>
          <p:spPr>
            <a:xfrm>
              <a:off x="1130938" y="3654423"/>
              <a:ext cx="4449442" cy="373700"/>
            </a:xfrm>
            <a:prstGeom prst="rect">
              <a:avLst/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1일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21" name="Google Shape;521;p13"/>
          <p:cNvGrpSpPr/>
          <p:nvPr/>
        </p:nvGrpSpPr>
        <p:grpSpPr>
          <a:xfrm>
            <a:off x="8196659" y="2540242"/>
            <a:ext cx="468417" cy="124645"/>
            <a:chOff x="991235" y="3543300"/>
            <a:chExt cx="4781550" cy="558800"/>
          </a:xfrm>
        </p:grpSpPr>
        <p:sp>
          <p:nvSpPr>
            <p:cNvPr id="522" name="Google Shape;522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23" name="Google Shape;523;p13"/>
            <p:cNvSpPr txBox="1"/>
            <p:nvPr/>
          </p:nvSpPr>
          <p:spPr>
            <a:xfrm>
              <a:off x="1130930" y="3654423"/>
              <a:ext cx="4449446" cy="373700"/>
            </a:xfrm>
            <a:prstGeom prst="rect">
              <a:avLst/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7시간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cxnSp>
        <p:nvCxnSpPr>
          <p:cNvPr id="524" name="Google Shape;524;p13"/>
          <p:cNvCxnSpPr/>
          <p:nvPr/>
        </p:nvCxnSpPr>
        <p:spPr>
          <a:xfrm>
            <a:off x="7150644" y="2116555"/>
            <a:ext cx="1620000" cy="1"/>
          </a:xfrm>
          <a:prstGeom prst="straightConnector1">
            <a:avLst/>
          </a:prstGeom>
          <a:noFill/>
          <a:ln w="9525" cap="flat" cmpd="sng">
            <a:solidFill>
              <a:srgbClr val="4F81B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25" name="Google Shape;525;p13"/>
          <p:cNvGrpSpPr/>
          <p:nvPr/>
        </p:nvGrpSpPr>
        <p:grpSpPr>
          <a:xfrm>
            <a:off x="7275101" y="2540242"/>
            <a:ext cx="427593" cy="124645"/>
            <a:chOff x="991235" y="3543300"/>
            <a:chExt cx="4781550" cy="558800"/>
          </a:xfrm>
        </p:grpSpPr>
        <p:sp>
          <p:nvSpPr>
            <p:cNvPr id="526" name="Google Shape;526;p13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"/>
                <a:buFont typeface="Arial"/>
                <a:buNone/>
              </a:pPr>
              <a:endParaRPr sz="6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27" name="Google Shape;527;p13"/>
            <p:cNvSpPr txBox="1"/>
            <p:nvPr/>
          </p:nvSpPr>
          <p:spPr>
            <a:xfrm>
              <a:off x="1130938" y="3654423"/>
              <a:ext cx="4449442" cy="373700"/>
            </a:xfrm>
            <a:prstGeom prst="rect">
              <a:avLst/>
            </a:prstGeom>
            <a:solidFill>
              <a:srgbClr val="88C1FF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-KR" sz="500" b="0" i="0" u="none" strike="noStrike" cap="none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초급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528" name="Google Shape;528;p13"/>
          <p:cNvSpPr/>
          <p:nvPr/>
        </p:nvSpPr>
        <p:spPr>
          <a:xfrm>
            <a:off x="4707140" y="1814427"/>
            <a:ext cx="506192" cy="888004"/>
          </a:xfrm>
          <a:prstGeom prst="roundRect">
            <a:avLst>
              <a:gd name="adj" fmla="val 270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-KR" sz="800" b="1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전체</a:t>
            </a:r>
            <a:endParaRPr sz="800" b="1" i="0" u="none" strike="noStrike" cap="non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-KR" sz="800" b="1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공통</a:t>
            </a:r>
            <a:endParaRPr sz="800" b="1" i="0" u="none" strike="noStrike" cap="non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" name="Google Shape;318;p8">
            <a:extLst>
              <a:ext uri="{FF2B5EF4-FFF2-40B4-BE49-F238E27FC236}">
                <a16:creationId xmlns:a16="http://schemas.microsoft.com/office/drawing/2014/main" id="{F27DDBC8-55EF-46CE-F87C-81CB499B8E79}"/>
              </a:ext>
            </a:extLst>
          </p:cNvPr>
          <p:cNvSpPr txBox="1"/>
          <p:nvPr/>
        </p:nvSpPr>
        <p:spPr>
          <a:xfrm>
            <a:off x="6972001" y="4818957"/>
            <a:ext cx="1516401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* </a:t>
            </a:r>
            <a:r>
              <a:rPr lang="ko-KR" altLang="en-US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최소 </a:t>
            </a:r>
            <a:r>
              <a:rPr lang="en-US" alt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20</a:t>
            </a:r>
            <a:r>
              <a:rPr lang="ko-KR" altLang="en-US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명</a:t>
            </a:r>
            <a:r>
              <a:rPr lang="en-US" alt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-</a:t>
            </a:r>
            <a:r>
              <a:rPr lang="ko-KR" altLang="en-US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최대 </a:t>
            </a:r>
            <a:r>
              <a:rPr lang="en-US" altLang="ko-KR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24</a:t>
            </a:r>
            <a:r>
              <a:rPr lang="ko-KR" altLang="en-US" sz="7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명 참여 가능</a:t>
            </a:r>
            <a:endParaRPr sz="700" dirty="0">
              <a:solidFill>
                <a:srgbClr val="7F7F7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32139806-64DD-1748-B3E3-2A0C8D196622}"/>
              </a:ext>
            </a:extLst>
          </p:cNvPr>
          <p:cNvSpPr txBox="1">
            <a:spLocks/>
          </p:cNvSpPr>
          <p:nvPr/>
        </p:nvSpPr>
        <p:spPr>
          <a:xfrm>
            <a:off x="3520440" y="4917073"/>
            <a:ext cx="210312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altLang="ko-KR"/>
              <a:pPr/>
              <a:t>11</a:t>
            </a:fld>
            <a:endParaRPr lang="ko-KR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94F3EC1-F860-3552-C179-51BF84C4D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833515"/>
              </p:ext>
            </p:extLst>
          </p:nvPr>
        </p:nvGraphicFramePr>
        <p:xfrm>
          <a:off x="272929" y="1008192"/>
          <a:ext cx="8598142" cy="3363112"/>
        </p:xfrm>
        <a:graphic>
          <a:graphicData uri="http://schemas.openxmlformats.org/drawingml/2006/table">
            <a:tbl>
              <a:tblPr/>
              <a:tblGrid>
                <a:gridCol w="265184">
                  <a:extLst>
                    <a:ext uri="{9D8B030D-6E8A-4147-A177-3AD203B41FA5}">
                      <a16:colId xmlns:a16="http://schemas.microsoft.com/office/drawing/2014/main" val="238424351"/>
                    </a:ext>
                  </a:extLst>
                </a:gridCol>
                <a:gridCol w="452487">
                  <a:extLst>
                    <a:ext uri="{9D8B030D-6E8A-4147-A177-3AD203B41FA5}">
                      <a16:colId xmlns:a16="http://schemas.microsoft.com/office/drawing/2014/main" val="3923473981"/>
                    </a:ext>
                  </a:extLst>
                </a:gridCol>
                <a:gridCol w="2226072">
                  <a:extLst>
                    <a:ext uri="{9D8B030D-6E8A-4147-A177-3AD203B41FA5}">
                      <a16:colId xmlns:a16="http://schemas.microsoft.com/office/drawing/2014/main" val="721095676"/>
                    </a:ext>
                  </a:extLst>
                </a:gridCol>
                <a:gridCol w="377633">
                  <a:extLst>
                    <a:ext uri="{9D8B030D-6E8A-4147-A177-3AD203B41FA5}">
                      <a16:colId xmlns:a16="http://schemas.microsoft.com/office/drawing/2014/main" val="3652681335"/>
                    </a:ext>
                  </a:extLst>
                </a:gridCol>
                <a:gridCol w="377633">
                  <a:extLst>
                    <a:ext uri="{9D8B030D-6E8A-4147-A177-3AD203B41FA5}">
                      <a16:colId xmlns:a16="http://schemas.microsoft.com/office/drawing/2014/main" val="659022472"/>
                    </a:ext>
                  </a:extLst>
                </a:gridCol>
                <a:gridCol w="835021">
                  <a:extLst>
                    <a:ext uri="{9D8B030D-6E8A-4147-A177-3AD203B41FA5}">
                      <a16:colId xmlns:a16="http://schemas.microsoft.com/office/drawing/2014/main" val="2218180891"/>
                    </a:ext>
                  </a:extLst>
                </a:gridCol>
                <a:gridCol w="835021">
                  <a:extLst>
                    <a:ext uri="{9D8B030D-6E8A-4147-A177-3AD203B41FA5}">
                      <a16:colId xmlns:a16="http://schemas.microsoft.com/office/drawing/2014/main" val="1208911849"/>
                    </a:ext>
                  </a:extLst>
                </a:gridCol>
                <a:gridCol w="835021">
                  <a:extLst>
                    <a:ext uri="{9D8B030D-6E8A-4147-A177-3AD203B41FA5}">
                      <a16:colId xmlns:a16="http://schemas.microsoft.com/office/drawing/2014/main" val="253247952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47004860"/>
                    </a:ext>
                  </a:extLst>
                </a:gridCol>
                <a:gridCol w="1174870">
                  <a:extLst>
                    <a:ext uri="{9D8B030D-6E8A-4147-A177-3AD203B41FA5}">
                      <a16:colId xmlns:a16="http://schemas.microsoft.com/office/drawing/2014/main" val="24701141"/>
                    </a:ext>
                  </a:extLst>
                </a:gridCol>
              </a:tblGrid>
              <a:tr h="309184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연번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수준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훈련과정명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훈련</a:t>
                      </a:r>
                      <a:br>
                        <a:rPr lang="ko-KR" altLang="en-US" sz="105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</a:br>
                      <a:r>
                        <a:rPr lang="ko-KR" altLang="en-US" sz="105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일수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훈련</a:t>
                      </a:r>
                      <a:br>
                        <a:rPr lang="ko-KR" altLang="en-US" sz="105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</a:br>
                      <a:r>
                        <a:rPr lang="ko-KR" altLang="en-US" sz="105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시간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주요 툴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교육비</a:t>
                      </a:r>
                      <a:endParaRPr lang="en-US" altLang="ko-KR" sz="1000" b="1" i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000" b="1" i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8767" marR="8767" marT="8767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800831"/>
                  </a:ext>
                </a:extLst>
              </a:tr>
              <a:tr h="3091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우선지원기업</a:t>
                      </a:r>
                      <a:endParaRPr lang="en-US" altLang="ko-KR" sz="1050" b="1" i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105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재직자</a:t>
                      </a:r>
                      <a:endParaRPr lang="en-US" altLang="ko-KR" sz="1050" b="1" i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8767" marR="8767" marT="8767" marB="0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대기업 재직자</a:t>
                      </a:r>
                      <a:endParaRPr lang="en-US" altLang="ko-KR" sz="1050" b="1" i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900" b="1" i="0" u="none" strike="noStrike" cap="none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(</a:t>
                      </a:r>
                      <a:r>
                        <a:rPr lang="ko-KR" altLang="en-US" sz="900" b="1" i="0" u="none" strike="noStrike" cap="none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인당 </a:t>
                      </a:r>
                      <a:r>
                        <a:rPr lang="en-US" altLang="ko-KR" sz="900" b="1" i="0" u="none" strike="noStrike" cap="none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20% </a:t>
                      </a:r>
                      <a:r>
                        <a:rPr lang="ko-KR" altLang="en-US" sz="900" b="1" i="0" u="none" strike="noStrike" cap="none" dirty="0" err="1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자부담</a:t>
                      </a:r>
                      <a:r>
                        <a:rPr lang="en-US" altLang="ko-KR" sz="900" b="1" i="0" u="none" strike="noStrike" cap="none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)</a:t>
                      </a:r>
                    </a:p>
                  </a:txBody>
                  <a:tcPr marL="8767" marR="8767" marT="8767" marB="0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584149"/>
                  </a:ext>
                </a:extLst>
              </a:tr>
              <a:tr h="1928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1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입문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회사의 생산성을 높이는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ChatGPT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활용법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1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7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Chat GPT 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OpenAI API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　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ko-KR" sz="1000" b="0" i="0" u="none" strike="sng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122,395</a:t>
                      </a:r>
                      <a:r>
                        <a:rPr lang="ko-KR" altLang="en-US" sz="1000" b="0" i="0" u="none" strike="sng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</a:t>
                      </a:r>
                      <a:r>
                        <a:rPr lang="en-US" altLang="ko-KR" sz="1000" b="1" i="0" u="none" strike="no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altLang="ko-KR" sz="1000" b="1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</a:t>
                      </a:r>
                      <a:r>
                        <a:rPr lang="ko-KR" altLang="en-US" sz="1000" b="1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</a:t>
                      </a:r>
                      <a:endParaRPr lang="en-US" altLang="ko-KR" sz="1000" b="1" i="0" u="none" strike="noStrike" kern="1200" cap="none" dirty="0">
                        <a:solidFill>
                          <a:schemeClr val="accent2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16000" marR="6409" marT="4273" marB="4273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24,479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원</a:t>
                      </a:r>
                      <a:endParaRPr lang="en-US" altLang="ko-KR" sz="1000" b="0" i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8767" marR="8767" marT="8767" marB="0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8089506"/>
                  </a:ext>
                </a:extLst>
              </a:tr>
              <a:tr h="1928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2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입문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업무자동화의 혁신</a:t>
                      </a: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! Microsoft 365 Copilot </a:t>
                      </a:r>
                      <a:r>
                        <a:rPr lang="ko-KR" alt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활용법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1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7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Chat GPT 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MS365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　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1000" b="0" i="0" u="none" strike="sng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102,347</a:t>
                      </a:r>
                      <a:r>
                        <a:rPr lang="ko-KR" altLang="en-US" sz="1000" b="0" i="0" u="none" strike="sng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</a:t>
                      </a:r>
                      <a:r>
                        <a:rPr lang="en-US" altLang="ko-KR" sz="1000" b="1" i="0" u="none" strike="no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altLang="ko-KR" sz="1000" b="1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</a:t>
                      </a:r>
                      <a:r>
                        <a:rPr lang="ko-KR" altLang="en-US" sz="1000" b="1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</a:t>
                      </a:r>
                      <a:endParaRPr lang="en-US" altLang="ko-KR" sz="1000" b="0" i="0" u="none" strike="noStrike" kern="1200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16000" marR="6409" marT="4273" marB="4273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20,469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원</a:t>
                      </a:r>
                      <a:endParaRPr lang="en-US" altLang="ko-KR" sz="1000" b="0" i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8767" marR="8767" marT="8767" marB="0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735990"/>
                  </a:ext>
                </a:extLst>
              </a:tr>
              <a:tr h="1928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3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초급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ChatGPT</a:t>
                      </a:r>
                      <a:r>
                        <a:rPr lang="ko-KR" alt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로 보고서</a:t>
                      </a: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,</a:t>
                      </a:r>
                      <a:r>
                        <a:rPr lang="ko-KR" alt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사업계획서 </a:t>
                      </a: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1</a:t>
                      </a:r>
                      <a:r>
                        <a:rPr lang="ko-KR" alt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시간 만에 완성하기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1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5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Chat GPT 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　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　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1000" b="0" i="0" u="none" strike="sng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95,650</a:t>
                      </a:r>
                      <a:r>
                        <a:rPr lang="ko-KR" altLang="en-US" sz="1000" b="0" i="0" u="none" strike="sng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</a:t>
                      </a:r>
                      <a:r>
                        <a:rPr lang="en-US" altLang="ko-KR" sz="1000" b="1" i="0" u="none" strike="no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altLang="ko-KR" sz="1000" b="1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</a:t>
                      </a:r>
                      <a:r>
                        <a:rPr lang="ko-KR" altLang="en-US" sz="1000" b="1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</a:t>
                      </a:r>
                      <a:endParaRPr lang="en-US" altLang="ko-KR" sz="1000" b="0" i="0" u="none" strike="noStrike" kern="1200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16000" marR="6409" marT="4273" marB="4273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19,130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원</a:t>
                      </a:r>
                      <a:endParaRPr lang="en-US" altLang="ko-KR" sz="1000" b="0" i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8767" marR="8767" marT="8767" marB="0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6654061"/>
                  </a:ext>
                </a:extLst>
              </a:tr>
              <a:tr h="1928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4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중급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세일즈</a:t>
                      </a: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&amp;</a:t>
                      </a:r>
                      <a:r>
                        <a:rPr lang="ko-KR" alt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마케팅 프로세스 </a:t>
                      </a: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AI </a:t>
                      </a:r>
                      <a:r>
                        <a:rPr lang="ko-KR" alt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리터칭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1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7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Claude 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　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　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1000" b="0" i="0" u="none" strike="sng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121,597</a:t>
                      </a:r>
                      <a:r>
                        <a:rPr lang="ko-KR" altLang="en-US" sz="1000" b="0" i="0" u="none" strike="sng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</a:t>
                      </a:r>
                      <a:r>
                        <a:rPr lang="en-US" altLang="ko-KR" sz="1000" b="1" i="0" u="none" strike="no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altLang="ko-KR" sz="1000" b="1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</a:t>
                      </a:r>
                      <a:r>
                        <a:rPr lang="ko-KR" altLang="en-US" sz="1000" b="1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</a:t>
                      </a:r>
                      <a:endParaRPr lang="en-US" altLang="ko-KR" sz="1000" b="0" i="0" u="none" strike="noStrike" kern="1200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16000" marR="6409" marT="4273" marB="4273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24,319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원</a:t>
                      </a:r>
                      <a:endParaRPr lang="en-US" altLang="ko-KR" sz="1000" b="0" i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8767" marR="8767" marT="8767" marB="0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1386809"/>
                  </a:ext>
                </a:extLst>
              </a:tr>
              <a:tr h="1928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5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초급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자료 조사부터 슬라이드까지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, AI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프레젠테이션 자동화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2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10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Chat GPT 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midjourney</a:t>
                      </a:r>
                      <a:endParaRPr lang="en-US" sz="1000" b="0" i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google AI studio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1000" b="0" i="0" u="none" strike="sng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111,600</a:t>
                      </a:r>
                      <a:r>
                        <a:rPr lang="ko-KR" altLang="en-US" sz="1000" b="0" i="0" u="none" strike="sng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</a:t>
                      </a:r>
                      <a:r>
                        <a:rPr lang="en-US" altLang="ko-KR" sz="1000" b="1" i="0" u="none" strike="no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altLang="ko-KR" sz="1000" b="1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</a:t>
                      </a:r>
                      <a:r>
                        <a:rPr lang="ko-KR" altLang="en-US" sz="1000" b="1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</a:t>
                      </a:r>
                      <a:endParaRPr lang="en-US" altLang="ko-KR" sz="1000" b="0" i="0" u="none" strike="noStrike" kern="1200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16000" marR="6409" marT="4273" marB="4273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22,320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원</a:t>
                      </a:r>
                      <a:endParaRPr lang="en-US" altLang="ko-KR" sz="1000" b="0" i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8767" marR="8767" marT="8767" marB="0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8319557"/>
                  </a:ext>
                </a:extLst>
              </a:tr>
              <a:tr h="2893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6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중급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비전공자도 가능한 비즈니스 콘텐츠 제작 </a:t>
                      </a: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: AI </a:t>
                      </a:r>
                      <a:r>
                        <a:rPr lang="ko-KR" alt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이미지</a:t>
                      </a: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·</a:t>
                      </a:r>
                      <a:r>
                        <a:rPr lang="ko-KR" alt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영상만들기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2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14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Chat GPT 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midjourney</a:t>
                      </a:r>
                      <a:endParaRPr lang="en-US" sz="1000" b="0" i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　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1000" b="0" i="0" u="none" strike="sng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203,448</a:t>
                      </a:r>
                      <a:r>
                        <a:rPr lang="ko-KR" altLang="en-US" sz="1000" b="0" i="0" u="none" strike="sng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</a:t>
                      </a:r>
                      <a:r>
                        <a:rPr lang="en-US" altLang="ko-KR" sz="1000" b="1" i="0" u="none" strike="no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altLang="ko-KR" sz="1000" b="1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</a:t>
                      </a:r>
                      <a:r>
                        <a:rPr lang="ko-KR" altLang="en-US" sz="1000" b="1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</a:t>
                      </a:r>
                      <a:endParaRPr lang="en-US" altLang="ko-KR" sz="1000" b="0" i="0" u="none" strike="noStrike" kern="1200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16000" marR="6409" marT="4273" marB="4273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40,690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원</a:t>
                      </a:r>
                      <a:endParaRPr lang="en-US" altLang="ko-KR" sz="1000" b="0" i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8767" marR="8767" marT="8767" marB="0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0053140"/>
                  </a:ext>
                </a:extLst>
              </a:tr>
              <a:tr h="1928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7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중급</a:t>
                      </a:r>
                      <a:endParaRPr lang="en-US" altLang="ko-KR" sz="1000" b="1" i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데이터를 활용한 바이브코딩 </a:t>
                      </a: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A to Z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1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7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Claude 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Lovable 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　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1000" b="0" i="0" u="none" strike="sng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92,498</a:t>
                      </a:r>
                      <a:r>
                        <a:rPr lang="ko-KR" altLang="en-US" sz="1000" b="0" i="0" u="none" strike="sng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</a:t>
                      </a:r>
                      <a:r>
                        <a:rPr lang="en-US" altLang="ko-KR" sz="1000" b="1" i="0" u="none" strike="no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altLang="ko-KR" sz="1000" b="1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</a:t>
                      </a:r>
                      <a:r>
                        <a:rPr lang="ko-KR" altLang="en-US" sz="1000" b="1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</a:t>
                      </a:r>
                      <a:endParaRPr lang="en-US" altLang="ko-KR" sz="1000" b="0" i="0" u="none" strike="noStrike" kern="1200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16000" marR="6409" marT="4273" marB="4273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18,500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원</a:t>
                      </a:r>
                      <a:endParaRPr lang="en-US" altLang="ko-KR" sz="1000" b="0" i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8767" marR="8767" marT="8767" marB="0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64956"/>
                  </a:ext>
                </a:extLst>
              </a:tr>
              <a:tr h="1928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8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중급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생성형 </a:t>
                      </a: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AI</a:t>
                      </a:r>
                      <a:r>
                        <a:rPr lang="ko-KR" alt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를 활용한 업무자동화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2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14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Chat GPT 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OpenAI API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make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1000" b="0" i="0" u="none" strike="sng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145,796</a:t>
                      </a:r>
                      <a:r>
                        <a:rPr lang="ko-KR" altLang="en-US" sz="1000" b="0" i="0" u="none" strike="sng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</a:t>
                      </a:r>
                      <a:r>
                        <a:rPr lang="en-US" altLang="ko-KR" sz="1000" b="1" i="0" u="none" strike="no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altLang="ko-KR" sz="1000" b="1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</a:t>
                      </a:r>
                      <a:r>
                        <a:rPr lang="ko-KR" altLang="en-US" sz="1000" b="1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</a:t>
                      </a:r>
                      <a:endParaRPr lang="en-US" altLang="ko-KR" sz="1000" b="0" i="0" u="none" strike="noStrike" kern="1200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16000" marR="6409" marT="4273" marB="4273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29,159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원</a:t>
                      </a:r>
                      <a:endParaRPr lang="en-US" altLang="ko-KR" sz="1000" b="0" i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8767" marR="8767" marT="8767" marB="0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7328779"/>
                  </a:ext>
                </a:extLst>
              </a:tr>
              <a:tr h="2893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9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중급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나만의 업무 비서</a:t>
                      </a: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워크플로우 </a:t>
                      </a: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AI</a:t>
                      </a:r>
                      <a:r>
                        <a:rPr lang="ko-KR" alt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에이전트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2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14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Chat GPT 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OpenAI API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n8n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클라우드 서버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1000" b="0" i="0" u="none" strike="sng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221,242</a:t>
                      </a:r>
                      <a:r>
                        <a:rPr lang="ko-KR" altLang="en-US" sz="1000" b="0" i="0" u="none" strike="sng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</a:t>
                      </a:r>
                      <a:r>
                        <a:rPr lang="en-US" altLang="ko-KR" sz="1000" b="1" i="0" u="none" strike="no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altLang="ko-KR" sz="1000" b="1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</a:t>
                      </a:r>
                      <a:r>
                        <a:rPr lang="ko-KR" altLang="en-US" sz="1000" b="1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</a:t>
                      </a:r>
                      <a:endParaRPr lang="en-US" altLang="ko-KR" sz="1000" b="0" i="0" u="none" strike="noStrike" kern="1200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16000" marR="6409" marT="4273" marB="4273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44,248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원</a:t>
                      </a:r>
                      <a:endParaRPr lang="en-US" altLang="ko-KR" sz="1000" b="0" i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8767" marR="8767" marT="8767" marB="0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538989"/>
                  </a:ext>
                </a:extLst>
              </a:tr>
              <a:tr h="1928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10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중</a:t>
                      </a:r>
                      <a:r>
                        <a:rPr lang="en-US" altLang="ko-KR" sz="100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-</a:t>
                      </a: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고급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AI</a:t>
                      </a:r>
                      <a:r>
                        <a:rPr lang="ko-KR" alt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와 협업하기</a:t>
                      </a: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: </a:t>
                      </a:r>
                      <a:r>
                        <a:rPr lang="ko-KR" alt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고급프롬프트 </a:t>
                      </a: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&amp; </a:t>
                      </a:r>
                      <a:r>
                        <a:rPr lang="ko-KR" alt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바이브 코딩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2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14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Chat GPT 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OpenAI API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　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1000" b="0" i="0" u="none" strike="sng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130,242</a:t>
                      </a:r>
                      <a:r>
                        <a:rPr lang="ko-KR" altLang="en-US" sz="1000" b="0" i="0" u="none" strike="sng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</a:t>
                      </a:r>
                      <a:r>
                        <a:rPr lang="en-US" altLang="ko-KR" sz="1000" b="1" i="0" u="none" strike="no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altLang="ko-KR" sz="1000" b="1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</a:t>
                      </a:r>
                      <a:r>
                        <a:rPr lang="ko-KR" altLang="en-US" sz="1000" b="1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</a:t>
                      </a:r>
                      <a:endParaRPr lang="en-US" altLang="ko-KR" sz="1000" b="0" i="0" u="none" strike="noStrike" kern="1200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16000" marR="6409" marT="4273" marB="4273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26,048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원</a:t>
                      </a:r>
                      <a:endParaRPr lang="en-US" altLang="ko-KR" sz="1000" b="0" i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8767" marR="8767" marT="8767" marB="0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485938"/>
                  </a:ext>
                </a:extLst>
              </a:tr>
              <a:tr h="1928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11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고급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AI</a:t>
                      </a:r>
                      <a:r>
                        <a:rPr lang="ko-KR" alt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와 협업하기</a:t>
                      </a: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: LLM Agent </a:t>
                      </a:r>
                      <a:r>
                        <a:rPr lang="ko-KR" altLang="en-US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고급 챗봇 개발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3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21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Chat GPT 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OpenAI API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　</a:t>
                      </a:r>
                    </a:p>
                  </a:txBody>
                  <a:tcPr marL="8767" marR="8767" marT="876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1000" b="0" i="0" u="none" strike="sng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266,931</a:t>
                      </a:r>
                      <a:r>
                        <a:rPr lang="ko-KR" altLang="en-US" sz="1000" b="0" i="0" u="none" strike="sng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</a:t>
                      </a:r>
                      <a:r>
                        <a:rPr lang="en-US" altLang="ko-KR" sz="1000" b="1" i="0" u="none" strike="noStrike" kern="1200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altLang="ko-KR" sz="1000" b="1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</a:t>
                      </a:r>
                      <a:r>
                        <a:rPr lang="ko-KR" altLang="en-US" sz="1000" b="1" dirty="0">
                          <a:solidFill>
                            <a:schemeClr val="accent2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</a:t>
                      </a:r>
                      <a:endParaRPr lang="en-US" altLang="ko-KR" sz="1000" b="0" i="0" u="none" strike="noStrike" kern="1200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16000" marR="6409" marT="4273" marB="4273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53,386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원</a:t>
                      </a:r>
                      <a:endParaRPr lang="en-US" altLang="ko-KR" sz="1000" b="0" i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8767" marR="8767" marT="8767" marB="0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283896"/>
                  </a:ext>
                </a:extLst>
              </a:tr>
            </a:tbl>
          </a:graphicData>
        </a:graphic>
      </p:graphicFrame>
      <p:sp>
        <p:nvSpPr>
          <p:cNvPr id="3" name="Google Shape;368;p13">
            <a:extLst>
              <a:ext uri="{FF2B5EF4-FFF2-40B4-BE49-F238E27FC236}">
                <a16:creationId xmlns:a16="http://schemas.microsoft.com/office/drawing/2014/main" id="{6D35377A-D251-3B06-124D-CBA900598AC8}"/>
              </a:ext>
            </a:extLst>
          </p:cNvPr>
          <p:cNvSpPr txBox="1"/>
          <p:nvPr/>
        </p:nvSpPr>
        <p:spPr>
          <a:xfrm>
            <a:off x="180000" y="237351"/>
            <a:ext cx="131959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0044"/>
              </a:buClr>
              <a:buSzPts val="1200"/>
              <a:buFont typeface="Arial"/>
              <a:buNone/>
            </a:pPr>
            <a:r>
              <a:rPr lang="ko-KR" altLang="ko-KR" sz="1200" b="0" i="0" u="none" strike="noStrike" cap="none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재직자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훈련</a:t>
            </a:r>
            <a:r>
              <a:rPr lang="ko-KR" sz="1200" b="0" i="0" u="none" strike="noStrike" cap="none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–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요약</a:t>
            </a:r>
            <a:endParaRPr spc="-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124B4D-3795-5D71-448E-4D7A4046D068}"/>
              </a:ext>
            </a:extLst>
          </p:cNvPr>
          <p:cNvSpPr txBox="1"/>
          <p:nvPr/>
        </p:nvSpPr>
        <p:spPr>
          <a:xfrm>
            <a:off x="7744800" y="774422"/>
            <a:ext cx="1219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 kern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(1</a:t>
            </a:r>
            <a:r>
              <a:rPr lang="ko-KR" altLang="en-US" sz="800" kern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인당</a:t>
            </a:r>
            <a:r>
              <a:rPr lang="en-US" altLang="ko-KR" sz="800" kern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VAT </a:t>
            </a:r>
            <a:r>
              <a:rPr lang="ko-KR" altLang="en-US" sz="800" kern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별도</a:t>
            </a:r>
            <a:r>
              <a:rPr lang="en-US" altLang="ko-KR" sz="800" kern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800" kern="12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EF265736-BA30-CEC0-9851-2F05AC2EE195}"/>
              </a:ext>
            </a:extLst>
          </p:cNvPr>
          <p:cNvSpPr txBox="1">
            <a:spLocks/>
          </p:cNvSpPr>
          <p:nvPr/>
        </p:nvSpPr>
        <p:spPr>
          <a:xfrm>
            <a:off x="3520440" y="4917073"/>
            <a:ext cx="210312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altLang="ko-KR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7278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D7345-0008-07B0-010D-55134645F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FC6B8A-536F-385E-E676-414041D3DC1B}"/>
              </a:ext>
            </a:extLst>
          </p:cNvPr>
          <p:cNvSpPr txBox="1"/>
          <p:nvPr/>
        </p:nvSpPr>
        <p:spPr>
          <a:xfrm>
            <a:off x="990600" y="1657350"/>
            <a:ext cx="3669372" cy="2423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kumimoji="0" lang="ko-KR" altLang="en-US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이론</a:t>
            </a:r>
            <a:r>
              <a:rPr kumimoji="0" lang="en-US" altLang="ko-KR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kumimoji="0" lang="ko-KR" altLang="en-US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생성형</a:t>
            </a:r>
            <a:r>
              <a:rPr kumimoji="0" lang="en-US" altLang="ko-KR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kumimoji="0" lang="ko-KR" altLang="en-US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란</a:t>
            </a:r>
            <a:r>
              <a:rPr kumimoji="0" lang="en-US" altLang="ko-KR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 (1H)</a:t>
            </a: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생성형</a:t>
            </a:r>
            <a:r>
              <a:rPr lang="en-US" altLang="ko-KR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개념과 사례</a:t>
            </a: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생성형</a:t>
            </a:r>
            <a:r>
              <a:rPr lang="en-US" altLang="ko-KR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도구 소개 및 프롬프트 디자인 방법 소개</a:t>
            </a:r>
            <a:endParaRPr kumimoji="0" lang="en-US" altLang="ko-KR" sz="100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R="0" lvl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00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R="0" lvl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00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kumimoji="0" lang="ko-KR" altLang="en-US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실습</a:t>
            </a:r>
            <a:r>
              <a:rPr kumimoji="0" lang="en-US" altLang="ko-KR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kumimoji="0" lang="ko-KR" altLang="en-US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프롬프트 엔지니어링과 생성형</a:t>
            </a:r>
            <a:r>
              <a:rPr kumimoji="0" lang="en-US" altLang="ko-KR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kumimoji="0" lang="ko-KR" altLang="en-US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활용한 업무 효율화 </a:t>
            </a:r>
            <a:r>
              <a:rPr kumimoji="0" lang="en-US" altLang="ko-KR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(4H)</a:t>
            </a:r>
            <a:endParaRPr kumimoji="0" lang="ko-KR" altLang="en-US" sz="100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프롬프트 이해 및 프롬프트 엔지니어링 소개</a:t>
            </a:r>
            <a:endParaRPr lang="en-US" altLang="ko-KR" sz="1000" dirty="0">
              <a:solidFill>
                <a:prstClr val="black">
                  <a:lumMod val="50000"/>
                  <a:lumOff val="50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프롬프트 디자인 팁을 활용한 실습</a:t>
            </a:r>
            <a:r>
              <a:rPr lang="en-US" altLang="ko-KR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이메일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문서 작성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시장조사 등</a:t>
            </a:r>
            <a:r>
              <a:rPr lang="en-US" altLang="ko-KR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kumimoji="0" lang="en-US" altLang="ko-KR" sz="100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생성형</a:t>
            </a:r>
            <a:r>
              <a:rPr lang="en-US" altLang="ko-KR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활용 실습</a:t>
            </a:r>
            <a:r>
              <a:rPr lang="en-US" altLang="ko-KR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검색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en-US" altLang="ko-KR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약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kumimoji="0" lang="ko-KR" altLang="en-US" sz="1000" i="0" u="none" strike="noStrike" kern="0" cap="none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인포그래픽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등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맞춤 </a:t>
            </a:r>
            <a:r>
              <a:rPr kumimoji="0" lang="ko-KR" altLang="en-US" sz="1000" i="0" u="none" strike="noStrike" kern="0" cap="none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챗봇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소개 및 기초 사용법 </a:t>
            </a:r>
            <a:endParaRPr kumimoji="0" lang="en-US" altLang="ko-KR" sz="100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kumimoji="0" lang="ko-KR" altLang="en-US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실습</a:t>
            </a:r>
            <a:r>
              <a:rPr kumimoji="0" lang="en-US" altLang="ko-KR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kumimoji="0" lang="ko-KR" altLang="en-US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생성형 </a:t>
            </a:r>
            <a:r>
              <a:rPr kumimoji="0" lang="en-US" altLang="ko-KR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kumimoji="0" lang="ko-KR" altLang="en-US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활용한 </a:t>
            </a:r>
            <a:r>
              <a:rPr lang="ko-KR" altLang="en-US" sz="105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미니 프로젝트 실습</a:t>
            </a:r>
            <a:r>
              <a:rPr kumimoji="0" lang="ko-KR" altLang="en-US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en-US" altLang="ko-KR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(2H)</a:t>
            </a: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생성형 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도구를 이용한 발표자료 제작</a:t>
            </a:r>
            <a:endParaRPr kumimoji="0" lang="en-US" altLang="ko-KR" sz="100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종합 피드백 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장점 및 개선점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kumimoji="0" lang="ko-KR" altLang="en-US" sz="100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object 12">
            <a:extLst>
              <a:ext uri="{FF2B5EF4-FFF2-40B4-BE49-F238E27FC236}">
                <a16:creationId xmlns:a16="http://schemas.microsoft.com/office/drawing/2014/main" id="{A0AF7BFD-7C3F-75D6-B4FF-7E3BB5DFFD37}"/>
              </a:ext>
            </a:extLst>
          </p:cNvPr>
          <p:cNvSpPr txBox="1"/>
          <p:nvPr/>
        </p:nvSpPr>
        <p:spPr>
          <a:xfrm>
            <a:off x="361950" y="594000"/>
            <a:ext cx="8420100" cy="481542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0" marR="0" lvl="0" indent="0" algn="ctr" defTabSz="457200" eaLnBrk="1" fontAlgn="auto" latinLnBrk="0" hangingPunct="1">
              <a:spcBef>
                <a:spcPts val="515"/>
              </a:spcBef>
              <a:spcAft>
                <a:spcPts val="0"/>
              </a:spcAft>
              <a:buClrTx/>
              <a:buSzTx/>
              <a:buFontTx/>
              <a:buNone/>
              <a:tabLst>
                <a:tab pos="1557973" algn="l"/>
                <a:tab pos="2476183" algn="l"/>
                <a:tab pos="3394392" algn="l"/>
              </a:tabLst>
              <a:defRPr/>
            </a:pPr>
            <a:r>
              <a:rPr kumimoji="0" lang="en-US" altLang="ko-KR" sz="2700" b="1" i="0" u="none" strike="noStrike" kern="0" cap="none" spc="-15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2700" b="1" spc="-150" dirty="0">
                <a:solidFill>
                  <a:srgbClr val="4F81B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공통</a:t>
            </a:r>
            <a:r>
              <a:rPr kumimoji="0" lang="en-US" altLang="ko-KR" sz="2700" b="1" i="0" u="none" strike="noStrike" kern="0" cap="none" spc="-15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kumimoji="0" lang="ko-KR" altLang="en-US" sz="2700" b="1" i="0" u="none" strike="noStrike" kern="0" cap="none" spc="-15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회사의 생산성을 높이는 </a:t>
            </a:r>
            <a:r>
              <a:rPr kumimoji="0" lang="en-US" altLang="ko-KR" sz="2700" b="1" i="0" u="none" strike="noStrike" kern="0" cap="none" spc="-15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ChatGPT </a:t>
            </a:r>
            <a:r>
              <a:rPr kumimoji="0" lang="ko-KR" altLang="en-US" sz="2700" b="1" i="0" u="none" strike="noStrike" kern="0" cap="none" spc="-15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활용법</a:t>
            </a:r>
          </a:p>
        </p:txBody>
      </p:sp>
      <p:sp>
        <p:nvSpPr>
          <p:cNvPr id="5" name="Text 32">
            <a:extLst>
              <a:ext uri="{FF2B5EF4-FFF2-40B4-BE49-F238E27FC236}">
                <a16:creationId xmlns:a16="http://schemas.microsoft.com/office/drawing/2014/main" id="{4FBF6BF8-9080-E697-A476-85657A3C57AB}"/>
              </a:ext>
            </a:extLst>
          </p:cNvPr>
          <p:cNvSpPr/>
          <p:nvPr/>
        </p:nvSpPr>
        <p:spPr>
          <a:xfrm>
            <a:off x="1374960" y="1134000"/>
            <a:ext cx="6394081" cy="25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0" cap="none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문서 작성</a:t>
            </a:r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kumimoji="0" lang="ko-KR" altLang="en-US" sz="1200" i="0" u="none" strike="noStrike" kern="0" cap="none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정보 탐색</a:t>
            </a:r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kumimoji="0" lang="ko-KR" altLang="en-US" sz="1200" i="0" u="none" strike="noStrike" kern="0" cap="none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일정 관리 등 반복 업무를 </a:t>
            </a:r>
            <a:r>
              <a:rPr kumimoji="0" lang="ko-KR" altLang="en-US" sz="1200" i="0" u="none" strike="noStrike" kern="0" cap="none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효율화하는</a:t>
            </a:r>
            <a:r>
              <a:rPr kumimoji="0" lang="ko-KR" altLang="en-US" sz="1200" i="0" u="none" strike="noStrike" kern="0" cap="none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기초 중의 기초 </a:t>
            </a:r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tGPT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활용법</a:t>
            </a:r>
            <a:endParaRPr kumimoji="0" lang="ko-KR" altLang="en-US" sz="120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30D723-4F30-119E-1A54-3D1ED1EA2561}"/>
              </a:ext>
            </a:extLst>
          </p:cNvPr>
          <p:cNvSpPr txBox="1"/>
          <p:nvPr/>
        </p:nvSpPr>
        <p:spPr>
          <a:xfrm>
            <a:off x="180000" y="237351"/>
            <a:ext cx="13388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재직자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훈련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과정 상세</a:t>
            </a:r>
          </a:p>
        </p:txBody>
      </p:sp>
      <p:sp>
        <p:nvSpPr>
          <p:cNvPr id="50" name="AutoShape 3">
            <a:extLst>
              <a:ext uri="{FF2B5EF4-FFF2-40B4-BE49-F238E27FC236}">
                <a16:creationId xmlns:a16="http://schemas.microsoft.com/office/drawing/2014/main" id="{F0A9C696-06E1-5158-2614-415D38752973}"/>
              </a:ext>
            </a:extLst>
          </p:cNvPr>
          <p:cNvSpPr/>
          <p:nvPr/>
        </p:nvSpPr>
        <p:spPr>
          <a:xfrm flipV="1">
            <a:off x="255913" y="1451316"/>
            <a:ext cx="8316587" cy="37672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AutoShape 3">
            <a:extLst>
              <a:ext uri="{FF2B5EF4-FFF2-40B4-BE49-F238E27FC236}">
                <a16:creationId xmlns:a16="http://schemas.microsoft.com/office/drawing/2014/main" id="{F60F814B-0A0F-76C7-A6C7-95389D3BFB0D}"/>
              </a:ext>
            </a:extLst>
          </p:cNvPr>
          <p:cNvSpPr/>
          <p:nvPr/>
        </p:nvSpPr>
        <p:spPr>
          <a:xfrm>
            <a:off x="4876800" y="1553335"/>
            <a:ext cx="26" cy="2924904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614FC53-FCAE-EC56-9D88-15B9E729805C}"/>
              </a:ext>
            </a:extLst>
          </p:cNvPr>
          <p:cNvGrpSpPr/>
          <p:nvPr/>
        </p:nvGrpSpPr>
        <p:grpSpPr>
          <a:xfrm>
            <a:off x="5072025" y="1671816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745D9EC8-325F-C29B-E25D-807521576FEE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" name="object 13">
              <a:extLst>
                <a:ext uri="{FF2B5EF4-FFF2-40B4-BE49-F238E27FC236}">
                  <a16:creationId xmlns:a16="http://schemas.microsoft.com/office/drawing/2014/main" id="{CDEFE43E-FD62-CD96-F194-30ED6B8B388B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교육목표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94C1F8F-77AB-93E0-CF35-C005667106C9}"/>
              </a:ext>
            </a:extLst>
          </p:cNvPr>
          <p:cNvSpPr txBox="1"/>
          <p:nvPr/>
        </p:nvSpPr>
        <p:spPr>
          <a:xfrm>
            <a:off x="6096000" y="1657350"/>
            <a:ext cx="2819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현업에서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이용하는 다양한 생성형 </a:t>
            </a: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도구를 이용하여</a:t>
            </a: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실무 활용 방안을 찾아 실제로 적용</a:t>
            </a:r>
            <a:endParaRPr kumimoji="0" lang="ko-KR" altLang="en-US" sz="1000" i="0" u="none" strike="noStrike" kern="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318210A-EE1F-6D39-54CA-5E2A76E73654}"/>
              </a:ext>
            </a:extLst>
          </p:cNvPr>
          <p:cNvGrpSpPr/>
          <p:nvPr/>
        </p:nvGrpSpPr>
        <p:grpSpPr>
          <a:xfrm>
            <a:off x="5072025" y="2190750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C0048619-0A9E-3848-4DF4-ADA124ABC4BA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2" name="object 13">
              <a:extLst>
                <a:ext uri="{FF2B5EF4-FFF2-40B4-BE49-F238E27FC236}">
                  <a16:creationId xmlns:a16="http://schemas.microsoft.com/office/drawing/2014/main" id="{1D4C5918-DFFE-62D2-B748-D8049E0A8807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수준</a:t>
              </a: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1BB235EA-03D0-F5A0-0684-3BC7302EC6BC}"/>
              </a:ext>
            </a:extLst>
          </p:cNvPr>
          <p:cNvGrpSpPr/>
          <p:nvPr/>
        </p:nvGrpSpPr>
        <p:grpSpPr>
          <a:xfrm>
            <a:off x="6135118" y="2190750"/>
            <a:ext cx="931386" cy="279400"/>
            <a:chOff x="991235" y="3543300"/>
            <a:chExt cx="4781550" cy="558800"/>
          </a:xfrm>
          <a:noFill/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19F68EE4-F61E-486B-A8EC-D16FF4AAC015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4F81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5" name="object 13">
              <a:extLst>
                <a:ext uri="{FF2B5EF4-FFF2-40B4-BE49-F238E27FC236}">
                  <a16:creationId xmlns:a16="http://schemas.microsoft.com/office/drawing/2014/main" id="{B8DC0FCC-F3FE-40D2-C540-0185B7A4D4C3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i="0" u="none" strike="noStrike" kern="0" cap="none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입문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81E71DD-DD81-E7A2-8B86-50DC8242BA61}"/>
              </a:ext>
            </a:extLst>
          </p:cNvPr>
          <p:cNvGrpSpPr/>
          <p:nvPr/>
        </p:nvGrpSpPr>
        <p:grpSpPr>
          <a:xfrm>
            <a:off x="5072025" y="2724150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540F3DA5-8B27-A9AD-3BBF-F675DD9401B8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8" name="object 13">
              <a:extLst>
                <a:ext uri="{FF2B5EF4-FFF2-40B4-BE49-F238E27FC236}">
                  <a16:creationId xmlns:a16="http://schemas.microsoft.com/office/drawing/2014/main" id="{4802AB31-2FC3-127E-0D44-AED9679062DB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교육시간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A96ACAF0-4F7D-7899-1794-1D77A0B9CC36}"/>
              </a:ext>
            </a:extLst>
          </p:cNvPr>
          <p:cNvGrpSpPr/>
          <p:nvPr/>
        </p:nvGrpSpPr>
        <p:grpSpPr>
          <a:xfrm>
            <a:off x="6135118" y="2724150"/>
            <a:ext cx="937736" cy="279400"/>
            <a:chOff x="991235" y="3543300"/>
            <a:chExt cx="4781550" cy="558800"/>
          </a:xfrm>
          <a:noFill/>
        </p:grpSpPr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AC620D6C-1ADE-E6D8-633B-7A7919A50E3F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4F81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1" name="object 13">
              <a:extLst>
                <a:ext uri="{FF2B5EF4-FFF2-40B4-BE49-F238E27FC236}">
                  <a16:creationId xmlns:a16="http://schemas.microsoft.com/office/drawing/2014/main" id="{63212C20-1A8F-2284-63A6-67DDC1CA55EC}"/>
                </a:ext>
              </a:extLst>
            </p:cNvPr>
            <p:cNvSpPr txBox="1"/>
            <p:nvPr/>
          </p:nvSpPr>
          <p:spPr>
            <a:xfrm>
              <a:off x="1130938" y="3654426"/>
              <a:ext cx="4449445" cy="32060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200"/>
                <a:buFontTx/>
                <a:buNone/>
                <a:tabLst/>
                <a:defRPr/>
              </a:pPr>
              <a:r>
                <a:rPr kumimoji="0" lang="en-US" altLang="ko-KR" sz="100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</a:t>
              </a:r>
              <a:r>
                <a:rPr kumimoji="0" lang="ko-KR" altLang="en-US" sz="100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일 </a:t>
              </a:r>
              <a:r>
                <a:rPr kumimoji="0" lang="en-US" altLang="ko-KR" sz="100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(7</a:t>
              </a:r>
              <a:r>
                <a:rPr kumimoji="0" lang="ko-KR" altLang="en-US" sz="100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시간</a:t>
              </a:r>
              <a:r>
                <a:rPr kumimoji="0" lang="en-US" altLang="ko-KR" sz="100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  <a:endPara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66" name="Google Shape;710;p18">
            <a:extLst>
              <a:ext uri="{FF2B5EF4-FFF2-40B4-BE49-F238E27FC236}">
                <a16:creationId xmlns:a16="http://schemas.microsoft.com/office/drawing/2014/main" id="{9EE50676-2C5C-E7B7-9C6B-5787522B1C27}"/>
              </a:ext>
            </a:extLst>
          </p:cNvPr>
          <p:cNvGrpSpPr/>
          <p:nvPr/>
        </p:nvGrpSpPr>
        <p:grpSpPr>
          <a:xfrm>
            <a:off x="6135118" y="3843611"/>
            <a:ext cx="537895" cy="404539"/>
            <a:chOff x="7844319" y="5693188"/>
            <a:chExt cx="723001" cy="528462"/>
          </a:xfrm>
        </p:grpSpPr>
        <p:pic>
          <p:nvPicPr>
            <p:cNvPr id="67" name="Google Shape;711;p18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A8BD12B1-78FA-3F93-42AB-A1EC84B1F6C2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033305" y="5693188"/>
              <a:ext cx="345028" cy="3450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" name="Google Shape;712;p18">
              <a:extLst>
                <a:ext uri="{FF2B5EF4-FFF2-40B4-BE49-F238E27FC236}">
                  <a16:creationId xmlns:a16="http://schemas.microsoft.com/office/drawing/2014/main" id="{B2ECAC4E-008A-3566-C9FF-AC0068807108}"/>
                </a:ext>
              </a:extLst>
            </p:cNvPr>
            <p:cNvSpPr txBox="1"/>
            <p:nvPr/>
          </p:nvSpPr>
          <p:spPr>
            <a:xfrm>
              <a:off x="7844319" y="6015614"/>
              <a:ext cx="723001" cy="206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85" tIns="17138" rIns="34285" bIns="17138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000"/>
                <a:buFontTx/>
                <a:buNone/>
                <a:tabLst/>
                <a:defRPr/>
              </a:pPr>
              <a:r>
                <a:rPr kumimoji="0" lang="en-US" altLang="ko-KR" sz="80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ChatGPT</a:t>
              </a:r>
              <a:endParaRPr kumimoji="0" sz="800" i="0" u="none" strike="noStrike" kern="0" cap="none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69" name="Google Shape;713;p18">
            <a:extLst>
              <a:ext uri="{FF2B5EF4-FFF2-40B4-BE49-F238E27FC236}">
                <a16:creationId xmlns:a16="http://schemas.microsoft.com/office/drawing/2014/main" id="{3A685ECF-AFFD-B719-DF78-9FA1DF5CC35E}"/>
              </a:ext>
            </a:extLst>
          </p:cNvPr>
          <p:cNvGrpSpPr/>
          <p:nvPr/>
        </p:nvGrpSpPr>
        <p:grpSpPr>
          <a:xfrm>
            <a:off x="6858000" y="3879023"/>
            <a:ext cx="755245" cy="347538"/>
            <a:chOff x="8523227" y="5753232"/>
            <a:chExt cx="1116094" cy="499146"/>
          </a:xfrm>
        </p:grpSpPr>
        <p:pic>
          <p:nvPicPr>
            <p:cNvPr id="70" name="Google Shape;714;p18">
              <a:extLst>
                <a:ext uri="{FF2B5EF4-FFF2-40B4-BE49-F238E27FC236}">
                  <a16:creationId xmlns:a16="http://schemas.microsoft.com/office/drawing/2014/main" id="{CE97F51C-9E3F-02F2-E61A-8E7D21CD3D1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523227" y="5753232"/>
              <a:ext cx="1074420" cy="2830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Google Shape;715;p18">
              <a:extLst>
                <a:ext uri="{FF2B5EF4-FFF2-40B4-BE49-F238E27FC236}">
                  <a16:creationId xmlns:a16="http://schemas.microsoft.com/office/drawing/2014/main" id="{51B9363B-6F91-6A62-7189-2787A9BDBBC8}"/>
                </a:ext>
              </a:extLst>
            </p:cNvPr>
            <p:cNvSpPr txBox="1"/>
            <p:nvPr/>
          </p:nvSpPr>
          <p:spPr>
            <a:xfrm>
              <a:off x="8564978" y="6025854"/>
              <a:ext cx="1074343" cy="226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85" tIns="17138" rIns="34285" bIns="17138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000"/>
                <a:buFontTx/>
                <a:buNone/>
                <a:tabLst/>
                <a:defRPr/>
              </a:pPr>
              <a:r>
                <a:rPr kumimoji="0" lang="en-US" altLang="ko-KR" sz="80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Open AI API</a:t>
              </a:r>
              <a:endParaRPr kumimoji="0" sz="800" i="0" u="none" strike="noStrike" kern="0" cap="none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9DA09154-81E0-0A23-1F2F-96DDD7D35216}"/>
              </a:ext>
            </a:extLst>
          </p:cNvPr>
          <p:cNvGrpSpPr/>
          <p:nvPr/>
        </p:nvGrpSpPr>
        <p:grpSpPr>
          <a:xfrm>
            <a:off x="5072025" y="3865428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13B8F8D4-ECB1-6EC0-B505-6964FEC51355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4" name="object 13">
              <a:extLst>
                <a:ext uri="{FF2B5EF4-FFF2-40B4-BE49-F238E27FC236}">
                  <a16:creationId xmlns:a16="http://schemas.microsoft.com/office/drawing/2014/main" id="{83C7F4E3-7CFB-6FC3-6CE0-6E07987E1E1F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i="0" u="none" strike="noStrike" kern="0" cap="none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유료툴</a:t>
              </a:r>
              <a:r>
                <a:rPr kumimoji="0" lang="ko-KR" altLang="en-US" sz="100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제공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A741EB4E-A3DD-FA87-A683-04D4D20C8ADE}"/>
              </a:ext>
            </a:extLst>
          </p:cNvPr>
          <p:cNvGrpSpPr/>
          <p:nvPr/>
        </p:nvGrpSpPr>
        <p:grpSpPr>
          <a:xfrm>
            <a:off x="5072025" y="3265555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BC1DD588-3A14-7F28-B230-D7B4A1B13750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70BBDF5D-8260-13CB-5873-CAA0A6B8A5B0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교육대상</a:t>
              </a:r>
            </a:p>
          </p:txBody>
        </p:sp>
      </p:grpSp>
      <p:sp>
        <p:nvSpPr>
          <p:cNvPr id="17" name="object 13">
            <a:extLst>
              <a:ext uri="{FF2B5EF4-FFF2-40B4-BE49-F238E27FC236}">
                <a16:creationId xmlns:a16="http://schemas.microsoft.com/office/drawing/2014/main" id="{06522628-6085-614D-989E-B3C202BDFD33}"/>
              </a:ext>
            </a:extLst>
          </p:cNvPr>
          <p:cNvSpPr txBox="1"/>
          <p:nvPr/>
        </p:nvSpPr>
        <p:spPr>
          <a:xfrm>
            <a:off x="6135118" y="3248160"/>
            <a:ext cx="2170692" cy="3141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6351" rIns="0" bIns="0" rtlCol="0">
            <a:spAutoFit/>
          </a:bodyPr>
          <a:lstStyle/>
          <a:p>
            <a:pPr marL="0" marR="0" lvl="0" indent="0" defTabSz="45720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200"/>
              <a:buFontTx/>
              <a:buNone/>
              <a:tabLst/>
              <a:defRPr/>
            </a:pP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일반 사무직 사원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인공지능에 </a:t>
            </a:r>
            <a:endParaRPr kumimoji="0" lang="en-US" altLang="ko-KR" sz="1000" i="0" u="none" strike="noStrike" kern="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defTabSz="45720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200"/>
              <a:buFontTx/>
              <a:buNone/>
              <a:tabLst/>
              <a:defRPr/>
            </a:pP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관심이 있는 일반 직장인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C2212F8-01E4-C4A1-B0EE-E6FC2CA01CD3}"/>
              </a:ext>
            </a:extLst>
          </p:cNvPr>
          <p:cNvGrpSpPr/>
          <p:nvPr/>
        </p:nvGrpSpPr>
        <p:grpSpPr>
          <a:xfrm>
            <a:off x="457200" y="1692001"/>
            <a:ext cx="439057" cy="2632350"/>
            <a:chOff x="829701" y="3543300"/>
            <a:chExt cx="4781550" cy="558800"/>
          </a:xfrm>
          <a:solidFill>
            <a:srgbClr val="4F81BD"/>
          </a:solidFill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A752878D-4C20-7CA1-F52B-061972895249}"/>
                </a:ext>
              </a:extLst>
            </p:cNvPr>
            <p:cNvSpPr/>
            <p:nvPr/>
          </p:nvSpPr>
          <p:spPr>
            <a:xfrm>
              <a:off x="829701" y="3543300"/>
              <a:ext cx="4781550" cy="558800"/>
            </a:xfrm>
            <a:prstGeom prst="roundRect">
              <a:avLst>
                <a:gd name="adj" fmla="val 2223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6" name="object 13">
              <a:extLst>
                <a:ext uri="{FF2B5EF4-FFF2-40B4-BE49-F238E27FC236}">
                  <a16:creationId xmlns:a16="http://schemas.microsoft.com/office/drawing/2014/main" id="{A0F0655C-CB94-E30F-03C4-AF0A2801C74F}"/>
                </a:ext>
              </a:extLst>
            </p:cNvPr>
            <p:cNvSpPr txBox="1"/>
            <p:nvPr/>
          </p:nvSpPr>
          <p:spPr>
            <a:xfrm>
              <a:off x="829701" y="3786492"/>
              <a:ext cx="4449444" cy="27496"/>
            </a:xfrm>
            <a:prstGeom prst="rect">
              <a:avLst/>
            </a:prstGeom>
            <a:grpFill/>
          </p:spPr>
          <p:txBody>
            <a:bodyPr vert="horz" wrap="square" lIns="0" tIns="6351" rIns="0" bIns="0" rtlCol="0" anchor="ctr">
              <a:spAutoFit/>
            </a:bodyPr>
            <a:lstStyle/>
            <a:p>
              <a:pPr marL="6351" marR="0" lvl="0" indent="0" algn="ctr" defTabSz="457200" eaLnBrk="1" fontAlgn="auto" latinLnBrk="0" hangingPunct="1">
                <a:spcBef>
                  <a:spcPts val="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Day1</a:t>
              </a:r>
              <a:endParaRPr kumimoji="0" lang="ko-KR" altLang="en-US" sz="80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4" name="슬라이드 번호 개체 틀 4">
            <a:extLst>
              <a:ext uri="{FF2B5EF4-FFF2-40B4-BE49-F238E27FC236}">
                <a16:creationId xmlns:a16="http://schemas.microsoft.com/office/drawing/2014/main" id="{158047F7-F5D6-227E-94CB-966F24841749}"/>
              </a:ext>
            </a:extLst>
          </p:cNvPr>
          <p:cNvSpPr txBox="1">
            <a:spLocks/>
          </p:cNvSpPr>
          <p:nvPr/>
        </p:nvSpPr>
        <p:spPr>
          <a:xfrm>
            <a:off x="3520440" y="4917073"/>
            <a:ext cx="210312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altLang="ko-KR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2250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D1AAF-2DAB-B8F5-03A9-20D69796F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12">
            <a:extLst>
              <a:ext uri="{FF2B5EF4-FFF2-40B4-BE49-F238E27FC236}">
                <a16:creationId xmlns:a16="http://schemas.microsoft.com/office/drawing/2014/main" id="{6B543298-59BC-92B4-6E8A-18FFD30F2971}"/>
              </a:ext>
            </a:extLst>
          </p:cNvPr>
          <p:cNvSpPr txBox="1"/>
          <p:nvPr/>
        </p:nvSpPr>
        <p:spPr>
          <a:xfrm>
            <a:off x="361950" y="594000"/>
            <a:ext cx="8420100" cy="481542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0" marR="0" lvl="0" indent="0" algn="ctr" defTabSz="457200" eaLnBrk="1" fontAlgn="auto" latinLnBrk="0" hangingPunct="1">
              <a:spcBef>
                <a:spcPts val="515"/>
              </a:spcBef>
              <a:spcAft>
                <a:spcPts val="0"/>
              </a:spcAft>
              <a:buClrTx/>
              <a:buSzTx/>
              <a:buFontTx/>
              <a:buNone/>
              <a:tabLst>
                <a:tab pos="1557973" algn="l"/>
                <a:tab pos="2476183" algn="l"/>
                <a:tab pos="3394392" algn="l"/>
              </a:tabLst>
              <a:defRPr/>
            </a:pPr>
            <a:r>
              <a:rPr lang="en-US" altLang="ko-KR" sz="2700" b="1" spc="-150" dirty="0">
                <a:solidFill>
                  <a:srgbClr val="4F81B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2700" b="1" spc="-150" dirty="0">
                <a:solidFill>
                  <a:srgbClr val="4F81B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공통</a:t>
            </a:r>
            <a:r>
              <a:rPr lang="en-US" altLang="ko-KR" sz="2700" b="1" spc="-150" dirty="0">
                <a:solidFill>
                  <a:srgbClr val="4F81B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kumimoji="0" lang="ko-KR" altLang="en-US" sz="2700" b="1" i="0" u="none" strike="noStrike" kern="0" cap="none" spc="-15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업무자동화의 혁신</a:t>
            </a:r>
            <a:r>
              <a:rPr kumimoji="0" lang="en-US" altLang="ko-KR" sz="2700" b="1" i="0" u="none" strike="noStrike" kern="0" cap="none" spc="-15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! Microsoft 365 Copilot </a:t>
            </a:r>
            <a:r>
              <a:rPr kumimoji="0" lang="ko-KR" altLang="en-US" sz="2700" b="1" i="0" u="none" strike="noStrike" kern="0" cap="none" spc="-15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활용법</a:t>
            </a:r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8D6EB354-95D2-1423-D36B-9C0E0BAEFB51}"/>
              </a:ext>
            </a:extLst>
          </p:cNvPr>
          <p:cNvSpPr/>
          <p:nvPr/>
        </p:nvSpPr>
        <p:spPr>
          <a:xfrm>
            <a:off x="744822" y="1134000"/>
            <a:ext cx="7654357" cy="24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MS 365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기반의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Word, Excel, PowerPoint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</a:t>
            </a:r>
            <a:r>
              <a:rPr kumimoji="0" lang="ko-KR" altLang="en-US" sz="1200" i="0" u="none" strike="noStrike" kern="0" cap="none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Copilot</a:t>
            </a:r>
            <a:r>
              <a:rPr kumimoji="0" lang="ko-KR" altLang="en-US" sz="1200" i="0" u="none" strike="noStrike" kern="0" cap="none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 다양한 생성형</a:t>
            </a:r>
            <a:r>
              <a:rPr kumimoji="0" lang="en-US" altLang="ko-KR" sz="1200" i="0" u="none" strike="noStrike" kern="0" cap="none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kumimoji="0" lang="ko-KR" altLang="en-US" sz="1200" i="0" u="none" strike="noStrike" kern="0" cap="none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기술을 활용하여 업무 생산성 향상과 자동화 실현</a:t>
            </a:r>
          </a:p>
        </p:txBody>
      </p:sp>
      <p:sp>
        <p:nvSpPr>
          <p:cNvPr id="50" name="AutoShape 3">
            <a:extLst>
              <a:ext uri="{FF2B5EF4-FFF2-40B4-BE49-F238E27FC236}">
                <a16:creationId xmlns:a16="http://schemas.microsoft.com/office/drawing/2014/main" id="{730DA14D-1534-14C4-EB4E-51ABB9613AAD}"/>
              </a:ext>
            </a:extLst>
          </p:cNvPr>
          <p:cNvSpPr/>
          <p:nvPr/>
        </p:nvSpPr>
        <p:spPr>
          <a:xfrm flipV="1">
            <a:off x="255913" y="1451316"/>
            <a:ext cx="8316587" cy="37672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AutoShape 3">
            <a:extLst>
              <a:ext uri="{FF2B5EF4-FFF2-40B4-BE49-F238E27FC236}">
                <a16:creationId xmlns:a16="http://schemas.microsoft.com/office/drawing/2014/main" id="{0720E631-C039-5421-3ABB-1F01D2E822C4}"/>
              </a:ext>
            </a:extLst>
          </p:cNvPr>
          <p:cNvSpPr/>
          <p:nvPr/>
        </p:nvSpPr>
        <p:spPr>
          <a:xfrm>
            <a:off x="4876800" y="1553335"/>
            <a:ext cx="26" cy="2924904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A81AFB77-A14C-A77A-9814-0939A3ACB7DB}"/>
              </a:ext>
            </a:extLst>
          </p:cNvPr>
          <p:cNvSpPr/>
          <p:nvPr/>
        </p:nvSpPr>
        <p:spPr>
          <a:xfrm>
            <a:off x="457200" y="1163908"/>
            <a:ext cx="931386" cy="2794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i="0" u="none" strike="noStrike" kern="0" cap="none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22CC31-0F06-6B23-378B-EC90455BA08F}"/>
              </a:ext>
            </a:extLst>
          </p:cNvPr>
          <p:cNvSpPr txBox="1"/>
          <p:nvPr/>
        </p:nvSpPr>
        <p:spPr>
          <a:xfrm>
            <a:off x="180000" y="237351"/>
            <a:ext cx="13388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재직자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훈련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과정 상세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77BCA4-75E7-2429-56E4-E631A6F7DAE6}"/>
              </a:ext>
            </a:extLst>
          </p:cNvPr>
          <p:cNvSpPr txBox="1"/>
          <p:nvPr/>
        </p:nvSpPr>
        <p:spPr>
          <a:xfrm>
            <a:off x="990600" y="1657350"/>
            <a:ext cx="3514388" cy="2423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5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105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이론</a:t>
            </a:r>
            <a:r>
              <a:rPr lang="en-US" altLang="ko-KR" sz="105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kumimoji="0" lang="en-US" altLang="ko-KR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Microsoft 365 &amp; Copilot </a:t>
            </a:r>
            <a:r>
              <a:rPr kumimoji="0" lang="ko-KR" altLang="en-US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알아보기</a:t>
            </a:r>
            <a:r>
              <a:rPr kumimoji="0" lang="en-US" altLang="ko-KR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(1H)</a:t>
            </a: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Copilot 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소개</a:t>
            </a:r>
            <a:r>
              <a:rPr lang="en-US" altLang="ko-KR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</a:t>
            </a:r>
            <a:r>
              <a:rPr lang="ko-KR" altLang="en-US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구성요소</a:t>
            </a:r>
            <a:r>
              <a:rPr lang="en-US" altLang="ko-KR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주요</a:t>
            </a:r>
            <a:r>
              <a:rPr lang="en-US" altLang="ko-KR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제품별 기능</a:t>
            </a:r>
            <a:r>
              <a:rPr lang="en-US" altLang="ko-KR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kumimoji="0" lang="ko-KR" altLang="en-US" sz="100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105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실습</a:t>
            </a:r>
            <a:r>
              <a:rPr lang="en-US" altLang="ko-KR" sz="105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kumimoji="0" lang="en-US" altLang="ko-KR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Microsoft Copilot </a:t>
            </a:r>
            <a:r>
              <a:rPr kumimoji="0" lang="ko-KR" altLang="en-US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기본 활용 </a:t>
            </a:r>
            <a:r>
              <a:rPr kumimoji="0" lang="en-US" altLang="ko-KR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(1H)</a:t>
            </a:r>
            <a:endParaRPr kumimoji="0" lang="ko-KR" altLang="en-US" sz="100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Copilot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프롬프트 엔지니어링</a:t>
            </a: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업무용 이미지 생성해보기</a:t>
            </a: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멀티모달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기능 활용하기</a:t>
            </a:r>
            <a:endParaRPr kumimoji="0" lang="en-US" altLang="ko-KR" sz="100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105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실습</a:t>
            </a:r>
            <a:r>
              <a:rPr lang="en-US" altLang="ko-KR" sz="105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kumimoji="0" lang="ko-KR" altLang="en-US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나만의 업무용 </a:t>
            </a:r>
            <a:r>
              <a:rPr kumimoji="0" lang="en-US" altLang="ko-KR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Agent </a:t>
            </a:r>
            <a:r>
              <a:rPr kumimoji="0" lang="ko-KR" altLang="en-US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만들기</a:t>
            </a:r>
            <a:r>
              <a:rPr kumimoji="0" lang="en-US" altLang="ko-KR" sz="105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(5H)</a:t>
            </a:r>
            <a:endParaRPr kumimoji="0" lang="ko-KR" altLang="en-US" sz="100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Word : 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문서 초안 작성부터 직무별 보고서 작성까지</a:t>
            </a:r>
            <a:endParaRPr kumimoji="0" lang="en-US" altLang="ko-KR" sz="100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PowerPoint </a:t>
            </a:r>
            <a:r>
              <a:rPr lang="en-US" altLang="ko-KR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슬라이드 제작 수정부터 디자인까지</a:t>
            </a:r>
            <a:endParaRPr kumimoji="0" lang="en-US" altLang="ko-KR" sz="100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Excel </a:t>
            </a:r>
            <a:r>
              <a:rPr lang="en-US" altLang="ko-KR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업무 데이터 인사이트 발견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시각화</a:t>
            </a:r>
            <a:endParaRPr kumimoji="0" lang="en-US" altLang="ko-KR" sz="100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Onenote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: 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사내 데이터 검색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문서 작성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채팅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회의 요약</a:t>
            </a:r>
            <a:endParaRPr kumimoji="0" lang="en-US" altLang="ko-KR" sz="100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76D5C8D8-5B44-BD54-BAC2-7F2AAE18F153}"/>
              </a:ext>
            </a:extLst>
          </p:cNvPr>
          <p:cNvGrpSpPr/>
          <p:nvPr/>
        </p:nvGrpSpPr>
        <p:grpSpPr>
          <a:xfrm>
            <a:off x="5072025" y="1671816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70" name="사각형: 둥근 모서리 69">
              <a:extLst>
                <a:ext uri="{FF2B5EF4-FFF2-40B4-BE49-F238E27FC236}">
                  <a16:creationId xmlns:a16="http://schemas.microsoft.com/office/drawing/2014/main" id="{00482363-2872-CA45-353F-8E1CC06A64FE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1" name="object 13">
              <a:extLst>
                <a:ext uri="{FF2B5EF4-FFF2-40B4-BE49-F238E27FC236}">
                  <a16:creationId xmlns:a16="http://schemas.microsoft.com/office/drawing/2014/main" id="{DC55246B-14F0-A0E3-AD72-91E8254AD392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교육목표</a:t>
              </a: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E3C4667F-9156-11C6-821C-999311A5CBB1}"/>
              </a:ext>
            </a:extLst>
          </p:cNvPr>
          <p:cNvSpPr txBox="1"/>
          <p:nvPr/>
        </p:nvSpPr>
        <p:spPr>
          <a:xfrm>
            <a:off x="6096000" y="1657350"/>
            <a:ext cx="26860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Microsoft Copilot 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사용법을 이해하고 효과적인 프롬프트 작성 기법을 습득하여 업무에 실제 적용</a:t>
            </a: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9D5534F0-87B8-C901-632F-2AA206816E15}"/>
              </a:ext>
            </a:extLst>
          </p:cNvPr>
          <p:cNvGrpSpPr/>
          <p:nvPr/>
        </p:nvGrpSpPr>
        <p:grpSpPr>
          <a:xfrm>
            <a:off x="5072025" y="2190750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74" name="사각형: 둥근 모서리 73">
              <a:extLst>
                <a:ext uri="{FF2B5EF4-FFF2-40B4-BE49-F238E27FC236}">
                  <a16:creationId xmlns:a16="http://schemas.microsoft.com/office/drawing/2014/main" id="{517ECCEF-0D4F-E978-4808-20F8D55941DB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5" name="object 13">
              <a:extLst>
                <a:ext uri="{FF2B5EF4-FFF2-40B4-BE49-F238E27FC236}">
                  <a16:creationId xmlns:a16="http://schemas.microsoft.com/office/drawing/2014/main" id="{7126D7F7-A4CD-0D81-1639-AB11AD63FE34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수준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EC710244-ABB9-F7FC-9C8F-3A66F8B5BD0E}"/>
              </a:ext>
            </a:extLst>
          </p:cNvPr>
          <p:cNvGrpSpPr/>
          <p:nvPr/>
        </p:nvGrpSpPr>
        <p:grpSpPr>
          <a:xfrm>
            <a:off x="6135118" y="2190750"/>
            <a:ext cx="931386" cy="279400"/>
            <a:chOff x="991235" y="3543300"/>
            <a:chExt cx="4781550" cy="558800"/>
          </a:xfrm>
          <a:noFill/>
        </p:grpSpPr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54FE6814-B3E6-5A0D-D378-4AFB7D8DE684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4F81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8" name="object 13">
              <a:extLst>
                <a:ext uri="{FF2B5EF4-FFF2-40B4-BE49-F238E27FC236}">
                  <a16:creationId xmlns:a16="http://schemas.microsoft.com/office/drawing/2014/main" id="{47261976-8D66-D8B6-D9A8-3161DAAD1127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입문</a:t>
              </a:r>
              <a:endPara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D1AB9323-3F69-F6C0-6EA2-07019BBB3536}"/>
              </a:ext>
            </a:extLst>
          </p:cNvPr>
          <p:cNvGrpSpPr/>
          <p:nvPr/>
        </p:nvGrpSpPr>
        <p:grpSpPr>
          <a:xfrm>
            <a:off x="5072025" y="2724150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1B9845A7-9274-50FE-E874-FB7D0A8C742B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1" name="object 13">
              <a:extLst>
                <a:ext uri="{FF2B5EF4-FFF2-40B4-BE49-F238E27FC236}">
                  <a16:creationId xmlns:a16="http://schemas.microsoft.com/office/drawing/2014/main" id="{E24FBA7E-7F67-6D1E-D9E2-31306EF57734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교육시간</a:t>
              </a: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95756D5-CF73-9D23-5E36-6EF9BFF5618D}"/>
              </a:ext>
            </a:extLst>
          </p:cNvPr>
          <p:cNvGrpSpPr/>
          <p:nvPr/>
        </p:nvGrpSpPr>
        <p:grpSpPr>
          <a:xfrm>
            <a:off x="6135118" y="2724150"/>
            <a:ext cx="937736" cy="279400"/>
            <a:chOff x="991235" y="3543300"/>
            <a:chExt cx="4781550" cy="558800"/>
          </a:xfrm>
          <a:noFill/>
        </p:grpSpPr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5EDDA062-6977-357B-3D9B-E348649BB9F8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4F81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4" name="object 13">
              <a:extLst>
                <a:ext uri="{FF2B5EF4-FFF2-40B4-BE49-F238E27FC236}">
                  <a16:creationId xmlns:a16="http://schemas.microsoft.com/office/drawing/2014/main" id="{8C8A4177-3D9E-E208-FDE9-5E874D85EB60}"/>
                </a:ext>
              </a:extLst>
            </p:cNvPr>
            <p:cNvSpPr txBox="1"/>
            <p:nvPr/>
          </p:nvSpPr>
          <p:spPr>
            <a:xfrm>
              <a:off x="1130938" y="3654426"/>
              <a:ext cx="4449445" cy="32060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200"/>
                <a:buFontTx/>
                <a:buNone/>
                <a:tabLst/>
                <a:defRPr/>
              </a:pPr>
              <a:r>
                <a:rPr kumimoji="0" lang="en-US" altLang="ko-KR" sz="100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</a:t>
              </a:r>
              <a:r>
                <a:rPr kumimoji="0" lang="ko-KR" altLang="en-US" sz="100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일 </a:t>
              </a:r>
              <a:r>
                <a:rPr kumimoji="0" lang="en-US" altLang="ko-KR" sz="100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(7</a:t>
              </a:r>
              <a:r>
                <a:rPr kumimoji="0" lang="ko-KR" altLang="en-US" sz="100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시간</a:t>
              </a:r>
              <a:r>
                <a:rPr kumimoji="0" lang="en-US" altLang="ko-KR" sz="100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  <a:endPara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779DCC6-2A2D-E555-1259-E789A1A82811}"/>
              </a:ext>
            </a:extLst>
          </p:cNvPr>
          <p:cNvGrpSpPr/>
          <p:nvPr/>
        </p:nvGrpSpPr>
        <p:grpSpPr>
          <a:xfrm>
            <a:off x="5072025" y="3865428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92" name="사각형: 둥근 모서리 91">
              <a:extLst>
                <a:ext uri="{FF2B5EF4-FFF2-40B4-BE49-F238E27FC236}">
                  <a16:creationId xmlns:a16="http://schemas.microsoft.com/office/drawing/2014/main" id="{B440D4E1-D0B4-4840-CD45-7FDBB9AB4A2F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3" name="object 13">
              <a:extLst>
                <a:ext uri="{FF2B5EF4-FFF2-40B4-BE49-F238E27FC236}">
                  <a16:creationId xmlns:a16="http://schemas.microsoft.com/office/drawing/2014/main" id="{DEACED65-1B90-DFEE-8591-9B0CC3385E6D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i="0" u="none" strike="noStrike" kern="0" cap="none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유료툴</a:t>
              </a:r>
              <a:r>
                <a:rPr kumimoji="0" lang="ko-KR" altLang="en-US" sz="100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제공</a:t>
              </a:r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842D16FB-066B-481A-56FD-47F72C712C41}"/>
              </a:ext>
            </a:extLst>
          </p:cNvPr>
          <p:cNvGrpSpPr/>
          <p:nvPr/>
        </p:nvGrpSpPr>
        <p:grpSpPr>
          <a:xfrm>
            <a:off x="5072025" y="3265555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95" name="사각형: 둥근 모서리 94">
              <a:extLst>
                <a:ext uri="{FF2B5EF4-FFF2-40B4-BE49-F238E27FC236}">
                  <a16:creationId xmlns:a16="http://schemas.microsoft.com/office/drawing/2014/main" id="{5BEC798B-5177-4896-A4A8-E0FEB4237EB4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6" name="object 13">
              <a:extLst>
                <a:ext uri="{FF2B5EF4-FFF2-40B4-BE49-F238E27FC236}">
                  <a16:creationId xmlns:a16="http://schemas.microsoft.com/office/drawing/2014/main" id="{47C57944-1AC6-8872-B3B0-F5906962C57E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교육대상</a:t>
              </a:r>
            </a:p>
          </p:txBody>
        </p:sp>
      </p:grpSp>
      <p:sp>
        <p:nvSpPr>
          <p:cNvPr id="97" name="object 13">
            <a:extLst>
              <a:ext uri="{FF2B5EF4-FFF2-40B4-BE49-F238E27FC236}">
                <a16:creationId xmlns:a16="http://schemas.microsoft.com/office/drawing/2014/main" id="{B49E901C-8FF0-57E5-2901-F084E3308036}"/>
              </a:ext>
            </a:extLst>
          </p:cNvPr>
          <p:cNvSpPr txBox="1"/>
          <p:nvPr/>
        </p:nvSpPr>
        <p:spPr>
          <a:xfrm>
            <a:off x="6135118" y="3248160"/>
            <a:ext cx="2170692" cy="3141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6351" rIns="0" bIns="0" rtlCol="0">
            <a:spAutoFit/>
          </a:bodyPr>
          <a:lstStyle/>
          <a:p>
            <a:pPr marL="0" marR="0" lvl="0" indent="0" defTabSz="45720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200"/>
              <a:buFontTx/>
              <a:buNone/>
              <a:tabLst/>
              <a:defRPr/>
            </a:pP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일반 사무직 사원</a:t>
            </a: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인공지능에 </a:t>
            </a:r>
            <a:endParaRPr lang="en-US" altLang="ko-KR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defTabSz="45720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200"/>
              <a:buFontTx/>
              <a:buNone/>
              <a:tabLst/>
              <a:defRPr/>
            </a:pP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관심이 있는 일반 직장인</a:t>
            </a:r>
          </a:p>
        </p:txBody>
      </p:sp>
      <p:grpSp>
        <p:nvGrpSpPr>
          <p:cNvPr id="2" name="Google Shape;710;p18">
            <a:extLst>
              <a:ext uri="{FF2B5EF4-FFF2-40B4-BE49-F238E27FC236}">
                <a16:creationId xmlns:a16="http://schemas.microsoft.com/office/drawing/2014/main" id="{45CD3676-35C2-FDC8-5657-B59362BA18F6}"/>
              </a:ext>
            </a:extLst>
          </p:cNvPr>
          <p:cNvGrpSpPr/>
          <p:nvPr/>
        </p:nvGrpSpPr>
        <p:grpSpPr>
          <a:xfrm>
            <a:off x="6135118" y="3843611"/>
            <a:ext cx="537895" cy="404539"/>
            <a:chOff x="7844319" y="5693188"/>
            <a:chExt cx="723001" cy="528462"/>
          </a:xfrm>
        </p:grpSpPr>
        <p:pic>
          <p:nvPicPr>
            <p:cNvPr id="4" name="Google Shape;711;p18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C87419C7-6CAD-5C8D-EE6A-9C9BDB3B7D53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033305" y="5693188"/>
              <a:ext cx="345028" cy="3450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712;p18">
              <a:extLst>
                <a:ext uri="{FF2B5EF4-FFF2-40B4-BE49-F238E27FC236}">
                  <a16:creationId xmlns:a16="http://schemas.microsoft.com/office/drawing/2014/main" id="{F9D962D9-A9A2-C28F-373A-BD5B7193FD46}"/>
                </a:ext>
              </a:extLst>
            </p:cNvPr>
            <p:cNvSpPr txBox="1"/>
            <p:nvPr/>
          </p:nvSpPr>
          <p:spPr>
            <a:xfrm>
              <a:off x="7844319" y="6015614"/>
              <a:ext cx="723001" cy="206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85" tIns="17138" rIns="34285" bIns="17138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000"/>
                <a:buFontTx/>
                <a:buNone/>
                <a:tabLst/>
                <a:defRPr/>
              </a:pPr>
              <a:r>
                <a:rPr kumimoji="0" lang="en-US" altLang="ko-KR" sz="80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ChatGPT</a:t>
              </a:r>
              <a:endParaRPr kumimoji="0" sz="800" i="0" u="none" strike="noStrike" kern="0" cap="none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70D1B557-D16A-1E06-4FAF-B2CB0A78E109}"/>
              </a:ext>
            </a:extLst>
          </p:cNvPr>
          <p:cNvGrpSpPr/>
          <p:nvPr/>
        </p:nvGrpSpPr>
        <p:grpSpPr>
          <a:xfrm>
            <a:off x="6705600" y="3806585"/>
            <a:ext cx="531981" cy="451708"/>
            <a:chOff x="6692219" y="3806584"/>
            <a:chExt cx="537895" cy="48275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356D139-AAB0-F133-1A2C-FC608F53C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802358" y="3806584"/>
              <a:ext cx="317617" cy="314190"/>
            </a:xfrm>
            <a:prstGeom prst="rect">
              <a:avLst/>
            </a:prstGeom>
          </p:spPr>
        </p:pic>
        <p:sp>
          <p:nvSpPr>
            <p:cNvPr id="8" name="Google Shape;712;p18">
              <a:extLst>
                <a:ext uri="{FF2B5EF4-FFF2-40B4-BE49-F238E27FC236}">
                  <a16:creationId xmlns:a16="http://schemas.microsoft.com/office/drawing/2014/main" id="{1185AA86-3B95-BC90-6B25-94799B3535BF}"/>
                </a:ext>
              </a:extLst>
            </p:cNvPr>
            <p:cNvSpPr txBox="1"/>
            <p:nvPr/>
          </p:nvSpPr>
          <p:spPr>
            <a:xfrm>
              <a:off x="6692219" y="4120774"/>
              <a:ext cx="537895" cy="168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85" tIns="17138" rIns="34285" bIns="17138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000"/>
                <a:buFontTx/>
                <a:buNone/>
                <a:tabLst/>
                <a:defRPr/>
              </a:pPr>
              <a:r>
                <a:rPr lang="en-US" sz="8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MS365</a:t>
              </a:r>
              <a:endParaRPr kumimoji="0" sz="800" i="0" u="none" strike="noStrike" kern="0" cap="none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4B972D27-8CFC-B397-D166-5BA8C3E89CAF}"/>
              </a:ext>
            </a:extLst>
          </p:cNvPr>
          <p:cNvGrpSpPr/>
          <p:nvPr/>
        </p:nvGrpSpPr>
        <p:grpSpPr>
          <a:xfrm>
            <a:off x="457200" y="1692001"/>
            <a:ext cx="439057" cy="2632350"/>
            <a:chOff x="829701" y="3543300"/>
            <a:chExt cx="4781550" cy="558800"/>
          </a:xfrm>
          <a:solidFill>
            <a:srgbClr val="4F81BD"/>
          </a:solidFill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BA2183DA-B89D-D143-20E2-FB2977D06E09}"/>
                </a:ext>
              </a:extLst>
            </p:cNvPr>
            <p:cNvSpPr/>
            <p:nvPr/>
          </p:nvSpPr>
          <p:spPr>
            <a:xfrm>
              <a:off x="829701" y="3543300"/>
              <a:ext cx="4781550" cy="558800"/>
            </a:xfrm>
            <a:prstGeom prst="roundRect">
              <a:avLst>
                <a:gd name="adj" fmla="val 2223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1" name="object 13">
              <a:extLst>
                <a:ext uri="{FF2B5EF4-FFF2-40B4-BE49-F238E27FC236}">
                  <a16:creationId xmlns:a16="http://schemas.microsoft.com/office/drawing/2014/main" id="{C5C60C0E-73EA-D76A-1FD0-F7AAA1A96F0E}"/>
                </a:ext>
              </a:extLst>
            </p:cNvPr>
            <p:cNvSpPr txBox="1"/>
            <p:nvPr/>
          </p:nvSpPr>
          <p:spPr>
            <a:xfrm>
              <a:off x="829701" y="3786492"/>
              <a:ext cx="4449444" cy="27496"/>
            </a:xfrm>
            <a:prstGeom prst="rect">
              <a:avLst/>
            </a:prstGeom>
            <a:grpFill/>
          </p:spPr>
          <p:txBody>
            <a:bodyPr vert="horz" wrap="square" lIns="0" tIns="6351" rIns="0" bIns="0" rtlCol="0" anchor="ctr">
              <a:spAutoFit/>
            </a:bodyPr>
            <a:lstStyle/>
            <a:p>
              <a:pPr marL="6351" marR="0" lvl="0" indent="0" algn="ctr" defTabSz="457200" eaLnBrk="1" fontAlgn="auto" latinLnBrk="0" hangingPunct="1">
                <a:spcBef>
                  <a:spcPts val="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Day1</a:t>
              </a:r>
              <a:endParaRPr kumimoji="0" lang="ko-KR" altLang="en-US" sz="80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EEB80B7-7ED2-BDFD-314F-95320146E3DC}"/>
              </a:ext>
            </a:extLst>
          </p:cNvPr>
          <p:cNvSpPr/>
          <p:nvPr/>
        </p:nvSpPr>
        <p:spPr>
          <a:xfrm>
            <a:off x="1981200" y="260558"/>
            <a:ext cx="635577" cy="245075"/>
          </a:xfrm>
          <a:prstGeom prst="roundRect">
            <a:avLst/>
          </a:prstGeom>
          <a:solidFill>
            <a:srgbClr val="FFAD2C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2026 </a:t>
            </a:r>
            <a:r>
              <a:rPr lang="ko-KR" altLang="en-US" sz="1000" b="1" spc="-1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신설</a:t>
            </a:r>
          </a:p>
        </p:txBody>
      </p:sp>
      <p:sp>
        <p:nvSpPr>
          <p:cNvPr id="13" name="슬라이드 번호 개체 틀 4">
            <a:extLst>
              <a:ext uri="{FF2B5EF4-FFF2-40B4-BE49-F238E27FC236}">
                <a16:creationId xmlns:a16="http://schemas.microsoft.com/office/drawing/2014/main" id="{E3EEFF59-C4B3-CBBA-CF25-3A563B49C573}"/>
              </a:ext>
            </a:extLst>
          </p:cNvPr>
          <p:cNvSpPr txBox="1">
            <a:spLocks/>
          </p:cNvSpPr>
          <p:nvPr/>
        </p:nvSpPr>
        <p:spPr>
          <a:xfrm>
            <a:off x="3520440" y="4917073"/>
            <a:ext cx="210312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altLang="ko-KR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592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D987F-9947-273F-CA4D-EC25E8F15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DE4257CF-5373-B111-E374-44DDE79DC9D2}"/>
              </a:ext>
            </a:extLst>
          </p:cNvPr>
          <p:cNvSpPr txBox="1"/>
          <p:nvPr/>
        </p:nvSpPr>
        <p:spPr>
          <a:xfrm>
            <a:off x="990600" y="1615916"/>
            <a:ext cx="3755344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이론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생성형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원리와 구조화된 사업계획서 및 보고서 작성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(1.5H) </a:t>
            </a: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생성형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정의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작동 원리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주요 생성형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도구 소개 및 특징</a:t>
            </a: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윤리와 저작권 이슈 이해</a:t>
            </a: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프롬프트 엔지니어링 기초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  <a:r>
              <a:rPr lang="ko-KR" altLang="en-US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사업계획서의 핵심 구성 요소</a:t>
            </a:r>
            <a:r>
              <a:rPr lang="en-US" altLang="ko-KR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작성 프로세스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실습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데이터로 보는 시장조사와 사업계획서 작성 고도화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H)</a:t>
            </a: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아이디어 발굴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기초 시장 분석</a:t>
            </a:r>
            <a:r>
              <a:rPr lang="en-US" altLang="ko-KR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시장 조사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경쟁사 분석</a:t>
            </a: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활용한 비즈니스 모델 구축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지원 마케팅 전략 및 재무계획 수립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활용한 보고서 및 사업계획서 구조화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학술논문 및 시장조사 수집 후 </a:t>
            </a:r>
            <a:r>
              <a:rPr lang="en-US" altLang="ko-KR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RAG</a:t>
            </a:r>
            <a:r>
              <a:rPr lang="ko-KR" altLang="en-US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통한 데이터 분석</a:t>
            </a:r>
            <a:r>
              <a:rPr lang="en-US" altLang="ko-KR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인사이트 도출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분석 결과의 효과적 통합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 콘텐츠의 특성 이해 및 최적화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실습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발표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(0.5H)</a:t>
            </a: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발표</a:t>
            </a:r>
            <a:r>
              <a:rPr lang="en-US" alt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종합 피드백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장점 및 개선점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kumimoji="0" lang="ko-KR" altLang="en-US" sz="1000" b="0" i="0" u="none" strike="noStrike" kern="0" cap="none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object 12">
            <a:extLst>
              <a:ext uri="{FF2B5EF4-FFF2-40B4-BE49-F238E27FC236}">
                <a16:creationId xmlns:a16="http://schemas.microsoft.com/office/drawing/2014/main" id="{31A43359-39B0-C3A6-5ED7-BDF378A16BA0}"/>
              </a:ext>
            </a:extLst>
          </p:cNvPr>
          <p:cNvSpPr txBox="1"/>
          <p:nvPr/>
        </p:nvSpPr>
        <p:spPr>
          <a:xfrm>
            <a:off x="361950" y="594000"/>
            <a:ext cx="8420100" cy="481542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0" marR="0" lvl="0" indent="0" algn="ctr" defTabSz="457200" eaLnBrk="1" fontAlgn="auto" latinLnBrk="0" hangingPunct="1">
              <a:spcBef>
                <a:spcPts val="515"/>
              </a:spcBef>
              <a:spcAft>
                <a:spcPts val="0"/>
              </a:spcAft>
              <a:buClrTx/>
              <a:buSzTx/>
              <a:buFontTx/>
              <a:buNone/>
              <a:tabLst>
                <a:tab pos="1557973" algn="l"/>
                <a:tab pos="2476183" algn="l"/>
                <a:tab pos="3394392" algn="l"/>
              </a:tabLst>
              <a:defRPr/>
            </a:pPr>
            <a:r>
              <a:rPr lang="en-US" altLang="ko-KR" sz="2700" b="1" spc="-150" dirty="0">
                <a:solidFill>
                  <a:srgbClr val="4F81B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2700" b="1" spc="-150" dirty="0" err="1">
                <a:solidFill>
                  <a:srgbClr val="4F81B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비개발</a:t>
            </a:r>
            <a:r>
              <a:rPr lang="en-US" altLang="ko-KR" sz="2700" b="1" spc="-150" dirty="0">
                <a:solidFill>
                  <a:srgbClr val="4F81B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kumimoji="0" lang="en-US" altLang="ko-KR" sz="2700" b="1" i="0" u="none" strike="noStrike" kern="0" cap="none" spc="-15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ChatGPT</a:t>
            </a:r>
            <a:r>
              <a:rPr kumimoji="0" lang="ko-KR" altLang="en-US" sz="2700" b="1" i="0" u="none" strike="noStrike" kern="0" cap="none" spc="-15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보고서</a:t>
            </a:r>
            <a:r>
              <a:rPr kumimoji="0" lang="en-US" altLang="ko-KR" sz="2700" b="1" i="0" u="none" strike="noStrike" kern="0" cap="none" spc="-15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kumimoji="0" lang="ko-KR" altLang="en-US" sz="2700" b="1" i="0" u="none" strike="noStrike" kern="0" cap="none" spc="-15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사업계획서 </a:t>
            </a:r>
            <a:r>
              <a:rPr kumimoji="0" lang="en-US" altLang="ko-KR" sz="2700" b="1" i="0" u="none" strike="noStrike" kern="0" cap="none" spc="-15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kumimoji="0" lang="ko-KR" altLang="en-US" sz="2700" b="1" i="0" u="none" strike="noStrike" kern="0" cap="none" spc="-15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 만에 완성하기 </a:t>
            </a:r>
          </a:p>
        </p:txBody>
      </p:sp>
      <p:sp>
        <p:nvSpPr>
          <p:cNvPr id="50" name="AutoShape 3">
            <a:extLst>
              <a:ext uri="{FF2B5EF4-FFF2-40B4-BE49-F238E27FC236}">
                <a16:creationId xmlns:a16="http://schemas.microsoft.com/office/drawing/2014/main" id="{96C21FAD-AA47-0A65-0627-29891081D625}"/>
              </a:ext>
            </a:extLst>
          </p:cNvPr>
          <p:cNvSpPr/>
          <p:nvPr/>
        </p:nvSpPr>
        <p:spPr>
          <a:xfrm flipV="1">
            <a:off x="255913" y="1451316"/>
            <a:ext cx="8316587" cy="37672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AutoShape 3">
            <a:extLst>
              <a:ext uri="{FF2B5EF4-FFF2-40B4-BE49-F238E27FC236}">
                <a16:creationId xmlns:a16="http://schemas.microsoft.com/office/drawing/2014/main" id="{2E973CD6-1C64-BD54-A39F-DCE053B81F10}"/>
              </a:ext>
            </a:extLst>
          </p:cNvPr>
          <p:cNvSpPr/>
          <p:nvPr/>
        </p:nvSpPr>
        <p:spPr>
          <a:xfrm>
            <a:off x="4876800" y="1553335"/>
            <a:ext cx="26" cy="2924904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2">
            <a:extLst>
              <a:ext uri="{FF2B5EF4-FFF2-40B4-BE49-F238E27FC236}">
                <a16:creationId xmlns:a16="http://schemas.microsoft.com/office/drawing/2014/main" id="{8D935E35-F5B7-9264-478D-0A47343A09EF}"/>
              </a:ext>
            </a:extLst>
          </p:cNvPr>
          <p:cNvSpPr/>
          <p:nvPr/>
        </p:nvSpPr>
        <p:spPr>
          <a:xfrm>
            <a:off x="2286000" y="1134000"/>
            <a:ext cx="4572000" cy="24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체계적이고 설득력 있는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성공 확률이 높은 보고서와 사업계획서 작성</a:t>
            </a:r>
            <a:endParaRPr kumimoji="0" lang="ko-KR" altLang="en-US" sz="12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61003F-F7BF-CA68-B15A-23756274CEA9}"/>
              </a:ext>
            </a:extLst>
          </p:cNvPr>
          <p:cNvSpPr txBox="1"/>
          <p:nvPr/>
        </p:nvSpPr>
        <p:spPr>
          <a:xfrm>
            <a:off x="180000" y="237351"/>
            <a:ext cx="13388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재직자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훈련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과정 상세</a:t>
            </a:r>
          </a:p>
        </p:txBody>
      </p:sp>
      <p:sp>
        <p:nvSpPr>
          <p:cNvPr id="2" name="Google Shape;642;p18">
            <a:extLst>
              <a:ext uri="{FF2B5EF4-FFF2-40B4-BE49-F238E27FC236}">
                <a16:creationId xmlns:a16="http://schemas.microsoft.com/office/drawing/2014/main" id="{43301E87-407B-3363-197E-A778310F9625}"/>
              </a:ext>
            </a:extLst>
          </p:cNvPr>
          <p:cNvSpPr/>
          <p:nvPr/>
        </p:nvSpPr>
        <p:spPr>
          <a:xfrm>
            <a:off x="5002814" y="1598068"/>
            <a:ext cx="931386" cy="2794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35E5AF8-DA6A-9D2D-A290-0A7E75C3338F}"/>
              </a:ext>
            </a:extLst>
          </p:cNvPr>
          <p:cNvGrpSpPr/>
          <p:nvPr/>
        </p:nvGrpSpPr>
        <p:grpSpPr>
          <a:xfrm>
            <a:off x="5072025" y="1671816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20903E83-72F8-48CE-2EF9-0276339F4FAA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" name="object 13">
              <a:extLst>
                <a:ext uri="{FF2B5EF4-FFF2-40B4-BE49-F238E27FC236}">
                  <a16:creationId xmlns:a16="http://schemas.microsoft.com/office/drawing/2014/main" id="{E0E87F21-8CFC-97E8-14E8-C6B565B47BE2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교육목표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BA44265-1D29-7565-7B6C-68B2FD64E449}"/>
              </a:ext>
            </a:extLst>
          </p:cNvPr>
          <p:cNvSpPr txBox="1"/>
          <p:nvPr/>
        </p:nvSpPr>
        <p:spPr>
          <a:xfrm>
            <a:off x="6096000" y="1657350"/>
            <a:ext cx="29717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생성형 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기본 원리와 활용 방법을 이해하여</a:t>
            </a:r>
            <a:endParaRPr lang="en-US" altLang="ko-KR" sz="1000" dirty="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분석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인사이트 도출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콘텐츠 생성에 적용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B7FD2CB-7EFA-281B-D09B-E9714002D381}"/>
              </a:ext>
            </a:extLst>
          </p:cNvPr>
          <p:cNvGrpSpPr/>
          <p:nvPr/>
        </p:nvGrpSpPr>
        <p:grpSpPr>
          <a:xfrm>
            <a:off x="5072025" y="2190750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94B4C09C-E726-49B0-8030-B15E230C44F1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D12AAB39-82F4-FDCD-AB61-C82186F6B0B4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수준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2F0C996-D7CE-9083-26C0-DDD8FB18C3F5}"/>
              </a:ext>
            </a:extLst>
          </p:cNvPr>
          <p:cNvGrpSpPr/>
          <p:nvPr/>
        </p:nvGrpSpPr>
        <p:grpSpPr>
          <a:xfrm>
            <a:off x="6135118" y="2190750"/>
            <a:ext cx="931386" cy="279400"/>
            <a:chOff x="991235" y="3543300"/>
            <a:chExt cx="4781550" cy="558800"/>
          </a:xfrm>
          <a:noFill/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8C9A5ED6-FF3A-1985-A0D7-9BD842F93DB0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4F81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0" name="object 13">
              <a:extLst>
                <a:ext uri="{FF2B5EF4-FFF2-40B4-BE49-F238E27FC236}">
                  <a16:creationId xmlns:a16="http://schemas.microsoft.com/office/drawing/2014/main" id="{D7D0BE65-3871-EFF3-9831-0430465CE5AC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초급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5700BAA-07D6-AA1D-28DF-48CF531E087A}"/>
              </a:ext>
            </a:extLst>
          </p:cNvPr>
          <p:cNvGrpSpPr/>
          <p:nvPr/>
        </p:nvGrpSpPr>
        <p:grpSpPr>
          <a:xfrm>
            <a:off x="5072025" y="2724150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6F88B66B-7420-ABF1-A5B1-20EE9471BB7C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3" name="object 13">
              <a:extLst>
                <a:ext uri="{FF2B5EF4-FFF2-40B4-BE49-F238E27FC236}">
                  <a16:creationId xmlns:a16="http://schemas.microsoft.com/office/drawing/2014/main" id="{DAB8AF88-1F1C-5EB5-31C8-F7FDC25F9F89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교육시간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7E252EF-10CB-53BB-93D2-0ABBB16F8966}"/>
              </a:ext>
            </a:extLst>
          </p:cNvPr>
          <p:cNvGrpSpPr/>
          <p:nvPr/>
        </p:nvGrpSpPr>
        <p:grpSpPr>
          <a:xfrm>
            <a:off x="6135118" y="2724150"/>
            <a:ext cx="937736" cy="279400"/>
            <a:chOff x="991235" y="3543300"/>
            <a:chExt cx="4781550" cy="558800"/>
          </a:xfrm>
          <a:noFill/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0861B964-401E-22C9-3D34-319881270608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4F81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8" name="object 13">
              <a:extLst>
                <a:ext uri="{FF2B5EF4-FFF2-40B4-BE49-F238E27FC236}">
                  <a16:creationId xmlns:a16="http://schemas.microsoft.com/office/drawing/2014/main" id="{06DC27F2-C6D8-E30E-2DD3-0A33582EFD3F}"/>
                </a:ext>
              </a:extLst>
            </p:cNvPr>
            <p:cNvSpPr txBox="1"/>
            <p:nvPr/>
          </p:nvSpPr>
          <p:spPr>
            <a:xfrm>
              <a:off x="1130938" y="3654426"/>
              <a:ext cx="4449445" cy="32060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1</a:t>
              </a:r>
              <a:r>
                <a:rPr lang="ko-KR" altLang="en-US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일 </a:t>
              </a: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(5</a:t>
              </a:r>
              <a:r>
                <a:rPr lang="ko-KR" altLang="en-US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시간</a:t>
              </a: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)</a:t>
              </a:r>
              <a:endParaRPr lang="ko-KR" altLang="en-US" sz="1000" dirty="0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E9DD22D9-5396-0F0B-47AB-018FF1CCDD90}"/>
              </a:ext>
            </a:extLst>
          </p:cNvPr>
          <p:cNvGrpSpPr/>
          <p:nvPr/>
        </p:nvGrpSpPr>
        <p:grpSpPr>
          <a:xfrm>
            <a:off x="5072025" y="3865428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459DA2D8-BE6B-37D2-54F8-0F90BE4D465F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3" name="object 13">
              <a:extLst>
                <a:ext uri="{FF2B5EF4-FFF2-40B4-BE49-F238E27FC236}">
                  <a16:creationId xmlns:a16="http://schemas.microsoft.com/office/drawing/2014/main" id="{E268B986-C402-6256-2C1F-C0175146843A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유료툴</a:t>
              </a: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제공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64328BB-01DB-F1C2-DCF0-C2E370A156B3}"/>
              </a:ext>
            </a:extLst>
          </p:cNvPr>
          <p:cNvGrpSpPr/>
          <p:nvPr/>
        </p:nvGrpSpPr>
        <p:grpSpPr>
          <a:xfrm>
            <a:off x="5072025" y="3265555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4B041E17-641F-03CE-309D-7A7991EA8DA5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6" name="object 13">
              <a:extLst>
                <a:ext uri="{FF2B5EF4-FFF2-40B4-BE49-F238E27FC236}">
                  <a16:creationId xmlns:a16="http://schemas.microsoft.com/office/drawing/2014/main" id="{935DA87E-B3AD-ECF6-FD0B-DBA81299B6D8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교육대상</a:t>
              </a:r>
            </a:p>
          </p:txBody>
        </p:sp>
      </p:grpSp>
      <p:sp>
        <p:nvSpPr>
          <p:cNvPr id="37" name="object 13">
            <a:extLst>
              <a:ext uri="{FF2B5EF4-FFF2-40B4-BE49-F238E27FC236}">
                <a16:creationId xmlns:a16="http://schemas.microsoft.com/office/drawing/2014/main" id="{10D29755-382E-27F9-9A14-9FC9517B0EF8}"/>
              </a:ext>
            </a:extLst>
          </p:cNvPr>
          <p:cNvSpPr txBox="1"/>
          <p:nvPr/>
        </p:nvSpPr>
        <p:spPr>
          <a:xfrm>
            <a:off x="6135118" y="3257550"/>
            <a:ext cx="2170692" cy="3141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6351" rIns="0" bIns="0" rtlCol="0">
            <a:spAutoFit/>
          </a:bodyPr>
          <a:lstStyle/>
          <a:p>
            <a:pPr marL="0" marR="0" lvl="0" indent="0" defTabSz="45720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200"/>
              <a:buFontTx/>
              <a:buNone/>
              <a:tabLst/>
              <a:defRPr/>
            </a:pP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일반 사무직 사원</a:t>
            </a: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인공지능에 </a:t>
            </a:r>
            <a:endParaRPr lang="en-US" altLang="ko-KR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defTabSz="45720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200"/>
              <a:buFontTx/>
              <a:buNone/>
              <a:tabLst/>
              <a:defRPr/>
            </a:pP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관심이 있는 일반 직장인</a:t>
            </a:r>
          </a:p>
        </p:txBody>
      </p:sp>
      <p:grpSp>
        <p:nvGrpSpPr>
          <p:cNvPr id="46" name="Google Shape;710;p18">
            <a:extLst>
              <a:ext uri="{FF2B5EF4-FFF2-40B4-BE49-F238E27FC236}">
                <a16:creationId xmlns:a16="http://schemas.microsoft.com/office/drawing/2014/main" id="{C414DAE3-4CB3-2C7E-0E2F-3AF2365462D4}"/>
              </a:ext>
            </a:extLst>
          </p:cNvPr>
          <p:cNvGrpSpPr/>
          <p:nvPr/>
        </p:nvGrpSpPr>
        <p:grpSpPr>
          <a:xfrm>
            <a:off x="6135118" y="3843611"/>
            <a:ext cx="537895" cy="404539"/>
            <a:chOff x="7844319" y="5693188"/>
            <a:chExt cx="723001" cy="528462"/>
          </a:xfrm>
        </p:grpSpPr>
        <p:pic>
          <p:nvPicPr>
            <p:cNvPr id="47" name="Google Shape;711;p18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BB4A8300-BB7F-EC2C-CDB3-2B286F63A4D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033305" y="5693188"/>
              <a:ext cx="345028" cy="3450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" name="Google Shape;712;p18">
              <a:extLst>
                <a:ext uri="{FF2B5EF4-FFF2-40B4-BE49-F238E27FC236}">
                  <a16:creationId xmlns:a16="http://schemas.microsoft.com/office/drawing/2014/main" id="{1BE64A92-C0C4-E2F3-74D3-3102921929E4}"/>
                </a:ext>
              </a:extLst>
            </p:cNvPr>
            <p:cNvSpPr txBox="1"/>
            <p:nvPr/>
          </p:nvSpPr>
          <p:spPr>
            <a:xfrm>
              <a:off x="7844319" y="6015614"/>
              <a:ext cx="723001" cy="206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85" tIns="17138" rIns="34285" bIns="17138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000"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ChatGPT</a:t>
              </a: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2DFF6FE-E167-1345-D64D-B11AEC13780C}"/>
              </a:ext>
            </a:extLst>
          </p:cNvPr>
          <p:cNvGrpSpPr/>
          <p:nvPr/>
        </p:nvGrpSpPr>
        <p:grpSpPr>
          <a:xfrm>
            <a:off x="457200" y="1692001"/>
            <a:ext cx="439057" cy="2632350"/>
            <a:chOff x="829701" y="3543300"/>
            <a:chExt cx="4781550" cy="558800"/>
          </a:xfrm>
          <a:solidFill>
            <a:srgbClr val="4F81BD"/>
          </a:solidFill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E7705A20-25F3-EFF5-4D57-5EF08A951BA5}"/>
                </a:ext>
              </a:extLst>
            </p:cNvPr>
            <p:cNvSpPr/>
            <p:nvPr/>
          </p:nvSpPr>
          <p:spPr>
            <a:xfrm>
              <a:off x="829701" y="3543300"/>
              <a:ext cx="4781550" cy="558800"/>
            </a:xfrm>
            <a:prstGeom prst="roundRect">
              <a:avLst>
                <a:gd name="adj" fmla="val 2223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9" name="object 13">
              <a:extLst>
                <a:ext uri="{FF2B5EF4-FFF2-40B4-BE49-F238E27FC236}">
                  <a16:creationId xmlns:a16="http://schemas.microsoft.com/office/drawing/2014/main" id="{572ED509-9088-81B0-0DC2-3CB87138C826}"/>
                </a:ext>
              </a:extLst>
            </p:cNvPr>
            <p:cNvSpPr txBox="1"/>
            <p:nvPr/>
          </p:nvSpPr>
          <p:spPr>
            <a:xfrm>
              <a:off x="829701" y="3786492"/>
              <a:ext cx="4449444" cy="27496"/>
            </a:xfrm>
            <a:prstGeom prst="rect">
              <a:avLst/>
            </a:prstGeom>
            <a:grpFill/>
          </p:spPr>
          <p:txBody>
            <a:bodyPr vert="horz" wrap="square" lIns="0" tIns="6351" rIns="0" bIns="0" rtlCol="0" anchor="ctr">
              <a:spAutoFit/>
            </a:bodyPr>
            <a:lstStyle/>
            <a:p>
              <a:pPr marL="6351" marR="0" lvl="0" indent="0" algn="ctr" defTabSz="457200" eaLnBrk="1" fontAlgn="auto" latinLnBrk="0" hangingPunct="1">
                <a:spcBef>
                  <a:spcPts val="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Day1</a:t>
              </a:r>
              <a:endParaRPr kumimoji="0" lang="ko-KR" altLang="en-US" sz="8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0" name="슬라이드 번호 개체 틀 4">
            <a:extLst>
              <a:ext uri="{FF2B5EF4-FFF2-40B4-BE49-F238E27FC236}">
                <a16:creationId xmlns:a16="http://schemas.microsoft.com/office/drawing/2014/main" id="{894EA322-B4CD-DFB8-D148-BCE09E627F75}"/>
              </a:ext>
            </a:extLst>
          </p:cNvPr>
          <p:cNvSpPr txBox="1">
            <a:spLocks/>
          </p:cNvSpPr>
          <p:nvPr/>
        </p:nvSpPr>
        <p:spPr>
          <a:xfrm>
            <a:off x="3520440" y="4917073"/>
            <a:ext cx="210312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altLang="ko-KR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5738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9151B-5BF5-1AC1-B87D-03067ACC0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12">
            <a:extLst>
              <a:ext uri="{FF2B5EF4-FFF2-40B4-BE49-F238E27FC236}">
                <a16:creationId xmlns:a16="http://schemas.microsoft.com/office/drawing/2014/main" id="{AAF782E9-7F4C-4D34-C62B-FD06CCA8E3C1}"/>
              </a:ext>
            </a:extLst>
          </p:cNvPr>
          <p:cNvSpPr txBox="1"/>
          <p:nvPr/>
        </p:nvSpPr>
        <p:spPr>
          <a:xfrm>
            <a:off x="361950" y="594000"/>
            <a:ext cx="8420100" cy="481542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ClrTx/>
              <a:buSzTx/>
              <a:buFontTx/>
              <a:buNone/>
              <a:tabLst>
                <a:tab pos="1557973" algn="l"/>
                <a:tab pos="2476183" algn="l"/>
                <a:tab pos="3394392" algn="l"/>
              </a:tabLst>
              <a:defRPr/>
            </a:pPr>
            <a:r>
              <a:rPr lang="en-US" altLang="ko-KR" sz="2700" b="1" spc="-150" dirty="0">
                <a:solidFill>
                  <a:srgbClr val="4F81B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2700" b="1" spc="-150" dirty="0" err="1">
                <a:solidFill>
                  <a:srgbClr val="4F81B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비개발</a:t>
            </a:r>
            <a:r>
              <a:rPr lang="en-US" altLang="ko-KR" sz="2700" b="1" spc="-150" dirty="0">
                <a:solidFill>
                  <a:srgbClr val="4F81B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kumimoji="0" lang="ko-KR" altLang="en-US" sz="2700" b="1" i="0" u="none" strike="noStrike" kern="0" cap="none" spc="-15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데이터를 활용한 </a:t>
            </a:r>
            <a:r>
              <a:rPr kumimoji="0" lang="ko-KR" altLang="en-US" sz="2700" b="1" i="0" u="none" strike="noStrike" kern="0" cap="none" spc="-150" normalizeH="0" baseline="0" noProof="0" dirty="0" err="1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바이브코딩</a:t>
            </a:r>
            <a:r>
              <a:rPr kumimoji="0" lang="ko-KR" altLang="en-US" sz="2700" b="1" i="0" u="none" strike="noStrike" kern="0" cap="none" spc="-15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en-US" altLang="ko-KR" sz="2700" b="1" i="0" u="none" strike="noStrike" kern="0" cap="none" spc="-15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 to Z</a:t>
            </a:r>
          </a:p>
        </p:txBody>
      </p:sp>
      <p:sp>
        <p:nvSpPr>
          <p:cNvPr id="50" name="AutoShape 3">
            <a:extLst>
              <a:ext uri="{FF2B5EF4-FFF2-40B4-BE49-F238E27FC236}">
                <a16:creationId xmlns:a16="http://schemas.microsoft.com/office/drawing/2014/main" id="{2A36B7CA-D5CF-83BC-E6F1-4F7FDB44E3E3}"/>
              </a:ext>
            </a:extLst>
          </p:cNvPr>
          <p:cNvSpPr/>
          <p:nvPr/>
        </p:nvSpPr>
        <p:spPr>
          <a:xfrm flipV="1">
            <a:off x="255913" y="1451316"/>
            <a:ext cx="8316587" cy="37672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AutoShape 3">
            <a:extLst>
              <a:ext uri="{FF2B5EF4-FFF2-40B4-BE49-F238E27FC236}">
                <a16:creationId xmlns:a16="http://schemas.microsoft.com/office/drawing/2014/main" id="{6F49FDBD-46C9-1430-F6A3-B0A34E115D17}"/>
              </a:ext>
            </a:extLst>
          </p:cNvPr>
          <p:cNvSpPr/>
          <p:nvPr/>
        </p:nvSpPr>
        <p:spPr>
          <a:xfrm>
            <a:off x="4876800" y="1553335"/>
            <a:ext cx="26" cy="2924904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085561-2351-1E87-FC05-C861AA4A0ECF}"/>
              </a:ext>
            </a:extLst>
          </p:cNvPr>
          <p:cNvSpPr txBox="1"/>
          <p:nvPr/>
        </p:nvSpPr>
        <p:spPr>
          <a:xfrm>
            <a:off x="980952" y="1593733"/>
            <a:ext cx="3755344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이론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kumimoji="0" lang="ko-KR" altLang="en-US" sz="1000" b="0" i="0" u="none" strike="noStrike" kern="0" cap="none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바이브코딩의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이해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(1H)</a:t>
            </a: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활용한 아이디어 발굴 및 기초 시장 분석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실습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kumimoji="0" lang="ko-KR" altLang="en-US" sz="1000" b="0" i="0" u="none" strike="noStrike" kern="0" cap="none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바이브코딩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사전 준비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(2H)</a:t>
            </a: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바이브코딩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프롬프트 작성법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바이코딩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PRD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작성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실습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kumimoji="0" lang="ko-KR" altLang="en-US" sz="1000" b="0" i="0" u="none" strike="noStrike" kern="0" cap="none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웹앱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기획 및 </a:t>
            </a:r>
            <a:r>
              <a:rPr kumimoji="0" lang="ko-KR" altLang="en-US" sz="1000" b="0" i="0" u="none" strike="noStrike" kern="0" cap="none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바이브코딩으로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제작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(4H)</a:t>
            </a: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 업무 연계 계획서 작성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Claude, </a:t>
            </a:r>
            <a:r>
              <a:rPr kumimoji="0" lang="en-US" altLang="ko-KR" sz="1000" b="0" i="0" u="none" strike="noStrike" kern="0" cap="none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Genspark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Gemini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활용 제작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Build – </a:t>
            </a:r>
            <a:r>
              <a:rPr kumimoji="0" lang="ko-KR" altLang="en-US" sz="1000" b="0" i="0" u="none" strike="noStrike" kern="0" cap="none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웹앱제작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Replit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Lovable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활용 제작</a:t>
            </a:r>
            <a:endParaRPr kumimoji="0" lang="ko-KR" altLang="en-US" sz="1000" b="0" i="0" u="none" strike="noStrike" kern="0" cap="none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Google Shape;577;p17">
            <a:extLst>
              <a:ext uri="{FF2B5EF4-FFF2-40B4-BE49-F238E27FC236}">
                <a16:creationId xmlns:a16="http://schemas.microsoft.com/office/drawing/2014/main" id="{93A0AC6A-714B-F792-788C-5DDD31273FA0}"/>
              </a:ext>
            </a:extLst>
          </p:cNvPr>
          <p:cNvSpPr/>
          <p:nvPr/>
        </p:nvSpPr>
        <p:spPr>
          <a:xfrm>
            <a:off x="1790700" y="1134000"/>
            <a:ext cx="5562600" cy="241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Tx/>
              <a:buSzPts val="2400"/>
              <a:buFontTx/>
              <a:buNone/>
              <a:tabLst/>
              <a:defRPr/>
            </a:pP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비개발자도 </a:t>
            </a:r>
            <a:r>
              <a:rPr lang="ko-KR" altLang="en-US" sz="1200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바이브코딩의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전 과정을 경험하면서 실제 업무 개선에 활용 가능한 프로젝트 진행</a:t>
            </a:r>
            <a:endParaRPr kumimoji="0" sz="1800" b="0" i="0" u="none" strike="noStrike" kern="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5" name="Google Shape;642;p18">
            <a:extLst>
              <a:ext uri="{FF2B5EF4-FFF2-40B4-BE49-F238E27FC236}">
                <a16:creationId xmlns:a16="http://schemas.microsoft.com/office/drawing/2014/main" id="{05A0DE37-1FCA-CF74-29CF-C26066976349}"/>
              </a:ext>
            </a:extLst>
          </p:cNvPr>
          <p:cNvSpPr/>
          <p:nvPr/>
        </p:nvSpPr>
        <p:spPr>
          <a:xfrm>
            <a:off x="5002814" y="1598068"/>
            <a:ext cx="931386" cy="2794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DBF4BAF7-FBFE-C027-84C8-E195BD0885C7}"/>
              </a:ext>
            </a:extLst>
          </p:cNvPr>
          <p:cNvGrpSpPr/>
          <p:nvPr/>
        </p:nvGrpSpPr>
        <p:grpSpPr>
          <a:xfrm>
            <a:off x="5072025" y="1671816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E97750C5-EC7E-627D-3A99-2B5C0F7D6CA7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8" name="object 13">
              <a:extLst>
                <a:ext uri="{FF2B5EF4-FFF2-40B4-BE49-F238E27FC236}">
                  <a16:creationId xmlns:a16="http://schemas.microsoft.com/office/drawing/2014/main" id="{6060E7DE-84E0-0221-3B8A-039FB825E942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교육목표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6B3A3504-6EC4-3D6D-2E58-1F56E9417C24}"/>
              </a:ext>
            </a:extLst>
          </p:cNvPr>
          <p:cNvSpPr txBox="1"/>
          <p:nvPr/>
        </p:nvSpPr>
        <p:spPr>
          <a:xfrm>
            <a:off x="6096000" y="1657350"/>
            <a:ext cx="26860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 err="1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바이브코딩을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비롯한 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자동화를 이해하고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실무형 개발 기초 역량을 통해 업무 자동화 완성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C82E188C-637A-5F16-A72B-3F785AEA7830}"/>
              </a:ext>
            </a:extLst>
          </p:cNvPr>
          <p:cNvGrpSpPr/>
          <p:nvPr/>
        </p:nvGrpSpPr>
        <p:grpSpPr>
          <a:xfrm>
            <a:off x="5072025" y="2190750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76" name="사각형: 둥근 모서리 75">
              <a:extLst>
                <a:ext uri="{FF2B5EF4-FFF2-40B4-BE49-F238E27FC236}">
                  <a16:creationId xmlns:a16="http://schemas.microsoft.com/office/drawing/2014/main" id="{8907D72F-000E-05E1-79C3-935B1922156C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7" name="object 13">
              <a:extLst>
                <a:ext uri="{FF2B5EF4-FFF2-40B4-BE49-F238E27FC236}">
                  <a16:creationId xmlns:a16="http://schemas.microsoft.com/office/drawing/2014/main" id="{4B3C4D05-6CB7-467F-52BD-60466286C00C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수준</a:t>
              </a: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84406E78-7B44-2EF9-31FC-7873E0CB24D1}"/>
              </a:ext>
            </a:extLst>
          </p:cNvPr>
          <p:cNvGrpSpPr/>
          <p:nvPr/>
        </p:nvGrpSpPr>
        <p:grpSpPr>
          <a:xfrm>
            <a:off x="6135118" y="2190750"/>
            <a:ext cx="931386" cy="279400"/>
            <a:chOff x="991235" y="3543300"/>
            <a:chExt cx="4781550" cy="558800"/>
          </a:xfrm>
          <a:noFill/>
        </p:grpSpPr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5C11DC40-026A-734B-6860-76749994C83A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4F81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0" name="object 13">
              <a:extLst>
                <a:ext uri="{FF2B5EF4-FFF2-40B4-BE49-F238E27FC236}">
                  <a16:creationId xmlns:a16="http://schemas.microsoft.com/office/drawing/2014/main" id="{FB55EB7B-4BFF-CB2A-F551-64BE0D3FDA5F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중급</a:t>
              </a: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12BEC000-252C-51BD-D8A5-E6144FEB00FC}"/>
              </a:ext>
            </a:extLst>
          </p:cNvPr>
          <p:cNvGrpSpPr/>
          <p:nvPr/>
        </p:nvGrpSpPr>
        <p:grpSpPr>
          <a:xfrm>
            <a:off x="5072025" y="2724150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6D3810F4-A823-5DC3-4A08-D77984E6BCC5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3" name="object 13">
              <a:extLst>
                <a:ext uri="{FF2B5EF4-FFF2-40B4-BE49-F238E27FC236}">
                  <a16:creationId xmlns:a16="http://schemas.microsoft.com/office/drawing/2014/main" id="{C5F9C270-A43A-92E9-4BBC-00E71653FF52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교육시간</a:t>
              </a: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2BB8067E-97FD-15A7-005D-31EB97151BD4}"/>
              </a:ext>
            </a:extLst>
          </p:cNvPr>
          <p:cNvGrpSpPr/>
          <p:nvPr/>
        </p:nvGrpSpPr>
        <p:grpSpPr>
          <a:xfrm>
            <a:off x="6135118" y="2724150"/>
            <a:ext cx="937736" cy="279400"/>
            <a:chOff x="991235" y="3543300"/>
            <a:chExt cx="4781550" cy="558800"/>
          </a:xfrm>
          <a:noFill/>
        </p:grpSpPr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3F7058C2-9A02-FF89-A4EE-B68874FC974D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4F81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6" name="object 13">
              <a:extLst>
                <a:ext uri="{FF2B5EF4-FFF2-40B4-BE49-F238E27FC236}">
                  <a16:creationId xmlns:a16="http://schemas.microsoft.com/office/drawing/2014/main" id="{F5A53789-FCEE-C5EF-4193-314901688014}"/>
                </a:ext>
              </a:extLst>
            </p:cNvPr>
            <p:cNvSpPr txBox="1"/>
            <p:nvPr/>
          </p:nvSpPr>
          <p:spPr>
            <a:xfrm>
              <a:off x="1130938" y="3654426"/>
              <a:ext cx="4449445" cy="32060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1</a:t>
              </a:r>
              <a:r>
                <a:rPr lang="ko-KR" altLang="en-US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일 </a:t>
              </a: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(7</a:t>
              </a:r>
              <a:r>
                <a:rPr lang="ko-KR" altLang="en-US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시간</a:t>
              </a: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)</a:t>
              </a:r>
              <a:endParaRPr lang="ko-KR" altLang="en-US" sz="1000" dirty="0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21C02F02-4788-53B6-DCE1-12D4B0DAFDED}"/>
              </a:ext>
            </a:extLst>
          </p:cNvPr>
          <p:cNvGrpSpPr/>
          <p:nvPr/>
        </p:nvGrpSpPr>
        <p:grpSpPr>
          <a:xfrm>
            <a:off x="5072025" y="3865428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88" name="사각형: 둥근 모서리 87">
              <a:extLst>
                <a:ext uri="{FF2B5EF4-FFF2-40B4-BE49-F238E27FC236}">
                  <a16:creationId xmlns:a16="http://schemas.microsoft.com/office/drawing/2014/main" id="{844147D4-EADA-B0C9-AA89-ECAAEC163073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9" name="object 13">
              <a:extLst>
                <a:ext uri="{FF2B5EF4-FFF2-40B4-BE49-F238E27FC236}">
                  <a16:creationId xmlns:a16="http://schemas.microsoft.com/office/drawing/2014/main" id="{05775A81-A802-CC37-631A-A52C1B21665B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유료툴</a:t>
              </a: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제공</a:t>
              </a: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4A4F345B-835D-8C66-F7ED-33FC98FA4421}"/>
              </a:ext>
            </a:extLst>
          </p:cNvPr>
          <p:cNvGrpSpPr/>
          <p:nvPr/>
        </p:nvGrpSpPr>
        <p:grpSpPr>
          <a:xfrm>
            <a:off x="5072025" y="3265555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047F8BCF-5222-A27C-C1AC-EBF0F7730DC1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2" name="object 13">
              <a:extLst>
                <a:ext uri="{FF2B5EF4-FFF2-40B4-BE49-F238E27FC236}">
                  <a16:creationId xmlns:a16="http://schemas.microsoft.com/office/drawing/2014/main" id="{83417412-6F83-8E9B-F052-E3BB98D0DBBE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교육대상</a:t>
              </a:r>
            </a:p>
          </p:txBody>
        </p:sp>
      </p:grpSp>
      <p:sp>
        <p:nvSpPr>
          <p:cNvPr id="93" name="object 13">
            <a:extLst>
              <a:ext uri="{FF2B5EF4-FFF2-40B4-BE49-F238E27FC236}">
                <a16:creationId xmlns:a16="http://schemas.microsoft.com/office/drawing/2014/main" id="{C4E3ED6E-30B8-397D-7F09-1CB51EDB6116}"/>
              </a:ext>
            </a:extLst>
          </p:cNvPr>
          <p:cNvSpPr txBox="1"/>
          <p:nvPr/>
        </p:nvSpPr>
        <p:spPr>
          <a:xfrm>
            <a:off x="6135118" y="3257550"/>
            <a:ext cx="2170692" cy="3141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6351" rIns="0" bIns="0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200"/>
              <a:buFontTx/>
              <a:buNone/>
              <a:tabLst/>
              <a:defRPr/>
            </a:pP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업무 효율성 향상을 위해</a:t>
            </a:r>
            <a:endParaRPr lang="en-US" altLang="ko-KR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200"/>
              <a:buFontTx/>
              <a:buNone/>
              <a:tabLst/>
              <a:defRPr/>
            </a:pP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생성형</a:t>
            </a: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활용을 희망하는 실무자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8725BC3-273C-294A-C01E-DCE9650014EB}"/>
              </a:ext>
            </a:extLst>
          </p:cNvPr>
          <p:cNvGrpSpPr/>
          <p:nvPr/>
        </p:nvGrpSpPr>
        <p:grpSpPr>
          <a:xfrm>
            <a:off x="457200" y="1692001"/>
            <a:ext cx="439057" cy="2632350"/>
            <a:chOff x="829701" y="3543300"/>
            <a:chExt cx="4781550" cy="558800"/>
          </a:xfrm>
          <a:solidFill>
            <a:srgbClr val="4F81BD"/>
          </a:solidFill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8FC9346B-3E68-26BF-2AE5-8DE92A9667CF}"/>
                </a:ext>
              </a:extLst>
            </p:cNvPr>
            <p:cNvSpPr/>
            <p:nvPr/>
          </p:nvSpPr>
          <p:spPr>
            <a:xfrm>
              <a:off x="829701" y="3543300"/>
              <a:ext cx="4781550" cy="558800"/>
            </a:xfrm>
            <a:prstGeom prst="roundRect">
              <a:avLst>
                <a:gd name="adj" fmla="val 2223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" name="object 13">
              <a:extLst>
                <a:ext uri="{FF2B5EF4-FFF2-40B4-BE49-F238E27FC236}">
                  <a16:creationId xmlns:a16="http://schemas.microsoft.com/office/drawing/2014/main" id="{241E4A96-632C-999F-1109-39F11A05F207}"/>
                </a:ext>
              </a:extLst>
            </p:cNvPr>
            <p:cNvSpPr txBox="1"/>
            <p:nvPr/>
          </p:nvSpPr>
          <p:spPr>
            <a:xfrm>
              <a:off x="829701" y="3786492"/>
              <a:ext cx="4449444" cy="27496"/>
            </a:xfrm>
            <a:prstGeom prst="rect">
              <a:avLst/>
            </a:prstGeom>
            <a:grpFill/>
          </p:spPr>
          <p:txBody>
            <a:bodyPr vert="horz" wrap="square" lIns="0" tIns="6351" rIns="0" bIns="0" rtlCol="0" anchor="ctr">
              <a:spAutoFit/>
            </a:bodyPr>
            <a:lstStyle/>
            <a:p>
              <a:pPr marL="6351" marR="0" lvl="0" indent="0" algn="ctr" defTabSz="457200" eaLnBrk="1" fontAlgn="auto" latinLnBrk="0" hangingPunct="1">
                <a:lnSpc>
                  <a:spcPct val="100000"/>
                </a:lnSpc>
                <a:spcBef>
                  <a:spcPts val="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Day1</a:t>
              </a:r>
              <a:endParaRPr kumimoji="0" lang="ko-KR" altLang="en-US" sz="8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A052BDA-A05C-DC86-0EBB-D998A3B3BE76}"/>
              </a:ext>
            </a:extLst>
          </p:cNvPr>
          <p:cNvSpPr/>
          <p:nvPr/>
        </p:nvSpPr>
        <p:spPr>
          <a:xfrm>
            <a:off x="1981200" y="260558"/>
            <a:ext cx="635577" cy="245075"/>
          </a:xfrm>
          <a:prstGeom prst="roundRect">
            <a:avLst/>
          </a:prstGeom>
          <a:solidFill>
            <a:srgbClr val="FFAD2C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2026 </a:t>
            </a:r>
            <a:r>
              <a:rPr lang="ko-KR" altLang="en-US" sz="1000" b="1" spc="-1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신설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4E2289B-71FE-A3D2-01D5-510FF523A0F2}"/>
              </a:ext>
            </a:extLst>
          </p:cNvPr>
          <p:cNvGrpSpPr/>
          <p:nvPr/>
        </p:nvGrpSpPr>
        <p:grpSpPr>
          <a:xfrm>
            <a:off x="6096000" y="3816926"/>
            <a:ext cx="537895" cy="444216"/>
            <a:chOff x="6066091" y="3964463"/>
            <a:chExt cx="537895" cy="444216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63ADCC2F-24E2-FB1C-B488-01B89DF8FA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148625" y="3964463"/>
              <a:ext cx="316990" cy="303035"/>
            </a:xfrm>
            <a:prstGeom prst="rect">
              <a:avLst/>
            </a:prstGeom>
          </p:spPr>
        </p:pic>
        <p:sp>
          <p:nvSpPr>
            <p:cNvPr id="13" name="Google Shape;712;p18">
              <a:extLst>
                <a:ext uri="{FF2B5EF4-FFF2-40B4-BE49-F238E27FC236}">
                  <a16:creationId xmlns:a16="http://schemas.microsoft.com/office/drawing/2014/main" id="{9F81E805-CBC0-08B8-F830-A20519BCE096}"/>
                </a:ext>
              </a:extLst>
            </p:cNvPr>
            <p:cNvSpPr txBox="1"/>
            <p:nvPr/>
          </p:nvSpPr>
          <p:spPr>
            <a:xfrm>
              <a:off x="6066091" y="4250958"/>
              <a:ext cx="537895" cy="157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85" tIns="17138" rIns="34285" bIns="17138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000"/>
                <a:buFontTx/>
                <a:buNone/>
                <a:tabLst/>
                <a:defRPr/>
              </a:pPr>
              <a:r>
                <a:rPr lang="en-US" sz="8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Claude</a:t>
              </a:r>
              <a:endParaRPr kumimoji="0" sz="800" i="0" u="none" strike="noStrike" kern="0" cap="none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89718B5-C5D1-C946-4918-F62AC7DC63F4}"/>
              </a:ext>
            </a:extLst>
          </p:cNvPr>
          <p:cNvGrpSpPr/>
          <p:nvPr/>
        </p:nvGrpSpPr>
        <p:grpSpPr>
          <a:xfrm>
            <a:off x="6633895" y="3835845"/>
            <a:ext cx="537895" cy="417722"/>
            <a:chOff x="6633895" y="3835845"/>
            <a:chExt cx="537895" cy="41772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DC00432-254E-7F63-2CAB-4E4CB4AF3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756343" y="3835845"/>
              <a:ext cx="292999" cy="265196"/>
            </a:xfrm>
            <a:prstGeom prst="rect">
              <a:avLst/>
            </a:prstGeom>
          </p:spPr>
        </p:pic>
        <p:sp>
          <p:nvSpPr>
            <p:cNvPr id="14" name="Google Shape;712;p18">
              <a:extLst>
                <a:ext uri="{FF2B5EF4-FFF2-40B4-BE49-F238E27FC236}">
                  <a16:creationId xmlns:a16="http://schemas.microsoft.com/office/drawing/2014/main" id="{136FBD55-19BD-DD71-4545-0889BB91F5E6}"/>
                </a:ext>
              </a:extLst>
            </p:cNvPr>
            <p:cNvSpPr txBox="1"/>
            <p:nvPr/>
          </p:nvSpPr>
          <p:spPr>
            <a:xfrm>
              <a:off x="6633895" y="4095846"/>
              <a:ext cx="537895" cy="157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85" tIns="17138" rIns="34285" bIns="17138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000"/>
                <a:buFontTx/>
                <a:buNone/>
                <a:tabLst/>
                <a:defRPr/>
              </a:pPr>
              <a:r>
                <a:rPr lang="en-US" sz="8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Lovable</a:t>
              </a:r>
              <a:endParaRPr kumimoji="0" sz="800" i="0" u="none" strike="noStrike" kern="0" cap="none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E1F64B2-89B9-0C7C-C8E3-C15BB70EAF18}"/>
              </a:ext>
            </a:extLst>
          </p:cNvPr>
          <p:cNvSpPr txBox="1"/>
          <p:nvPr/>
        </p:nvSpPr>
        <p:spPr>
          <a:xfrm>
            <a:off x="180000" y="237351"/>
            <a:ext cx="13388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재직자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훈련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과정 상세</a:t>
            </a:r>
          </a:p>
        </p:txBody>
      </p:sp>
      <p:sp>
        <p:nvSpPr>
          <p:cNvPr id="19" name="슬라이드 번호 개체 틀 4">
            <a:extLst>
              <a:ext uri="{FF2B5EF4-FFF2-40B4-BE49-F238E27FC236}">
                <a16:creationId xmlns:a16="http://schemas.microsoft.com/office/drawing/2014/main" id="{0A94B376-26B6-1B23-6795-AA52FC4246B8}"/>
              </a:ext>
            </a:extLst>
          </p:cNvPr>
          <p:cNvSpPr txBox="1">
            <a:spLocks/>
          </p:cNvSpPr>
          <p:nvPr/>
        </p:nvSpPr>
        <p:spPr>
          <a:xfrm>
            <a:off x="3520440" y="4917073"/>
            <a:ext cx="210312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altLang="ko-KR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070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B6E3C-2882-770C-3766-3B2555A73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12">
            <a:extLst>
              <a:ext uri="{FF2B5EF4-FFF2-40B4-BE49-F238E27FC236}">
                <a16:creationId xmlns:a16="http://schemas.microsoft.com/office/drawing/2014/main" id="{D43DD62B-9108-66CC-FB21-0B9F9605CD77}"/>
              </a:ext>
            </a:extLst>
          </p:cNvPr>
          <p:cNvSpPr txBox="1"/>
          <p:nvPr/>
        </p:nvSpPr>
        <p:spPr>
          <a:xfrm>
            <a:off x="361950" y="594000"/>
            <a:ext cx="8420100" cy="481542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ClrTx/>
              <a:buSzTx/>
              <a:buFontTx/>
              <a:buNone/>
              <a:tabLst>
                <a:tab pos="1557973" algn="l"/>
                <a:tab pos="2476183" algn="l"/>
                <a:tab pos="3394392" algn="l"/>
              </a:tabLst>
              <a:defRPr/>
            </a:pPr>
            <a:r>
              <a:rPr lang="en-US" altLang="ko-KR" sz="2700" b="1" spc="-150" dirty="0">
                <a:solidFill>
                  <a:srgbClr val="4F81B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2700" b="1" spc="-150" dirty="0" err="1">
                <a:solidFill>
                  <a:srgbClr val="4F81B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비개발</a:t>
            </a:r>
            <a:r>
              <a:rPr lang="en-US" altLang="ko-KR" sz="2700" b="1" spc="-150" dirty="0">
                <a:solidFill>
                  <a:srgbClr val="4F81B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kumimoji="0" lang="ko-KR" altLang="en-US" sz="2700" b="1" i="0" u="none" strike="noStrike" kern="0" cap="none" spc="-15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세일즈</a:t>
            </a:r>
            <a:r>
              <a:rPr kumimoji="0" lang="en-US" altLang="ko-KR" sz="2700" b="1" i="0" u="none" strike="noStrike" kern="0" cap="none" spc="-15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&amp;</a:t>
            </a:r>
            <a:r>
              <a:rPr kumimoji="0" lang="ko-KR" altLang="en-US" sz="2700" b="1" i="0" u="none" strike="noStrike" kern="0" cap="none" spc="-15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마케팅 프로세스 </a:t>
            </a:r>
            <a:r>
              <a:rPr kumimoji="0" lang="en-US" altLang="ko-KR" sz="2700" b="1" i="0" u="none" strike="noStrike" kern="0" cap="none" spc="-15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kumimoji="0" lang="ko-KR" altLang="en-US" sz="2700" b="1" i="0" u="none" strike="noStrike" kern="0" cap="none" spc="-150" normalizeH="0" baseline="0" noProof="0" dirty="0" err="1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리터칭</a:t>
            </a:r>
            <a:endParaRPr kumimoji="0" lang="ko-KR" altLang="en-US" sz="2700" b="1" i="0" u="none" strike="noStrike" kern="0" cap="none" spc="-15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AutoShape 3">
            <a:extLst>
              <a:ext uri="{FF2B5EF4-FFF2-40B4-BE49-F238E27FC236}">
                <a16:creationId xmlns:a16="http://schemas.microsoft.com/office/drawing/2014/main" id="{87C65E07-3F11-6D52-9A96-EDC5F4E75D12}"/>
              </a:ext>
            </a:extLst>
          </p:cNvPr>
          <p:cNvSpPr/>
          <p:nvPr/>
        </p:nvSpPr>
        <p:spPr>
          <a:xfrm flipV="1">
            <a:off x="255913" y="1451316"/>
            <a:ext cx="8316587" cy="37672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AutoShape 3">
            <a:extLst>
              <a:ext uri="{FF2B5EF4-FFF2-40B4-BE49-F238E27FC236}">
                <a16:creationId xmlns:a16="http://schemas.microsoft.com/office/drawing/2014/main" id="{F443D948-CFB7-0E06-F5AA-C25D81A780B8}"/>
              </a:ext>
            </a:extLst>
          </p:cNvPr>
          <p:cNvSpPr/>
          <p:nvPr/>
        </p:nvSpPr>
        <p:spPr>
          <a:xfrm>
            <a:off x="4876800" y="1553335"/>
            <a:ext cx="26" cy="2924904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Google Shape;577;p17">
            <a:extLst>
              <a:ext uri="{FF2B5EF4-FFF2-40B4-BE49-F238E27FC236}">
                <a16:creationId xmlns:a16="http://schemas.microsoft.com/office/drawing/2014/main" id="{5E36E9A6-68FD-EEC0-2C7B-7510493BFA5B}"/>
              </a:ext>
            </a:extLst>
          </p:cNvPr>
          <p:cNvSpPr/>
          <p:nvPr/>
        </p:nvSpPr>
        <p:spPr>
          <a:xfrm>
            <a:off x="1219200" y="1134000"/>
            <a:ext cx="6705600" cy="241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Tx/>
              <a:buSzPts val="2400"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기반으로</a:t>
            </a:r>
            <a:r>
              <a:rPr kumimoji="0" lang="ko-KR" altLang="en-US" sz="12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시장과 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고객을 분석하여 </a:t>
            </a:r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‘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데이터 분석 </a:t>
            </a:r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– 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전략 수립 </a:t>
            </a:r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– 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실행 계획</a:t>
            </a:r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’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까지의 세일즈</a:t>
            </a:r>
            <a:r>
              <a:rPr kumimoji="0" lang="ko-KR" altLang="en-US" sz="12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업무 향상</a:t>
            </a:r>
            <a:endParaRPr kumimoji="0" sz="1800" b="0" i="0" u="none" strike="noStrike" kern="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75CEA6-1228-DCF6-6010-B0EEEBBBBD39}"/>
              </a:ext>
            </a:extLst>
          </p:cNvPr>
          <p:cNvSpPr txBox="1"/>
          <p:nvPr/>
        </p:nvSpPr>
        <p:spPr>
          <a:xfrm>
            <a:off x="980952" y="1593733"/>
            <a:ext cx="3755344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이론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AI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트렌드와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B2B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시장 변화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(1H)</a:t>
            </a: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활용한 아이디어 발굴 및 기초 시장 분석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실습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B2B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세일즈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&amp;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마케팅 프로세스와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적용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(2H)</a:t>
            </a: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시장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고객 분석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세일즈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&amp;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마케팅 프로세스 자동화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실습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AI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전략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&amp;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메시지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(2H)</a:t>
            </a: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세일즈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&amp;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마케팅 전략 수립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슬라이드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제작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실행 계획 구체화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실습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kumimoji="0" lang="ko-KR" altLang="en-US" sz="1000" b="0" i="0" u="none" strike="noStrike" kern="0" cap="none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바이브코딩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</a:t>
            </a:r>
            <a:r>
              <a:rPr kumimoji="0" lang="ko-KR" altLang="en-US" sz="1000" b="0" i="0" u="none" strike="noStrike" kern="0" cap="none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웹앱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체험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(2H)</a:t>
            </a: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Claude, </a:t>
            </a:r>
            <a:r>
              <a:rPr kumimoji="0" lang="en-US" altLang="ko-KR" sz="1000" b="0" i="0" u="none" strike="noStrike" kern="0" cap="none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Genspark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Gemini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활용 제작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Replit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Lovable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활용 제작</a:t>
            </a:r>
            <a:endParaRPr kumimoji="0" lang="ko-KR" altLang="en-US" sz="1000" b="0" i="0" u="none" strike="noStrike" kern="0" cap="none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37E9A6C9-2DAA-A287-B21C-ABA91BBF38B3}"/>
              </a:ext>
            </a:extLst>
          </p:cNvPr>
          <p:cNvSpPr/>
          <p:nvPr/>
        </p:nvSpPr>
        <p:spPr>
          <a:xfrm>
            <a:off x="4876800" y="1553335"/>
            <a:ext cx="26" cy="2924904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Google Shape;642;p18">
            <a:extLst>
              <a:ext uri="{FF2B5EF4-FFF2-40B4-BE49-F238E27FC236}">
                <a16:creationId xmlns:a16="http://schemas.microsoft.com/office/drawing/2014/main" id="{9A0379BA-30EB-9C11-DDEA-D2F92A2F315C}"/>
              </a:ext>
            </a:extLst>
          </p:cNvPr>
          <p:cNvSpPr/>
          <p:nvPr/>
        </p:nvSpPr>
        <p:spPr>
          <a:xfrm>
            <a:off x="5002814" y="1598068"/>
            <a:ext cx="931386" cy="2794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E834135-1CE6-CCC3-93BB-8C6EC4A25549}"/>
              </a:ext>
            </a:extLst>
          </p:cNvPr>
          <p:cNvGrpSpPr/>
          <p:nvPr/>
        </p:nvGrpSpPr>
        <p:grpSpPr>
          <a:xfrm>
            <a:off x="5072025" y="1671816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16335330-C5E9-869E-B234-24DCDAF9352D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1" name="object 13">
              <a:extLst>
                <a:ext uri="{FF2B5EF4-FFF2-40B4-BE49-F238E27FC236}">
                  <a16:creationId xmlns:a16="http://schemas.microsoft.com/office/drawing/2014/main" id="{54691814-1B4F-54DD-2979-F7C302E29958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교육목표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A652D53-3FA9-D009-45EC-FA735CC98EB2}"/>
              </a:ext>
            </a:extLst>
          </p:cNvPr>
          <p:cNvSpPr txBox="1"/>
          <p:nvPr/>
        </p:nvSpPr>
        <p:spPr>
          <a:xfrm>
            <a:off x="6096000" y="1657350"/>
            <a:ext cx="28955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세일즈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&amp;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마케팅 콘텐츠와 슬라이드 제작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역량을 높이고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맞춤형 업무 자동화 앱을 제작하여 실무 적용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21E40A9-3591-4F54-5EAB-B5833930D334}"/>
              </a:ext>
            </a:extLst>
          </p:cNvPr>
          <p:cNvGrpSpPr/>
          <p:nvPr/>
        </p:nvGrpSpPr>
        <p:grpSpPr>
          <a:xfrm>
            <a:off x="5072025" y="2190750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A3F2F23A-22DF-47CB-9D8F-FA42A0206F1F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0042BC3A-3461-D4CC-5C8D-282ADB8A157D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수준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348E0C6-7AAF-9BC3-BD20-6D264C9480BE}"/>
              </a:ext>
            </a:extLst>
          </p:cNvPr>
          <p:cNvGrpSpPr/>
          <p:nvPr/>
        </p:nvGrpSpPr>
        <p:grpSpPr>
          <a:xfrm>
            <a:off x="6135118" y="2190750"/>
            <a:ext cx="931386" cy="279400"/>
            <a:chOff x="991235" y="3543300"/>
            <a:chExt cx="4781550" cy="558800"/>
          </a:xfrm>
          <a:noFill/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829B3936-CEE2-FEB1-03DC-29BCB3B8AB84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4F81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3" name="object 13">
              <a:extLst>
                <a:ext uri="{FF2B5EF4-FFF2-40B4-BE49-F238E27FC236}">
                  <a16:creationId xmlns:a16="http://schemas.microsoft.com/office/drawing/2014/main" id="{F6B071B7-9A14-9117-296F-275F3C639AA7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중급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FFC1FA5-D961-17C4-025C-BF0E61708493}"/>
              </a:ext>
            </a:extLst>
          </p:cNvPr>
          <p:cNvGrpSpPr/>
          <p:nvPr/>
        </p:nvGrpSpPr>
        <p:grpSpPr>
          <a:xfrm>
            <a:off x="5072025" y="2724150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656793BD-EC0B-B840-DD9B-3AFA78546BF6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6" name="object 13">
              <a:extLst>
                <a:ext uri="{FF2B5EF4-FFF2-40B4-BE49-F238E27FC236}">
                  <a16:creationId xmlns:a16="http://schemas.microsoft.com/office/drawing/2014/main" id="{99E232B3-A55F-08EB-4316-9F79726E9B2A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교육시간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E3F4B5-3F72-2549-4463-5DC648423EFC}"/>
              </a:ext>
            </a:extLst>
          </p:cNvPr>
          <p:cNvGrpSpPr/>
          <p:nvPr/>
        </p:nvGrpSpPr>
        <p:grpSpPr>
          <a:xfrm>
            <a:off x="6135118" y="2724150"/>
            <a:ext cx="937736" cy="279400"/>
            <a:chOff x="991235" y="3543300"/>
            <a:chExt cx="4781550" cy="558800"/>
          </a:xfrm>
          <a:noFill/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627768A6-4FA0-1BCA-9E5C-333A289FC895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4F81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9" name="object 13">
              <a:extLst>
                <a:ext uri="{FF2B5EF4-FFF2-40B4-BE49-F238E27FC236}">
                  <a16:creationId xmlns:a16="http://schemas.microsoft.com/office/drawing/2014/main" id="{47686E66-35FF-A00D-0AD4-E84BF6F188E0}"/>
                </a:ext>
              </a:extLst>
            </p:cNvPr>
            <p:cNvSpPr txBox="1"/>
            <p:nvPr/>
          </p:nvSpPr>
          <p:spPr>
            <a:xfrm>
              <a:off x="1130938" y="3654426"/>
              <a:ext cx="4449445" cy="32060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1</a:t>
              </a:r>
              <a:r>
                <a:rPr lang="ko-KR" altLang="en-US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일 </a:t>
              </a: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(7</a:t>
              </a:r>
              <a:r>
                <a:rPr lang="ko-KR" altLang="en-US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시간</a:t>
              </a: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)</a:t>
              </a:r>
              <a:endParaRPr lang="ko-KR" altLang="en-US" sz="1000" dirty="0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C37DC21-699C-48B7-7F6E-8A9DC5D0D918}"/>
              </a:ext>
            </a:extLst>
          </p:cNvPr>
          <p:cNvGrpSpPr/>
          <p:nvPr/>
        </p:nvGrpSpPr>
        <p:grpSpPr>
          <a:xfrm>
            <a:off x="5072025" y="3865428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57D8C766-A241-D5B8-3C91-E1259329ACA5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3" name="object 13">
              <a:extLst>
                <a:ext uri="{FF2B5EF4-FFF2-40B4-BE49-F238E27FC236}">
                  <a16:creationId xmlns:a16="http://schemas.microsoft.com/office/drawing/2014/main" id="{D66548B8-D5E6-9702-95E5-739B61B1EC5B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유료툴</a:t>
              </a: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제공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7994277-F126-5BC5-7AF6-D4B3A3DD595C}"/>
              </a:ext>
            </a:extLst>
          </p:cNvPr>
          <p:cNvGrpSpPr/>
          <p:nvPr/>
        </p:nvGrpSpPr>
        <p:grpSpPr>
          <a:xfrm>
            <a:off x="5072025" y="3265555"/>
            <a:ext cx="931386" cy="279400"/>
            <a:chOff x="991235" y="3543300"/>
            <a:chExt cx="4781550" cy="558800"/>
          </a:xfrm>
          <a:solidFill>
            <a:srgbClr val="4F81BD"/>
          </a:solidFill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CD6E3A8F-8D83-D801-445A-2333DF60C5C8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6" name="object 13">
              <a:extLst>
                <a:ext uri="{FF2B5EF4-FFF2-40B4-BE49-F238E27FC236}">
                  <a16:creationId xmlns:a16="http://schemas.microsoft.com/office/drawing/2014/main" id="{644A6A93-0526-7BA5-1994-3F73A3E449FF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교육대상</a:t>
              </a:r>
            </a:p>
          </p:txBody>
        </p:sp>
      </p:grpSp>
      <p:sp>
        <p:nvSpPr>
          <p:cNvPr id="37" name="object 13">
            <a:extLst>
              <a:ext uri="{FF2B5EF4-FFF2-40B4-BE49-F238E27FC236}">
                <a16:creationId xmlns:a16="http://schemas.microsoft.com/office/drawing/2014/main" id="{AD9534C1-8510-3B8F-F2EF-0ECEB210D166}"/>
              </a:ext>
            </a:extLst>
          </p:cNvPr>
          <p:cNvSpPr txBox="1"/>
          <p:nvPr/>
        </p:nvSpPr>
        <p:spPr>
          <a:xfrm>
            <a:off x="6135118" y="3321117"/>
            <a:ext cx="2170692" cy="3141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6351" rIns="0" bIns="0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200"/>
              <a:buFontTx/>
              <a:buNone/>
              <a:tabLst/>
              <a:defRPr/>
            </a:pP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B2B 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세일즈</a:t>
            </a: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영업</a:t>
            </a: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마케팅</a:t>
            </a: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CRM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직무</a:t>
            </a:r>
            <a:endParaRPr lang="en-US" altLang="ko-KR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200"/>
              <a:buFontTx/>
              <a:buNone/>
              <a:tabLst/>
              <a:defRPr/>
            </a:pP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실무자 및 관리자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971257F-77AD-1C9A-3220-2DC74F7AE979}"/>
              </a:ext>
            </a:extLst>
          </p:cNvPr>
          <p:cNvGrpSpPr/>
          <p:nvPr/>
        </p:nvGrpSpPr>
        <p:grpSpPr>
          <a:xfrm>
            <a:off x="457200" y="1692001"/>
            <a:ext cx="439057" cy="2632350"/>
            <a:chOff x="829701" y="3543300"/>
            <a:chExt cx="4781550" cy="558800"/>
          </a:xfrm>
          <a:solidFill>
            <a:srgbClr val="4F81BD"/>
          </a:solidFill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C869664D-6A91-414E-769B-EE591B8C0405}"/>
                </a:ext>
              </a:extLst>
            </p:cNvPr>
            <p:cNvSpPr/>
            <p:nvPr/>
          </p:nvSpPr>
          <p:spPr>
            <a:xfrm>
              <a:off x="829701" y="3543300"/>
              <a:ext cx="4781550" cy="558800"/>
            </a:xfrm>
            <a:prstGeom prst="roundRect">
              <a:avLst>
                <a:gd name="adj" fmla="val 2223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" name="object 13">
              <a:extLst>
                <a:ext uri="{FF2B5EF4-FFF2-40B4-BE49-F238E27FC236}">
                  <a16:creationId xmlns:a16="http://schemas.microsoft.com/office/drawing/2014/main" id="{F79284A8-CE1F-9E48-C415-B67CF4FCB2D0}"/>
                </a:ext>
              </a:extLst>
            </p:cNvPr>
            <p:cNvSpPr txBox="1"/>
            <p:nvPr/>
          </p:nvSpPr>
          <p:spPr>
            <a:xfrm>
              <a:off x="829701" y="3786492"/>
              <a:ext cx="4449444" cy="27496"/>
            </a:xfrm>
            <a:prstGeom prst="rect">
              <a:avLst/>
            </a:prstGeom>
            <a:grpFill/>
          </p:spPr>
          <p:txBody>
            <a:bodyPr vert="horz" wrap="square" lIns="0" tIns="6351" rIns="0" bIns="0" rtlCol="0" anchor="ctr">
              <a:spAutoFit/>
            </a:bodyPr>
            <a:lstStyle/>
            <a:p>
              <a:pPr marL="6351" marR="0" lvl="0" indent="0" algn="ctr" defTabSz="457200" eaLnBrk="1" fontAlgn="auto" latinLnBrk="0" hangingPunct="1">
                <a:lnSpc>
                  <a:spcPct val="100000"/>
                </a:lnSpc>
                <a:spcBef>
                  <a:spcPts val="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Day1</a:t>
              </a:r>
              <a:endParaRPr kumimoji="0" lang="ko-KR" altLang="en-US" sz="8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EEA7D7A-392D-5C49-AD8E-5637EEF95092}"/>
              </a:ext>
            </a:extLst>
          </p:cNvPr>
          <p:cNvSpPr/>
          <p:nvPr/>
        </p:nvSpPr>
        <p:spPr>
          <a:xfrm>
            <a:off x="1981200" y="260558"/>
            <a:ext cx="635577" cy="245075"/>
          </a:xfrm>
          <a:prstGeom prst="roundRect">
            <a:avLst/>
          </a:prstGeom>
          <a:solidFill>
            <a:srgbClr val="FFAD2C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2026 </a:t>
            </a:r>
            <a:r>
              <a:rPr lang="ko-KR" altLang="en-US" sz="1000" b="1" spc="-1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신설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3793A584-0C3E-BBB7-97EF-4C189DEFD195}"/>
              </a:ext>
            </a:extLst>
          </p:cNvPr>
          <p:cNvGrpSpPr/>
          <p:nvPr/>
        </p:nvGrpSpPr>
        <p:grpSpPr>
          <a:xfrm>
            <a:off x="6705600" y="3798985"/>
            <a:ext cx="537895" cy="444216"/>
            <a:chOff x="6066091" y="3964463"/>
            <a:chExt cx="537895" cy="444216"/>
          </a:xfrm>
        </p:grpSpPr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F775ED52-80CA-373B-6D1B-43F3E2D3D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148625" y="3964463"/>
              <a:ext cx="316990" cy="303035"/>
            </a:xfrm>
            <a:prstGeom prst="rect">
              <a:avLst/>
            </a:prstGeom>
          </p:spPr>
        </p:pic>
        <p:sp>
          <p:nvSpPr>
            <p:cNvPr id="45" name="Google Shape;712;p18">
              <a:extLst>
                <a:ext uri="{FF2B5EF4-FFF2-40B4-BE49-F238E27FC236}">
                  <a16:creationId xmlns:a16="http://schemas.microsoft.com/office/drawing/2014/main" id="{2DD89CC3-670E-C1ED-F79A-90C096FDF698}"/>
                </a:ext>
              </a:extLst>
            </p:cNvPr>
            <p:cNvSpPr txBox="1"/>
            <p:nvPr/>
          </p:nvSpPr>
          <p:spPr>
            <a:xfrm>
              <a:off x="6066091" y="4250958"/>
              <a:ext cx="537895" cy="157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85" tIns="17138" rIns="34285" bIns="17138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000"/>
                <a:buFontTx/>
                <a:buNone/>
                <a:tabLst/>
                <a:defRPr/>
              </a:pPr>
              <a:r>
                <a:rPr lang="en-US" sz="8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Claude</a:t>
              </a:r>
              <a:endParaRPr kumimoji="0" sz="800" i="0" u="none" strike="noStrike" kern="0" cap="none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9BEC09F7-BDCF-1C37-726B-90BE0CFAC310}"/>
              </a:ext>
            </a:extLst>
          </p:cNvPr>
          <p:cNvGrpSpPr/>
          <p:nvPr/>
        </p:nvGrpSpPr>
        <p:grpSpPr>
          <a:xfrm>
            <a:off x="7310705" y="3851082"/>
            <a:ext cx="537895" cy="392119"/>
            <a:chOff x="6840751" y="3932232"/>
            <a:chExt cx="537895" cy="392119"/>
          </a:xfrm>
        </p:grpSpPr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17CE1713-7696-5AF6-1260-941DE26AB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98934" y="3932232"/>
              <a:ext cx="221529" cy="212596"/>
            </a:xfrm>
            <a:prstGeom prst="rect">
              <a:avLst/>
            </a:prstGeom>
          </p:spPr>
        </p:pic>
        <p:sp>
          <p:nvSpPr>
            <p:cNvPr id="46" name="Google Shape;712;p18">
              <a:extLst>
                <a:ext uri="{FF2B5EF4-FFF2-40B4-BE49-F238E27FC236}">
                  <a16:creationId xmlns:a16="http://schemas.microsoft.com/office/drawing/2014/main" id="{14FA47C4-5E38-4853-D750-8EE867146740}"/>
                </a:ext>
              </a:extLst>
            </p:cNvPr>
            <p:cNvSpPr txBox="1"/>
            <p:nvPr/>
          </p:nvSpPr>
          <p:spPr>
            <a:xfrm>
              <a:off x="6840751" y="4166630"/>
              <a:ext cx="537895" cy="157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85" tIns="17138" rIns="34285" bIns="17138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000"/>
                <a:buFontTx/>
                <a:buNone/>
                <a:tabLst/>
                <a:defRPr/>
              </a:pPr>
              <a:r>
                <a:rPr lang="en-US" sz="800" dirty="0" err="1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Genspark</a:t>
              </a:r>
              <a:endParaRPr kumimoji="0" sz="800" i="0" u="none" strike="noStrike" kern="0" cap="none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4" name="Google Shape;710;p18">
            <a:extLst>
              <a:ext uri="{FF2B5EF4-FFF2-40B4-BE49-F238E27FC236}">
                <a16:creationId xmlns:a16="http://schemas.microsoft.com/office/drawing/2014/main" id="{DDCD2CEE-B156-D7EA-AD2E-690E9BA7D6D7}"/>
              </a:ext>
            </a:extLst>
          </p:cNvPr>
          <p:cNvGrpSpPr/>
          <p:nvPr/>
        </p:nvGrpSpPr>
        <p:grpSpPr>
          <a:xfrm>
            <a:off x="6135118" y="3843611"/>
            <a:ext cx="537895" cy="404539"/>
            <a:chOff x="7844319" y="5693188"/>
            <a:chExt cx="723001" cy="528462"/>
          </a:xfrm>
        </p:grpSpPr>
        <p:pic>
          <p:nvPicPr>
            <p:cNvPr id="55" name="Google Shape;711;p18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C7F5E95D-39E4-3150-6DAD-DD25DAC7E3F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033305" y="5693188"/>
              <a:ext cx="345028" cy="3450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" name="Google Shape;712;p18">
              <a:extLst>
                <a:ext uri="{FF2B5EF4-FFF2-40B4-BE49-F238E27FC236}">
                  <a16:creationId xmlns:a16="http://schemas.microsoft.com/office/drawing/2014/main" id="{FBBAF85F-37A4-AF69-D3D3-8FD7D2C67EBB}"/>
                </a:ext>
              </a:extLst>
            </p:cNvPr>
            <p:cNvSpPr txBox="1"/>
            <p:nvPr/>
          </p:nvSpPr>
          <p:spPr>
            <a:xfrm>
              <a:off x="7844319" y="6015614"/>
              <a:ext cx="723001" cy="206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85" tIns="17138" rIns="34285" bIns="17138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000"/>
                <a:buFontTx/>
                <a:buNone/>
                <a:tabLst/>
                <a:defRPr/>
              </a:pPr>
              <a:r>
                <a:rPr kumimoji="0" lang="en-US" altLang="ko-KR" sz="80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ChatGPT</a:t>
              </a:r>
              <a:endParaRPr kumimoji="0" sz="800" i="0" u="none" strike="noStrike" kern="0" cap="none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CF4B8E4-49A0-5BD6-0588-F8AC87B7AA39}"/>
              </a:ext>
            </a:extLst>
          </p:cNvPr>
          <p:cNvSpPr txBox="1"/>
          <p:nvPr/>
        </p:nvSpPr>
        <p:spPr>
          <a:xfrm>
            <a:off x="180000" y="237351"/>
            <a:ext cx="13388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재직자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훈련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과정 상세</a:t>
            </a:r>
          </a:p>
        </p:txBody>
      </p:sp>
      <p:sp>
        <p:nvSpPr>
          <p:cNvPr id="38" name="슬라이드 번호 개체 틀 4">
            <a:extLst>
              <a:ext uri="{FF2B5EF4-FFF2-40B4-BE49-F238E27FC236}">
                <a16:creationId xmlns:a16="http://schemas.microsoft.com/office/drawing/2014/main" id="{D2FA4B93-F333-F728-3894-1D49A9254696}"/>
              </a:ext>
            </a:extLst>
          </p:cNvPr>
          <p:cNvSpPr txBox="1">
            <a:spLocks/>
          </p:cNvSpPr>
          <p:nvPr/>
        </p:nvSpPr>
        <p:spPr>
          <a:xfrm>
            <a:off x="3520440" y="4917073"/>
            <a:ext cx="210312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altLang="ko-KR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7164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BE001-3DAB-E8CC-FEF6-0326A2287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8">
            <a:extLst>
              <a:ext uri="{FF2B5EF4-FFF2-40B4-BE49-F238E27FC236}">
                <a16:creationId xmlns:a16="http://schemas.microsoft.com/office/drawing/2014/main" id="{4B85BCDB-063C-609C-B058-08880B266F38}"/>
              </a:ext>
            </a:extLst>
          </p:cNvPr>
          <p:cNvSpPr txBox="1"/>
          <p:nvPr/>
        </p:nvSpPr>
        <p:spPr>
          <a:xfrm>
            <a:off x="1017658" y="1664676"/>
            <a:ext cx="3249542" cy="2662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marL="0" marR="0" lvl="0" indent="0" algn="just" defTabSz="91440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이론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오리엔테이션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(1H)</a:t>
            </a:r>
            <a:endParaRPr kumimoji="0" lang="ko-KR" altLang="en-US" sz="10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최신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동향 소개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생성형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&amp;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업무 활용 트렌드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endParaRPr kumimoji="0" sz="1000" b="0" i="0" u="none" strike="noStrike" kern="0" cap="none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실습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] AI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프레젠테이션 스토리 구조 이해 및 설계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(4H)</a:t>
            </a:r>
            <a:endParaRPr kumimoji="0" lang="ko-KR" altLang="en-US" sz="1000" b="0" i="0" u="none" strike="noStrike" kern="0" cap="none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프레젠테이션 스토리 구조 및 스토리보드 작성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r>
              <a:rPr kumimoji="0" lang="ko-KR" altLang="en-US" sz="1000" b="0" i="0" u="none" strike="noStrike" kern="0" cap="none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챗봇을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활용한 씬 리스트 기획 및 프롬프트 설계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이미지 생성 및 편집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1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차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영상 제작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실습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] AI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영상 업그레이드 제작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(3H)</a:t>
            </a:r>
            <a:endParaRPr kumimoji="0" lang="ko-KR" altLang="en-US" sz="10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영상 업그레이드 제작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보이스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·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내레이션 및 자막 삽입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실습 마무리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endParaRPr kumimoji="0" lang="ko-KR" altLang="en-US" sz="1000" b="0" i="0" u="none" strike="noStrike" kern="0" cap="none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실습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]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프로젝트 발표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(2H)</a:t>
            </a:r>
            <a:endParaRPr kumimoji="0" lang="ko-KR" altLang="en-US" sz="1000" b="0" i="0" u="none" strike="noStrike" kern="0" cap="none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영상 완성과 발표 시나리오 구상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프로젝트 발표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공유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및 피드백</a:t>
            </a:r>
            <a:endParaRPr kumimoji="0" sz="10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3" name="Google Shape;633;p18">
            <a:extLst>
              <a:ext uri="{FF2B5EF4-FFF2-40B4-BE49-F238E27FC236}">
                <a16:creationId xmlns:a16="http://schemas.microsoft.com/office/drawing/2014/main" id="{E1899CB2-C7AF-C01A-527B-B8A5CB13DBD7}"/>
              </a:ext>
            </a:extLst>
          </p:cNvPr>
          <p:cNvSpPr txBox="1"/>
          <p:nvPr/>
        </p:nvSpPr>
        <p:spPr>
          <a:xfrm>
            <a:off x="361950" y="594000"/>
            <a:ext cx="8420100" cy="48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algn="ctr"/>
            <a:r>
              <a:rPr lang="ko-KR" altLang="ko-KR" sz="2700" b="1" i="0" u="none" strike="noStrike" cap="none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</a:t>
            </a:r>
            <a:r>
              <a:rPr lang="ko-KR" altLang="ko-KR" sz="2700" b="1" i="0" u="none" strike="noStrike" cap="none" spc="-150" dirty="0" err="1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비개발</a:t>
            </a:r>
            <a:r>
              <a:rPr lang="en-US" altLang="ko-KR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lang="ko-KR" altLang="en-US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자료 조사부터 슬라이드까지</a:t>
            </a:r>
            <a:r>
              <a:rPr lang="en-US" altLang="ko-KR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AI </a:t>
            </a:r>
            <a:r>
              <a:rPr lang="ko-KR" altLang="en-US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프레젠테이션 자동화</a:t>
            </a:r>
          </a:p>
        </p:txBody>
      </p:sp>
      <p:sp>
        <p:nvSpPr>
          <p:cNvPr id="634" name="Google Shape;634;p18">
            <a:extLst>
              <a:ext uri="{FF2B5EF4-FFF2-40B4-BE49-F238E27FC236}">
                <a16:creationId xmlns:a16="http://schemas.microsoft.com/office/drawing/2014/main" id="{3B62941D-2782-DE88-1D83-061BD649C498}"/>
              </a:ext>
            </a:extLst>
          </p:cNvPr>
          <p:cNvSpPr/>
          <p:nvPr/>
        </p:nvSpPr>
        <p:spPr>
          <a:xfrm>
            <a:off x="1157287" y="1134000"/>
            <a:ext cx="6829426" cy="241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Tx/>
              <a:buSzPts val="2400"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기획</a:t>
            </a:r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/</a:t>
            </a:r>
            <a:r>
              <a:rPr kumimoji="0" lang="ko-KR" altLang="en-US" sz="12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마케팅 </a:t>
            </a:r>
            <a:r>
              <a:rPr kumimoji="0" lang="ko-KR" altLang="en-US" sz="1200" b="0" i="0" u="none" strike="noStrike" kern="0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직군의</a:t>
            </a:r>
            <a:r>
              <a:rPr kumimoji="0" lang="ko-KR" altLang="en-US" sz="12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아이디어와 기획의도를 효과적으로 전달하는 </a:t>
            </a:r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영상 제작 및 비주얼 스토리텔링 역량</a:t>
            </a:r>
            <a:endParaRPr kumimoji="0" lang="en-US" altLang="ko-KR" sz="1200" b="0" i="0" u="none" strike="noStrike" kern="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cxnSp>
        <p:nvCxnSpPr>
          <p:cNvPr id="635" name="Google Shape;635;p18">
            <a:extLst>
              <a:ext uri="{FF2B5EF4-FFF2-40B4-BE49-F238E27FC236}">
                <a16:creationId xmlns:a16="http://schemas.microsoft.com/office/drawing/2014/main" id="{F16B5CF8-B0B1-3562-E617-99D675DD5109}"/>
              </a:ext>
            </a:extLst>
          </p:cNvPr>
          <p:cNvCxnSpPr/>
          <p:nvPr/>
        </p:nvCxnSpPr>
        <p:spPr>
          <a:xfrm rot="10800000" flipH="1">
            <a:off x="255913" y="1451316"/>
            <a:ext cx="8316587" cy="37672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AutoShape 3">
            <a:extLst>
              <a:ext uri="{FF2B5EF4-FFF2-40B4-BE49-F238E27FC236}">
                <a16:creationId xmlns:a16="http://schemas.microsoft.com/office/drawing/2014/main" id="{909DABFD-8CB3-5FB8-CBA0-FC98E8C562D7}"/>
              </a:ext>
            </a:extLst>
          </p:cNvPr>
          <p:cNvSpPr/>
          <p:nvPr/>
        </p:nvSpPr>
        <p:spPr>
          <a:xfrm>
            <a:off x="4876800" y="1553335"/>
            <a:ext cx="26" cy="2924904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Google Shape;642;p18">
            <a:extLst>
              <a:ext uri="{FF2B5EF4-FFF2-40B4-BE49-F238E27FC236}">
                <a16:creationId xmlns:a16="http://schemas.microsoft.com/office/drawing/2014/main" id="{E8F144E1-BB9B-E5D0-F3E1-6D8D82BBDDBE}"/>
              </a:ext>
            </a:extLst>
          </p:cNvPr>
          <p:cNvSpPr/>
          <p:nvPr/>
        </p:nvSpPr>
        <p:spPr>
          <a:xfrm>
            <a:off x="5002814" y="1598068"/>
            <a:ext cx="931386" cy="2794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45" name="AutoShape 3">
            <a:extLst>
              <a:ext uri="{FF2B5EF4-FFF2-40B4-BE49-F238E27FC236}">
                <a16:creationId xmlns:a16="http://schemas.microsoft.com/office/drawing/2014/main" id="{8C3B974C-9008-5B88-9EA9-F351E3C2B9B3}"/>
              </a:ext>
            </a:extLst>
          </p:cNvPr>
          <p:cNvSpPr/>
          <p:nvPr/>
        </p:nvSpPr>
        <p:spPr>
          <a:xfrm>
            <a:off x="4876800" y="1553335"/>
            <a:ext cx="26" cy="2924904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2084BC12-CB77-6D8D-A68F-23B5B84C7821}"/>
              </a:ext>
            </a:extLst>
          </p:cNvPr>
          <p:cNvGrpSpPr/>
          <p:nvPr/>
        </p:nvGrpSpPr>
        <p:grpSpPr>
          <a:xfrm>
            <a:off x="5072025" y="1671816"/>
            <a:ext cx="931386" cy="279400"/>
            <a:chOff x="991235" y="3543300"/>
            <a:chExt cx="4781550" cy="558800"/>
          </a:xfrm>
          <a:solidFill>
            <a:srgbClr val="F7575C"/>
          </a:solidFill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F92148B0-FE60-D3B9-9994-70AAF1D1CC72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8" name="object 13">
              <a:extLst>
                <a:ext uri="{FF2B5EF4-FFF2-40B4-BE49-F238E27FC236}">
                  <a16:creationId xmlns:a16="http://schemas.microsoft.com/office/drawing/2014/main" id="{522D70EC-3AEF-DCF3-4750-CB5046DF29E8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교육목표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0AE6E7E5-D824-CB73-EE3C-C38DA3ADD012}"/>
              </a:ext>
            </a:extLst>
          </p:cNvPr>
          <p:cNvSpPr txBox="1"/>
          <p:nvPr/>
        </p:nvSpPr>
        <p:spPr>
          <a:xfrm>
            <a:off x="6096000" y="1657350"/>
            <a:ext cx="26860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다양한 생성형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를 활용하여 시각적 표현력과</a:t>
            </a:r>
            <a:endParaRPr lang="en-US" altLang="ko-KR" sz="1000" dirty="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메시지 </a:t>
            </a:r>
            <a:r>
              <a:rPr lang="ko-KR" altLang="en-US" sz="1000" dirty="0" err="1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전달력을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높인 실무 자료 제작 역량 완성</a:t>
            </a:r>
            <a:endParaRPr lang="en-US" altLang="ko-KR" sz="1000" dirty="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DF996E9-EF16-F177-5259-40EDB2A60C62}"/>
              </a:ext>
            </a:extLst>
          </p:cNvPr>
          <p:cNvGrpSpPr/>
          <p:nvPr/>
        </p:nvGrpSpPr>
        <p:grpSpPr>
          <a:xfrm>
            <a:off x="5072025" y="2190750"/>
            <a:ext cx="931386" cy="279400"/>
            <a:chOff x="991235" y="3543300"/>
            <a:chExt cx="4781550" cy="558800"/>
          </a:xfrm>
          <a:solidFill>
            <a:srgbClr val="F7575C"/>
          </a:solidFill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0824B411-59E3-2AD9-1BA4-ADC31CC38933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2" name="object 13">
              <a:extLst>
                <a:ext uri="{FF2B5EF4-FFF2-40B4-BE49-F238E27FC236}">
                  <a16:creationId xmlns:a16="http://schemas.microsoft.com/office/drawing/2014/main" id="{37763016-AD9C-B3E1-30C5-A8CF31E77623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수준</a:t>
              </a: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A6B85348-32AB-B85C-35A4-991772958EF3}"/>
              </a:ext>
            </a:extLst>
          </p:cNvPr>
          <p:cNvGrpSpPr/>
          <p:nvPr/>
        </p:nvGrpSpPr>
        <p:grpSpPr>
          <a:xfrm>
            <a:off x="6135118" y="2190750"/>
            <a:ext cx="931386" cy="279400"/>
            <a:chOff x="991235" y="3543300"/>
            <a:chExt cx="4781550" cy="558800"/>
          </a:xfrm>
          <a:noFill/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D6C341B1-0D8A-DE33-3ADD-06D1CDD36116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F757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5" name="object 13">
              <a:extLst>
                <a:ext uri="{FF2B5EF4-FFF2-40B4-BE49-F238E27FC236}">
                  <a16:creationId xmlns:a16="http://schemas.microsoft.com/office/drawing/2014/main" id="{FC9B9A44-09DC-066B-CA75-E734A72F79DB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초급</a:t>
              </a:r>
              <a:endPara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663A57A0-27DA-DC32-233E-301F3249ECC9}"/>
              </a:ext>
            </a:extLst>
          </p:cNvPr>
          <p:cNvGrpSpPr/>
          <p:nvPr/>
        </p:nvGrpSpPr>
        <p:grpSpPr>
          <a:xfrm>
            <a:off x="5072025" y="2724150"/>
            <a:ext cx="931386" cy="279400"/>
            <a:chOff x="991235" y="3543300"/>
            <a:chExt cx="4781550" cy="558800"/>
          </a:xfrm>
          <a:solidFill>
            <a:srgbClr val="F7575C"/>
          </a:solidFill>
        </p:grpSpPr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3EE7D5D0-D8F9-A3FD-0933-BC15485B520C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8" name="object 13">
              <a:extLst>
                <a:ext uri="{FF2B5EF4-FFF2-40B4-BE49-F238E27FC236}">
                  <a16:creationId xmlns:a16="http://schemas.microsoft.com/office/drawing/2014/main" id="{26D00FDC-B8A1-8C99-3CB8-5BA432B5CCA6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교육시간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BF866A91-C89A-C6C6-00BD-F914CD9C9148}"/>
              </a:ext>
            </a:extLst>
          </p:cNvPr>
          <p:cNvGrpSpPr/>
          <p:nvPr/>
        </p:nvGrpSpPr>
        <p:grpSpPr>
          <a:xfrm>
            <a:off x="6135118" y="2724150"/>
            <a:ext cx="937736" cy="279400"/>
            <a:chOff x="991235" y="3543300"/>
            <a:chExt cx="4781550" cy="558800"/>
          </a:xfrm>
          <a:noFill/>
        </p:grpSpPr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C7E3A9F8-1E31-E07F-BC3A-E25BF866A750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F757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1" name="object 13">
              <a:extLst>
                <a:ext uri="{FF2B5EF4-FFF2-40B4-BE49-F238E27FC236}">
                  <a16:creationId xmlns:a16="http://schemas.microsoft.com/office/drawing/2014/main" id="{04762C00-67D4-1DF3-59CE-647E79AABF47}"/>
                </a:ext>
              </a:extLst>
            </p:cNvPr>
            <p:cNvSpPr txBox="1"/>
            <p:nvPr/>
          </p:nvSpPr>
          <p:spPr>
            <a:xfrm>
              <a:off x="1130938" y="3654426"/>
              <a:ext cx="4449445" cy="32060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2</a:t>
              </a:r>
              <a:r>
                <a:rPr lang="ko-KR" altLang="en-US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일 </a:t>
              </a: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(10</a:t>
              </a:r>
              <a:r>
                <a:rPr lang="ko-KR" altLang="en-US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시간</a:t>
              </a: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)</a:t>
              </a:r>
              <a:endParaRPr lang="ko-KR" altLang="en-US" sz="1000" dirty="0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5D269319-A83E-5DDC-D37C-E76C87577855}"/>
              </a:ext>
            </a:extLst>
          </p:cNvPr>
          <p:cNvGrpSpPr/>
          <p:nvPr/>
        </p:nvGrpSpPr>
        <p:grpSpPr>
          <a:xfrm>
            <a:off x="5072025" y="3865428"/>
            <a:ext cx="931386" cy="279400"/>
            <a:chOff x="991235" y="3543300"/>
            <a:chExt cx="4781550" cy="558800"/>
          </a:xfrm>
          <a:solidFill>
            <a:srgbClr val="F7575C"/>
          </a:solidFill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04CDB4FD-6B0C-B157-33C4-9E3445916B05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76" name="object 13">
              <a:extLst>
                <a:ext uri="{FF2B5EF4-FFF2-40B4-BE49-F238E27FC236}">
                  <a16:creationId xmlns:a16="http://schemas.microsoft.com/office/drawing/2014/main" id="{FB59C77B-EA69-79D8-31C0-3A940953B29F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유료툴</a:t>
              </a: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제공</a:t>
              </a:r>
            </a:p>
          </p:txBody>
        </p:sp>
      </p:grpSp>
      <p:grpSp>
        <p:nvGrpSpPr>
          <p:cNvPr id="577" name="그룹 576">
            <a:extLst>
              <a:ext uri="{FF2B5EF4-FFF2-40B4-BE49-F238E27FC236}">
                <a16:creationId xmlns:a16="http://schemas.microsoft.com/office/drawing/2014/main" id="{EDEAD364-594C-5D16-E316-0D74DF6ABBC1}"/>
              </a:ext>
            </a:extLst>
          </p:cNvPr>
          <p:cNvGrpSpPr/>
          <p:nvPr/>
        </p:nvGrpSpPr>
        <p:grpSpPr>
          <a:xfrm>
            <a:off x="5072025" y="3265555"/>
            <a:ext cx="931386" cy="279400"/>
            <a:chOff x="991235" y="3543300"/>
            <a:chExt cx="4781550" cy="558800"/>
          </a:xfrm>
          <a:solidFill>
            <a:srgbClr val="F7575C"/>
          </a:solidFill>
        </p:grpSpPr>
        <p:sp>
          <p:nvSpPr>
            <p:cNvPr id="578" name="사각형: 둥근 모서리 577">
              <a:extLst>
                <a:ext uri="{FF2B5EF4-FFF2-40B4-BE49-F238E27FC236}">
                  <a16:creationId xmlns:a16="http://schemas.microsoft.com/office/drawing/2014/main" id="{3A38CD25-8222-141D-EDDF-153E9E40C92B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79" name="object 13">
              <a:extLst>
                <a:ext uri="{FF2B5EF4-FFF2-40B4-BE49-F238E27FC236}">
                  <a16:creationId xmlns:a16="http://schemas.microsoft.com/office/drawing/2014/main" id="{99252094-622F-1840-543B-49327FE136CC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교육대상</a:t>
              </a:r>
            </a:p>
          </p:txBody>
        </p:sp>
      </p:grpSp>
      <p:sp>
        <p:nvSpPr>
          <p:cNvPr id="580" name="object 13">
            <a:extLst>
              <a:ext uri="{FF2B5EF4-FFF2-40B4-BE49-F238E27FC236}">
                <a16:creationId xmlns:a16="http://schemas.microsoft.com/office/drawing/2014/main" id="{CEAB773B-0A63-9C3E-C57D-060C81123809}"/>
              </a:ext>
            </a:extLst>
          </p:cNvPr>
          <p:cNvSpPr txBox="1"/>
          <p:nvPr/>
        </p:nvSpPr>
        <p:spPr>
          <a:xfrm>
            <a:off x="6135118" y="3321118"/>
            <a:ext cx="2170692" cy="3141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6351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콘텐츠 제작 역량을 향상하고 싶은</a:t>
            </a:r>
            <a:endParaRPr lang="en-US" altLang="ko-KR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기획</a:t>
            </a: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/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마케팅 직군 실무자</a:t>
            </a:r>
            <a:endParaRPr lang="ko-KR" altLang="en-US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7" name="Google Shape;710;p18">
            <a:extLst>
              <a:ext uri="{FF2B5EF4-FFF2-40B4-BE49-F238E27FC236}">
                <a16:creationId xmlns:a16="http://schemas.microsoft.com/office/drawing/2014/main" id="{EDF0D3F1-DB27-913F-1D80-73F1E8F3692C}"/>
              </a:ext>
            </a:extLst>
          </p:cNvPr>
          <p:cNvGrpSpPr/>
          <p:nvPr/>
        </p:nvGrpSpPr>
        <p:grpSpPr>
          <a:xfrm>
            <a:off x="6135118" y="3843611"/>
            <a:ext cx="537895" cy="404539"/>
            <a:chOff x="7844319" y="5693188"/>
            <a:chExt cx="723001" cy="528462"/>
          </a:xfrm>
        </p:grpSpPr>
        <p:pic>
          <p:nvPicPr>
            <p:cNvPr id="18" name="Google Shape;711;p18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39CA3EA2-DCE3-4F1B-8D28-8FF976DAD7F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033305" y="5693188"/>
              <a:ext cx="345028" cy="3450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712;p18">
              <a:extLst>
                <a:ext uri="{FF2B5EF4-FFF2-40B4-BE49-F238E27FC236}">
                  <a16:creationId xmlns:a16="http://schemas.microsoft.com/office/drawing/2014/main" id="{DF02239D-168D-8107-E28D-9A7D793643EB}"/>
                </a:ext>
              </a:extLst>
            </p:cNvPr>
            <p:cNvSpPr txBox="1"/>
            <p:nvPr/>
          </p:nvSpPr>
          <p:spPr>
            <a:xfrm>
              <a:off x="7844319" y="6015614"/>
              <a:ext cx="723001" cy="206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85" tIns="17138" rIns="34285" bIns="17138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000"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ChatGPT</a:t>
              </a: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20" name="Google Shape;666;p18">
            <a:extLst>
              <a:ext uri="{FF2B5EF4-FFF2-40B4-BE49-F238E27FC236}">
                <a16:creationId xmlns:a16="http://schemas.microsoft.com/office/drawing/2014/main" id="{2B866D6C-43B4-4316-7DB9-DAA598672446}"/>
              </a:ext>
            </a:extLst>
          </p:cNvPr>
          <p:cNvGrpSpPr/>
          <p:nvPr/>
        </p:nvGrpSpPr>
        <p:grpSpPr>
          <a:xfrm>
            <a:off x="6705600" y="3806070"/>
            <a:ext cx="741890" cy="418228"/>
            <a:chOff x="758263" y="5959252"/>
            <a:chExt cx="1106306" cy="623660"/>
          </a:xfrm>
        </p:grpSpPr>
        <p:pic>
          <p:nvPicPr>
            <p:cNvPr id="21" name="Google Shape;667;p18">
              <a:extLst>
                <a:ext uri="{FF2B5EF4-FFF2-40B4-BE49-F238E27FC236}">
                  <a16:creationId xmlns:a16="http://schemas.microsoft.com/office/drawing/2014/main" id="{180525CC-C767-2288-1AC3-324AA5829CC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24451" y="5959252"/>
              <a:ext cx="447008" cy="4470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668;p18">
              <a:extLst>
                <a:ext uri="{FF2B5EF4-FFF2-40B4-BE49-F238E27FC236}">
                  <a16:creationId xmlns:a16="http://schemas.microsoft.com/office/drawing/2014/main" id="{AEB52662-A0A5-F655-AAD7-13708C6D9BFC}"/>
                </a:ext>
              </a:extLst>
            </p:cNvPr>
            <p:cNvSpPr txBox="1"/>
            <p:nvPr/>
          </p:nvSpPr>
          <p:spPr>
            <a:xfrm>
              <a:off x="758263" y="6347719"/>
              <a:ext cx="1106306" cy="2351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17138" rIns="34275" bIns="17138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Midjourney</a:t>
              </a: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824FC93-A51D-6399-54D6-FC05C30054C4}"/>
              </a:ext>
            </a:extLst>
          </p:cNvPr>
          <p:cNvGrpSpPr/>
          <p:nvPr/>
        </p:nvGrpSpPr>
        <p:grpSpPr>
          <a:xfrm>
            <a:off x="7315200" y="3840833"/>
            <a:ext cx="819596" cy="499191"/>
            <a:chOff x="7469855" y="3857517"/>
            <a:chExt cx="819596" cy="499191"/>
          </a:xfrm>
        </p:grpSpPr>
        <p:pic>
          <p:nvPicPr>
            <p:cNvPr id="1026" name="Picture 2" descr="Google Workspace">
              <a:extLst>
                <a:ext uri="{FF2B5EF4-FFF2-40B4-BE49-F238E27FC236}">
                  <a16:creationId xmlns:a16="http://schemas.microsoft.com/office/drawing/2014/main" id="{D2C0BF3C-1037-FF88-5FBD-2F1B5B488C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58682" y="3857517"/>
              <a:ext cx="241942" cy="246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Google Shape;668;p18">
              <a:extLst>
                <a:ext uri="{FF2B5EF4-FFF2-40B4-BE49-F238E27FC236}">
                  <a16:creationId xmlns:a16="http://schemas.microsoft.com/office/drawing/2014/main" id="{96B7CBE9-5C78-16D7-2AAC-668206BB5D6B}"/>
                </a:ext>
              </a:extLst>
            </p:cNvPr>
            <p:cNvSpPr txBox="1"/>
            <p:nvPr/>
          </p:nvSpPr>
          <p:spPr>
            <a:xfrm>
              <a:off x="7469855" y="4106654"/>
              <a:ext cx="819596" cy="2500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17138" rIns="34275" bIns="17138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Google Workspace</a:t>
              </a:r>
              <a:endParaRPr kumimoji="0" sz="700" b="0" i="0" u="none" strike="noStrike" kern="0" cap="none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25" name="Google Shape;626;p18">
            <a:extLst>
              <a:ext uri="{FF2B5EF4-FFF2-40B4-BE49-F238E27FC236}">
                <a16:creationId xmlns:a16="http://schemas.microsoft.com/office/drawing/2014/main" id="{0C1A696C-BF7E-EE9A-7B18-E628BFE135FC}"/>
              </a:ext>
            </a:extLst>
          </p:cNvPr>
          <p:cNvGrpSpPr/>
          <p:nvPr/>
        </p:nvGrpSpPr>
        <p:grpSpPr>
          <a:xfrm>
            <a:off x="457200" y="1691651"/>
            <a:ext cx="439057" cy="1311899"/>
            <a:chOff x="829701" y="3543300"/>
            <a:chExt cx="4781550" cy="558800"/>
          </a:xfrm>
        </p:grpSpPr>
        <p:sp>
          <p:nvSpPr>
            <p:cNvPr id="26" name="Google Shape;627;p18">
              <a:extLst>
                <a:ext uri="{FF2B5EF4-FFF2-40B4-BE49-F238E27FC236}">
                  <a16:creationId xmlns:a16="http://schemas.microsoft.com/office/drawing/2014/main" id="{D01F5D59-FB9B-E294-2D93-E82DEB8E35D1}"/>
                </a:ext>
              </a:extLst>
            </p:cNvPr>
            <p:cNvSpPr/>
            <p:nvPr/>
          </p:nvSpPr>
          <p:spPr>
            <a:xfrm>
              <a:off x="829701" y="3543300"/>
              <a:ext cx="4781550" cy="558800"/>
            </a:xfrm>
            <a:prstGeom prst="roundRect">
              <a:avLst>
                <a:gd name="adj" fmla="val 22232"/>
              </a:avLst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27" name="Google Shape;628;p18">
              <a:extLst>
                <a:ext uri="{FF2B5EF4-FFF2-40B4-BE49-F238E27FC236}">
                  <a16:creationId xmlns:a16="http://schemas.microsoft.com/office/drawing/2014/main" id="{FAFD7AD4-DD4F-0670-55B6-F88316967911}"/>
                </a:ext>
              </a:extLst>
            </p:cNvPr>
            <p:cNvSpPr txBox="1"/>
            <p:nvPr/>
          </p:nvSpPr>
          <p:spPr>
            <a:xfrm>
              <a:off x="829701" y="3772655"/>
              <a:ext cx="4449444" cy="55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6350" rIns="0" bIns="0" anchor="ctr" anchorCtr="0">
              <a:spAutoFit/>
            </a:bodyPr>
            <a:lstStyle/>
            <a:p>
              <a:pPr marL="6351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Day1</a:t>
              </a: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28" name="Google Shape;626;p18">
            <a:extLst>
              <a:ext uri="{FF2B5EF4-FFF2-40B4-BE49-F238E27FC236}">
                <a16:creationId xmlns:a16="http://schemas.microsoft.com/office/drawing/2014/main" id="{12AC1667-7944-C419-1045-4D01843B2B0A}"/>
              </a:ext>
            </a:extLst>
          </p:cNvPr>
          <p:cNvGrpSpPr/>
          <p:nvPr/>
        </p:nvGrpSpPr>
        <p:grpSpPr>
          <a:xfrm>
            <a:off x="457200" y="3028631"/>
            <a:ext cx="439057" cy="1311899"/>
            <a:chOff x="829701" y="3543300"/>
            <a:chExt cx="4781550" cy="558800"/>
          </a:xfrm>
        </p:grpSpPr>
        <p:sp>
          <p:nvSpPr>
            <p:cNvPr id="29" name="Google Shape;627;p18">
              <a:extLst>
                <a:ext uri="{FF2B5EF4-FFF2-40B4-BE49-F238E27FC236}">
                  <a16:creationId xmlns:a16="http://schemas.microsoft.com/office/drawing/2014/main" id="{4AF9B41E-B613-BF8E-613D-5A1E7041E41B}"/>
                </a:ext>
              </a:extLst>
            </p:cNvPr>
            <p:cNvSpPr/>
            <p:nvPr/>
          </p:nvSpPr>
          <p:spPr>
            <a:xfrm>
              <a:off x="829701" y="3543300"/>
              <a:ext cx="4781550" cy="558800"/>
            </a:xfrm>
            <a:prstGeom prst="roundRect">
              <a:avLst>
                <a:gd name="adj" fmla="val 22232"/>
              </a:avLst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30" name="Google Shape;628;p18">
              <a:extLst>
                <a:ext uri="{FF2B5EF4-FFF2-40B4-BE49-F238E27FC236}">
                  <a16:creationId xmlns:a16="http://schemas.microsoft.com/office/drawing/2014/main" id="{EA651D03-CF18-31EF-74B0-88CC68EFE310}"/>
                </a:ext>
              </a:extLst>
            </p:cNvPr>
            <p:cNvSpPr txBox="1"/>
            <p:nvPr/>
          </p:nvSpPr>
          <p:spPr>
            <a:xfrm>
              <a:off x="829701" y="3772655"/>
              <a:ext cx="4449444" cy="55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6350" rIns="0" bIns="0" anchor="ctr" anchorCtr="0">
              <a:spAutoFit/>
            </a:bodyPr>
            <a:lstStyle/>
            <a:p>
              <a:pPr marL="6351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Day2</a:t>
              </a: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B526043-4949-9AE0-3635-64E4152C45B4}"/>
              </a:ext>
            </a:extLst>
          </p:cNvPr>
          <p:cNvSpPr/>
          <p:nvPr/>
        </p:nvSpPr>
        <p:spPr>
          <a:xfrm>
            <a:off x="1981200" y="260558"/>
            <a:ext cx="635577" cy="245075"/>
          </a:xfrm>
          <a:prstGeom prst="roundRect">
            <a:avLst/>
          </a:prstGeom>
          <a:solidFill>
            <a:srgbClr val="FFAD2C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2026 </a:t>
            </a:r>
            <a:r>
              <a:rPr lang="ko-KR" altLang="en-US" sz="1000" b="1" spc="-1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신설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4A0FA4-9171-CD94-5B75-82F563A8C00D}"/>
              </a:ext>
            </a:extLst>
          </p:cNvPr>
          <p:cNvSpPr txBox="1"/>
          <p:nvPr/>
        </p:nvSpPr>
        <p:spPr>
          <a:xfrm>
            <a:off x="180000" y="237351"/>
            <a:ext cx="13388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재직자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훈련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과정 상세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8FFA78-A9F9-F557-8483-573AA5641633}"/>
              </a:ext>
            </a:extLst>
          </p:cNvPr>
          <p:cNvSpPr txBox="1">
            <a:spLocks/>
          </p:cNvSpPr>
          <p:nvPr/>
        </p:nvSpPr>
        <p:spPr>
          <a:xfrm>
            <a:off x="3520440" y="4917073"/>
            <a:ext cx="210312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altLang="ko-KR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8482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9A5C9-D6DE-7060-B763-39435EB4A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8"/>
          <p:cNvSpPr txBox="1"/>
          <p:nvPr/>
        </p:nvSpPr>
        <p:spPr>
          <a:xfrm>
            <a:off x="1014761" y="1697333"/>
            <a:ext cx="3249542" cy="2662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이론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] 15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초 광고 만들기 소개 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(1H)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생성형</a:t>
            </a:r>
            <a:r>
              <a:rPr lang="en-US" altLang="ko-KR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광고 사례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생성형</a:t>
            </a:r>
            <a:r>
              <a:rPr lang="en-US" altLang="ko-KR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의 선택과 활용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000" dirty="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실습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] 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영상 기획부터 제작하기 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– 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기본 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(6H)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인공지능 </a:t>
            </a:r>
            <a:r>
              <a:rPr lang="ko-KR" altLang="en-US" sz="1000" dirty="0" err="1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챗봇으로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기획하기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생성형</a:t>
            </a:r>
            <a:r>
              <a:rPr lang="en-US" altLang="ko-KR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안전하게 활용하기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 err="1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키이미지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생성하기</a:t>
            </a:r>
            <a:r>
              <a:rPr lang="en-US" altLang="ko-KR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영상 제작하기</a:t>
            </a:r>
            <a:endParaRPr lang="en-US" altLang="ko-KR" sz="1000" dirty="0">
              <a:solidFill>
                <a:srgbClr val="96969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dirty="0">
              <a:solidFill>
                <a:srgbClr val="96969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algn="l" rt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실습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] 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영상 기획부터 제작하기 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– 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심화 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(5H)</a:t>
            </a:r>
            <a:endParaRPr lang="ko-KR" altLang="en-US" sz="1000" dirty="0">
              <a:solidFill>
                <a:srgbClr val="96969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음악 생성하기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결과물 중간 피드백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편집해서 완성하기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000" dirty="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실습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] 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프로젝트 발표 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(2H)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프로젝트 발표 및 종합 피드백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최종 완성하기</a:t>
            </a:r>
            <a:endParaRPr kumimoji="0" lang="ko-KR" altLang="en-US" sz="1000" b="0" i="0" u="none" strike="noStrike" kern="0" cap="none" normalizeH="0" baseline="0" noProof="0" dirty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3" name="Google Shape;633;p18"/>
          <p:cNvSpPr txBox="1"/>
          <p:nvPr/>
        </p:nvSpPr>
        <p:spPr>
          <a:xfrm>
            <a:off x="361950" y="379315"/>
            <a:ext cx="8420100" cy="897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algn="ctr" rtl="0"/>
            <a:r>
              <a:rPr lang="ko-KR" altLang="ko-KR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</a:t>
            </a:r>
            <a:r>
              <a:rPr lang="ko-KR" altLang="ko-KR" sz="2700" b="1" spc="-150" dirty="0" err="1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비개발</a:t>
            </a:r>
            <a:r>
              <a:rPr lang="en-US" altLang="ko-KR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lang="ko-KR" altLang="en-US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비전공자도 가능한 비즈니스 콘텐츠 제작</a:t>
            </a:r>
            <a:endParaRPr lang="en-US" altLang="ko-KR" sz="2700" b="1" spc="-150" dirty="0">
              <a:solidFill>
                <a:srgbClr val="F8515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 rtl="0"/>
            <a:r>
              <a:rPr lang="ko-KR" altLang="en-US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AI </a:t>
            </a:r>
            <a:r>
              <a:rPr lang="ko-KR" altLang="en-US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이미지</a:t>
            </a:r>
            <a:r>
              <a:rPr lang="en-US" altLang="ko-KR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2700" b="1" spc="-150" dirty="0" err="1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영상만들기</a:t>
            </a:r>
            <a:endParaRPr lang="en-US" altLang="ko-KR" sz="2700" b="1" spc="-150" dirty="0">
              <a:solidFill>
                <a:srgbClr val="F8515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635" name="Google Shape;635;p18"/>
          <p:cNvCxnSpPr/>
          <p:nvPr/>
        </p:nvCxnSpPr>
        <p:spPr>
          <a:xfrm rot="10800000" flipH="1">
            <a:off x="255913" y="1451316"/>
            <a:ext cx="8316587" cy="37672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AutoShape 3">
            <a:extLst>
              <a:ext uri="{FF2B5EF4-FFF2-40B4-BE49-F238E27FC236}">
                <a16:creationId xmlns:a16="http://schemas.microsoft.com/office/drawing/2014/main" id="{FE1B1DBD-572D-BB6C-D715-25B18F8F5F8C}"/>
              </a:ext>
            </a:extLst>
          </p:cNvPr>
          <p:cNvSpPr/>
          <p:nvPr/>
        </p:nvSpPr>
        <p:spPr>
          <a:xfrm>
            <a:off x="4876800" y="1553335"/>
            <a:ext cx="26" cy="2924904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AutoShape 3">
            <a:extLst>
              <a:ext uri="{FF2B5EF4-FFF2-40B4-BE49-F238E27FC236}">
                <a16:creationId xmlns:a16="http://schemas.microsoft.com/office/drawing/2014/main" id="{1EA6F961-55F7-E096-D379-4B2B77F01F83}"/>
              </a:ext>
            </a:extLst>
          </p:cNvPr>
          <p:cNvSpPr/>
          <p:nvPr/>
        </p:nvSpPr>
        <p:spPr>
          <a:xfrm>
            <a:off x="4876800" y="1553335"/>
            <a:ext cx="26" cy="2924904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AutoShape 3">
            <a:extLst>
              <a:ext uri="{FF2B5EF4-FFF2-40B4-BE49-F238E27FC236}">
                <a16:creationId xmlns:a16="http://schemas.microsoft.com/office/drawing/2014/main" id="{F104B147-3FFE-4BFA-C58B-13A4416E3D9E}"/>
              </a:ext>
            </a:extLst>
          </p:cNvPr>
          <p:cNvSpPr/>
          <p:nvPr/>
        </p:nvSpPr>
        <p:spPr>
          <a:xfrm>
            <a:off x="4876800" y="1553335"/>
            <a:ext cx="26" cy="2924904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09E252F-BB01-723D-394A-F135AA679326}"/>
              </a:ext>
            </a:extLst>
          </p:cNvPr>
          <p:cNvGrpSpPr/>
          <p:nvPr/>
        </p:nvGrpSpPr>
        <p:grpSpPr>
          <a:xfrm>
            <a:off x="5072025" y="1671816"/>
            <a:ext cx="931386" cy="279400"/>
            <a:chOff x="991235" y="3543300"/>
            <a:chExt cx="4781550" cy="558800"/>
          </a:xfrm>
          <a:solidFill>
            <a:srgbClr val="F7575C"/>
          </a:solidFill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D79F3AC1-8589-329B-C4E6-B867ADFBFD50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7" name="object 13">
              <a:extLst>
                <a:ext uri="{FF2B5EF4-FFF2-40B4-BE49-F238E27FC236}">
                  <a16:creationId xmlns:a16="http://schemas.microsoft.com/office/drawing/2014/main" id="{1C16B6DC-3144-2241-C6BA-E4FA7B9A7881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교육목표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F9D5CD47-29DE-A940-38F6-38984464778C}"/>
              </a:ext>
            </a:extLst>
          </p:cNvPr>
          <p:cNvSpPr txBox="1"/>
          <p:nvPr/>
        </p:nvSpPr>
        <p:spPr>
          <a:xfrm>
            <a:off x="6096000" y="1657350"/>
            <a:ext cx="2399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다양한 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도구를 직접 활용하며</a:t>
            </a:r>
            <a:endParaRPr lang="en-US" altLang="ko-KR" sz="1000" dirty="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15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초 내외의 광고 콘텐츠 제작 역량 향상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0A040D3-34AF-16AE-38C5-17C91A9B48AC}"/>
              </a:ext>
            </a:extLst>
          </p:cNvPr>
          <p:cNvGrpSpPr/>
          <p:nvPr/>
        </p:nvGrpSpPr>
        <p:grpSpPr>
          <a:xfrm>
            <a:off x="5072025" y="2190750"/>
            <a:ext cx="931386" cy="279400"/>
            <a:chOff x="991235" y="3543300"/>
            <a:chExt cx="4781550" cy="558800"/>
          </a:xfrm>
          <a:solidFill>
            <a:srgbClr val="F7575C"/>
          </a:solidFill>
        </p:grpSpPr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F6DC7A82-F6AD-84C5-562B-D38EB5A07377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1" name="object 13">
              <a:extLst>
                <a:ext uri="{FF2B5EF4-FFF2-40B4-BE49-F238E27FC236}">
                  <a16:creationId xmlns:a16="http://schemas.microsoft.com/office/drawing/2014/main" id="{2BE338BA-27E5-DB28-0A12-75A0934D5805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수준</a:t>
              </a: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64A34BB7-E91C-8E8E-5532-8B2FF8E6F7C4}"/>
              </a:ext>
            </a:extLst>
          </p:cNvPr>
          <p:cNvGrpSpPr/>
          <p:nvPr/>
        </p:nvGrpSpPr>
        <p:grpSpPr>
          <a:xfrm>
            <a:off x="6135118" y="2190750"/>
            <a:ext cx="931386" cy="279400"/>
            <a:chOff x="991235" y="3543300"/>
            <a:chExt cx="4781550" cy="558800"/>
          </a:xfrm>
          <a:noFill/>
        </p:grpSpPr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89F05B0A-27F4-675E-4C6C-7BE243CA5F88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F757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4" name="object 13">
              <a:extLst>
                <a:ext uri="{FF2B5EF4-FFF2-40B4-BE49-F238E27FC236}">
                  <a16:creationId xmlns:a16="http://schemas.microsoft.com/office/drawing/2014/main" id="{0E562575-4655-B630-1B7B-3888AE2C767B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중급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F5576567-3A32-EA45-02E9-C66831F0C68F}"/>
              </a:ext>
            </a:extLst>
          </p:cNvPr>
          <p:cNvGrpSpPr/>
          <p:nvPr/>
        </p:nvGrpSpPr>
        <p:grpSpPr>
          <a:xfrm>
            <a:off x="5072025" y="2724150"/>
            <a:ext cx="931386" cy="279400"/>
            <a:chOff x="991235" y="3543300"/>
            <a:chExt cx="4781550" cy="558800"/>
          </a:xfrm>
          <a:solidFill>
            <a:srgbClr val="F7575C"/>
          </a:solidFill>
        </p:grpSpPr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048CF294-CACF-1C3F-A53D-CBBBB751A588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7" name="object 13">
              <a:extLst>
                <a:ext uri="{FF2B5EF4-FFF2-40B4-BE49-F238E27FC236}">
                  <a16:creationId xmlns:a16="http://schemas.microsoft.com/office/drawing/2014/main" id="{3B290571-AEBE-EAA3-28B7-1E501A4C4F18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교육시간</a:t>
              </a: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D7B7754B-5321-3FD7-C82E-674E3831E034}"/>
              </a:ext>
            </a:extLst>
          </p:cNvPr>
          <p:cNvGrpSpPr/>
          <p:nvPr/>
        </p:nvGrpSpPr>
        <p:grpSpPr>
          <a:xfrm>
            <a:off x="6135118" y="2724150"/>
            <a:ext cx="937736" cy="279400"/>
            <a:chOff x="991235" y="3543300"/>
            <a:chExt cx="4781550" cy="558800"/>
          </a:xfrm>
          <a:noFill/>
        </p:grpSpPr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F4CBC69B-3566-E519-927F-5EB86EA98957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F757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0" name="object 13">
              <a:extLst>
                <a:ext uri="{FF2B5EF4-FFF2-40B4-BE49-F238E27FC236}">
                  <a16:creationId xmlns:a16="http://schemas.microsoft.com/office/drawing/2014/main" id="{B0946D81-A745-C376-51F0-E30F86297980}"/>
                </a:ext>
              </a:extLst>
            </p:cNvPr>
            <p:cNvSpPr txBox="1"/>
            <p:nvPr/>
          </p:nvSpPr>
          <p:spPr>
            <a:xfrm>
              <a:off x="1130938" y="3654426"/>
              <a:ext cx="4449445" cy="32060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2</a:t>
              </a:r>
              <a:r>
                <a:rPr lang="ko-KR" altLang="en-US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일 </a:t>
              </a: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(14</a:t>
              </a:r>
              <a:r>
                <a:rPr lang="ko-KR" altLang="en-US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시간</a:t>
              </a: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)</a:t>
              </a:r>
              <a:endParaRPr lang="ko-KR" altLang="en-US" sz="1000" dirty="0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61" name="Google Shape;710;p18">
            <a:extLst>
              <a:ext uri="{FF2B5EF4-FFF2-40B4-BE49-F238E27FC236}">
                <a16:creationId xmlns:a16="http://schemas.microsoft.com/office/drawing/2014/main" id="{6A1B0ABD-E958-5C71-3A77-30D7AE6A6601}"/>
              </a:ext>
            </a:extLst>
          </p:cNvPr>
          <p:cNvGrpSpPr/>
          <p:nvPr/>
        </p:nvGrpSpPr>
        <p:grpSpPr>
          <a:xfrm>
            <a:off x="6135118" y="3843611"/>
            <a:ext cx="537895" cy="404539"/>
            <a:chOff x="7844319" y="5693188"/>
            <a:chExt cx="723001" cy="528462"/>
          </a:xfrm>
        </p:grpSpPr>
        <p:pic>
          <p:nvPicPr>
            <p:cNvPr id="62" name="Google Shape;711;p18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473668F3-741C-8D35-7C11-FB2262D0EEEB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033305" y="5693188"/>
              <a:ext cx="345028" cy="3450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712;p18">
              <a:extLst>
                <a:ext uri="{FF2B5EF4-FFF2-40B4-BE49-F238E27FC236}">
                  <a16:creationId xmlns:a16="http://schemas.microsoft.com/office/drawing/2014/main" id="{4A8CDFB2-63CC-C4F1-6877-2825C3B99CA1}"/>
                </a:ext>
              </a:extLst>
            </p:cNvPr>
            <p:cNvSpPr txBox="1"/>
            <p:nvPr/>
          </p:nvSpPr>
          <p:spPr>
            <a:xfrm>
              <a:off x="7844319" y="6015614"/>
              <a:ext cx="723001" cy="206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85" tIns="17138" rIns="34285" bIns="17138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000"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ChatGPT</a:t>
              </a: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79" name="그룹 578">
            <a:extLst>
              <a:ext uri="{FF2B5EF4-FFF2-40B4-BE49-F238E27FC236}">
                <a16:creationId xmlns:a16="http://schemas.microsoft.com/office/drawing/2014/main" id="{CAF6EA47-B2DF-232C-6747-97AF918CFA9E}"/>
              </a:ext>
            </a:extLst>
          </p:cNvPr>
          <p:cNvGrpSpPr/>
          <p:nvPr/>
        </p:nvGrpSpPr>
        <p:grpSpPr>
          <a:xfrm>
            <a:off x="5072025" y="3865428"/>
            <a:ext cx="931386" cy="279400"/>
            <a:chOff x="991235" y="3543300"/>
            <a:chExt cx="4781550" cy="558800"/>
          </a:xfrm>
          <a:solidFill>
            <a:srgbClr val="F7575C"/>
          </a:solidFill>
        </p:grpSpPr>
        <p:sp>
          <p:nvSpPr>
            <p:cNvPr id="580" name="사각형: 둥근 모서리 579">
              <a:extLst>
                <a:ext uri="{FF2B5EF4-FFF2-40B4-BE49-F238E27FC236}">
                  <a16:creationId xmlns:a16="http://schemas.microsoft.com/office/drawing/2014/main" id="{96048527-C172-4B11-A636-743ACA52FB6D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81" name="object 13">
              <a:extLst>
                <a:ext uri="{FF2B5EF4-FFF2-40B4-BE49-F238E27FC236}">
                  <a16:creationId xmlns:a16="http://schemas.microsoft.com/office/drawing/2014/main" id="{EC9ADF5C-9F40-CAE8-0919-C38F8A129485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유료툴</a:t>
              </a: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제공</a:t>
              </a:r>
            </a:p>
          </p:txBody>
        </p:sp>
      </p:grpSp>
      <p:grpSp>
        <p:nvGrpSpPr>
          <p:cNvPr id="582" name="그룹 581">
            <a:extLst>
              <a:ext uri="{FF2B5EF4-FFF2-40B4-BE49-F238E27FC236}">
                <a16:creationId xmlns:a16="http://schemas.microsoft.com/office/drawing/2014/main" id="{E207ED91-C9A9-B04F-97C3-90978E8634C2}"/>
              </a:ext>
            </a:extLst>
          </p:cNvPr>
          <p:cNvGrpSpPr/>
          <p:nvPr/>
        </p:nvGrpSpPr>
        <p:grpSpPr>
          <a:xfrm>
            <a:off x="5072025" y="3265555"/>
            <a:ext cx="931386" cy="279400"/>
            <a:chOff x="991235" y="3543300"/>
            <a:chExt cx="4781550" cy="558800"/>
          </a:xfrm>
          <a:solidFill>
            <a:srgbClr val="F7575C"/>
          </a:solidFill>
        </p:grpSpPr>
        <p:sp>
          <p:nvSpPr>
            <p:cNvPr id="583" name="사각형: 둥근 모서리 582">
              <a:extLst>
                <a:ext uri="{FF2B5EF4-FFF2-40B4-BE49-F238E27FC236}">
                  <a16:creationId xmlns:a16="http://schemas.microsoft.com/office/drawing/2014/main" id="{F61B0294-0F05-9AFE-1BB9-124EA5F0F34D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84" name="object 13">
              <a:extLst>
                <a:ext uri="{FF2B5EF4-FFF2-40B4-BE49-F238E27FC236}">
                  <a16:creationId xmlns:a16="http://schemas.microsoft.com/office/drawing/2014/main" id="{0CB6AC53-D564-48D3-7FA1-D35228E19320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교육대상</a:t>
              </a:r>
            </a:p>
          </p:txBody>
        </p:sp>
      </p:grpSp>
      <p:sp>
        <p:nvSpPr>
          <p:cNvPr id="585" name="object 13">
            <a:extLst>
              <a:ext uri="{FF2B5EF4-FFF2-40B4-BE49-F238E27FC236}">
                <a16:creationId xmlns:a16="http://schemas.microsoft.com/office/drawing/2014/main" id="{C0B5E05C-5FC1-ABDB-9122-1053BD62F4F6}"/>
              </a:ext>
            </a:extLst>
          </p:cNvPr>
          <p:cNvSpPr txBox="1"/>
          <p:nvPr/>
        </p:nvSpPr>
        <p:spPr>
          <a:xfrm>
            <a:off x="6135117" y="3325849"/>
            <a:ext cx="2722251" cy="3141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6351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콘텐츠 제작 역량을 향상하고 싶은</a:t>
            </a:r>
            <a:endParaRPr lang="en-US" altLang="ko-KR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디자이너</a:t>
            </a: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마케터</a:t>
            </a: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콘텐츠 제작자</a:t>
            </a: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기획 직군 실무자 </a:t>
            </a:r>
            <a:endParaRPr lang="ko-KR" altLang="en-US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586" name="Google Shape;666;p18">
            <a:extLst>
              <a:ext uri="{FF2B5EF4-FFF2-40B4-BE49-F238E27FC236}">
                <a16:creationId xmlns:a16="http://schemas.microsoft.com/office/drawing/2014/main" id="{9D95BF52-A34C-A45B-3835-333FDC0684B7}"/>
              </a:ext>
            </a:extLst>
          </p:cNvPr>
          <p:cNvGrpSpPr/>
          <p:nvPr/>
        </p:nvGrpSpPr>
        <p:grpSpPr>
          <a:xfrm>
            <a:off x="6705600" y="3806070"/>
            <a:ext cx="741890" cy="418228"/>
            <a:chOff x="758263" y="5959252"/>
            <a:chExt cx="1106306" cy="623660"/>
          </a:xfrm>
        </p:grpSpPr>
        <p:pic>
          <p:nvPicPr>
            <p:cNvPr id="587" name="Google Shape;667;p18">
              <a:extLst>
                <a:ext uri="{FF2B5EF4-FFF2-40B4-BE49-F238E27FC236}">
                  <a16:creationId xmlns:a16="http://schemas.microsoft.com/office/drawing/2014/main" id="{7332A501-27DD-23DE-8B53-2FC2C7FE662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24451" y="5959252"/>
              <a:ext cx="447008" cy="4470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8" name="Google Shape;668;p18">
              <a:extLst>
                <a:ext uri="{FF2B5EF4-FFF2-40B4-BE49-F238E27FC236}">
                  <a16:creationId xmlns:a16="http://schemas.microsoft.com/office/drawing/2014/main" id="{5811ADF5-E119-324F-E708-BAD0A41DCE54}"/>
                </a:ext>
              </a:extLst>
            </p:cNvPr>
            <p:cNvSpPr txBox="1"/>
            <p:nvPr/>
          </p:nvSpPr>
          <p:spPr>
            <a:xfrm>
              <a:off x="758263" y="6347719"/>
              <a:ext cx="1106306" cy="2351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17138" rIns="34275" bIns="17138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Midjourney</a:t>
              </a: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10" name="Google Shape;626;p18">
            <a:extLst>
              <a:ext uri="{FF2B5EF4-FFF2-40B4-BE49-F238E27FC236}">
                <a16:creationId xmlns:a16="http://schemas.microsoft.com/office/drawing/2014/main" id="{4E22F64D-D6B1-B44E-C625-C86FC2531EC7}"/>
              </a:ext>
            </a:extLst>
          </p:cNvPr>
          <p:cNvGrpSpPr/>
          <p:nvPr/>
        </p:nvGrpSpPr>
        <p:grpSpPr>
          <a:xfrm>
            <a:off x="457200" y="1691651"/>
            <a:ext cx="439057" cy="1311899"/>
            <a:chOff x="829701" y="3543300"/>
            <a:chExt cx="4781550" cy="558800"/>
          </a:xfrm>
        </p:grpSpPr>
        <p:sp>
          <p:nvSpPr>
            <p:cNvPr id="11" name="Google Shape;627;p18">
              <a:extLst>
                <a:ext uri="{FF2B5EF4-FFF2-40B4-BE49-F238E27FC236}">
                  <a16:creationId xmlns:a16="http://schemas.microsoft.com/office/drawing/2014/main" id="{4655BFC1-0621-BCFC-EEA0-F9A9B8ACD30C}"/>
                </a:ext>
              </a:extLst>
            </p:cNvPr>
            <p:cNvSpPr/>
            <p:nvPr/>
          </p:nvSpPr>
          <p:spPr>
            <a:xfrm>
              <a:off x="829701" y="3543300"/>
              <a:ext cx="4781550" cy="558800"/>
            </a:xfrm>
            <a:prstGeom prst="roundRect">
              <a:avLst>
                <a:gd name="adj" fmla="val 22232"/>
              </a:avLst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12" name="Google Shape;628;p18">
              <a:extLst>
                <a:ext uri="{FF2B5EF4-FFF2-40B4-BE49-F238E27FC236}">
                  <a16:creationId xmlns:a16="http://schemas.microsoft.com/office/drawing/2014/main" id="{559E5F67-8984-387D-8B55-BFB3D01565DA}"/>
                </a:ext>
              </a:extLst>
            </p:cNvPr>
            <p:cNvSpPr txBox="1"/>
            <p:nvPr/>
          </p:nvSpPr>
          <p:spPr>
            <a:xfrm>
              <a:off x="829701" y="3772655"/>
              <a:ext cx="4449444" cy="55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6350" rIns="0" bIns="0" anchor="ctr" anchorCtr="0">
              <a:spAutoFit/>
            </a:bodyPr>
            <a:lstStyle/>
            <a:p>
              <a:pPr marL="6351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Day1</a:t>
              </a: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13" name="Google Shape;626;p18">
            <a:extLst>
              <a:ext uri="{FF2B5EF4-FFF2-40B4-BE49-F238E27FC236}">
                <a16:creationId xmlns:a16="http://schemas.microsoft.com/office/drawing/2014/main" id="{96584E99-B618-6112-6700-B594224EE483}"/>
              </a:ext>
            </a:extLst>
          </p:cNvPr>
          <p:cNvGrpSpPr/>
          <p:nvPr/>
        </p:nvGrpSpPr>
        <p:grpSpPr>
          <a:xfrm>
            <a:off x="457200" y="3028631"/>
            <a:ext cx="439057" cy="1311899"/>
            <a:chOff x="829701" y="3543300"/>
            <a:chExt cx="4781550" cy="558800"/>
          </a:xfrm>
        </p:grpSpPr>
        <p:sp>
          <p:nvSpPr>
            <p:cNvPr id="14" name="Google Shape;627;p18">
              <a:extLst>
                <a:ext uri="{FF2B5EF4-FFF2-40B4-BE49-F238E27FC236}">
                  <a16:creationId xmlns:a16="http://schemas.microsoft.com/office/drawing/2014/main" id="{10AA2405-83E1-0AEB-3891-24D06B336369}"/>
                </a:ext>
              </a:extLst>
            </p:cNvPr>
            <p:cNvSpPr/>
            <p:nvPr/>
          </p:nvSpPr>
          <p:spPr>
            <a:xfrm>
              <a:off x="829701" y="3543300"/>
              <a:ext cx="4781550" cy="558800"/>
            </a:xfrm>
            <a:prstGeom prst="roundRect">
              <a:avLst>
                <a:gd name="adj" fmla="val 22232"/>
              </a:avLst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15" name="Google Shape;628;p18">
              <a:extLst>
                <a:ext uri="{FF2B5EF4-FFF2-40B4-BE49-F238E27FC236}">
                  <a16:creationId xmlns:a16="http://schemas.microsoft.com/office/drawing/2014/main" id="{0AE4C983-C6E1-3A3A-A89E-6F8F2134CEA2}"/>
                </a:ext>
              </a:extLst>
            </p:cNvPr>
            <p:cNvSpPr txBox="1"/>
            <p:nvPr/>
          </p:nvSpPr>
          <p:spPr>
            <a:xfrm>
              <a:off x="829701" y="3772655"/>
              <a:ext cx="4449444" cy="55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6350" rIns="0" bIns="0" anchor="ctr" anchorCtr="0">
              <a:spAutoFit/>
            </a:bodyPr>
            <a:lstStyle/>
            <a:p>
              <a:pPr marL="6351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Day2</a:t>
              </a: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16" name="Google Shape;634;p18">
            <a:extLst>
              <a:ext uri="{FF2B5EF4-FFF2-40B4-BE49-F238E27FC236}">
                <a16:creationId xmlns:a16="http://schemas.microsoft.com/office/drawing/2014/main" id="{61C1DCF4-E701-CA3B-B836-91D310D8C1A7}"/>
              </a:ext>
            </a:extLst>
          </p:cNvPr>
          <p:cNvSpPr/>
          <p:nvPr/>
        </p:nvSpPr>
        <p:spPr>
          <a:xfrm>
            <a:off x="1157287" y="1233442"/>
            <a:ext cx="6829426" cy="241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Tx/>
              <a:buSzPts val="2400"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‘</a:t>
            </a:r>
            <a:r>
              <a:rPr kumimoji="0" lang="ko-KR" altLang="en-US" sz="12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아이디어 </a:t>
            </a:r>
            <a:r>
              <a:rPr kumimoji="0" lang="en-US" altLang="ko-KR" sz="12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– </a:t>
            </a:r>
            <a:r>
              <a:rPr kumimoji="0" lang="ko-KR" altLang="en-US" sz="12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스토리보드 </a:t>
            </a:r>
            <a:r>
              <a:rPr kumimoji="0" lang="en-US" altLang="ko-KR" sz="12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– 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이미지</a:t>
            </a:r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/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영상 생성 </a:t>
            </a:r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– 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편집</a:t>
            </a:r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’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까지 </a:t>
            </a:r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로 광고 콘텐츠 빠르게 완성</a:t>
            </a:r>
            <a:endParaRPr kumimoji="0" lang="en-US" altLang="ko-KR" sz="1200" b="0" i="0" u="none" strike="noStrike" kern="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278B0E9-4F33-4442-30BC-D8D92D93C303}"/>
              </a:ext>
            </a:extLst>
          </p:cNvPr>
          <p:cNvGrpSpPr/>
          <p:nvPr/>
        </p:nvGrpSpPr>
        <p:grpSpPr>
          <a:xfrm>
            <a:off x="7315200" y="3840833"/>
            <a:ext cx="819596" cy="499191"/>
            <a:chOff x="7469855" y="3857517"/>
            <a:chExt cx="819596" cy="499191"/>
          </a:xfrm>
        </p:grpSpPr>
        <p:pic>
          <p:nvPicPr>
            <p:cNvPr id="5" name="Picture 2" descr="Google Workspace">
              <a:extLst>
                <a:ext uri="{FF2B5EF4-FFF2-40B4-BE49-F238E27FC236}">
                  <a16:creationId xmlns:a16="http://schemas.microsoft.com/office/drawing/2014/main" id="{EEE98E94-060C-DD56-D499-D69B68591F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58682" y="3857517"/>
              <a:ext cx="241942" cy="246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Google Shape;668;p18">
              <a:extLst>
                <a:ext uri="{FF2B5EF4-FFF2-40B4-BE49-F238E27FC236}">
                  <a16:creationId xmlns:a16="http://schemas.microsoft.com/office/drawing/2014/main" id="{CEDE0431-5F55-9320-9A9D-8055CED80E4C}"/>
                </a:ext>
              </a:extLst>
            </p:cNvPr>
            <p:cNvSpPr txBox="1"/>
            <p:nvPr/>
          </p:nvSpPr>
          <p:spPr>
            <a:xfrm>
              <a:off x="7469855" y="4106654"/>
              <a:ext cx="819596" cy="2500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17138" rIns="34275" bIns="17138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Google Workspace</a:t>
              </a:r>
              <a:endParaRPr kumimoji="0" sz="700" b="0" i="0" u="none" strike="noStrike" kern="0" cap="none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C524098-6C6A-8980-C0D2-0E00514DFE6E}"/>
              </a:ext>
            </a:extLst>
          </p:cNvPr>
          <p:cNvSpPr txBox="1"/>
          <p:nvPr/>
        </p:nvSpPr>
        <p:spPr>
          <a:xfrm>
            <a:off x="180000" y="237351"/>
            <a:ext cx="13388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재직자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훈련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과정 상세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88808CC2-9967-2DB9-F219-306EEE40BC6A}"/>
              </a:ext>
            </a:extLst>
          </p:cNvPr>
          <p:cNvSpPr txBox="1">
            <a:spLocks/>
          </p:cNvSpPr>
          <p:nvPr/>
        </p:nvSpPr>
        <p:spPr>
          <a:xfrm>
            <a:off x="3520440" y="4917073"/>
            <a:ext cx="210312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altLang="ko-KR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00898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EB424-82D1-02B6-48E4-9C885088A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7"/>
          <p:cNvSpPr txBox="1"/>
          <p:nvPr/>
        </p:nvSpPr>
        <p:spPr>
          <a:xfrm>
            <a:off x="1014761" y="1697333"/>
            <a:ext cx="3249542" cy="2662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이론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]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생성형먀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활용 이론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(3H)</a:t>
            </a: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생성형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의 개념과 사례 </a:t>
            </a: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생성형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를 사용할 때의 주의점과 한계</a:t>
            </a: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프롬프트 엔지니어링 기초</a:t>
            </a: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맞춤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챗봇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기본 사용법</a:t>
            </a: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171450" marR="0" lvl="0" indent="-107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Tx/>
              <a:buNone/>
              <a:tabLst/>
              <a:defRPr/>
            </a:pP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실습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]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생성형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를 활용한 업무자동화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– 1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일차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(4H)</a:t>
            </a: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맞춤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챗봇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초기 세팅하기</a:t>
            </a: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맞춤 데이터 분석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챗봇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제작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데이터 분석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시각화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실습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]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생성형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를 활용한 업무자동화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– 2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일차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(5H)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맞춤 기획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챗봇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제작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아이디어 도출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초기 기획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문서 작성 및 편집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외국어 번역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생성형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로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PPT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만들기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실습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]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프로젝트 발표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(2H)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프로젝트 발표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/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종합 피드백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장점 및 개선점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6" name="Google Shape;576;p17"/>
          <p:cNvSpPr txBox="1"/>
          <p:nvPr/>
        </p:nvSpPr>
        <p:spPr>
          <a:xfrm>
            <a:off x="361950" y="594000"/>
            <a:ext cx="8420100" cy="48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</a:t>
            </a:r>
            <a:r>
              <a:rPr lang="ko-KR" altLang="en-US" sz="2700" b="1" spc="-150" dirty="0" err="1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비개발</a:t>
            </a:r>
            <a:r>
              <a:rPr lang="en-US" altLang="ko-KR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]</a:t>
            </a:r>
            <a:r>
              <a:rPr lang="ko-KR" altLang="en-US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kumimoji="0" lang="ko-KR" alt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F8515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생성형</a:t>
            </a:r>
            <a:r>
              <a:rPr kumimoji="0" lang="en-US" altLang="ko-KR" sz="2700" b="1" i="0" u="none" strike="noStrike" kern="0" cap="none" spc="0" normalizeH="0" baseline="0" noProof="0" dirty="0">
                <a:ln>
                  <a:noFill/>
                </a:ln>
                <a:solidFill>
                  <a:srgbClr val="F8515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r>
              <a:rPr kumimoji="0" lang="ko-KR" alt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F8515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를 활용한 업무자동화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577" name="Google Shape;577;p17"/>
          <p:cNvSpPr/>
          <p:nvPr/>
        </p:nvSpPr>
        <p:spPr>
          <a:xfrm>
            <a:off x="1922478" y="1134000"/>
            <a:ext cx="5299045" cy="241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Tx/>
              <a:buSzPts val="2400"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입문자도 생성형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기술을 활용해 분석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기획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문서 작성 등 업무 생산성 향상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15075101-3289-0FB2-A416-B2ADBC62C98B}"/>
              </a:ext>
            </a:extLst>
          </p:cNvPr>
          <p:cNvSpPr/>
          <p:nvPr/>
        </p:nvSpPr>
        <p:spPr>
          <a:xfrm flipV="1">
            <a:off x="255913" y="1451316"/>
            <a:ext cx="8316587" cy="37672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CD1D8DE8-7A8B-44ED-2477-E0CB23D520D8}"/>
              </a:ext>
            </a:extLst>
          </p:cNvPr>
          <p:cNvSpPr/>
          <p:nvPr/>
        </p:nvSpPr>
        <p:spPr>
          <a:xfrm>
            <a:off x="4876800" y="1553335"/>
            <a:ext cx="26" cy="2924904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52" name="AutoShape 3">
            <a:extLst>
              <a:ext uri="{FF2B5EF4-FFF2-40B4-BE49-F238E27FC236}">
                <a16:creationId xmlns:a16="http://schemas.microsoft.com/office/drawing/2014/main" id="{98140FEC-223B-0401-71C7-F5D7D2E9B264}"/>
              </a:ext>
            </a:extLst>
          </p:cNvPr>
          <p:cNvSpPr/>
          <p:nvPr/>
        </p:nvSpPr>
        <p:spPr>
          <a:xfrm>
            <a:off x="4876800" y="1553335"/>
            <a:ext cx="26" cy="2924904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553" name="그룹 552">
            <a:extLst>
              <a:ext uri="{FF2B5EF4-FFF2-40B4-BE49-F238E27FC236}">
                <a16:creationId xmlns:a16="http://schemas.microsoft.com/office/drawing/2014/main" id="{CBEB0772-29D3-B2A4-1AFD-B5AAC15371EA}"/>
              </a:ext>
            </a:extLst>
          </p:cNvPr>
          <p:cNvGrpSpPr/>
          <p:nvPr/>
        </p:nvGrpSpPr>
        <p:grpSpPr>
          <a:xfrm>
            <a:off x="5072025" y="1671816"/>
            <a:ext cx="931386" cy="279400"/>
            <a:chOff x="991235" y="3543300"/>
            <a:chExt cx="4781550" cy="558800"/>
          </a:xfrm>
          <a:solidFill>
            <a:srgbClr val="F7575C"/>
          </a:solidFill>
        </p:grpSpPr>
        <p:sp>
          <p:nvSpPr>
            <p:cNvPr id="554" name="사각형: 둥근 모서리 553">
              <a:extLst>
                <a:ext uri="{FF2B5EF4-FFF2-40B4-BE49-F238E27FC236}">
                  <a16:creationId xmlns:a16="http://schemas.microsoft.com/office/drawing/2014/main" id="{7CD03920-1F16-0E56-7B3C-786569EB2DE1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55" name="object 13">
              <a:extLst>
                <a:ext uri="{FF2B5EF4-FFF2-40B4-BE49-F238E27FC236}">
                  <a16:creationId xmlns:a16="http://schemas.microsoft.com/office/drawing/2014/main" id="{CD9D1EFB-CF43-AC06-FD74-536363C159E8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교육목표</a:t>
              </a:r>
            </a:p>
          </p:txBody>
        </p:sp>
      </p:grpSp>
      <p:sp>
        <p:nvSpPr>
          <p:cNvPr id="556" name="TextBox 555">
            <a:extLst>
              <a:ext uri="{FF2B5EF4-FFF2-40B4-BE49-F238E27FC236}">
                <a16:creationId xmlns:a16="http://schemas.microsoft.com/office/drawing/2014/main" id="{A86EE7FB-727C-C9F0-6640-8622DB9E6725}"/>
              </a:ext>
            </a:extLst>
          </p:cNvPr>
          <p:cNvSpPr txBox="1"/>
          <p:nvPr/>
        </p:nvSpPr>
        <p:spPr>
          <a:xfrm>
            <a:off x="6096000" y="1657350"/>
            <a:ext cx="29717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생성형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활용 방법과 프롬프트 엔지니어링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기술 이해를</a:t>
            </a:r>
            <a:endParaRPr lang="en-US" altLang="ko-KR" sz="1000" dirty="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통해 </a:t>
            </a:r>
            <a:r>
              <a:rPr lang="ko-KR" altLang="en-US" sz="1000" dirty="0" err="1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비개발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직군 실무자의 즉각적인 업무 적용</a:t>
            </a:r>
          </a:p>
        </p:txBody>
      </p:sp>
      <p:grpSp>
        <p:nvGrpSpPr>
          <p:cNvPr id="557" name="그룹 556">
            <a:extLst>
              <a:ext uri="{FF2B5EF4-FFF2-40B4-BE49-F238E27FC236}">
                <a16:creationId xmlns:a16="http://schemas.microsoft.com/office/drawing/2014/main" id="{37191398-1545-EE14-E912-108A85D97C23}"/>
              </a:ext>
            </a:extLst>
          </p:cNvPr>
          <p:cNvGrpSpPr/>
          <p:nvPr/>
        </p:nvGrpSpPr>
        <p:grpSpPr>
          <a:xfrm>
            <a:off x="5072025" y="2190750"/>
            <a:ext cx="931386" cy="279400"/>
            <a:chOff x="991235" y="3543300"/>
            <a:chExt cx="4781550" cy="558800"/>
          </a:xfrm>
          <a:solidFill>
            <a:srgbClr val="F7575C"/>
          </a:solidFill>
        </p:grpSpPr>
        <p:sp>
          <p:nvSpPr>
            <p:cNvPr id="558" name="사각형: 둥근 모서리 557">
              <a:extLst>
                <a:ext uri="{FF2B5EF4-FFF2-40B4-BE49-F238E27FC236}">
                  <a16:creationId xmlns:a16="http://schemas.microsoft.com/office/drawing/2014/main" id="{982E3F25-94A9-D7C2-75A8-2A71831D8D7B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59" name="object 13">
              <a:extLst>
                <a:ext uri="{FF2B5EF4-FFF2-40B4-BE49-F238E27FC236}">
                  <a16:creationId xmlns:a16="http://schemas.microsoft.com/office/drawing/2014/main" id="{5DB5EFD0-81C5-2C28-3222-9858B22DAA89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수준</a:t>
              </a:r>
            </a:p>
          </p:txBody>
        </p:sp>
      </p:grpSp>
      <p:grpSp>
        <p:nvGrpSpPr>
          <p:cNvPr id="560" name="그룹 559">
            <a:extLst>
              <a:ext uri="{FF2B5EF4-FFF2-40B4-BE49-F238E27FC236}">
                <a16:creationId xmlns:a16="http://schemas.microsoft.com/office/drawing/2014/main" id="{2577D0FA-4484-FD56-C1AF-AB5335DF016E}"/>
              </a:ext>
            </a:extLst>
          </p:cNvPr>
          <p:cNvGrpSpPr/>
          <p:nvPr/>
        </p:nvGrpSpPr>
        <p:grpSpPr>
          <a:xfrm>
            <a:off x="6135118" y="2190750"/>
            <a:ext cx="931386" cy="279400"/>
            <a:chOff x="991235" y="3543300"/>
            <a:chExt cx="4781550" cy="558800"/>
          </a:xfrm>
          <a:noFill/>
        </p:grpSpPr>
        <p:sp>
          <p:nvSpPr>
            <p:cNvPr id="561" name="사각형: 둥근 모서리 560">
              <a:extLst>
                <a:ext uri="{FF2B5EF4-FFF2-40B4-BE49-F238E27FC236}">
                  <a16:creationId xmlns:a16="http://schemas.microsoft.com/office/drawing/2014/main" id="{7FFAA0DD-D253-8D54-FA69-14071053B0B4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F757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62" name="object 13">
              <a:extLst>
                <a:ext uri="{FF2B5EF4-FFF2-40B4-BE49-F238E27FC236}">
                  <a16:creationId xmlns:a16="http://schemas.microsoft.com/office/drawing/2014/main" id="{444CF2F2-1002-7F52-2C4E-04734F43863A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중급</a:t>
              </a:r>
            </a:p>
          </p:txBody>
        </p:sp>
      </p:grpSp>
      <p:grpSp>
        <p:nvGrpSpPr>
          <p:cNvPr id="563" name="그룹 562">
            <a:extLst>
              <a:ext uri="{FF2B5EF4-FFF2-40B4-BE49-F238E27FC236}">
                <a16:creationId xmlns:a16="http://schemas.microsoft.com/office/drawing/2014/main" id="{96F17371-3159-15A7-9C73-5BE8BA933D42}"/>
              </a:ext>
            </a:extLst>
          </p:cNvPr>
          <p:cNvGrpSpPr/>
          <p:nvPr/>
        </p:nvGrpSpPr>
        <p:grpSpPr>
          <a:xfrm>
            <a:off x="5072025" y="2724150"/>
            <a:ext cx="931386" cy="279400"/>
            <a:chOff x="991235" y="3543300"/>
            <a:chExt cx="4781550" cy="558800"/>
          </a:xfrm>
          <a:solidFill>
            <a:srgbClr val="F7575C"/>
          </a:solidFill>
        </p:grpSpPr>
        <p:sp>
          <p:nvSpPr>
            <p:cNvPr id="564" name="사각형: 둥근 모서리 563">
              <a:extLst>
                <a:ext uri="{FF2B5EF4-FFF2-40B4-BE49-F238E27FC236}">
                  <a16:creationId xmlns:a16="http://schemas.microsoft.com/office/drawing/2014/main" id="{08B2350C-C9C1-5285-057F-D61875AA2EC6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65" name="object 13">
              <a:extLst>
                <a:ext uri="{FF2B5EF4-FFF2-40B4-BE49-F238E27FC236}">
                  <a16:creationId xmlns:a16="http://schemas.microsoft.com/office/drawing/2014/main" id="{112FB786-4F8F-A385-4F08-673ED2481952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교육시간</a:t>
              </a:r>
            </a:p>
          </p:txBody>
        </p:sp>
      </p:grpSp>
      <p:grpSp>
        <p:nvGrpSpPr>
          <p:cNvPr id="566" name="그룹 565">
            <a:extLst>
              <a:ext uri="{FF2B5EF4-FFF2-40B4-BE49-F238E27FC236}">
                <a16:creationId xmlns:a16="http://schemas.microsoft.com/office/drawing/2014/main" id="{DE1BA7E4-BDE2-C0FB-6712-9301922C07A3}"/>
              </a:ext>
            </a:extLst>
          </p:cNvPr>
          <p:cNvGrpSpPr/>
          <p:nvPr/>
        </p:nvGrpSpPr>
        <p:grpSpPr>
          <a:xfrm>
            <a:off x="6135118" y="2724150"/>
            <a:ext cx="937736" cy="279400"/>
            <a:chOff x="991235" y="3543300"/>
            <a:chExt cx="4781550" cy="558800"/>
          </a:xfrm>
          <a:noFill/>
        </p:grpSpPr>
        <p:sp>
          <p:nvSpPr>
            <p:cNvPr id="567" name="사각형: 둥근 모서리 566">
              <a:extLst>
                <a:ext uri="{FF2B5EF4-FFF2-40B4-BE49-F238E27FC236}">
                  <a16:creationId xmlns:a16="http://schemas.microsoft.com/office/drawing/2014/main" id="{A399EE64-C828-5BE3-E9A3-C1B40185A70F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F757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68" name="object 13">
              <a:extLst>
                <a:ext uri="{FF2B5EF4-FFF2-40B4-BE49-F238E27FC236}">
                  <a16:creationId xmlns:a16="http://schemas.microsoft.com/office/drawing/2014/main" id="{1399A3A3-562D-AFDF-9A0D-EC195A63631E}"/>
                </a:ext>
              </a:extLst>
            </p:cNvPr>
            <p:cNvSpPr txBox="1"/>
            <p:nvPr/>
          </p:nvSpPr>
          <p:spPr>
            <a:xfrm>
              <a:off x="1130938" y="3654426"/>
              <a:ext cx="4449445" cy="32060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2</a:t>
              </a:r>
              <a:r>
                <a:rPr lang="ko-KR" altLang="en-US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일 </a:t>
              </a: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(14</a:t>
              </a:r>
              <a:r>
                <a:rPr lang="ko-KR" altLang="en-US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시간</a:t>
              </a: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)</a:t>
              </a:r>
              <a:endParaRPr lang="ko-KR" altLang="en-US" sz="1000" dirty="0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569" name="Google Shape;710;p18">
            <a:extLst>
              <a:ext uri="{FF2B5EF4-FFF2-40B4-BE49-F238E27FC236}">
                <a16:creationId xmlns:a16="http://schemas.microsoft.com/office/drawing/2014/main" id="{48DE2E7B-7C11-84F4-E6A4-B487E6686731}"/>
              </a:ext>
            </a:extLst>
          </p:cNvPr>
          <p:cNvGrpSpPr/>
          <p:nvPr/>
        </p:nvGrpSpPr>
        <p:grpSpPr>
          <a:xfrm>
            <a:off x="6135118" y="3843611"/>
            <a:ext cx="537895" cy="404539"/>
            <a:chOff x="7844319" y="5693188"/>
            <a:chExt cx="723001" cy="528462"/>
          </a:xfrm>
        </p:grpSpPr>
        <p:pic>
          <p:nvPicPr>
            <p:cNvPr id="570" name="Google Shape;711;p18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8AF1B1B9-E705-257F-558C-EA1AFE170834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033305" y="5693188"/>
              <a:ext cx="345028" cy="3450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1" name="Google Shape;712;p18">
              <a:extLst>
                <a:ext uri="{FF2B5EF4-FFF2-40B4-BE49-F238E27FC236}">
                  <a16:creationId xmlns:a16="http://schemas.microsoft.com/office/drawing/2014/main" id="{B7482C4D-683C-EC17-71A7-C740A012CBEF}"/>
                </a:ext>
              </a:extLst>
            </p:cNvPr>
            <p:cNvSpPr txBox="1"/>
            <p:nvPr/>
          </p:nvSpPr>
          <p:spPr>
            <a:xfrm>
              <a:off x="7844319" y="6015614"/>
              <a:ext cx="723001" cy="206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85" tIns="17138" rIns="34285" bIns="17138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000"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ChatGPT</a:t>
              </a:r>
              <a:endPara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72" name="Google Shape;713;p18">
            <a:extLst>
              <a:ext uri="{FF2B5EF4-FFF2-40B4-BE49-F238E27FC236}">
                <a16:creationId xmlns:a16="http://schemas.microsoft.com/office/drawing/2014/main" id="{1A9D3CEA-6DAA-3FFA-8B9D-ECA2A59BCAA0}"/>
              </a:ext>
            </a:extLst>
          </p:cNvPr>
          <p:cNvGrpSpPr/>
          <p:nvPr/>
        </p:nvGrpSpPr>
        <p:grpSpPr>
          <a:xfrm>
            <a:off x="6858000" y="3879023"/>
            <a:ext cx="755245" cy="347538"/>
            <a:chOff x="8523227" y="5753232"/>
            <a:chExt cx="1116094" cy="499146"/>
          </a:xfrm>
        </p:grpSpPr>
        <p:pic>
          <p:nvPicPr>
            <p:cNvPr id="573" name="Google Shape;714;p18">
              <a:extLst>
                <a:ext uri="{FF2B5EF4-FFF2-40B4-BE49-F238E27FC236}">
                  <a16:creationId xmlns:a16="http://schemas.microsoft.com/office/drawing/2014/main" id="{2FEB527B-3895-4171-3009-1783456CF0A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523227" y="5753232"/>
              <a:ext cx="1074420" cy="2830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4" name="Google Shape;715;p18">
              <a:extLst>
                <a:ext uri="{FF2B5EF4-FFF2-40B4-BE49-F238E27FC236}">
                  <a16:creationId xmlns:a16="http://schemas.microsoft.com/office/drawing/2014/main" id="{B7E59BA3-3072-5C31-9154-7A8B0F58AC0E}"/>
                </a:ext>
              </a:extLst>
            </p:cNvPr>
            <p:cNvSpPr txBox="1"/>
            <p:nvPr/>
          </p:nvSpPr>
          <p:spPr>
            <a:xfrm>
              <a:off x="8564978" y="6025854"/>
              <a:ext cx="1074343" cy="226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85" tIns="17138" rIns="34285" bIns="17138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000"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Open AI API</a:t>
              </a:r>
              <a:endPara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78" name="그룹 577">
            <a:extLst>
              <a:ext uri="{FF2B5EF4-FFF2-40B4-BE49-F238E27FC236}">
                <a16:creationId xmlns:a16="http://schemas.microsoft.com/office/drawing/2014/main" id="{B968FFAC-83F1-691C-20ED-B19F9D62A71F}"/>
              </a:ext>
            </a:extLst>
          </p:cNvPr>
          <p:cNvGrpSpPr/>
          <p:nvPr/>
        </p:nvGrpSpPr>
        <p:grpSpPr>
          <a:xfrm>
            <a:off x="5072025" y="3865428"/>
            <a:ext cx="931386" cy="279400"/>
            <a:chOff x="991235" y="3543300"/>
            <a:chExt cx="4781550" cy="558800"/>
          </a:xfrm>
          <a:solidFill>
            <a:srgbClr val="F7575C"/>
          </a:solidFill>
        </p:grpSpPr>
        <p:sp>
          <p:nvSpPr>
            <p:cNvPr id="579" name="사각형: 둥근 모서리 578">
              <a:extLst>
                <a:ext uri="{FF2B5EF4-FFF2-40B4-BE49-F238E27FC236}">
                  <a16:creationId xmlns:a16="http://schemas.microsoft.com/office/drawing/2014/main" id="{515DDEE6-7850-A38E-2B07-8D271F91A8F3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80" name="object 13">
              <a:extLst>
                <a:ext uri="{FF2B5EF4-FFF2-40B4-BE49-F238E27FC236}">
                  <a16:creationId xmlns:a16="http://schemas.microsoft.com/office/drawing/2014/main" id="{FA08DAC4-AB05-D485-546F-FD5172103F58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유료툴</a:t>
              </a: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제공</a:t>
              </a:r>
            </a:p>
          </p:txBody>
        </p:sp>
      </p:grpSp>
      <p:grpSp>
        <p:nvGrpSpPr>
          <p:cNvPr id="581" name="그룹 580">
            <a:extLst>
              <a:ext uri="{FF2B5EF4-FFF2-40B4-BE49-F238E27FC236}">
                <a16:creationId xmlns:a16="http://schemas.microsoft.com/office/drawing/2014/main" id="{1451E771-3AD1-9400-6DA2-9A0107BDD23A}"/>
              </a:ext>
            </a:extLst>
          </p:cNvPr>
          <p:cNvGrpSpPr/>
          <p:nvPr/>
        </p:nvGrpSpPr>
        <p:grpSpPr>
          <a:xfrm>
            <a:off x="5072025" y="3265555"/>
            <a:ext cx="931386" cy="279400"/>
            <a:chOff x="991235" y="3543300"/>
            <a:chExt cx="4781550" cy="558800"/>
          </a:xfrm>
          <a:solidFill>
            <a:srgbClr val="F7575C"/>
          </a:solidFill>
        </p:grpSpPr>
        <p:sp>
          <p:nvSpPr>
            <p:cNvPr id="582" name="사각형: 둥근 모서리 581">
              <a:extLst>
                <a:ext uri="{FF2B5EF4-FFF2-40B4-BE49-F238E27FC236}">
                  <a16:creationId xmlns:a16="http://schemas.microsoft.com/office/drawing/2014/main" id="{526B3CEC-2783-7E03-467E-8386843C183A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83" name="object 13">
              <a:extLst>
                <a:ext uri="{FF2B5EF4-FFF2-40B4-BE49-F238E27FC236}">
                  <a16:creationId xmlns:a16="http://schemas.microsoft.com/office/drawing/2014/main" id="{5B9212D0-D758-E3E1-E2D1-4872BE70C4E9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교육대상</a:t>
              </a:r>
            </a:p>
          </p:txBody>
        </p:sp>
      </p:grpSp>
      <p:grpSp>
        <p:nvGrpSpPr>
          <p:cNvPr id="17" name="Google Shape;626;p18">
            <a:extLst>
              <a:ext uri="{FF2B5EF4-FFF2-40B4-BE49-F238E27FC236}">
                <a16:creationId xmlns:a16="http://schemas.microsoft.com/office/drawing/2014/main" id="{3D933323-85B5-7655-7BB2-3C7B1B12D359}"/>
              </a:ext>
            </a:extLst>
          </p:cNvPr>
          <p:cNvGrpSpPr/>
          <p:nvPr/>
        </p:nvGrpSpPr>
        <p:grpSpPr>
          <a:xfrm>
            <a:off x="457200" y="1691651"/>
            <a:ext cx="439057" cy="1311899"/>
            <a:chOff x="829701" y="3543300"/>
            <a:chExt cx="4781550" cy="558800"/>
          </a:xfrm>
        </p:grpSpPr>
        <p:sp>
          <p:nvSpPr>
            <p:cNvPr id="18" name="Google Shape;627;p18">
              <a:extLst>
                <a:ext uri="{FF2B5EF4-FFF2-40B4-BE49-F238E27FC236}">
                  <a16:creationId xmlns:a16="http://schemas.microsoft.com/office/drawing/2014/main" id="{48AA1923-74BD-81DD-1FE4-1910715364BD}"/>
                </a:ext>
              </a:extLst>
            </p:cNvPr>
            <p:cNvSpPr/>
            <p:nvPr/>
          </p:nvSpPr>
          <p:spPr>
            <a:xfrm>
              <a:off x="829701" y="3543300"/>
              <a:ext cx="4781550" cy="558800"/>
            </a:xfrm>
            <a:prstGeom prst="roundRect">
              <a:avLst>
                <a:gd name="adj" fmla="val 22232"/>
              </a:avLst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19" name="Google Shape;628;p18">
              <a:extLst>
                <a:ext uri="{FF2B5EF4-FFF2-40B4-BE49-F238E27FC236}">
                  <a16:creationId xmlns:a16="http://schemas.microsoft.com/office/drawing/2014/main" id="{B2EF98BC-B3C5-61ED-0FF9-7367897F8164}"/>
                </a:ext>
              </a:extLst>
            </p:cNvPr>
            <p:cNvSpPr txBox="1"/>
            <p:nvPr/>
          </p:nvSpPr>
          <p:spPr>
            <a:xfrm>
              <a:off x="829701" y="3774490"/>
              <a:ext cx="4449444" cy="5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6350" rIns="0" bIns="0" anchor="ctr" anchorCtr="0">
              <a:spAutoFit/>
            </a:bodyPr>
            <a:lstStyle/>
            <a:p>
              <a:pPr marL="6351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Day1</a:t>
              </a:r>
              <a:endPara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20" name="Google Shape;626;p18">
            <a:extLst>
              <a:ext uri="{FF2B5EF4-FFF2-40B4-BE49-F238E27FC236}">
                <a16:creationId xmlns:a16="http://schemas.microsoft.com/office/drawing/2014/main" id="{BE4DA245-EDF5-68E1-E40F-325E36EF13F6}"/>
              </a:ext>
            </a:extLst>
          </p:cNvPr>
          <p:cNvGrpSpPr/>
          <p:nvPr/>
        </p:nvGrpSpPr>
        <p:grpSpPr>
          <a:xfrm>
            <a:off x="457200" y="3028631"/>
            <a:ext cx="439057" cy="1311899"/>
            <a:chOff x="829701" y="3543300"/>
            <a:chExt cx="4781550" cy="558800"/>
          </a:xfrm>
        </p:grpSpPr>
        <p:sp>
          <p:nvSpPr>
            <p:cNvPr id="21" name="Google Shape;627;p18">
              <a:extLst>
                <a:ext uri="{FF2B5EF4-FFF2-40B4-BE49-F238E27FC236}">
                  <a16:creationId xmlns:a16="http://schemas.microsoft.com/office/drawing/2014/main" id="{051D5673-2B98-9D57-A5C2-5CB39EBC5E24}"/>
                </a:ext>
              </a:extLst>
            </p:cNvPr>
            <p:cNvSpPr/>
            <p:nvPr/>
          </p:nvSpPr>
          <p:spPr>
            <a:xfrm>
              <a:off x="829701" y="3543300"/>
              <a:ext cx="4781550" cy="558800"/>
            </a:xfrm>
            <a:prstGeom prst="roundRect">
              <a:avLst>
                <a:gd name="adj" fmla="val 22232"/>
              </a:avLst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22" name="Google Shape;628;p18">
              <a:extLst>
                <a:ext uri="{FF2B5EF4-FFF2-40B4-BE49-F238E27FC236}">
                  <a16:creationId xmlns:a16="http://schemas.microsoft.com/office/drawing/2014/main" id="{91CEFD0E-1394-0028-DC3E-72CE2E83CC2B}"/>
                </a:ext>
              </a:extLst>
            </p:cNvPr>
            <p:cNvSpPr txBox="1"/>
            <p:nvPr/>
          </p:nvSpPr>
          <p:spPr>
            <a:xfrm>
              <a:off x="829701" y="3772655"/>
              <a:ext cx="4449444" cy="55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6350" rIns="0" bIns="0" anchor="ctr" anchorCtr="0">
              <a:spAutoFit/>
            </a:bodyPr>
            <a:lstStyle/>
            <a:p>
              <a:pPr marL="6351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Day2</a:t>
              </a:r>
              <a:endPara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2" name="object 13">
            <a:extLst>
              <a:ext uri="{FF2B5EF4-FFF2-40B4-BE49-F238E27FC236}">
                <a16:creationId xmlns:a16="http://schemas.microsoft.com/office/drawing/2014/main" id="{5B29A716-055C-9A89-5A7E-94CCC04C2ED8}"/>
              </a:ext>
            </a:extLst>
          </p:cNvPr>
          <p:cNvSpPr txBox="1"/>
          <p:nvPr/>
        </p:nvSpPr>
        <p:spPr>
          <a:xfrm>
            <a:off x="6135118" y="3257550"/>
            <a:ext cx="2170692" cy="3141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6351" rIns="0" bIns="0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200"/>
              <a:buFontTx/>
              <a:buNone/>
              <a:tabLst/>
              <a:defRPr/>
            </a:pP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업무 효율성 향상을 위해</a:t>
            </a:r>
            <a:endParaRPr lang="en-US" altLang="ko-KR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200"/>
              <a:buFontTx/>
              <a:buNone/>
              <a:tabLst/>
              <a:defRPr/>
            </a:pP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생성형</a:t>
            </a: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활용을 희망하는 실무자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9C149BC-FBA8-C56E-FDF9-826C3F202F46}"/>
              </a:ext>
            </a:extLst>
          </p:cNvPr>
          <p:cNvGrpSpPr/>
          <p:nvPr/>
        </p:nvGrpSpPr>
        <p:grpSpPr>
          <a:xfrm>
            <a:off x="7543800" y="3825740"/>
            <a:ext cx="726993" cy="408985"/>
            <a:chOff x="7517853" y="3860871"/>
            <a:chExt cx="726993" cy="40898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642182F-133F-B41E-A39F-9A4972B3B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75000"/>
            </a:blip>
            <a:stretch>
              <a:fillRect/>
            </a:stretch>
          </p:blipFill>
          <p:spPr>
            <a:xfrm>
              <a:off x="7709617" y="3860871"/>
              <a:ext cx="343465" cy="280540"/>
            </a:xfrm>
            <a:prstGeom prst="rect">
              <a:avLst/>
            </a:prstGeom>
          </p:spPr>
        </p:pic>
        <p:sp>
          <p:nvSpPr>
            <p:cNvPr id="8" name="Google Shape;715;p18">
              <a:extLst>
                <a:ext uri="{FF2B5EF4-FFF2-40B4-BE49-F238E27FC236}">
                  <a16:creationId xmlns:a16="http://schemas.microsoft.com/office/drawing/2014/main" id="{6EE1AAA9-0A43-3B22-154E-3849790F664A}"/>
                </a:ext>
              </a:extLst>
            </p:cNvPr>
            <p:cNvSpPr txBox="1"/>
            <p:nvPr/>
          </p:nvSpPr>
          <p:spPr>
            <a:xfrm>
              <a:off x="7517853" y="4112135"/>
              <a:ext cx="726993" cy="157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85" tIns="17138" rIns="34285" bIns="17138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000"/>
                <a:buFontTx/>
                <a:buNone/>
                <a:tabLst/>
                <a:defRPr/>
              </a:pPr>
              <a:r>
                <a:rPr lang="en-US" sz="8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m</a:t>
              </a:r>
              <a:r>
                <a:rPr kumimoji="0" lang="en-US" sz="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ake</a:t>
              </a:r>
              <a:endPara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77762E8-46AC-F131-069B-0A62D3B00CFA}"/>
              </a:ext>
            </a:extLst>
          </p:cNvPr>
          <p:cNvSpPr txBox="1"/>
          <p:nvPr/>
        </p:nvSpPr>
        <p:spPr>
          <a:xfrm>
            <a:off x="180000" y="237351"/>
            <a:ext cx="13388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재직자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훈련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과정 상세</a:t>
            </a:r>
          </a:p>
        </p:txBody>
      </p:sp>
      <p:sp>
        <p:nvSpPr>
          <p:cNvPr id="11" name="슬라이드 번호 개체 틀 4">
            <a:extLst>
              <a:ext uri="{FF2B5EF4-FFF2-40B4-BE49-F238E27FC236}">
                <a16:creationId xmlns:a16="http://schemas.microsoft.com/office/drawing/2014/main" id="{DB1708EC-0460-2132-4DAC-D0D9FA96D9A4}"/>
              </a:ext>
            </a:extLst>
          </p:cNvPr>
          <p:cNvSpPr txBox="1">
            <a:spLocks/>
          </p:cNvSpPr>
          <p:nvPr/>
        </p:nvSpPr>
        <p:spPr>
          <a:xfrm>
            <a:off x="3520440" y="4917073"/>
            <a:ext cx="210312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altLang="ko-KR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5626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80C4D-430A-E48E-6667-69B082FE3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7">
            <a:extLst>
              <a:ext uri="{FF2B5EF4-FFF2-40B4-BE49-F238E27FC236}">
                <a16:creationId xmlns:a16="http://schemas.microsoft.com/office/drawing/2014/main" id="{2E3D46A5-1B06-E8A1-8F03-A82A689326C9}"/>
              </a:ext>
            </a:extLst>
          </p:cNvPr>
          <p:cNvSpPr txBox="1"/>
          <p:nvPr/>
        </p:nvSpPr>
        <p:spPr>
          <a:xfrm>
            <a:off x="1014761" y="1697333"/>
            <a:ext cx="3249542" cy="2354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이론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]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생성형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개념 이해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(3H)</a:t>
            </a:r>
            <a:endParaRPr kumimoji="0" sz="1000" b="0" i="0" u="none" strike="noStrike" kern="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생성형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의 개념과 사례</a:t>
            </a:r>
            <a:r>
              <a:rPr lang="en-US" alt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업무 자동화의 필요성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프롬프트 엔지니어링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n8n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개념 및 환경 이해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endParaRPr lang="en-US" sz="1000" dirty="0">
              <a:solidFill>
                <a:srgbClr val="7F7F7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실습</a:t>
            </a: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] </a:t>
            </a:r>
            <a:r>
              <a:rPr 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n8n, Make 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기초부터 실무까지 적용 </a:t>
            </a:r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(9H)</a:t>
            </a:r>
            <a:endParaRPr 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lang="en-US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n</a:t>
            </a:r>
            <a:r>
              <a:rPr kumimoji="0" 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8n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기초 워크플로우 실습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(2~3</a:t>
            </a:r>
            <a:r>
              <a:rPr lang="ko-KR" altLang="en-US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노드 구성 단순 자동화 플로우</a:t>
            </a:r>
            <a:r>
              <a:rPr lang="en-US" alt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Make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이해와 기초 실습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endParaRPr lang="en-US" sz="1000" dirty="0">
              <a:solidFill>
                <a:srgbClr val="7F7F7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lang="en-US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n8n </a:t>
            </a:r>
            <a:r>
              <a:rPr lang="ko-KR" altLang="en-US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실무 워크플로우 실습</a:t>
            </a:r>
            <a:endParaRPr lang="en-US" altLang="ko-KR" sz="1000" dirty="0">
              <a:solidFill>
                <a:srgbClr val="7F7F7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lang="en-US" alt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</a:t>
            </a:r>
            <a:r>
              <a:rPr lang="ko-KR" altLang="en-US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부서별 반복 업무 자동화</a:t>
            </a:r>
            <a:r>
              <a:rPr lang="en-US" alt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데이터</a:t>
            </a:r>
            <a:r>
              <a:rPr lang="en-US" alt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/</a:t>
            </a:r>
            <a:r>
              <a:rPr lang="ko-KR" altLang="en-US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알림</a:t>
            </a:r>
            <a:r>
              <a:rPr lang="en-US" alt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/</a:t>
            </a:r>
            <a:r>
              <a:rPr lang="ko-KR" altLang="en-US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일정 자동화</a:t>
            </a:r>
            <a:r>
              <a:rPr lang="en-US" alt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Make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실무 실습</a:t>
            </a:r>
            <a:r>
              <a:rPr lang="en-US" alt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(</a:t>
            </a:r>
            <a:r>
              <a:rPr lang="ko-KR" altLang="en-US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뉴스 요약</a:t>
            </a:r>
            <a:r>
              <a:rPr lang="en-US" alt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회의 일정</a:t>
            </a:r>
            <a:r>
              <a:rPr lang="en-US" alt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안내</a:t>
            </a:r>
            <a:r>
              <a:rPr lang="en-US" alt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</a:t>
            </a:r>
            <a:endParaRPr kumimoji="0" lang="en-US" sz="1000" b="0" i="0" u="none" strike="noStrike" kern="0" cap="none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실습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]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프로젝트 발표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(2H)</a:t>
            </a:r>
            <a:endParaRPr kumimoji="0" lang="ko-KR" altLang="en-US" sz="1000" b="0" i="0" u="none" strike="noStrike" kern="0" cap="none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프로젝트 발표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/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종합 피드백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장점 및 개선점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</a:t>
            </a:r>
            <a:endParaRPr kumimoji="0" lang="ko-KR" altLang="en-US" sz="10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6" name="Google Shape;576;p17">
            <a:extLst>
              <a:ext uri="{FF2B5EF4-FFF2-40B4-BE49-F238E27FC236}">
                <a16:creationId xmlns:a16="http://schemas.microsoft.com/office/drawing/2014/main" id="{B1AADDED-58EF-6566-BBCF-4111C6BC1F88}"/>
              </a:ext>
            </a:extLst>
          </p:cNvPr>
          <p:cNvSpPr txBox="1"/>
          <p:nvPr/>
        </p:nvSpPr>
        <p:spPr>
          <a:xfrm>
            <a:off x="361950" y="594000"/>
            <a:ext cx="8420100" cy="48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</a:t>
            </a:r>
            <a:r>
              <a:rPr lang="ko-KR" altLang="en-US" sz="2700" b="1" spc="-150" dirty="0" err="1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비개발</a:t>
            </a:r>
            <a:r>
              <a:rPr lang="en-US" altLang="ko-KR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]</a:t>
            </a:r>
            <a:r>
              <a:rPr lang="ko-KR" altLang="en-US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나만의 업무 비서</a:t>
            </a:r>
            <a:r>
              <a:rPr lang="en-US" altLang="ko-KR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워크플로우 </a:t>
            </a:r>
            <a:r>
              <a:rPr lang="en-US" altLang="ko-KR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r>
              <a:rPr lang="ko-KR" altLang="en-US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에이전트</a:t>
            </a:r>
            <a:endParaRPr kumimoji="0" sz="1400" b="0" i="0" u="none" strike="noStrike" kern="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577" name="Google Shape;577;p17">
            <a:extLst>
              <a:ext uri="{FF2B5EF4-FFF2-40B4-BE49-F238E27FC236}">
                <a16:creationId xmlns:a16="http://schemas.microsoft.com/office/drawing/2014/main" id="{B59B3E5E-AE94-E169-44FE-26983F43E2B2}"/>
              </a:ext>
            </a:extLst>
          </p:cNvPr>
          <p:cNvSpPr/>
          <p:nvPr/>
        </p:nvSpPr>
        <p:spPr>
          <a:xfrm>
            <a:off x="2286000" y="1134000"/>
            <a:ext cx="4572000" cy="241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Tx/>
              <a:buSzPts val="2400"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반복 업무를 자동화하고 업무 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효율성을 높이는 다양한 자동화 기술 습득</a:t>
            </a:r>
            <a:endParaRPr kumimoji="0" sz="1800" b="0" i="0" u="none" strike="noStrike" kern="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5A6C3EB2-5BA5-EFDC-7F1B-239DA5CED381}"/>
              </a:ext>
            </a:extLst>
          </p:cNvPr>
          <p:cNvSpPr/>
          <p:nvPr/>
        </p:nvSpPr>
        <p:spPr>
          <a:xfrm flipV="1">
            <a:off x="255913" y="1451316"/>
            <a:ext cx="8316587" cy="37672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5102BB86-21F6-FBFD-9DD9-BBAAB29AFA46}"/>
              </a:ext>
            </a:extLst>
          </p:cNvPr>
          <p:cNvSpPr/>
          <p:nvPr/>
        </p:nvSpPr>
        <p:spPr>
          <a:xfrm>
            <a:off x="4876800" y="1553335"/>
            <a:ext cx="26" cy="2924904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52" name="AutoShape 3">
            <a:extLst>
              <a:ext uri="{FF2B5EF4-FFF2-40B4-BE49-F238E27FC236}">
                <a16:creationId xmlns:a16="http://schemas.microsoft.com/office/drawing/2014/main" id="{7B2569FD-C101-AFBE-83EA-7160BD273925}"/>
              </a:ext>
            </a:extLst>
          </p:cNvPr>
          <p:cNvSpPr/>
          <p:nvPr/>
        </p:nvSpPr>
        <p:spPr>
          <a:xfrm>
            <a:off x="4876800" y="1553335"/>
            <a:ext cx="26" cy="2924904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553" name="그룹 552">
            <a:extLst>
              <a:ext uri="{FF2B5EF4-FFF2-40B4-BE49-F238E27FC236}">
                <a16:creationId xmlns:a16="http://schemas.microsoft.com/office/drawing/2014/main" id="{AA49D562-91A0-4629-9B56-FAC6C9D67EF8}"/>
              </a:ext>
            </a:extLst>
          </p:cNvPr>
          <p:cNvGrpSpPr/>
          <p:nvPr/>
        </p:nvGrpSpPr>
        <p:grpSpPr>
          <a:xfrm>
            <a:off x="5072025" y="1671816"/>
            <a:ext cx="931386" cy="279400"/>
            <a:chOff x="991235" y="3543300"/>
            <a:chExt cx="4781550" cy="558800"/>
          </a:xfrm>
          <a:solidFill>
            <a:srgbClr val="F7575C"/>
          </a:solidFill>
        </p:grpSpPr>
        <p:sp>
          <p:nvSpPr>
            <p:cNvPr id="554" name="사각형: 둥근 모서리 553">
              <a:extLst>
                <a:ext uri="{FF2B5EF4-FFF2-40B4-BE49-F238E27FC236}">
                  <a16:creationId xmlns:a16="http://schemas.microsoft.com/office/drawing/2014/main" id="{8D324201-E40C-EB83-D183-FEB03DB45F14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55" name="object 13">
              <a:extLst>
                <a:ext uri="{FF2B5EF4-FFF2-40B4-BE49-F238E27FC236}">
                  <a16:creationId xmlns:a16="http://schemas.microsoft.com/office/drawing/2014/main" id="{61245B51-4772-D8EB-D9AB-0F39FA2B90C9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교육목표</a:t>
              </a:r>
            </a:p>
          </p:txBody>
        </p:sp>
      </p:grpSp>
      <p:sp>
        <p:nvSpPr>
          <p:cNvPr id="556" name="TextBox 555">
            <a:extLst>
              <a:ext uri="{FF2B5EF4-FFF2-40B4-BE49-F238E27FC236}">
                <a16:creationId xmlns:a16="http://schemas.microsoft.com/office/drawing/2014/main" id="{22A14890-F9BE-29A8-C0AF-47AFFF3175FE}"/>
              </a:ext>
            </a:extLst>
          </p:cNvPr>
          <p:cNvSpPr txBox="1"/>
          <p:nvPr/>
        </p:nvSpPr>
        <p:spPr>
          <a:xfrm>
            <a:off x="6096000" y="1657350"/>
            <a:ext cx="2819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다양한 툴의 워크플로우 자동화 시나리오를 기획하고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실제 개인별 직무의 반복 업무 자동화에 활용</a:t>
            </a:r>
          </a:p>
        </p:txBody>
      </p:sp>
      <p:grpSp>
        <p:nvGrpSpPr>
          <p:cNvPr id="557" name="그룹 556">
            <a:extLst>
              <a:ext uri="{FF2B5EF4-FFF2-40B4-BE49-F238E27FC236}">
                <a16:creationId xmlns:a16="http://schemas.microsoft.com/office/drawing/2014/main" id="{EB2D5710-537D-A0CF-29A4-CC70E1B39738}"/>
              </a:ext>
            </a:extLst>
          </p:cNvPr>
          <p:cNvGrpSpPr/>
          <p:nvPr/>
        </p:nvGrpSpPr>
        <p:grpSpPr>
          <a:xfrm>
            <a:off x="5072025" y="2190750"/>
            <a:ext cx="931386" cy="279400"/>
            <a:chOff x="991235" y="3543300"/>
            <a:chExt cx="4781550" cy="558800"/>
          </a:xfrm>
          <a:solidFill>
            <a:srgbClr val="F7575C"/>
          </a:solidFill>
        </p:grpSpPr>
        <p:sp>
          <p:nvSpPr>
            <p:cNvPr id="558" name="사각형: 둥근 모서리 557">
              <a:extLst>
                <a:ext uri="{FF2B5EF4-FFF2-40B4-BE49-F238E27FC236}">
                  <a16:creationId xmlns:a16="http://schemas.microsoft.com/office/drawing/2014/main" id="{29F87C4A-8DED-3B7F-B681-61AF22B5264D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59" name="object 13">
              <a:extLst>
                <a:ext uri="{FF2B5EF4-FFF2-40B4-BE49-F238E27FC236}">
                  <a16:creationId xmlns:a16="http://schemas.microsoft.com/office/drawing/2014/main" id="{B5338DB4-A9B9-1E8A-6029-25FE85DE2F5F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수준</a:t>
              </a:r>
            </a:p>
          </p:txBody>
        </p:sp>
      </p:grpSp>
      <p:grpSp>
        <p:nvGrpSpPr>
          <p:cNvPr id="560" name="그룹 559">
            <a:extLst>
              <a:ext uri="{FF2B5EF4-FFF2-40B4-BE49-F238E27FC236}">
                <a16:creationId xmlns:a16="http://schemas.microsoft.com/office/drawing/2014/main" id="{1D8B66A7-75A8-A92A-7B01-6BE6F9191F9B}"/>
              </a:ext>
            </a:extLst>
          </p:cNvPr>
          <p:cNvGrpSpPr/>
          <p:nvPr/>
        </p:nvGrpSpPr>
        <p:grpSpPr>
          <a:xfrm>
            <a:off x="6135118" y="2190750"/>
            <a:ext cx="931386" cy="279400"/>
            <a:chOff x="991235" y="3543300"/>
            <a:chExt cx="4781550" cy="558800"/>
          </a:xfrm>
          <a:noFill/>
        </p:grpSpPr>
        <p:sp>
          <p:nvSpPr>
            <p:cNvPr id="561" name="사각형: 둥근 모서리 560">
              <a:extLst>
                <a:ext uri="{FF2B5EF4-FFF2-40B4-BE49-F238E27FC236}">
                  <a16:creationId xmlns:a16="http://schemas.microsoft.com/office/drawing/2014/main" id="{C61C3D0C-FD4D-25EC-D82D-1253BC3E8533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F757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62" name="object 13">
              <a:extLst>
                <a:ext uri="{FF2B5EF4-FFF2-40B4-BE49-F238E27FC236}">
                  <a16:creationId xmlns:a16="http://schemas.microsoft.com/office/drawing/2014/main" id="{F14FD846-972D-970A-E4C6-464C5ADC63E4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중급</a:t>
              </a:r>
            </a:p>
          </p:txBody>
        </p:sp>
      </p:grpSp>
      <p:grpSp>
        <p:nvGrpSpPr>
          <p:cNvPr id="563" name="그룹 562">
            <a:extLst>
              <a:ext uri="{FF2B5EF4-FFF2-40B4-BE49-F238E27FC236}">
                <a16:creationId xmlns:a16="http://schemas.microsoft.com/office/drawing/2014/main" id="{A3276AF4-60EC-0D66-6449-AABB3429AE49}"/>
              </a:ext>
            </a:extLst>
          </p:cNvPr>
          <p:cNvGrpSpPr/>
          <p:nvPr/>
        </p:nvGrpSpPr>
        <p:grpSpPr>
          <a:xfrm>
            <a:off x="5072025" y="2724150"/>
            <a:ext cx="931386" cy="279400"/>
            <a:chOff x="991235" y="3543300"/>
            <a:chExt cx="4781550" cy="558800"/>
          </a:xfrm>
          <a:solidFill>
            <a:srgbClr val="F7575C"/>
          </a:solidFill>
        </p:grpSpPr>
        <p:sp>
          <p:nvSpPr>
            <p:cNvPr id="564" name="사각형: 둥근 모서리 563">
              <a:extLst>
                <a:ext uri="{FF2B5EF4-FFF2-40B4-BE49-F238E27FC236}">
                  <a16:creationId xmlns:a16="http://schemas.microsoft.com/office/drawing/2014/main" id="{1F50674C-D9CB-EFCA-1B5C-499FBC4DADAD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65" name="object 13">
              <a:extLst>
                <a:ext uri="{FF2B5EF4-FFF2-40B4-BE49-F238E27FC236}">
                  <a16:creationId xmlns:a16="http://schemas.microsoft.com/office/drawing/2014/main" id="{22E8F3EC-0339-977C-4976-E4EF38318F73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교육시간</a:t>
              </a:r>
            </a:p>
          </p:txBody>
        </p:sp>
      </p:grpSp>
      <p:grpSp>
        <p:nvGrpSpPr>
          <p:cNvPr id="566" name="그룹 565">
            <a:extLst>
              <a:ext uri="{FF2B5EF4-FFF2-40B4-BE49-F238E27FC236}">
                <a16:creationId xmlns:a16="http://schemas.microsoft.com/office/drawing/2014/main" id="{089EC885-AAF5-C0A9-E676-A9CC279ED99A}"/>
              </a:ext>
            </a:extLst>
          </p:cNvPr>
          <p:cNvGrpSpPr/>
          <p:nvPr/>
        </p:nvGrpSpPr>
        <p:grpSpPr>
          <a:xfrm>
            <a:off x="6135118" y="2724150"/>
            <a:ext cx="937736" cy="279400"/>
            <a:chOff x="991235" y="3543300"/>
            <a:chExt cx="4781550" cy="558800"/>
          </a:xfrm>
          <a:noFill/>
        </p:grpSpPr>
        <p:sp>
          <p:nvSpPr>
            <p:cNvPr id="567" name="사각형: 둥근 모서리 566">
              <a:extLst>
                <a:ext uri="{FF2B5EF4-FFF2-40B4-BE49-F238E27FC236}">
                  <a16:creationId xmlns:a16="http://schemas.microsoft.com/office/drawing/2014/main" id="{7D1AEABA-32CB-A8F7-92C7-52B56B309F22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F757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68" name="object 13">
              <a:extLst>
                <a:ext uri="{FF2B5EF4-FFF2-40B4-BE49-F238E27FC236}">
                  <a16:creationId xmlns:a16="http://schemas.microsoft.com/office/drawing/2014/main" id="{2B62EEBB-61B3-659E-8F3F-558BAF5C8A05}"/>
                </a:ext>
              </a:extLst>
            </p:cNvPr>
            <p:cNvSpPr txBox="1"/>
            <p:nvPr/>
          </p:nvSpPr>
          <p:spPr>
            <a:xfrm>
              <a:off x="1130938" y="3654426"/>
              <a:ext cx="4449445" cy="32060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2</a:t>
              </a:r>
              <a:r>
                <a:rPr lang="ko-KR" altLang="en-US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일 </a:t>
              </a: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(14</a:t>
              </a:r>
              <a:r>
                <a:rPr lang="ko-KR" altLang="en-US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시간</a:t>
              </a: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)</a:t>
              </a:r>
              <a:endParaRPr lang="ko-KR" altLang="en-US" sz="1000" dirty="0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569" name="Google Shape;710;p18">
            <a:extLst>
              <a:ext uri="{FF2B5EF4-FFF2-40B4-BE49-F238E27FC236}">
                <a16:creationId xmlns:a16="http://schemas.microsoft.com/office/drawing/2014/main" id="{F43F9F61-3151-028F-D523-17CA28FEDF8F}"/>
              </a:ext>
            </a:extLst>
          </p:cNvPr>
          <p:cNvGrpSpPr/>
          <p:nvPr/>
        </p:nvGrpSpPr>
        <p:grpSpPr>
          <a:xfrm>
            <a:off x="6135118" y="3843611"/>
            <a:ext cx="537895" cy="404539"/>
            <a:chOff x="7844319" y="5693188"/>
            <a:chExt cx="723001" cy="528462"/>
          </a:xfrm>
        </p:grpSpPr>
        <p:pic>
          <p:nvPicPr>
            <p:cNvPr id="570" name="Google Shape;711;p18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1482AB0E-06B8-6387-5922-CC4F21960DF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033305" y="5693188"/>
              <a:ext cx="345028" cy="3450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1" name="Google Shape;712;p18">
              <a:extLst>
                <a:ext uri="{FF2B5EF4-FFF2-40B4-BE49-F238E27FC236}">
                  <a16:creationId xmlns:a16="http://schemas.microsoft.com/office/drawing/2014/main" id="{A0D414E9-1592-E35C-5751-8FA00B75FB4F}"/>
                </a:ext>
              </a:extLst>
            </p:cNvPr>
            <p:cNvSpPr txBox="1"/>
            <p:nvPr/>
          </p:nvSpPr>
          <p:spPr>
            <a:xfrm>
              <a:off x="7844319" y="6015614"/>
              <a:ext cx="723001" cy="206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85" tIns="17138" rIns="34285" bIns="17138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000"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ChatGPT</a:t>
              </a: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72" name="Google Shape;713;p18">
            <a:extLst>
              <a:ext uri="{FF2B5EF4-FFF2-40B4-BE49-F238E27FC236}">
                <a16:creationId xmlns:a16="http://schemas.microsoft.com/office/drawing/2014/main" id="{D88C7337-6C49-C1D6-9538-8C566DB9B1C4}"/>
              </a:ext>
            </a:extLst>
          </p:cNvPr>
          <p:cNvGrpSpPr/>
          <p:nvPr/>
        </p:nvGrpSpPr>
        <p:grpSpPr>
          <a:xfrm>
            <a:off x="6858000" y="3879023"/>
            <a:ext cx="755245" cy="347538"/>
            <a:chOff x="8523227" y="5753232"/>
            <a:chExt cx="1116094" cy="499146"/>
          </a:xfrm>
        </p:grpSpPr>
        <p:pic>
          <p:nvPicPr>
            <p:cNvPr id="573" name="Google Shape;714;p18">
              <a:extLst>
                <a:ext uri="{FF2B5EF4-FFF2-40B4-BE49-F238E27FC236}">
                  <a16:creationId xmlns:a16="http://schemas.microsoft.com/office/drawing/2014/main" id="{717CB3C0-CDAE-110A-D81E-B5BC9B43443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523227" y="5753232"/>
              <a:ext cx="1074420" cy="2830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4" name="Google Shape;715;p18">
              <a:extLst>
                <a:ext uri="{FF2B5EF4-FFF2-40B4-BE49-F238E27FC236}">
                  <a16:creationId xmlns:a16="http://schemas.microsoft.com/office/drawing/2014/main" id="{8CEA27EC-2981-DE84-79BC-1A782A61847C}"/>
                </a:ext>
              </a:extLst>
            </p:cNvPr>
            <p:cNvSpPr txBox="1"/>
            <p:nvPr/>
          </p:nvSpPr>
          <p:spPr>
            <a:xfrm>
              <a:off x="8564978" y="6025854"/>
              <a:ext cx="1074343" cy="226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85" tIns="17138" rIns="34285" bIns="17138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000"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Open AI API</a:t>
              </a: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78" name="그룹 577">
            <a:extLst>
              <a:ext uri="{FF2B5EF4-FFF2-40B4-BE49-F238E27FC236}">
                <a16:creationId xmlns:a16="http://schemas.microsoft.com/office/drawing/2014/main" id="{A0F70F7C-CBB4-8D02-F9C7-C5CF45D31154}"/>
              </a:ext>
            </a:extLst>
          </p:cNvPr>
          <p:cNvGrpSpPr/>
          <p:nvPr/>
        </p:nvGrpSpPr>
        <p:grpSpPr>
          <a:xfrm>
            <a:off x="5072025" y="3865428"/>
            <a:ext cx="931386" cy="279400"/>
            <a:chOff x="991235" y="3543300"/>
            <a:chExt cx="4781550" cy="558800"/>
          </a:xfrm>
          <a:solidFill>
            <a:srgbClr val="F7575C"/>
          </a:solidFill>
        </p:grpSpPr>
        <p:sp>
          <p:nvSpPr>
            <p:cNvPr id="579" name="사각형: 둥근 모서리 578">
              <a:extLst>
                <a:ext uri="{FF2B5EF4-FFF2-40B4-BE49-F238E27FC236}">
                  <a16:creationId xmlns:a16="http://schemas.microsoft.com/office/drawing/2014/main" id="{1B9E7624-8CF8-585A-A212-68B4D6852B65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80" name="object 13">
              <a:extLst>
                <a:ext uri="{FF2B5EF4-FFF2-40B4-BE49-F238E27FC236}">
                  <a16:creationId xmlns:a16="http://schemas.microsoft.com/office/drawing/2014/main" id="{EED8C16C-1605-E90C-1F2A-FCA6E2DB4920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유료툴</a:t>
              </a: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제공</a:t>
              </a:r>
            </a:p>
          </p:txBody>
        </p:sp>
      </p:grpSp>
      <p:grpSp>
        <p:nvGrpSpPr>
          <p:cNvPr id="581" name="그룹 580">
            <a:extLst>
              <a:ext uri="{FF2B5EF4-FFF2-40B4-BE49-F238E27FC236}">
                <a16:creationId xmlns:a16="http://schemas.microsoft.com/office/drawing/2014/main" id="{F120AA98-DD17-A1E4-8C85-73D8BFAB4146}"/>
              </a:ext>
            </a:extLst>
          </p:cNvPr>
          <p:cNvGrpSpPr/>
          <p:nvPr/>
        </p:nvGrpSpPr>
        <p:grpSpPr>
          <a:xfrm>
            <a:off x="5072025" y="3265555"/>
            <a:ext cx="931386" cy="279400"/>
            <a:chOff x="991235" y="3543300"/>
            <a:chExt cx="4781550" cy="558800"/>
          </a:xfrm>
          <a:solidFill>
            <a:srgbClr val="F7575C"/>
          </a:solidFill>
        </p:grpSpPr>
        <p:sp>
          <p:nvSpPr>
            <p:cNvPr id="582" name="사각형: 둥근 모서리 581">
              <a:extLst>
                <a:ext uri="{FF2B5EF4-FFF2-40B4-BE49-F238E27FC236}">
                  <a16:creationId xmlns:a16="http://schemas.microsoft.com/office/drawing/2014/main" id="{247FF93B-F7E9-7E65-99BC-0457C428C8E7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83" name="object 13">
              <a:extLst>
                <a:ext uri="{FF2B5EF4-FFF2-40B4-BE49-F238E27FC236}">
                  <a16:creationId xmlns:a16="http://schemas.microsoft.com/office/drawing/2014/main" id="{28D719B5-742A-FC7C-D585-450CB6E73E62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교육대상</a:t>
              </a:r>
            </a:p>
          </p:txBody>
        </p:sp>
      </p:grpSp>
      <p:sp>
        <p:nvSpPr>
          <p:cNvPr id="585" name="object 13">
            <a:extLst>
              <a:ext uri="{FF2B5EF4-FFF2-40B4-BE49-F238E27FC236}">
                <a16:creationId xmlns:a16="http://schemas.microsoft.com/office/drawing/2014/main" id="{66029314-932B-1EEA-1C78-3B8A7F4413FB}"/>
              </a:ext>
            </a:extLst>
          </p:cNvPr>
          <p:cNvSpPr txBox="1"/>
          <p:nvPr/>
        </p:nvSpPr>
        <p:spPr>
          <a:xfrm>
            <a:off x="6135118" y="3248160"/>
            <a:ext cx="2170692" cy="3141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6351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업무 효율성 향상을 위해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생성형</a:t>
            </a:r>
            <a:r>
              <a:rPr lang="en-US" altLang="ko-KR" sz="1000" dirty="0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</a:t>
            </a:r>
            <a:r>
              <a:rPr lang="ko-KR" altLang="en-US" sz="1000" dirty="0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활용을 희망하는 실무자</a:t>
            </a:r>
            <a:endParaRPr lang="ko-KR" alt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2" name="Google Shape;626;p18">
            <a:extLst>
              <a:ext uri="{FF2B5EF4-FFF2-40B4-BE49-F238E27FC236}">
                <a16:creationId xmlns:a16="http://schemas.microsoft.com/office/drawing/2014/main" id="{97FA3A67-E618-11CA-4A17-EA04C5F71181}"/>
              </a:ext>
            </a:extLst>
          </p:cNvPr>
          <p:cNvGrpSpPr/>
          <p:nvPr/>
        </p:nvGrpSpPr>
        <p:grpSpPr>
          <a:xfrm>
            <a:off x="457200" y="1691651"/>
            <a:ext cx="439057" cy="1311899"/>
            <a:chOff x="829701" y="3543300"/>
            <a:chExt cx="4781550" cy="558800"/>
          </a:xfrm>
        </p:grpSpPr>
        <p:sp>
          <p:nvSpPr>
            <p:cNvPr id="6" name="Google Shape;627;p18">
              <a:extLst>
                <a:ext uri="{FF2B5EF4-FFF2-40B4-BE49-F238E27FC236}">
                  <a16:creationId xmlns:a16="http://schemas.microsoft.com/office/drawing/2014/main" id="{542FF2E6-ED2A-A163-5C4E-95B6E338D678}"/>
                </a:ext>
              </a:extLst>
            </p:cNvPr>
            <p:cNvSpPr/>
            <p:nvPr/>
          </p:nvSpPr>
          <p:spPr>
            <a:xfrm>
              <a:off x="829701" y="3543300"/>
              <a:ext cx="4781550" cy="558800"/>
            </a:xfrm>
            <a:prstGeom prst="roundRect">
              <a:avLst>
                <a:gd name="adj" fmla="val 22232"/>
              </a:avLst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7" name="Google Shape;628;p18">
              <a:extLst>
                <a:ext uri="{FF2B5EF4-FFF2-40B4-BE49-F238E27FC236}">
                  <a16:creationId xmlns:a16="http://schemas.microsoft.com/office/drawing/2014/main" id="{8FDFCF0C-7EBB-4543-E7EC-B579C8A6E998}"/>
                </a:ext>
              </a:extLst>
            </p:cNvPr>
            <p:cNvSpPr txBox="1"/>
            <p:nvPr/>
          </p:nvSpPr>
          <p:spPr>
            <a:xfrm>
              <a:off x="829701" y="3772655"/>
              <a:ext cx="4449444" cy="55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6350" rIns="0" bIns="0" anchor="ctr" anchorCtr="0">
              <a:spAutoFit/>
            </a:bodyPr>
            <a:lstStyle/>
            <a:p>
              <a:pPr marL="6351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Day1</a:t>
              </a: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29" name="Google Shape;626;p18">
            <a:extLst>
              <a:ext uri="{FF2B5EF4-FFF2-40B4-BE49-F238E27FC236}">
                <a16:creationId xmlns:a16="http://schemas.microsoft.com/office/drawing/2014/main" id="{68C73BED-B9CD-6D2C-3FCF-5BBE54A861A1}"/>
              </a:ext>
            </a:extLst>
          </p:cNvPr>
          <p:cNvGrpSpPr/>
          <p:nvPr/>
        </p:nvGrpSpPr>
        <p:grpSpPr>
          <a:xfrm>
            <a:off x="457200" y="3028631"/>
            <a:ext cx="439057" cy="1311899"/>
            <a:chOff x="829701" y="3543300"/>
            <a:chExt cx="4781550" cy="558800"/>
          </a:xfrm>
        </p:grpSpPr>
        <p:sp>
          <p:nvSpPr>
            <p:cNvPr id="30" name="Google Shape;627;p18">
              <a:extLst>
                <a:ext uri="{FF2B5EF4-FFF2-40B4-BE49-F238E27FC236}">
                  <a16:creationId xmlns:a16="http://schemas.microsoft.com/office/drawing/2014/main" id="{EBCFCA42-8E65-D45A-F30D-F2727BF31F56}"/>
                </a:ext>
              </a:extLst>
            </p:cNvPr>
            <p:cNvSpPr/>
            <p:nvPr/>
          </p:nvSpPr>
          <p:spPr>
            <a:xfrm>
              <a:off x="829701" y="3543300"/>
              <a:ext cx="4781550" cy="558800"/>
            </a:xfrm>
            <a:prstGeom prst="roundRect">
              <a:avLst>
                <a:gd name="adj" fmla="val 22232"/>
              </a:avLst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31" name="Google Shape;628;p18">
              <a:extLst>
                <a:ext uri="{FF2B5EF4-FFF2-40B4-BE49-F238E27FC236}">
                  <a16:creationId xmlns:a16="http://schemas.microsoft.com/office/drawing/2014/main" id="{9F2A478F-CA05-E92D-7C22-706CA76607E6}"/>
                </a:ext>
              </a:extLst>
            </p:cNvPr>
            <p:cNvSpPr txBox="1"/>
            <p:nvPr/>
          </p:nvSpPr>
          <p:spPr>
            <a:xfrm>
              <a:off x="829701" y="3772655"/>
              <a:ext cx="4449444" cy="55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6350" rIns="0" bIns="0" anchor="ctr" anchorCtr="0">
              <a:spAutoFit/>
            </a:bodyPr>
            <a:lstStyle/>
            <a:p>
              <a:pPr marL="6351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Day2</a:t>
              </a: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346F23DE-99C6-90BE-9B1F-3E2ACB398E45}"/>
              </a:ext>
            </a:extLst>
          </p:cNvPr>
          <p:cNvSpPr/>
          <p:nvPr/>
        </p:nvSpPr>
        <p:spPr>
          <a:xfrm>
            <a:off x="1981200" y="260558"/>
            <a:ext cx="635577" cy="245075"/>
          </a:xfrm>
          <a:prstGeom prst="roundRect">
            <a:avLst/>
          </a:prstGeom>
          <a:solidFill>
            <a:srgbClr val="FFAD2C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2026 </a:t>
            </a:r>
            <a:r>
              <a:rPr lang="ko-KR" altLang="en-US" sz="1000" b="1" spc="-1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신설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7D0DC11-A7FD-1BBF-1907-48539D3C98B6}"/>
              </a:ext>
            </a:extLst>
          </p:cNvPr>
          <p:cNvGrpSpPr/>
          <p:nvPr/>
        </p:nvGrpSpPr>
        <p:grpSpPr>
          <a:xfrm>
            <a:off x="7614167" y="3746509"/>
            <a:ext cx="726993" cy="480052"/>
            <a:chOff x="7641497" y="3773419"/>
            <a:chExt cx="726993" cy="480052"/>
          </a:xfrm>
        </p:grpSpPr>
        <p:pic>
          <p:nvPicPr>
            <p:cNvPr id="1026" name="Picture 2" descr="n8n Integration | Connect with Icypeas">
              <a:extLst>
                <a:ext uri="{FF2B5EF4-FFF2-40B4-BE49-F238E27FC236}">
                  <a16:creationId xmlns:a16="http://schemas.microsoft.com/office/drawing/2014/main" id="{068577F9-4AA3-316A-1164-F02190816A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7502" y="3773419"/>
              <a:ext cx="432238" cy="4322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Google Shape;715;p18">
              <a:extLst>
                <a:ext uri="{FF2B5EF4-FFF2-40B4-BE49-F238E27FC236}">
                  <a16:creationId xmlns:a16="http://schemas.microsoft.com/office/drawing/2014/main" id="{5B8EFD72-974D-A163-42E1-3447EF21BADD}"/>
                </a:ext>
              </a:extLst>
            </p:cNvPr>
            <p:cNvSpPr txBox="1"/>
            <p:nvPr/>
          </p:nvSpPr>
          <p:spPr>
            <a:xfrm>
              <a:off x="7641497" y="4095750"/>
              <a:ext cx="726993" cy="157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85" tIns="17138" rIns="34285" bIns="17138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n8n</a:t>
              </a: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FA486BD-6FA7-C59F-8133-29DDF29DABC0}"/>
              </a:ext>
            </a:extLst>
          </p:cNvPr>
          <p:cNvSpPr txBox="1"/>
          <p:nvPr/>
        </p:nvSpPr>
        <p:spPr>
          <a:xfrm>
            <a:off x="180000" y="237351"/>
            <a:ext cx="13388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재직자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훈련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과정 상세</a:t>
            </a:r>
          </a:p>
        </p:txBody>
      </p:sp>
      <p:sp>
        <p:nvSpPr>
          <p:cNvPr id="12" name="슬라이드 번호 개체 틀 4">
            <a:extLst>
              <a:ext uri="{FF2B5EF4-FFF2-40B4-BE49-F238E27FC236}">
                <a16:creationId xmlns:a16="http://schemas.microsoft.com/office/drawing/2014/main" id="{A597B0B4-C402-F85C-D80C-B585FB74422F}"/>
              </a:ext>
            </a:extLst>
          </p:cNvPr>
          <p:cNvSpPr txBox="1">
            <a:spLocks/>
          </p:cNvSpPr>
          <p:nvPr/>
        </p:nvSpPr>
        <p:spPr>
          <a:xfrm>
            <a:off x="3520440" y="4917073"/>
            <a:ext cx="210312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altLang="ko-KR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936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95D05-C2AD-1315-394F-6455A2601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9"/>
          <p:cNvSpPr txBox="1"/>
          <p:nvPr/>
        </p:nvSpPr>
        <p:spPr>
          <a:xfrm>
            <a:off x="990600" y="1636168"/>
            <a:ext cx="3249542" cy="2585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이론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] LLM, 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딥러닝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kumimoji="0" lang="ko-KR" altLang="en-US" sz="100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프롬프트 엔지니어링</a:t>
            </a:r>
            <a:r>
              <a:rPr kumimoji="0" lang="en-US" altLang="ko-KR" sz="100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(3H)</a:t>
            </a:r>
            <a:endParaRPr kumimoji="0" sz="100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Tx/>
              <a:buNone/>
              <a:tabLst/>
              <a:defRPr/>
            </a:pPr>
            <a:r>
              <a:rPr lang="en-US" altLang="ko-KR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LLM 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개념</a:t>
            </a:r>
            <a:r>
              <a:rPr lang="en-US" altLang="ko-KR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/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사례</a:t>
            </a:r>
            <a:r>
              <a:rPr lang="en-US" altLang="ko-KR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/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트렌드</a:t>
            </a:r>
            <a:r>
              <a:rPr lang="en-US" altLang="ko-KR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1000" dirty="0" err="1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딥러닝과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altLang="ko-KR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LLM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의 원리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tabLst/>
              <a:defRPr/>
            </a:pP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프롬프트 설계 엔지니어링 전략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tabLst/>
              <a:defRPr/>
            </a:pP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tabLst/>
              <a:defRPr/>
            </a:pP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실습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] ChatGPT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활용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MCP 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활용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kumimoji="0" lang="ko-KR" altLang="en-US" sz="1000" b="0" i="0" u="none" strike="noStrike" kern="0" cap="none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바이브코딩</a:t>
            </a:r>
            <a:r>
              <a:rPr kumimoji="0" lang="ko-KR" altLang="en-US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실습 </a:t>
            </a:r>
            <a:r>
              <a:rPr kumimoji="0" lang="en-US" altLang="ko-KR" sz="1000" b="0" i="0" u="none" strike="noStrike" kern="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(11H)</a:t>
            </a:r>
            <a:endParaRPr kumimoji="0" lang="en-US" altLang="ko-KR" sz="1000" b="0" i="0" u="none" strike="noStrike" kern="0" cap="none" normalizeH="0" baseline="0" noProof="0" dirty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tabLst/>
              <a:defRPr/>
            </a:pPr>
            <a:r>
              <a:rPr lang="en-US" altLang="ko-KR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ChatGPT 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활용과 사내 정보 보안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tabLst/>
              <a:defRPr/>
            </a:pPr>
            <a:r>
              <a:rPr lang="en-US" altLang="ko-KR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Agent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와</a:t>
            </a:r>
            <a:r>
              <a:rPr lang="en-US" altLang="ko-KR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MCP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tabLst/>
              <a:defRPr/>
            </a:pPr>
            <a:r>
              <a:rPr lang="en-US" altLang="ko-KR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MCP 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활용 </a:t>
            </a:r>
            <a:r>
              <a:rPr lang="en-US" altLang="ko-KR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 OpenAI Apps SDK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tabLst/>
              <a:defRPr/>
            </a:pPr>
            <a:endParaRPr lang="ko-KR" altLang="en-US" sz="1000" dirty="0">
              <a:solidFill>
                <a:srgbClr val="96969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tabLst/>
              <a:defRPr/>
            </a:pP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프롬프트 엔지니어링 활용</a:t>
            </a:r>
            <a:r>
              <a:rPr lang="en-US" altLang="ko-KR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(GPTs)</a:t>
            </a:r>
            <a:endParaRPr lang="ko-KR" altLang="en-US" sz="1000" dirty="0">
              <a:solidFill>
                <a:srgbClr val="96969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algn="l" rtl="0">
              <a:buClr>
                <a:srgbClr val="7F7F7F"/>
              </a:buClr>
              <a:buSzPts val="1800"/>
              <a:defRPr/>
            </a:pP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실무형 </a:t>
            </a:r>
            <a:r>
              <a:rPr lang="ko-KR" altLang="en-US" sz="1000" dirty="0" err="1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챗봇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만들기 </a:t>
            </a:r>
            <a:r>
              <a:rPr lang="en-US" altLang="ko-KR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 GPTs</a:t>
            </a:r>
          </a:p>
          <a:p>
            <a:pPr algn="l" rtl="0">
              <a:buClr>
                <a:srgbClr val="7F7F7F"/>
              </a:buClr>
              <a:buSzPts val="1800"/>
              <a:defRPr/>
            </a:pPr>
            <a:r>
              <a:rPr lang="ko-KR" altLang="en-US" sz="1000" dirty="0" err="1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바이브코딩의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개념과 트랜드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tabLst/>
              <a:defRPr/>
            </a:pPr>
            <a:r>
              <a:rPr lang="en-US" altLang="ko-KR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Google AI Studio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와 </a:t>
            </a:r>
            <a:r>
              <a:rPr lang="en-US" altLang="ko-KR" sz="1000" dirty="0" err="1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Replit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을 활용한 </a:t>
            </a:r>
            <a:r>
              <a:rPr lang="ko-KR" altLang="en-US" sz="1000" dirty="0" err="1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바이브코딩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실습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tabLst/>
              <a:defRPr/>
            </a:pPr>
            <a:r>
              <a:rPr lang="en-US" altLang="ko-KR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Cursor 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설치 및 사용 가이드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tabLst/>
              <a:defRPr/>
            </a:pPr>
            <a:r>
              <a:rPr lang="en-US" altLang="ko-KR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OpenAI Codex 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활용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tabLst/>
              <a:defRPr/>
            </a:pPr>
            <a:r>
              <a:rPr lang="en-US" altLang="ko-KR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PRD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를 활용한 </a:t>
            </a:r>
            <a:r>
              <a:rPr lang="ko-KR" altLang="en-US" sz="1000" dirty="0" err="1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바이브코딩</a:t>
            </a:r>
            <a:r>
              <a:rPr lang="ko-KR" altLang="en-US" sz="1000" dirty="0">
                <a:solidFill>
                  <a:srgbClr val="96969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프로젝트</a:t>
            </a:r>
            <a:endParaRPr kumimoji="0" sz="1000" b="0" i="0" u="none" strike="noStrike" kern="0" cap="none" normalizeH="0" baseline="0" noProof="0" dirty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91" name="Google Shape;691;p19"/>
          <p:cNvSpPr txBox="1"/>
          <p:nvPr/>
        </p:nvSpPr>
        <p:spPr>
          <a:xfrm>
            <a:off x="361950" y="594000"/>
            <a:ext cx="8420100" cy="48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</a:t>
            </a:r>
            <a:r>
              <a:rPr lang="ko-KR" altLang="en-US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개발</a:t>
            </a:r>
            <a:r>
              <a:rPr lang="en-US" altLang="ko-KR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] AI</a:t>
            </a:r>
            <a:r>
              <a:rPr lang="ko-KR" altLang="en-US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와 협업하기</a:t>
            </a:r>
            <a:r>
              <a:rPr lang="en-US" altLang="ko-KR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 </a:t>
            </a:r>
            <a:r>
              <a:rPr lang="ko-KR" altLang="en-US" sz="2700" b="1" spc="-150" dirty="0" err="1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고급프롬프트</a:t>
            </a:r>
            <a:r>
              <a:rPr lang="ko-KR" altLang="en-US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altLang="ko-KR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&amp; </a:t>
            </a:r>
            <a:r>
              <a:rPr lang="ko-KR" altLang="en-US" sz="2700" b="1" spc="-150" dirty="0" err="1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바이브코딩</a:t>
            </a:r>
            <a:endParaRPr kumimoji="0" sz="1800" b="0" i="0" u="none" strike="noStrike" kern="0" cap="none" spc="-150" normalizeH="0" baseline="0" noProof="0" dirty="0">
              <a:ln>
                <a:noFill/>
              </a:ln>
              <a:solidFill>
                <a:srgbClr val="F8515D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92" name="Google Shape;692;p19"/>
          <p:cNvSpPr/>
          <p:nvPr/>
        </p:nvSpPr>
        <p:spPr>
          <a:xfrm>
            <a:off x="2286000" y="1134000"/>
            <a:ext cx="4572000" cy="241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Tx/>
              <a:buSzPts val="2400"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생성형 </a:t>
            </a:r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및 </a:t>
            </a:r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LLM </a:t>
            </a:r>
            <a:r>
              <a: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기술의 </a:t>
            </a:r>
            <a:r>
              <a:rPr kumimoji="0" lang="ko-KR" altLang="en-US" sz="12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프롬프트 엔지니어링 </a:t>
            </a:r>
            <a:r>
              <a:rPr kumimoji="0" lang="en-US" altLang="ko-KR" sz="12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&amp;</a:t>
            </a:r>
            <a:r>
              <a:rPr kumimoji="0" lang="ko-KR" altLang="en-US" sz="12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kumimoji="0" lang="ko-KR" altLang="en-US" sz="1200" b="0" i="0" u="none" strike="noStrike" kern="0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바이브코딩</a:t>
            </a:r>
            <a:r>
              <a:rPr kumimoji="0" lang="ko-KR" altLang="en-US" sz="12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노하우 습득</a:t>
            </a:r>
            <a:endParaRPr kumimoji="0" sz="1800" b="0" i="0" u="none" strike="noStrike" kern="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6E075A20-0270-66A2-C7AD-0E64065BDBF8}"/>
              </a:ext>
            </a:extLst>
          </p:cNvPr>
          <p:cNvSpPr/>
          <p:nvPr/>
        </p:nvSpPr>
        <p:spPr>
          <a:xfrm flipV="1">
            <a:off x="255913" y="1451316"/>
            <a:ext cx="8316587" cy="37672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96D45EE8-94AB-EC5A-0C8E-ABB8A8C2A678}"/>
              </a:ext>
            </a:extLst>
          </p:cNvPr>
          <p:cNvSpPr/>
          <p:nvPr/>
        </p:nvSpPr>
        <p:spPr>
          <a:xfrm>
            <a:off x="4876800" y="1553335"/>
            <a:ext cx="26" cy="2924904"/>
          </a:xfrm>
          <a:prstGeom prst="line">
            <a:avLst/>
          </a:prstGeom>
          <a:ln w="3175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Google Shape;642;p18">
            <a:extLst>
              <a:ext uri="{FF2B5EF4-FFF2-40B4-BE49-F238E27FC236}">
                <a16:creationId xmlns:a16="http://schemas.microsoft.com/office/drawing/2014/main" id="{7492E88B-3DF7-0383-CC60-625B94DC1E65}"/>
              </a:ext>
            </a:extLst>
          </p:cNvPr>
          <p:cNvSpPr/>
          <p:nvPr/>
        </p:nvSpPr>
        <p:spPr>
          <a:xfrm>
            <a:off x="5002814" y="1598068"/>
            <a:ext cx="931386" cy="2794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6C56631-727E-7356-FC43-C5769F560766}"/>
              </a:ext>
            </a:extLst>
          </p:cNvPr>
          <p:cNvGrpSpPr/>
          <p:nvPr/>
        </p:nvGrpSpPr>
        <p:grpSpPr>
          <a:xfrm>
            <a:off x="5072025" y="1671816"/>
            <a:ext cx="931386" cy="279400"/>
            <a:chOff x="991235" y="3543300"/>
            <a:chExt cx="4781550" cy="558800"/>
          </a:xfrm>
          <a:solidFill>
            <a:srgbClr val="F8515D"/>
          </a:solidFill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2DB5BA48-B121-F201-DABE-1003B5FCA73B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" name="object 13">
              <a:extLst>
                <a:ext uri="{FF2B5EF4-FFF2-40B4-BE49-F238E27FC236}">
                  <a16:creationId xmlns:a16="http://schemas.microsoft.com/office/drawing/2014/main" id="{4FAEA91D-E85F-E1D2-5552-88A52E8D7956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교육목표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C57A7F5-B2AF-9E24-6B74-2266D199BF15}"/>
              </a:ext>
            </a:extLst>
          </p:cNvPr>
          <p:cNvSpPr txBox="1"/>
          <p:nvPr/>
        </p:nvSpPr>
        <p:spPr>
          <a:xfrm>
            <a:off x="6096000" y="1657350"/>
            <a:ext cx="28955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고급 프롬프트 엔지니어링 역량으로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최신 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LLM 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기술을 활용하여 </a:t>
            </a:r>
            <a:r>
              <a:rPr lang="en-US" altLang="ko-KR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</a:t>
            </a:r>
            <a:r>
              <a:rPr lang="ko-KR" altLang="en-US" sz="100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기반 서비스의 효율성과 품질 향상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8B3C6B2-8778-EBE9-9BF1-D6BF8ED787CF}"/>
              </a:ext>
            </a:extLst>
          </p:cNvPr>
          <p:cNvGrpSpPr/>
          <p:nvPr/>
        </p:nvGrpSpPr>
        <p:grpSpPr>
          <a:xfrm>
            <a:off x="5072025" y="2190750"/>
            <a:ext cx="931386" cy="279400"/>
            <a:chOff x="991235" y="3543300"/>
            <a:chExt cx="4781550" cy="558800"/>
          </a:xfrm>
          <a:solidFill>
            <a:srgbClr val="F8515D"/>
          </a:solidFill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4ACA4D82-A8A1-A170-9537-2F673236ECEF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2" name="object 13">
              <a:extLst>
                <a:ext uri="{FF2B5EF4-FFF2-40B4-BE49-F238E27FC236}">
                  <a16:creationId xmlns:a16="http://schemas.microsoft.com/office/drawing/2014/main" id="{B7DA32D3-3495-6797-845C-296435FCA9F8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수준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124FED1-6C82-0611-8F76-8346B989DEFE}"/>
              </a:ext>
            </a:extLst>
          </p:cNvPr>
          <p:cNvGrpSpPr/>
          <p:nvPr/>
        </p:nvGrpSpPr>
        <p:grpSpPr>
          <a:xfrm>
            <a:off x="6135118" y="2190750"/>
            <a:ext cx="931386" cy="279400"/>
            <a:chOff x="991235" y="3543300"/>
            <a:chExt cx="4781550" cy="558800"/>
          </a:xfrm>
          <a:noFill/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A908276D-A6AE-25F0-C4F8-A65063A48F23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F851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F615C0F9-C1D5-F9BF-7FE0-49CF20ADC22E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중</a:t>
              </a:r>
              <a:r>
                <a:rPr lang="en-US" altLang="ko-KR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-</a:t>
              </a:r>
              <a:r>
                <a:rPr lang="ko-KR" altLang="en-US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고급</a:t>
              </a:r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13AA70A-8660-DD6B-B422-A7507EA364CF}"/>
              </a:ext>
            </a:extLst>
          </p:cNvPr>
          <p:cNvGrpSpPr/>
          <p:nvPr/>
        </p:nvGrpSpPr>
        <p:grpSpPr>
          <a:xfrm>
            <a:off x="5072025" y="2724150"/>
            <a:ext cx="931386" cy="279400"/>
            <a:chOff x="991235" y="3543300"/>
            <a:chExt cx="4781550" cy="558800"/>
          </a:xfrm>
          <a:solidFill>
            <a:srgbClr val="F8515D"/>
          </a:solidFill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73C3FCA9-65ED-42A9-EC1D-D54614612C6B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8" name="object 13">
              <a:extLst>
                <a:ext uri="{FF2B5EF4-FFF2-40B4-BE49-F238E27FC236}">
                  <a16:creationId xmlns:a16="http://schemas.microsoft.com/office/drawing/2014/main" id="{4566087D-3F45-7F0E-A8CC-BD9B30C6AC57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교육시간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A8EFCD4-78B7-D68D-9027-038790A859CC}"/>
              </a:ext>
            </a:extLst>
          </p:cNvPr>
          <p:cNvGrpSpPr/>
          <p:nvPr/>
        </p:nvGrpSpPr>
        <p:grpSpPr>
          <a:xfrm>
            <a:off x="6135118" y="2724150"/>
            <a:ext cx="937736" cy="279400"/>
            <a:chOff x="991235" y="3543300"/>
            <a:chExt cx="4781550" cy="558800"/>
          </a:xfrm>
          <a:noFill/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4E8118E3-4F13-5DF5-B5AB-FD43B6862B9A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F851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1" name="object 13">
              <a:extLst>
                <a:ext uri="{FF2B5EF4-FFF2-40B4-BE49-F238E27FC236}">
                  <a16:creationId xmlns:a16="http://schemas.microsoft.com/office/drawing/2014/main" id="{A0DB29A8-540F-2BBE-3D32-DA1C81BBA2C9}"/>
                </a:ext>
              </a:extLst>
            </p:cNvPr>
            <p:cNvSpPr txBox="1"/>
            <p:nvPr/>
          </p:nvSpPr>
          <p:spPr>
            <a:xfrm>
              <a:off x="1130938" y="3654426"/>
              <a:ext cx="4449445" cy="32060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2</a:t>
              </a:r>
              <a:r>
                <a:rPr lang="ko-KR" altLang="en-US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일 </a:t>
              </a: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(14</a:t>
              </a:r>
              <a:r>
                <a:rPr lang="ko-KR" altLang="en-US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시간</a:t>
              </a:r>
              <a:r>
                <a:rPr lang="en-US" alt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)</a:t>
              </a:r>
              <a:endParaRPr lang="ko-KR" altLang="en-US" sz="1000" dirty="0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5FE904F-5DD5-EBB5-6D8D-C841AC214295}"/>
              </a:ext>
            </a:extLst>
          </p:cNvPr>
          <p:cNvGrpSpPr/>
          <p:nvPr/>
        </p:nvGrpSpPr>
        <p:grpSpPr>
          <a:xfrm>
            <a:off x="5072025" y="3865428"/>
            <a:ext cx="931386" cy="279400"/>
            <a:chOff x="991235" y="3543300"/>
            <a:chExt cx="4781550" cy="558800"/>
          </a:xfrm>
          <a:solidFill>
            <a:srgbClr val="F8515D"/>
          </a:solidFill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1E16A6ED-72BC-A217-9DD3-A53ABB40AAFB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4" name="object 13">
              <a:extLst>
                <a:ext uri="{FF2B5EF4-FFF2-40B4-BE49-F238E27FC236}">
                  <a16:creationId xmlns:a16="http://schemas.microsoft.com/office/drawing/2014/main" id="{20043CFD-A63E-4A3E-96BB-BCF618E13322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유료툴</a:t>
              </a: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제공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AAF9F00-8137-2CD1-3F1E-9F809C716499}"/>
              </a:ext>
            </a:extLst>
          </p:cNvPr>
          <p:cNvGrpSpPr/>
          <p:nvPr/>
        </p:nvGrpSpPr>
        <p:grpSpPr>
          <a:xfrm>
            <a:off x="5072025" y="3265555"/>
            <a:ext cx="931386" cy="279400"/>
            <a:chOff x="991235" y="3543300"/>
            <a:chExt cx="4781550" cy="558800"/>
          </a:xfrm>
          <a:solidFill>
            <a:srgbClr val="F8515D"/>
          </a:solidFill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2C6081BC-FB35-0A39-3D87-86CFD7B1595D}"/>
                </a:ext>
              </a:extLst>
            </p:cNvPr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7" name="object 13">
              <a:extLst>
                <a:ext uri="{FF2B5EF4-FFF2-40B4-BE49-F238E27FC236}">
                  <a16:creationId xmlns:a16="http://schemas.microsoft.com/office/drawing/2014/main" id="{A6022808-0444-9C66-11DA-5A1E7A7E8A1D}"/>
                </a:ext>
              </a:extLst>
            </p:cNvPr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grpFill/>
          </p:spPr>
          <p:txBody>
            <a:bodyPr vert="horz" wrap="square" lIns="0" tIns="6351" rIns="0" bIns="0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교육대상</a:t>
              </a:r>
            </a:p>
          </p:txBody>
        </p:sp>
      </p:grpSp>
      <p:sp>
        <p:nvSpPr>
          <p:cNvPr id="28" name="object 13">
            <a:extLst>
              <a:ext uri="{FF2B5EF4-FFF2-40B4-BE49-F238E27FC236}">
                <a16:creationId xmlns:a16="http://schemas.microsoft.com/office/drawing/2014/main" id="{3A7FD8B1-7550-DBB5-20F6-ADE1DA46510E}"/>
              </a:ext>
            </a:extLst>
          </p:cNvPr>
          <p:cNvSpPr txBox="1"/>
          <p:nvPr/>
        </p:nvSpPr>
        <p:spPr>
          <a:xfrm>
            <a:off x="6135118" y="3257550"/>
            <a:ext cx="2170692" cy="3141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6351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Python </a:t>
            </a:r>
            <a:r>
              <a:rPr lang="ko-KR" altLang="en-US" sz="1000" dirty="0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기초 지식을 보유한</a:t>
            </a:r>
            <a:endParaRPr lang="en-US" altLang="ko-KR" sz="1000" dirty="0">
              <a:solidFill>
                <a:srgbClr val="3A3838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AI/SW </a:t>
            </a:r>
            <a:r>
              <a:rPr lang="ko-KR" altLang="en-US" sz="1000" dirty="0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개발 엔지니어</a:t>
            </a:r>
            <a:r>
              <a:rPr lang="en-US" altLang="ko-KR" sz="1000" dirty="0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1000" dirty="0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데이터 직군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29" name="Google Shape;710;p18">
            <a:extLst>
              <a:ext uri="{FF2B5EF4-FFF2-40B4-BE49-F238E27FC236}">
                <a16:creationId xmlns:a16="http://schemas.microsoft.com/office/drawing/2014/main" id="{E0C29F23-023C-C849-1E90-B5D0F4FE8F7B}"/>
              </a:ext>
            </a:extLst>
          </p:cNvPr>
          <p:cNvGrpSpPr/>
          <p:nvPr/>
        </p:nvGrpSpPr>
        <p:grpSpPr>
          <a:xfrm>
            <a:off x="6135118" y="3843611"/>
            <a:ext cx="537895" cy="404539"/>
            <a:chOff x="7844319" y="5693188"/>
            <a:chExt cx="723001" cy="528462"/>
          </a:xfrm>
        </p:grpSpPr>
        <p:pic>
          <p:nvPicPr>
            <p:cNvPr id="30" name="Google Shape;711;p18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154C1A3C-7971-7E08-4D5E-9E6AD01BDE0B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033305" y="5693188"/>
              <a:ext cx="345028" cy="3450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712;p18">
              <a:extLst>
                <a:ext uri="{FF2B5EF4-FFF2-40B4-BE49-F238E27FC236}">
                  <a16:creationId xmlns:a16="http://schemas.microsoft.com/office/drawing/2014/main" id="{00F24CD6-F39C-B87E-9627-3576CBA2E2A0}"/>
                </a:ext>
              </a:extLst>
            </p:cNvPr>
            <p:cNvSpPr txBox="1"/>
            <p:nvPr/>
          </p:nvSpPr>
          <p:spPr>
            <a:xfrm>
              <a:off x="7844319" y="6015614"/>
              <a:ext cx="723001" cy="206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85" tIns="17138" rIns="34285" bIns="17138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000"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ChatGPT</a:t>
              </a: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32" name="Google Shape;713;p18">
            <a:extLst>
              <a:ext uri="{FF2B5EF4-FFF2-40B4-BE49-F238E27FC236}">
                <a16:creationId xmlns:a16="http://schemas.microsoft.com/office/drawing/2014/main" id="{5F0D14EA-AC79-50C3-6770-81D689253541}"/>
              </a:ext>
            </a:extLst>
          </p:cNvPr>
          <p:cNvGrpSpPr/>
          <p:nvPr/>
        </p:nvGrpSpPr>
        <p:grpSpPr>
          <a:xfrm>
            <a:off x="6858000" y="3879023"/>
            <a:ext cx="755245" cy="347538"/>
            <a:chOff x="8523227" y="5753232"/>
            <a:chExt cx="1116094" cy="499146"/>
          </a:xfrm>
        </p:grpSpPr>
        <p:pic>
          <p:nvPicPr>
            <p:cNvPr id="33" name="Google Shape;714;p18">
              <a:extLst>
                <a:ext uri="{FF2B5EF4-FFF2-40B4-BE49-F238E27FC236}">
                  <a16:creationId xmlns:a16="http://schemas.microsoft.com/office/drawing/2014/main" id="{F19EEBE9-D28E-2A50-49A2-C09C35BC360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523227" y="5753232"/>
              <a:ext cx="1074420" cy="2830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" name="Google Shape;715;p18">
              <a:extLst>
                <a:ext uri="{FF2B5EF4-FFF2-40B4-BE49-F238E27FC236}">
                  <a16:creationId xmlns:a16="http://schemas.microsoft.com/office/drawing/2014/main" id="{A634F95C-9257-0ED6-B27E-1AD3F64DA62D}"/>
                </a:ext>
              </a:extLst>
            </p:cNvPr>
            <p:cNvSpPr txBox="1"/>
            <p:nvPr/>
          </p:nvSpPr>
          <p:spPr>
            <a:xfrm>
              <a:off x="8564978" y="6025854"/>
              <a:ext cx="1074343" cy="226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85" tIns="17138" rIns="34285" bIns="17138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000"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Open AI API</a:t>
              </a: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0" name="Google Shape;626;p18">
            <a:extLst>
              <a:ext uri="{FF2B5EF4-FFF2-40B4-BE49-F238E27FC236}">
                <a16:creationId xmlns:a16="http://schemas.microsoft.com/office/drawing/2014/main" id="{528A23FE-0958-CC83-74FA-C3436950A484}"/>
              </a:ext>
            </a:extLst>
          </p:cNvPr>
          <p:cNvGrpSpPr/>
          <p:nvPr/>
        </p:nvGrpSpPr>
        <p:grpSpPr>
          <a:xfrm>
            <a:off x="457200" y="1691651"/>
            <a:ext cx="439057" cy="1311899"/>
            <a:chOff x="829701" y="3543300"/>
            <a:chExt cx="4781550" cy="558800"/>
          </a:xfrm>
        </p:grpSpPr>
        <p:sp>
          <p:nvSpPr>
            <p:cNvPr id="51" name="Google Shape;627;p18">
              <a:extLst>
                <a:ext uri="{FF2B5EF4-FFF2-40B4-BE49-F238E27FC236}">
                  <a16:creationId xmlns:a16="http://schemas.microsoft.com/office/drawing/2014/main" id="{B3EB87E7-FD94-C112-514E-8FE6CE2AD8D0}"/>
                </a:ext>
              </a:extLst>
            </p:cNvPr>
            <p:cNvSpPr/>
            <p:nvPr/>
          </p:nvSpPr>
          <p:spPr>
            <a:xfrm>
              <a:off x="829701" y="3543300"/>
              <a:ext cx="4781550" cy="558800"/>
            </a:xfrm>
            <a:prstGeom prst="roundRect">
              <a:avLst>
                <a:gd name="adj" fmla="val 22232"/>
              </a:avLst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2" name="Google Shape;628;p18">
              <a:extLst>
                <a:ext uri="{FF2B5EF4-FFF2-40B4-BE49-F238E27FC236}">
                  <a16:creationId xmlns:a16="http://schemas.microsoft.com/office/drawing/2014/main" id="{0E26DD40-5C9C-F277-FAEE-5335350E3A6E}"/>
                </a:ext>
              </a:extLst>
            </p:cNvPr>
            <p:cNvSpPr txBox="1"/>
            <p:nvPr/>
          </p:nvSpPr>
          <p:spPr>
            <a:xfrm>
              <a:off x="829701" y="3772655"/>
              <a:ext cx="4449444" cy="55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6350" rIns="0" bIns="0" anchor="ctr" anchorCtr="0">
              <a:spAutoFit/>
            </a:bodyPr>
            <a:lstStyle/>
            <a:p>
              <a:pPr marL="6351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Day1</a:t>
              </a: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53" name="Google Shape;626;p18">
            <a:extLst>
              <a:ext uri="{FF2B5EF4-FFF2-40B4-BE49-F238E27FC236}">
                <a16:creationId xmlns:a16="http://schemas.microsoft.com/office/drawing/2014/main" id="{E42B3D62-833E-0443-D32C-F4FBEFD44B0E}"/>
              </a:ext>
            </a:extLst>
          </p:cNvPr>
          <p:cNvGrpSpPr/>
          <p:nvPr/>
        </p:nvGrpSpPr>
        <p:grpSpPr>
          <a:xfrm>
            <a:off x="457200" y="3028631"/>
            <a:ext cx="439057" cy="1311899"/>
            <a:chOff x="829701" y="3543300"/>
            <a:chExt cx="4781550" cy="558800"/>
          </a:xfrm>
        </p:grpSpPr>
        <p:sp>
          <p:nvSpPr>
            <p:cNvPr id="54" name="Google Shape;627;p18">
              <a:extLst>
                <a:ext uri="{FF2B5EF4-FFF2-40B4-BE49-F238E27FC236}">
                  <a16:creationId xmlns:a16="http://schemas.microsoft.com/office/drawing/2014/main" id="{73C1C82C-FBBE-4A80-E2F8-FF9B922342D5}"/>
                </a:ext>
              </a:extLst>
            </p:cNvPr>
            <p:cNvSpPr/>
            <p:nvPr/>
          </p:nvSpPr>
          <p:spPr>
            <a:xfrm>
              <a:off x="829701" y="3543300"/>
              <a:ext cx="4781550" cy="558800"/>
            </a:xfrm>
            <a:prstGeom prst="roundRect">
              <a:avLst>
                <a:gd name="adj" fmla="val 22232"/>
              </a:avLst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5" name="Google Shape;628;p18">
              <a:extLst>
                <a:ext uri="{FF2B5EF4-FFF2-40B4-BE49-F238E27FC236}">
                  <a16:creationId xmlns:a16="http://schemas.microsoft.com/office/drawing/2014/main" id="{BFEDEA52-D615-BBE8-ED3D-E414D31E12F9}"/>
                </a:ext>
              </a:extLst>
            </p:cNvPr>
            <p:cNvSpPr txBox="1"/>
            <p:nvPr/>
          </p:nvSpPr>
          <p:spPr>
            <a:xfrm>
              <a:off x="829701" y="3772655"/>
              <a:ext cx="4449444" cy="55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6350" rIns="0" bIns="0" anchor="ctr" anchorCtr="0">
              <a:spAutoFit/>
            </a:bodyPr>
            <a:lstStyle/>
            <a:p>
              <a:pPr marL="6351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Day2</a:t>
              </a:r>
              <a:endParaRPr kumimoji="0" sz="800" b="0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8C766634-351C-11A3-F973-C8C597D40586}"/>
              </a:ext>
            </a:extLst>
          </p:cNvPr>
          <p:cNvSpPr txBox="1"/>
          <p:nvPr/>
        </p:nvSpPr>
        <p:spPr>
          <a:xfrm>
            <a:off x="180000" y="237351"/>
            <a:ext cx="13388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재직자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훈련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과정 상세</a:t>
            </a:r>
          </a:p>
        </p:txBody>
      </p:sp>
      <p:sp>
        <p:nvSpPr>
          <p:cNvPr id="37" name="슬라이드 번호 개체 틀 4">
            <a:extLst>
              <a:ext uri="{FF2B5EF4-FFF2-40B4-BE49-F238E27FC236}">
                <a16:creationId xmlns:a16="http://schemas.microsoft.com/office/drawing/2014/main" id="{2E56899E-DF2D-5AB8-D92E-F3E26E3107FF}"/>
              </a:ext>
            </a:extLst>
          </p:cNvPr>
          <p:cNvSpPr txBox="1">
            <a:spLocks/>
          </p:cNvSpPr>
          <p:nvPr/>
        </p:nvSpPr>
        <p:spPr>
          <a:xfrm>
            <a:off x="3520440" y="4917073"/>
            <a:ext cx="210312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altLang="ko-KR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16205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" name="Google Shape;533;p14"/>
          <p:cNvGrpSpPr/>
          <p:nvPr/>
        </p:nvGrpSpPr>
        <p:grpSpPr>
          <a:xfrm>
            <a:off x="439056" y="1684556"/>
            <a:ext cx="439057" cy="1318993"/>
            <a:chOff x="829701" y="3543300"/>
            <a:chExt cx="4781550" cy="558800"/>
          </a:xfrm>
        </p:grpSpPr>
        <p:sp>
          <p:nvSpPr>
            <p:cNvPr id="534" name="Google Shape;534;p14"/>
            <p:cNvSpPr/>
            <p:nvPr/>
          </p:nvSpPr>
          <p:spPr>
            <a:xfrm>
              <a:off x="829701" y="3543300"/>
              <a:ext cx="4781550" cy="558800"/>
            </a:xfrm>
            <a:prstGeom prst="roundRect">
              <a:avLst>
                <a:gd name="adj" fmla="val 22232"/>
              </a:avLst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45700" tIns="22850" rIns="45700" bIns="22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800"/>
                <a:buFont typeface="Arial"/>
                <a:buNone/>
              </a:pPr>
              <a:endParaRPr sz="800" b="0" i="0" u="none" strike="noStrike" cap="non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35" name="Google Shape;535;p14"/>
            <p:cNvSpPr txBox="1"/>
            <p:nvPr/>
          </p:nvSpPr>
          <p:spPr>
            <a:xfrm>
              <a:off x="829701" y="3772802"/>
              <a:ext cx="4449444" cy="54873"/>
            </a:xfrm>
            <a:prstGeom prst="rect">
              <a:avLst/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0" tIns="6350" rIns="0" bIns="0" anchor="ctr" anchorCtr="0">
              <a:spAutoFit/>
            </a:bodyPr>
            <a:lstStyle/>
            <a:p>
              <a:pPr marL="6351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lang="ko-KR" sz="800" b="0" i="0" u="none" strike="noStrike" cap="none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Day1</a:t>
              </a:r>
              <a:endParaRPr sz="800" b="0" i="0" u="none" strike="noStrike" cap="non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536" name="Google Shape;536;p14"/>
          <p:cNvSpPr txBox="1"/>
          <p:nvPr/>
        </p:nvSpPr>
        <p:spPr>
          <a:xfrm>
            <a:off x="979272" y="1597809"/>
            <a:ext cx="3821328" cy="2662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2850" rIns="45700" bIns="2285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sz="10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[이론] RAG, </a:t>
            </a:r>
            <a:r>
              <a:rPr lang="ko-KR" sz="1000" b="0" i="0" u="none" strike="noStrike" cap="non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챗봇</a:t>
            </a:r>
            <a:r>
              <a:rPr lang="ko-KR" sz="10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개발 이론 (3H)</a:t>
            </a:r>
            <a:endParaRPr sz="1000" b="0" i="0" u="none" strike="noStrike" cap="non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</a:pPr>
            <a:r>
              <a:rPr lang="ko-KR" sz="1000" b="0" i="0" u="none" strike="noStrike" cap="none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Foundation</a:t>
            </a:r>
            <a:r>
              <a:rPr lang="ko-KR" sz="1000" b="0" i="0" u="none" strike="noStrike" cap="none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sz="1000" b="0" i="0" u="none" strike="noStrike" cap="none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Model</a:t>
            </a:r>
            <a:r>
              <a:rPr lang="ko-KR" sz="1000" b="0" i="0" u="none" strike="noStrike" cap="none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개념 이</a:t>
            </a:r>
            <a:r>
              <a:rPr 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해</a:t>
            </a:r>
            <a:endParaRPr sz="1000" dirty="0">
              <a:solidFill>
                <a:srgbClr val="7F7F7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</a:pPr>
            <a:r>
              <a:rPr lang="ko-KR" sz="1000" b="0" i="0" u="none" strike="noStrike" cap="none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Chat</a:t>
            </a:r>
            <a:r>
              <a:rPr lang="ko-KR" sz="1000" b="0" i="0" u="none" strike="noStrike" cap="none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GPT</a:t>
            </a:r>
            <a:endParaRPr sz="1000" dirty="0">
              <a:solidFill>
                <a:srgbClr val="7F7F7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sz="10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[실습] LLM </a:t>
            </a:r>
            <a:r>
              <a:rPr lang="ko-KR" sz="10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Agent</a:t>
            </a:r>
            <a:r>
              <a:rPr lang="ko-KR" sz="10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고급 </a:t>
            </a:r>
            <a:r>
              <a:rPr lang="ko-KR" sz="10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챗봇</a:t>
            </a:r>
            <a:r>
              <a:rPr lang="ko-KR" sz="10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개발</a:t>
            </a:r>
            <a:r>
              <a:rPr lang="ko-KR" sz="1000" b="0" i="0" u="none" strike="noStrike" cap="non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(18H)</a:t>
            </a:r>
            <a:endParaRPr sz="1000" b="0" i="0" u="none" strike="noStrike" cap="non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</a:pPr>
            <a:r>
              <a:rPr lang="ko-KR" sz="1000" b="0" i="0" u="none" strike="noStrike" cap="none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Prompt</a:t>
            </a:r>
            <a:r>
              <a:rPr lang="ko-KR" sz="1000" b="0" i="0" u="none" strike="noStrike" cap="none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Engineerin</a:t>
            </a:r>
            <a:r>
              <a:rPr 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g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</a:pPr>
            <a:r>
              <a:rPr lang="ko-KR" sz="1000" b="0" i="0" u="none" strike="noStrike" cap="none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Chat</a:t>
            </a:r>
            <a:r>
              <a:rPr lang="ko-KR" sz="1000" b="0" i="0" u="none" strike="noStrike" cap="none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sz="1000" b="0" i="0" u="none" strike="noStrike" cap="none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Completions</a:t>
            </a:r>
            <a:r>
              <a:rPr lang="ko-KR" sz="1000" b="0" i="0" u="none" strike="noStrike" cap="none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API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</a:pPr>
            <a:r>
              <a:rPr 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Project 1 : </a:t>
            </a:r>
            <a:r>
              <a:rPr lang="ko-KR" sz="1000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Simple</a:t>
            </a:r>
            <a:r>
              <a:rPr 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sz="1000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Agent</a:t>
            </a:r>
            <a:r>
              <a:rPr 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제작하기</a:t>
            </a:r>
            <a:endParaRPr sz="1000" dirty="0">
              <a:solidFill>
                <a:srgbClr val="7F7F7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</a:pPr>
            <a:r>
              <a:rPr lang="ko-KR" sz="1000" b="0" i="0" u="none" strike="noStrike" cap="none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RAG 이해 (개념, </a:t>
            </a:r>
            <a:r>
              <a:rPr lang="ko-KR" sz="1000" b="0" i="0" u="none" strike="noStrike" cap="none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Embedding</a:t>
            </a:r>
            <a:r>
              <a:rPr lang="ko-KR" sz="1000" b="0" i="0" u="none" strike="noStrike" cap="none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/ </a:t>
            </a:r>
            <a:r>
              <a:rPr lang="ko-KR" sz="1000" b="0" i="0" u="none" strike="noStrike" cap="none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Vector</a:t>
            </a:r>
            <a:r>
              <a:rPr lang="ko-KR" sz="1000" b="0" i="0" u="none" strike="noStrike" cap="none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DB, </a:t>
            </a:r>
            <a:r>
              <a:rPr lang="ko-KR" sz="1000" b="0" i="0" u="none" strike="noStrike" cap="none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Llama</a:t>
            </a:r>
            <a:r>
              <a:rPr lang="ko-KR" sz="1000" b="0" i="0" u="none" strike="noStrike" cap="none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sz="1000" b="0" i="0" u="none" strike="noStrike" cap="none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Index</a:t>
            </a:r>
            <a:r>
              <a:rPr lang="ko-KR" sz="1000" b="0" i="0" u="none" strike="noStrike" cap="none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</a:t>
            </a:r>
            <a:endParaRPr sz="1000" b="0" i="0" u="none" strike="noStrike" cap="non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</a:pPr>
            <a:r>
              <a:rPr lang="ko-KR" sz="1000" b="0" i="0" u="none" strike="noStrike" cap="none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Funtion</a:t>
            </a:r>
            <a:r>
              <a:rPr lang="ko-KR" sz="1000" b="0" i="0" u="none" strike="noStrike" cap="none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sz="1000" b="0" i="0" u="none" strike="noStrike" cap="none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call</a:t>
            </a:r>
            <a:r>
              <a:rPr lang="ko-KR" sz="1000" b="0" i="0" u="none" strike="noStrike" cap="none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개념 이해 및 활용 예제 실습</a:t>
            </a:r>
            <a:endParaRPr sz="1000" b="0" i="0" u="none" strike="noStrike" cap="none" dirty="0">
              <a:solidFill>
                <a:srgbClr val="7F7F7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</a:pPr>
            <a:r>
              <a:rPr 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Project 2: </a:t>
            </a:r>
            <a:r>
              <a:rPr lang="ko-KR" sz="1000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Youtube</a:t>
            </a:r>
            <a:r>
              <a:rPr 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sz="1000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Chatbot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</a:pPr>
            <a:endParaRPr sz="1000" b="0" i="0" u="none" strike="noStrike" cap="none" dirty="0">
              <a:solidFill>
                <a:srgbClr val="7F7F7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</a:pPr>
            <a:r>
              <a:rPr lang="ko-KR" sz="1000" b="0" i="0" u="none" strike="noStrike" cap="none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Llama</a:t>
            </a:r>
            <a:r>
              <a:rPr lang="ko-KR" sz="1000" b="0" i="0" u="none" strike="noStrike" cap="none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sz="1000" b="0" i="0" u="none" strike="noStrike" cap="none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Index</a:t>
            </a:r>
            <a:r>
              <a:rPr 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sz="1000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agent</a:t>
            </a:r>
            <a:r>
              <a:rPr 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(</a:t>
            </a:r>
            <a:r>
              <a:rPr lang="ko-KR" sz="1000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Basic</a:t>
            </a:r>
            <a:r>
              <a:rPr 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sz="1000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Agent</a:t>
            </a:r>
            <a:r>
              <a:rPr 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sz="1000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workflow</a:t>
            </a:r>
            <a:r>
              <a:rPr 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sz="1000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tool</a:t>
            </a:r>
            <a:r>
              <a:rPr 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활용 </a:t>
            </a:r>
            <a:r>
              <a:rPr lang="ko-KR" sz="1000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Agent</a:t>
            </a:r>
            <a:r>
              <a:rPr 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제작)</a:t>
            </a:r>
            <a:endParaRPr sz="1000" b="0" i="0" u="none" strike="noStrike" cap="none" dirty="0">
              <a:solidFill>
                <a:srgbClr val="7F7F7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</a:pPr>
            <a:r>
              <a:rPr lang="ko-KR" sz="1000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Project 3 : </a:t>
            </a:r>
            <a:r>
              <a:rPr lang="ko-KR" sz="1000" b="0" i="0" u="none" strike="noStrike" cap="none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Llama</a:t>
            </a:r>
            <a:r>
              <a:rPr lang="ko-KR" sz="1000" b="0" i="0" u="none" strike="noStrike" cap="none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sz="1000" b="0" i="0" u="none" strike="noStrike" cap="none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Index</a:t>
            </a:r>
            <a:r>
              <a:rPr lang="ko-KR" sz="1000" b="0" i="0" u="none" strike="noStrike" cap="none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MBTI </a:t>
            </a:r>
            <a:r>
              <a:rPr lang="ko-KR" sz="1000" b="0" i="0" u="none" strike="noStrike" cap="none" dirty="0" err="1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Agent</a:t>
            </a:r>
            <a:endParaRPr sz="1000" dirty="0">
              <a:solidFill>
                <a:srgbClr val="7F7F7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</a:pPr>
            <a:r>
              <a:rPr lang="ko-KR" sz="1000" b="0" i="0" u="none" strike="noStrike" cap="none" dirty="0">
                <a:solidFill>
                  <a:srgbClr val="7F7F7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SLM</a:t>
            </a:r>
            <a:endParaRPr sz="1000" b="0" i="0" u="none" strike="noStrike" cap="non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537" name="Google Shape;537;p14"/>
          <p:cNvSpPr txBox="1"/>
          <p:nvPr/>
        </p:nvSpPr>
        <p:spPr>
          <a:xfrm>
            <a:off x="361950" y="594000"/>
            <a:ext cx="8420100" cy="48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515D"/>
              </a:buClr>
              <a:buSzPts val="2700"/>
              <a:buFont typeface="Arial"/>
              <a:buNone/>
            </a:pPr>
            <a:r>
              <a:rPr lang="ko-KR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[개발] </a:t>
            </a:r>
            <a:r>
              <a:rPr lang="ko-KR" sz="2700" b="1" spc="-150" dirty="0" err="1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AI와</a:t>
            </a:r>
            <a:r>
              <a:rPr lang="ko-KR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협업하기: LLM </a:t>
            </a:r>
            <a:r>
              <a:rPr lang="ko-KR" sz="2700" b="1" spc="-150" dirty="0" err="1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Agent</a:t>
            </a:r>
            <a:r>
              <a:rPr lang="ko-KR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고급 </a:t>
            </a:r>
            <a:r>
              <a:rPr lang="ko-KR" sz="2700" b="1" spc="-150" dirty="0" err="1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챗봇</a:t>
            </a:r>
            <a:r>
              <a:rPr lang="ko-KR" sz="2700" b="1" spc="-150" dirty="0">
                <a:solidFill>
                  <a:srgbClr val="F8515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개발</a:t>
            </a:r>
            <a:endParaRPr sz="1800" b="0" i="0" u="none" strike="noStrike" cap="none" spc="-150" dirty="0">
              <a:solidFill>
                <a:srgbClr val="F8515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538" name="Google Shape;538;p14"/>
          <p:cNvSpPr/>
          <p:nvPr/>
        </p:nvSpPr>
        <p:spPr>
          <a:xfrm>
            <a:off x="2286000" y="1134000"/>
            <a:ext cx="4572000" cy="241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ko-KR" sz="1200" b="0" i="0" u="none" strike="noStrike" cap="none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최신 생성형 </a:t>
            </a:r>
            <a:r>
              <a:rPr lang="ko-KR" sz="12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기술, RAG, </a:t>
            </a:r>
            <a:r>
              <a:rPr lang="ko-KR" sz="1200" dirty="0" err="1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Function</a:t>
            </a:r>
            <a:r>
              <a:rPr lang="ko-KR" sz="12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sz="1200" dirty="0" err="1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Calling을</a:t>
            </a:r>
            <a:r>
              <a:rPr lang="ko-KR" sz="12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활용하여 LLM </a:t>
            </a:r>
            <a:r>
              <a:rPr lang="ko-KR" sz="1200" dirty="0" err="1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Agent</a:t>
            </a:r>
            <a:r>
              <a:rPr lang="ko-KR" sz="12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개발</a:t>
            </a:r>
            <a:endParaRPr sz="1800" b="0" i="0" u="none" strike="noStrike" cap="none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cxnSp>
        <p:nvCxnSpPr>
          <p:cNvPr id="540" name="Google Shape;540;p14"/>
          <p:cNvCxnSpPr/>
          <p:nvPr/>
        </p:nvCxnSpPr>
        <p:spPr>
          <a:xfrm rot="10800000" flipH="1">
            <a:off x="255913" y="1451316"/>
            <a:ext cx="8316587" cy="37672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1" name="Google Shape;541;p14"/>
          <p:cNvCxnSpPr/>
          <p:nvPr/>
        </p:nvCxnSpPr>
        <p:spPr>
          <a:xfrm>
            <a:off x="4876800" y="1553335"/>
            <a:ext cx="26" cy="2924904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2" name="Google Shape;542;p14"/>
          <p:cNvCxnSpPr/>
          <p:nvPr/>
        </p:nvCxnSpPr>
        <p:spPr>
          <a:xfrm>
            <a:off x="4876800" y="1553335"/>
            <a:ext cx="26" cy="2924904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3" name="Google Shape;543;p14"/>
          <p:cNvSpPr/>
          <p:nvPr/>
        </p:nvSpPr>
        <p:spPr>
          <a:xfrm>
            <a:off x="5002814" y="1598068"/>
            <a:ext cx="931386" cy="2794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45700" tIns="22850" rIns="45700" bIns="2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grpSp>
        <p:nvGrpSpPr>
          <p:cNvPr id="544" name="Google Shape;544;p14"/>
          <p:cNvGrpSpPr/>
          <p:nvPr/>
        </p:nvGrpSpPr>
        <p:grpSpPr>
          <a:xfrm>
            <a:off x="5072025" y="1671816"/>
            <a:ext cx="931386" cy="279400"/>
            <a:chOff x="991235" y="3543300"/>
            <a:chExt cx="4781550" cy="558800"/>
          </a:xfrm>
        </p:grpSpPr>
        <p:sp>
          <p:nvSpPr>
            <p:cNvPr id="545" name="Google Shape;545;p14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endParaRPr sz="900" b="0" i="0" u="none" strike="noStrike" cap="non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46" name="Google Shape;546;p14"/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lang="ko-KR" sz="1000" b="0" i="0" u="none" strike="noStrike" cap="none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교육목표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547" name="Google Shape;547;p14"/>
          <p:cNvSpPr txBox="1"/>
          <p:nvPr/>
        </p:nvSpPr>
        <p:spPr>
          <a:xfrm>
            <a:off x="6096000" y="1657350"/>
            <a:ext cx="297174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sz="10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Transformer와</a:t>
            </a:r>
            <a:r>
              <a:rPr lang="ko-KR" sz="10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GPT 모델을 이해하고, 프롬프트</a:t>
            </a:r>
            <a:endParaRPr sz="10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sz="10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엔지니어링, RAG, </a:t>
            </a:r>
            <a:r>
              <a:rPr lang="ko-KR" sz="10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Function</a:t>
            </a:r>
            <a:r>
              <a:rPr lang="ko-KR" sz="10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sz="10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Calling로</a:t>
            </a:r>
            <a:r>
              <a:rPr lang="ko-KR" sz="10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고급 </a:t>
            </a:r>
            <a:r>
              <a:rPr lang="ko-KR" sz="10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챗봇</a:t>
            </a:r>
            <a:r>
              <a:rPr lang="ko-KR" sz="10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개발</a:t>
            </a:r>
            <a:endParaRPr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grpSp>
        <p:nvGrpSpPr>
          <p:cNvPr id="548" name="Google Shape;548;p14"/>
          <p:cNvGrpSpPr/>
          <p:nvPr/>
        </p:nvGrpSpPr>
        <p:grpSpPr>
          <a:xfrm>
            <a:off x="5072025" y="2190750"/>
            <a:ext cx="931386" cy="279400"/>
            <a:chOff x="991235" y="3543300"/>
            <a:chExt cx="4781550" cy="558800"/>
          </a:xfrm>
        </p:grpSpPr>
        <p:sp>
          <p:nvSpPr>
            <p:cNvPr id="549" name="Google Shape;549;p14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endParaRPr sz="900" b="0" i="0" u="none" strike="noStrike" cap="non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50" name="Google Shape;550;p14"/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lang="ko-KR" altLang="en-US" sz="1000" b="0" i="0" u="none" strike="noStrike" cap="none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수준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51" name="Google Shape;551;p14"/>
          <p:cNvGrpSpPr/>
          <p:nvPr/>
        </p:nvGrpSpPr>
        <p:grpSpPr>
          <a:xfrm>
            <a:off x="6135118" y="2190750"/>
            <a:ext cx="931386" cy="279400"/>
            <a:chOff x="991235" y="3543300"/>
            <a:chExt cx="4781550" cy="558800"/>
          </a:xfrm>
        </p:grpSpPr>
        <p:sp>
          <p:nvSpPr>
            <p:cNvPr id="552" name="Google Shape;552;p14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noFill/>
            <a:ln w="25400" cap="flat" cmpd="sng">
              <a:solidFill>
                <a:srgbClr val="F851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endParaRPr sz="900" b="0" i="0" u="none" strike="noStrike" cap="non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53" name="Google Shape;553;p14"/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000"/>
                <a:buFont typeface="Arial"/>
                <a:buNone/>
              </a:pPr>
              <a:r>
                <a:rPr lang="ko-KR" sz="1000" dirty="0">
                  <a:solidFill>
                    <a:srgbClr val="59595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고급</a:t>
              </a:r>
              <a:endParaRPr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554" name="Google Shape;554;p14"/>
          <p:cNvGrpSpPr/>
          <p:nvPr/>
        </p:nvGrpSpPr>
        <p:grpSpPr>
          <a:xfrm>
            <a:off x="5072025" y="2724150"/>
            <a:ext cx="931386" cy="279400"/>
            <a:chOff x="991235" y="3543300"/>
            <a:chExt cx="4781550" cy="558800"/>
          </a:xfrm>
        </p:grpSpPr>
        <p:sp>
          <p:nvSpPr>
            <p:cNvPr id="555" name="Google Shape;555;p14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endParaRPr sz="900" b="0" i="0" u="none" strike="noStrike" cap="non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56" name="Google Shape;556;p14"/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lang="ko-KR" sz="1000" b="0" i="0" u="none" strike="noStrike" cap="none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교육시간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57" name="Google Shape;557;p14"/>
          <p:cNvGrpSpPr/>
          <p:nvPr/>
        </p:nvGrpSpPr>
        <p:grpSpPr>
          <a:xfrm>
            <a:off x="6135118" y="2724150"/>
            <a:ext cx="937736" cy="279400"/>
            <a:chOff x="991235" y="3543300"/>
            <a:chExt cx="4781550" cy="558800"/>
          </a:xfrm>
        </p:grpSpPr>
        <p:sp>
          <p:nvSpPr>
            <p:cNvPr id="558" name="Google Shape;558;p14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noFill/>
            <a:ln w="25400" cap="flat" cmpd="sng">
              <a:solidFill>
                <a:srgbClr val="F851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endParaRPr sz="900" b="0" i="0" u="none" strike="noStrike" cap="non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59" name="Google Shape;559;p14"/>
            <p:cNvSpPr txBox="1"/>
            <p:nvPr/>
          </p:nvSpPr>
          <p:spPr>
            <a:xfrm>
              <a:off x="1130938" y="3654426"/>
              <a:ext cx="4449445" cy="3206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000"/>
                <a:buFont typeface="Arial"/>
                <a:buNone/>
              </a:pPr>
              <a:r>
                <a:rPr lang="ko-KR" sz="1000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3일 (21시간)</a:t>
              </a:r>
              <a:endParaRPr sz="1000" dirty="0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560" name="Google Shape;560;p14"/>
          <p:cNvGrpSpPr/>
          <p:nvPr/>
        </p:nvGrpSpPr>
        <p:grpSpPr>
          <a:xfrm>
            <a:off x="5072025" y="3865428"/>
            <a:ext cx="931386" cy="279400"/>
            <a:chOff x="991235" y="3543300"/>
            <a:chExt cx="4781550" cy="558800"/>
          </a:xfrm>
        </p:grpSpPr>
        <p:sp>
          <p:nvSpPr>
            <p:cNvPr id="561" name="Google Shape;561;p14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endParaRPr sz="900" b="0" i="0" u="none" strike="noStrike" cap="non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62" name="Google Shape;562;p14"/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lang="ko-KR" sz="1000" b="0" i="0" u="none" strike="noStrike" cap="none" dirty="0" err="1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유료툴</a:t>
              </a:r>
              <a:r>
                <a:rPr lang="ko-KR" sz="1000" b="0" i="0" u="none" strike="noStrike" cap="none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 제공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63" name="Google Shape;563;p14"/>
          <p:cNvGrpSpPr/>
          <p:nvPr/>
        </p:nvGrpSpPr>
        <p:grpSpPr>
          <a:xfrm>
            <a:off x="5072025" y="3265555"/>
            <a:ext cx="931386" cy="279400"/>
            <a:chOff x="991235" y="3543300"/>
            <a:chExt cx="4781550" cy="558800"/>
          </a:xfrm>
        </p:grpSpPr>
        <p:sp>
          <p:nvSpPr>
            <p:cNvPr id="564" name="Google Shape;564;p14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endParaRPr sz="900" b="0" i="0" u="none" strike="noStrike" cap="non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65" name="Google Shape;565;p14"/>
            <p:cNvSpPr txBox="1"/>
            <p:nvPr/>
          </p:nvSpPr>
          <p:spPr>
            <a:xfrm>
              <a:off x="1130936" y="3654426"/>
              <a:ext cx="4449444" cy="320602"/>
            </a:xfrm>
            <a:prstGeom prst="rect">
              <a:avLst/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lang="ko-KR" sz="1000" b="0" i="0" u="none" strike="noStrike" cap="none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교육대상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66" name="Google Shape;566;p14"/>
          <p:cNvGrpSpPr/>
          <p:nvPr/>
        </p:nvGrpSpPr>
        <p:grpSpPr>
          <a:xfrm>
            <a:off x="6135118" y="3843611"/>
            <a:ext cx="537895" cy="404539"/>
            <a:chOff x="7844319" y="5693188"/>
            <a:chExt cx="723001" cy="528462"/>
          </a:xfrm>
        </p:grpSpPr>
        <p:pic>
          <p:nvPicPr>
            <p:cNvPr id="567" name="Google Shape;567;p14" descr="블랙, 어둠이(가) 표시된 사진&#10;&#10;자동 생성된 설명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033305" y="5693188"/>
              <a:ext cx="345028" cy="3450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8" name="Google Shape;568;p14"/>
            <p:cNvSpPr txBox="1"/>
            <p:nvPr/>
          </p:nvSpPr>
          <p:spPr>
            <a:xfrm>
              <a:off x="7844319" y="6015614"/>
              <a:ext cx="723001" cy="206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17125" rIns="34275" bIns="171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000"/>
                <a:buFont typeface="Arial"/>
                <a:buNone/>
              </a:pPr>
              <a:r>
                <a:rPr lang="ko-KR" sz="800" b="0" i="0" u="none" strike="noStrike" cap="none" dirty="0" err="1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ChatGPT</a:t>
              </a:r>
              <a:endParaRPr sz="800" b="0" i="0" u="none" strike="noStrike" cap="none" dirty="0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569" name="Google Shape;569;p14"/>
          <p:cNvGrpSpPr/>
          <p:nvPr/>
        </p:nvGrpSpPr>
        <p:grpSpPr>
          <a:xfrm>
            <a:off x="6858000" y="3879023"/>
            <a:ext cx="755245" cy="347538"/>
            <a:chOff x="8523227" y="5753232"/>
            <a:chExt cx="1116094" cy="499146"/>
          </a:xfrm>
        </p:grpSpPr>
        <p:pic>
          <p:nvPicPr>
            <p:cNvPr id="570" name="Google Shape;570;p1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523227" y="5753232"/>
              <a:ext cx="1074420" cy="2830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1" name="Google Shape;571;p14"/>
            <p:cNvSpPr txBox="1"/>
            <p:nvPr/>
          </p:nvSpPr>
          <p:spPr>
            <a:xfrm>
              <a:off x="8564978" y="6025854"/>
              <a:ext cx="1074343" cy="226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17125" rIns="34275" bIns="171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000"/>
                <a:buFont typeface="Arial"/>
                <a:buNone/>
              </a:pPr>
              <a:r>
                <a:rPr lang="ko-KR" sz="800" b="0" i="0" u="none" strike="noStrike" cap="none" dirty="0" err="1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Open</a:t>
              </a:r>
              <a:r>
                <a:rPr lang="ko-KR" sz="800" b="0" i="0" u="none" strike="noStrike" cap="none" dirty="0">
                  <a:solidFill>
                    <a:srgbClr val="3A383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 AI API</a:t>
              </a:r>
              <a:endParaRPr sz="800" b="0" i="0" u="none" strike="noStrike" cap="none" dirty="0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572" name="Google Shape;572;p14"/>
          <p:cNvSpPr txBox="1"/>
          <p:nvPr/>
        </p:nvSpPr>
        <p:spPr>
          <a:xfrm>
            <a:off x="6135118" y="3257550"/>
            <a:ext cx="2170692" cy="31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000"/>
              <a:buFont typeface="Arial"/>
              <a:buNone/>
            </a:pPr>
            <a:r>
              <a:rPr lang="ko-KR" sz="1000" dirty="0" err="1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Python</a:t>
            </a:r>
            <a:r>
              <a:rPr lang="ko-KR" sz="1000" dirty="0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프로그래밍 경험이 있는</a:t>
            </a:r>
            <a:endParaRPr sz="1000" dirty="0">
              <a:solidFill>
                <a:srgbClr val="3A3838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000"/>
              <a:buFont typeface="Arial"/>
              <a:buNone/>
            </a:pPr>
            <a:r>
              <a:rPr lang="ko-KR" sz="1000" dirty="0">
                <a:solidFill>
                  <a:srgbClr val="3A383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AI/SW 개발 엔지니어, 데이터 직군</a:t>
            </a:r>
            <a:endParaRPr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grpSp>
        <p:nvGrpSpPr>
          <p:cNvPr id="573" name="Google Shape;573;p14"/>
          <p:cNvGrpSpPr/>
          <p:nvPr/>
        </p:nvGrpSpPr>
        <p:grpSpPr>
          <a:xfrm>
            <a:off x="433595" y="3052156"/>
            <a:ext cx="439057" cy="602358"/>
            <a:chOff x="829701" y="3543300"/>
            <a:chExt cx="4781550" cy="558800"/>
          </a:xfrm>
        </p:grpSpPr>
        <p:sp>
          <p:nvSpPr>
            <p:cNvPr id="574" name="Google Shape;574;p14"/>
            <p:cNvSpPr/>
            <p:nvPr/>
          </p:nvSpPr>
          <p:spPr>
            <a:xfrm>
              <a:off x="829701" y="3543300"/>
              <a:ext cx="4781550" cy="558800"/>
            </a:xfrm>
            <a:prstGeom prst="roundRect">
              <a:avLst>
                <a:gd name="adj" fmla="val 22232"/>
              </a:avLst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45700" tIns="22850" rIns="45700" bIns="22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800"/>
                <a:buFont typeface="Arial"/>
                <a:buNone/>
              </a:pPr>
              <a:endParaRPr sz="800" b="0" i="0" u="none" strike="noStrike" cap="non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75" name="Google Shape;575;p14"/>
            <p:cNvSpPr txBox="1"/>
            <p:nvPr/>
          </p:nvSpPr>
          <p:spPr>
            <a:xfrm>
              <a:off x="829701" y="3740161"/>
              <a:ext cx="4449444" cy="120157"/>
            </a:xfrm>
            <a:prstGeom prst="rect">
              <a:avLst/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0" tIns="6350" rIns="0" bIns="0" anchor="ctr" anchorCtr="0">
              <a:spAutoFit/>
            </a:bodyPr>
            <a:lstStyle/>
            <a:p>
              <a:pPr marL="6351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lang="ko-KR" sz="800" b="0" i="0" u="none" strike="noStrike" cap="none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Day2</a:t>
              </a:r>
              <a:endParaRPr sz="800" b="0" i="0" u="none" strike="noStrike" cap="non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576" name="Google Shape;576;p14"/>
          <p:cNvGrpSpPr/>
          <p:nvPr/>
        </p:nvGrpSpPr>
        <p:grpSpPr>
          <a:xfrm>
            <a:off x="426320" y="3699962"/>
            <a:ext cx="439057" cy="602358"/>
            <a:chOff x="829701" y="3543300"/>
            <a:chExt cx="4781550" cy="558800"/>
          </a:xfrm>
        </p:grpSpPr>
        <p:sp>
          <p:nvSpPr>
            <p:cNvPr id="577" name="Google Shape;577;p14"/>
            <p:cNvSpPr/>
            <p:nvPr/>
          </p:nvSpPr>
          <p:spPr>
            <a:xfrm>
              <a:off x="829701" y="3543300"/>
              <a:ext cx="4781550" cy="558800"/>
            </a:xfrm>
            <a:prstGeom prst="roundRect">
              <a:avLst>
                <a:gd name="adj" fmla="val 22232"/>
              </a:avLst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45700" tIns="22850" rIns="45700" bIns="22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800"/>
                <a:buFont typeface="Arial"/>
                <a:buNone/>
              </a:pPr>
              <a:endParaRPr sz="800" b="0" i="0" u="none" strike="noStrike" cap="non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578" name="Google Shape;578;p14"/>
            <p:cNvSpPr txBox="1"/>
            <p:nvPr/>
          </p:nvSpPr>
          <p:spPr>
            <a:xfrm>
              <a:off x="829701" y="3740161"/>
              <a:ext cx="4449444" cy="120157"/>
            </a:xfrm>
            <a:prstGeom prst="rect">
              <a:avLst/>
            </a:prstGeom>
            <a:solidFill>
              <a:srgbClr val="F8515D"/>
            </a:solidFill>
            <a:ln>
              <a:noFill/>
            </a:ln>
          </p:spPr>
          <p:txBody>
            <a:bodyPr spcFirstLastPara="1" wrap="square" lIns="0" tIns="6350" rIns="0" bIns="0" anchor="ctr" anchorCtr="0">
              <a:spAutoFit/>
            </a:bodyPr>
            <a:lstStyle/>
            <a:p>
              <a:pPr marL="6351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lang="ko-KR" sz="800" b="0" i="0" u="none" strike="noStrike" cap="none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Day3</a:t>
              </a:r>
              <a:endParaRPr sz="800" b="0" i="0" u="none" strike="noStrike" cap="non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FFA4401-084A-AA8D-6EC1-E4E0B4E340D2}"/>
              </a:ext>
            </a:extLst>
          </p:cNvPr>
          <p:cNvSpPr txBox="1"/>
          <p:nvPr/>
        </p:nvSpPr>
        <p:spPr>
          <a:xfrm>
            <a:off x="180000" y="237351"/>
            <a:ext cx="13388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재직자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훈련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과정 상세</a:t>
            </a:r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B955E4C-585D-E29F-F4B6-1C4A246825BD}"/>
              </a:ext>
            </a:extLst>
          </p:cNvPr>
          <p:cNvSpPr txBox="1">
            <a:spLocks/>
          </p:cNvSpPr>
          <p:nvPr/>
        </p:nvSpPr>
        <p:spPr>
          <a:xfrm>
            <a:off x="3520440" y="4917073"/>
            <a:ext cx="210312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altLang="ko-KR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18545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74461-F712-E466-79B6-2FB91C505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25"/>
          <p:cNvSpPr/>
          <p:nvPr/>
        </p:nvSpPr>
        <p:spPr>
          <a:xfrm>
            <a:off x="990600" y="1990665"/>
            <a:ext cx="1028700" cy="1647885"/>
          </a:xfrm>
          <a:prstGeom prst="roundRect">
            <a:avLst>
              <a:gd name="adj" fmla="val 4861"/>
            </a:avLst>
          </a:prstGeom>
          <a:solidFill>
            <a:srgbClr val="88C1FF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rtl="0"/>
            <a:endParaRPr sz="900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60" name="Google Shape;860;p25"/>
          <p:cNvSpPr txBox="1"/>
          <p:nvPr/>
        </p:nvSpPr>
        <p:spPr>
          <a:xfrm>
            <a:off x="381000" y="666750"/>
            <a:ext cx="8420100" cy="689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algn="ctr" rtl="0">
              <a:lnSpc>
                <a:spcPct val="150000"/>
              </a:lnSpc>
            </a:pPr>
            <a:r>
              <a:rPr lang="ko-KR" altLang="en-US" sz="2000" b="1" spc="-15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강남과 대전에서</a:t>
            </a:r>
            <a:r>
              <a:rPr lang="ko-KR" altLang="en-US" sz="2200" b="1" spc="-15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altLang="ko-KR" sz="27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r>
              <a:rPr lang="ko-KR" altLang="en-US" sz="27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교육 </a:t>
            </a:r>
            <a:r>
              <a:rPr lang="ko-KR" altLang="en-US" sz="2000" b="1" spc="-15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이 필요하다면</a:t>
            </a:r>
            <a:r>
              <a:rPr lang="en-US" altLang="ko-KR" sz="2000" b="1" spc="-15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2000" b="1" spc="-150" dirty="0" err="1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모두의연구소</a:t>
            </a:r>
            <a:r>
              <a:rPr lang="ko-KR" altLang="en-US" sz="2000" b="1" spc="-15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어떠세요</a:t>
            </a:r>
            <a:r>
              <a:rPr lang="en-US" altLang="ko-KR" sz="2000" b="1" spc="-15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?</a:t>
            </a:r>
            <a:endParaRPr spc="-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64" name="Google Shape;864;p25"/>
          <p:cNvSpPr/>
          <p:nvPr/>
        </p:nvSpPr>
        <p:spPr>
          <a:xfrm>
            <a:off x="990600" y="1475531"/>
            <a:ext cx="6952837" cy="2966604"/>
          </a:xfrm>
          <a:prstGeom prst="roundRect">
            <a:avLst>
              <a:gd name="adj" fmla="val 2705"/>
            </a:avLst>
          </a:prstGeom>
          <a:noFill/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rtl="0"/>
            <a:endParaRPr sz="900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65" name="Google Shape;865;p25"/>
          <p:cNvSpPr/>
          <p:nvPr/>
        </p:nvSpPr>
        <p:spPr>
          <a:xfrm>
            <a:off x="990600" y="1990665"/>
            <a:ext cx="6952837" cy="375805"/>
          </a:xfrm>
          <a:prstGeom prst="roundRect">
            <a:avLst>
              <a:gd name="adj" fmla="val 20910"/>
            </a:avLst>
          </a:prstGeom>
          <a:solidFill>
            <a:srgbClr val="88C1FF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rtl="0"/>
            <a:endParaRPr sz="900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866" name="Google Shape;866;p25"/>
          <p:cNvCxnSpPr/>
          <p:nvPr/>
        </p:nvCxnSpPr>
        <p:spPr>
          <a:xfrm>
            <a:off x="990600" y="2861769"/>
            <a:ext cx="6952837" cy="0"/>
          </a:xfrm>
          <a:prstGeom prst="straightConnector1">
            <a:avLst/>
          </a:prstGeom>
          <a:noFill/>
          <a:ln w="9525" cap="flat" cmpd="sng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7" name="Google Shape;867;p25"/>
          <p:cNvSpPr txBox="1"/>
          <p:nvPr/>
        </p:nvSpPr>
        <p:spPr>
          <a:xfrm>
            <a:off x="1066800" y="2442669"/>
            <a:ext cx="876300" cy="353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rtl="0"/>
            <a:r>
              <a:rPr lang="ko-KR" altLang="en-US" sz="1000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모두의연구소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캠퍼스 소개</a:t>
            </a:r>
            <a:endParaRPr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68" name="Google Shape;868;p25"/>
          <p:cNvSpPr txBox="1"/>
          <p:nvPr/>
        </p:nvSpPr>
        <p:spPr>
          <a:xfrm>
            <a:off x="2102644" y="2435893"/>
            <a:ext cx="5665328" cy="353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l" rtl="0"/>
            <a:r>
              <a:rPr lang="ko-KR" altLang="en-US" sz="1000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모두의연구소는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재직자 누구나 </a:t>
            </a:r>
            <a:r>
              <a:rPr lang="en-US" altLang="ko-KR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AI·IT 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전문가로 성장할 수 있도록</a:t>
            </a:r>
            <a:r>
              <a:rPr lang="en-US" altLang="ko-KR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강남과 대전에 오프라인 전용 교육 플랫폼을 운영하고 있습니다</a:t>
            </a:r>
            <a:r>
              <a:rPr lang="en-US" altLang="ko-KR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sz="1000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869" name="Google Shape;869;p25"/>
          <p:cNvCxnSpPr/>
          <p:nvPr/>
        </p:nvCxnSpPr>
        <p:spPr>
          <a:xfrm>
            <a:off x="1009237" y="3242769"/>
            <a:ext cx="6952837" cy="0"/>
          </a:xfrm>
          <a:prstGeom prst="straightConnector1">
            <a:avLst/>
          </a:prstGeom>
          <a:noFill/>
          <a:ln w="9525" cap="flat" cmpd="sng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0" name="Google Shape;870;p25"/>
          <p:cNvSpPr txBox="1"/>
          <p:nvPr/>
        </p:nvSpPr>
        <p:spPr>
          <a:xfrm>
            <a:off x="4042950" y="2088984"/>
            <a:ext cx="1479889" cy="20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rtl="0"/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내용</a:t>
            </a:r>
            <a:endParaRPr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71" name="Google Shape;871;p25"/>
          <p:cNvSpPr txBox="1"/>
          <p:nvPr/>
        </p:nvSpPr>
        <p:spPr>
          <a:xfrm>
            <a:off x="2102644" y="2874067"/>
            <a:ext cx="5509387" cy="353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l" rtl="0"/>
            <a:r>
              <a:rPr lang="ko-KR" altLang="en-US" sz="1000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모두의연구소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강남캠퍼스 </a:t>
            </a:r>
            <a:r>
              <a:rPr lang="en-US" altLang="ko-KR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강남구 강남대로 </a:t>
            </a:r>
            <a:r>
              <a:rPr lang="en-US" altLang="ko-KR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324, </a:t>
            </a:r>
            <a:r>
              <a:rPr lang="ko-KR" altLang="en-US" sz="1000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역삼디오대우슈페리움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altLang="ko-KR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2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층</a:t>
            </a:r>
            <a:r>
              <a:rPr lang="en-US" altLang="ko-KR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 rtl="0"/>
            <a:r>
              <a:rPr lang="ko-KR" altLang="en-US" sz="1000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모두의연구소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대전캠퍼스 </a:t>
            </a:r>
            <a:r>
              <a:rPr lang="en-US" altLang="ko-KR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대전 중구 중앙로 </a:t>
            </a:r>
            <a:r>
              <a:rPr lang="en-US" altLang="ko-KR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119 </a:t>
            </a:r>
            <a:r>
              <a:rPr lang="ko-KR" altLang="en-US" sz="1000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테크노파크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sz="1000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디스테이션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altLang="ko-KR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12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층</a:t>
            </a:r>
            <a:r>
              <a:rPr lang="en-US" altLang="ko-KR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72" name="Google Shape;872;p25"/>
          <p:cNvSpPr txBox="1"/>
          <p:nvPr/>
        </p:nvSpPr>
        <p:spPr>
          <a:xfrm>
            <a:off x="1073944" y="2976069"/>
            <a:ext cx="876300" cy="20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rtl="0"/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위치</a:t>
            </a:r>
            <a:endParaRPr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73" name="Google Shape;873;p25"/>
          <p:cNvSpPr txBox="1"/>
          <p:nvPr/>
        </p:nvSpPr>
        <p:spPr>
          <a:xfrm>
            <a:off x="1085850" y="3347514"/>
            <a:ext cx="876300" cy="20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rtl="0"/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보유 공간</a:t>
            </a:r>
            <a:endParaRPr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74" name="Google Shape;874;p25"/>
          <p:cNvSpPr txBox="1"/>
          <p:nvPr/>
        </p:nvSpPr>
        <p:spPr>
          <a:xfrm>
            <a:off x="2093042" y="3255066"/>
            <a:ext cx="5543137" cy="353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l" rtl="0"/>
            <a:r>
              <a:rPr lang="ko-KR" altLang="en-US" sz="1000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모두의연구소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강남캠퍼스 </a:t>
            </a:r>
            <a:r>
              <a:rPr lang="ko-KR" altLang="en-US" sz="1000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컨퍼런스룸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및 라운지</a:t>
            </a:r>
            <a:endParaRPr sz="1000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algn="l" rtl="0"/>
            <a:r>
              <a:rPr lang="ko-KR" altLang="en-US" sz="1000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모두의연구소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대전캠퍼스 </a:t>
            </a:r>
            <a:r>
              <a:rPr lang="ko-KR" altLang="en-US" sz="1000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컨퍼런스룸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및 라운지</a:t>
            </a:r>
            <a:r>
              <a:rPr lang="en-US" altLang="ko-KR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1000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미팅룸</a:t>
            </a:r>
            <a:endParaRPr sz="1000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cxnSp>
        <p:nvCxnSpPr>
          <p:cNvPr id="875" name="Google Shape;875;p25"/>
          <p:cNvCxnSpPr/>
          <p:nvPr/>
        </p:nvCxnSpPr>
        <p:spPr>
          <a:xfrm>
            <a:off x="979106" y="3623769"/>
            <a:ext cx="6952837" cy="0"/>
          </a:xfrm>
          <a:prstGeom prst="straightConnector1">
            <a:avLst/>
          </a:prstGeom>
          <a:noFill/>
          <a:ln w="9525" cap="flat" cmpd="sng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3" name="Google Shape;883;p25"/>
          <p:cNvCxnSpPr/>
          <p:nvPr/>
        </p:nvCxnSpPr>
        <p:spPr>
          <a:xfrm>
            <a:off x="1009237" y="2366446"/>
            <a:ext cx="6952837" cy="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B243DDF-9E8D-4EB0-EB66-AB4BF5592D74}"/>
              </a:ext>
            </a:extLst>
          </p:cNvPr>
          <p:cNvSpPr txBox="1"/>
          <p:nvPr/>
        </p:nvSpPr>
        <p:spPr>
          <a:xfrm>
            <a:off x="180000" y="237351"/>
            <a:ext cx="17828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spc="-150" dirty="0" err="1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모두의연구소</a:t>
            </a:r>
            <a:r>
              <a:rPr lang="ko-KR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K-HP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캠퍼스 소개</a:t>
            </a:r>
            <a:endParaRPr kumimoji="0" lang="ko-KR" altLang="en-US" sz="1200" i="0" u="none" strike="noStrike" kern="0" cap="none" spc="-150" normalizeH="0" baseline="0" noProof="0" dirty="0">
              <a:ln>
                <a:noFill/>
              </a:ln>
              <a:solidFill>
                <a:srgbClr val="110044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07077357-6DCD-A818-E9A8-258F335C77D0}"/>
              </a:ext>
            </a:extLst>
          </p:cNvPr>
          <p:cNvSpPr txBox="1">
            <a:spLocks/>
          </p:cNvSpPr>
          <p:nvPr/>
        </p:nvSpPr>
        <p:spPr>
          <a:xfrm>
            <a:off x="3520440" y="4917073"/>
            <a:ext cx="210312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altLang="ko-KR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5078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B3ED1-0AAC-B9AE-88DB-2C97BE4DF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3" name="Google Shape;893;p26"/>
          <p:cNvGrpSpPr/>
          <p:nvPr/>
        </p:nvGrpSpPr>
        <p:grpSpPr>
          <a:xfrm>
            <a:off x="641974" y="3587750"/>
            <a:ext cx="1391677" cy="279400"/>
            <a:chOff x="991235" y="3543300"/>
            <a:chExt cx="4781550" cy="558800"/>
          </a:xfrm>
          <a:solidFill>
            <a:schemeClr val="tx2"/>
          </a:solidFill>
        </p:grpSpPr>
        <p:sp>
          <p:nvSpPr>
            <p:cNvPr id="894" name="Google Shape;894;p26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algn="ctr" rtl="0"/>
              <a:endParaRPr sz="90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895" name="Google Shape;895;p26"/>
            <p:cNvSpPr txBox="1"/>
            <p:nvPr/>
          </p:nvSpPr>
          <p:spPr>
            <a:xfrm>
              <a:off x="1130935" y="3654426"/>
              <a:ext cx="4449444" cy="33599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6351" algn="ctr" rtl="0"/>
              <a:r>
                <a:rPr lang="ko-KR" altLang="en-US" sz="1050" dirty="0" err="1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컨퍼런스룸</a:t>
              </a:r>
              <a:r>
                <a:rPr lang="ko-KR" altLang="en-US" sz="1050" dirty="0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 </a:t>
              </a:r>
              <a:r>
                <a:rPr lang="en-US" altLang="ko-KR" sz="1050" dirty="0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(C1-C4) 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pic>
        <p:nvPicPr>
          <p:cNvPr id="896" name="Google Shape;89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9007" y="1123950"/>
            <a:ext cx="2266290" cy="2251532"/>
          </a:xfrm>
          <a:prstGeom prst="roundRect">
            <a:avLst>
              <a:gd name="adj" fmla="val 11428"/>
            </a:avLst>
          </a:prstGeom>
          <a:noFill/>
          <a:ln>
            <a:noFill/>
          </a:ln>
        </p:spPr>
      </p:pic>
      <p:pic>
        <p:nvPicPr>
          <p:cNvPr id="897" name="Google Shape;897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09900" y="1134148"/>
            <a:ext cx="2171700" cy="2232387"/>
          </a:xfrm>
          <a:prstGeom prst="roundRect">
            <a:avLst>
              <a:gd name="adj" fmla="val 8551"/>
            </a:avLst>
          </a:prstGeom>
          <a:noFill/>
          <a:ln>
            <a:noFill/>
          </a:ln>
        </p:spPr>
      </p:pic>
      <p:pic>
        <p:nvPicPr>
          <p:cNvPr id="898" name="Google Shape;898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07021" y="1145475"/>
            <a:ext cx="3077971" cy="2230006"/>
          </a:xfrm>
          <a:prstGeom prst="roundRect">
            <a:avLst>
              <a:gd name="adj" fmla="val 7267"/>
            </a:avLst>
          </a:prstGeom>
          <a:noFill/>
          <a:ln>
            <a:noFill/>
          </a:ln>
        </p:spPr>
      </p:pic>
      <p:grpSp>
        <p:nvGrpSpPr>
          <p:cNvPr id="899" name="Google Shape;899;p26"/>
          <p:cNvGrpSpPr/>
          <p:nvPr/>
        </p:nvGrpSpPr>
        <p:grpSpPr>
          <a:xfrm>
            <a:off x="5307021" y="3575851"/>
            <a:ext cx="1391677" cy="279400"/>
            <a:chOff x="9934850" y="3356267"/>
            <a:chExt cx="4781550" cy="558800"/>
          </a:xfrm>
          <a:solidFill>
            <a:schemeClr val="tx2"/>
          </a:solidFill>
        </p:grpSpPr>
        <p:sp>
          <p:nvSpPr>
            <p:cNvPr id="900" name="Google Shape;900;p26"/>
            <p:cNvSpPr/>
            <p:nvPr/>
          </p:nvSpPr>
          <p:spPr>
            <a:xfrm>
              <a:off x="9934850" y="3356267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algn="ctr" rtl="0"/>
              <a:endParaRPr sz="90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901" name="Google Shape;901;p26"/>
            <p:cNvSpPr txBox="1"/>
            <p:nvPr/>
          </p:nvSpPr>
          <p:spPr>
            <a:xfrm>
              <a:off x="10074550" y="3467393"/>
              <a:ext cx="4449444" cy="33599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6351" algn="ctr" rtl="0"/>
              <a:r>
                <a:rPr lang="ko-KR" altLang="en-US" sz="1050" dirty="0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라운지</a:t>
              </a:r>
              <a:endParaRPr sz="105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902" name="Google Shape;902;p26"/>
          <p:cNvSpPr/>
          <p:nvPr/>
        </p:nvSpPr>
        <p:spPr>
          <a:xfrm>
            <a:off x="659007" y="3915158"/>
            <a:ext cx="4592054" cy="560602"/>
          </a:xfrm>
          <a:prstGeom prst="roundRect">
            <a:avLst>
              <a:gd name="adj" fmla="val 17739"/>
            </a:avLst>
          </a:prstGeom>
          <a:solidFill>
            <a:srgbClr val="88C1FF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rtl="0"/>
            <a:endParaRPr sz="900" dirty="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03" name="Google Shape;903;p26"/>
          <p:cNvSpPr txBox="1"/>
          <p:nvPr/>
        </p:nvSpPr>
        <p:spPr>
          <a:xfrm>
            <a:off x="762000" y="3941554"/>
            <a:ext cx="4343400" cy="507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l" rtl="0">
              <a:buClr>
                <a:schemeClr val="dk1"/>
              </a:buClr>
              <a:buSzPts val="2000"/>
            </a:pP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최대 수용 가능 인원</a:t>
            </a:r>
            <a:r>
              <a:rPr lang="en-US" altLang="ko-KR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 64</a:t>
            </a: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인 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 rtl="0">
              <a:buClr>
                <a:schemeClr val="dk1"/>
              </a:buClr>
              <a:buSzPts val="2000"/>
            </a:pP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분리형으로 이용할 수 있으며 분리할 경우 공간 별 최대 </a:t>
            </a:r>
            <a:r>
              <a:rPr lang="en-US" altLang="ko-KR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16</a:t>
            </a: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명까지 수용 가능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 rtl="0">
              <a:buClr>
                <a:schemeClr val="dk1"/>
              </a:buClr>
              <a:buSzPts val="2000"/>
            </a:pP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추천용도 </a:t>
            </a:r>
            <a:r>
              <a:rPr lang="en-US" altLang="ko-KR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 </a:t>
            </a: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교육</a:t>
            </a:r>
            <a:r>
              <a:rPr lang="en-US" altLang="ko-KR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실습</a:t>
            </a:r>
            <a:r>
              <a:rPr lang="en-US" altLang="ko-KR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세미나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04" name="Google Shape;904;p26"/>
          <p:cNvSpPr/>
          <p:nvPr/>
        </p:nvSpPr>
        <p:spPr>
          <a:xfrm>
            <a:off x="5307021" y="3915158"/>
            <a:ext cx="3077971" cy="560602"/>
          </a:xfrm>
          <a:prstGeom prst="roundRect">
            <a:avLst>
              <a:gd name="adj" fmla="val 17739"/>
            </a:avLst>
          </a:prstGeom>
          <a:solidFill>
            <a:srgbClr val="88C1FF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rtl="0"/>
            <a:endParaRPr sz="900" dirty="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05" name="Google Shape;905;p26"/>
          <p:cNvSpPr txBox="1"/>
          <p:nvPr/>
        </p:nvSpPr>
        <p:spPr>
          <a:xfrm>
            <a:off x="5410200" y="4018498"/>
            <a:ext cx="2552700" cy="353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l" rtl="0">
              <a:buClr>
                <a:schemeClr val="dk1"/>
              </a:buClr>
              <a:buSzPts val="2000"/>
            </a:pP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최대 수용 가능 인원</a:t>
            </a:r>
            <a:r>
              <a:rPr lang="en-US" altLang="ko-KR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 50</a:t>
            </a: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인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 rtl="0">
              <a:buClr>
                <a:schemeClr val="dk1"/>
              </a:buClr>
              <a:buSzPts val="2000"/>
            </a:pP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추천용도 </a:t>
            </a:r>
            <a:r>
              <a:rPr lang="en-US" altLang="ko-KR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 </a:t>
            </a: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세미나</a:t>
            </a:r>
            <a:r>
              <a:rPr lang="en-US" altLang="ko-KR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컨퍼런스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C9F4C4-CF76-30CD-E57A-0FEE5D722ED0}"/>
              </a:ext>
            </a:extLst>
          </p:cNvPr>
          <p:cNvSpPr txBox="1"/>
          <p:nvPr/>
        </p:nvSpPr>
        <p:spPr>
          <a:xfrm>
            <a:off x="180000" y="237351"/>
            <a:ext cx="24384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spc="-150" dirty="0" err="1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모두의연구소</a:t>
            </a:r>
            <a:r>
              <a:rPr lang="ko-KR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K-HP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캠퍼스 소개 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-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강남캠퍼스</a:t>
            </a:r>
            <a:endParaRPr lang="ko-KR" altLang="en-US" sz="1200" spc="-150" dirty="0">
              <a:solidFill>
                <a:srgbClr val="11004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10971634-168B-81C2-78BA-A58D254FED08}"/>
              </a:ext>
            </a:extLst>
          </p:cNvPr>
          <p:cNvSpPr txBox="1">
            <a:spLocks/>
          </p:cNvSpPr>
          <p:nvPr/>
        </p:nvSpPr>
        <p:spPr>
          <a:xfrm>
            <a:off x="3520440" y="4917073"/>
            <a:ext cx="210312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altLang="ko-KR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6673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3B17D-933D-48BB-73EF-42AAC1A3A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7" name="Google Shape;917;p27"/>
          <p:cNvGrpSpPr/>
          <p:nvPr/>
        </p:nvGrpSpPr>
        <p:grpSpPr>
          <a:xfrm>
            <a:off x="437123" y="3409950"/>
            <a:ext cx="1391677" cy="279400"/>
            <a:chOff x="991235" y="3543300"/>
            <a:chExt cx="4781550" cy="558800"/>
          </a:xfrm>
          <a:solidFill>
            <a:schemeClr val="tx2"/>
          </a:solidFill>
        </p:grpSpPr>
        <p:sp>
          <p:nvSpPr>
            <p:cNvPr id="918" name="Google Shape;918;p27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algn="ctr" rtl="0"/>
              <a:endParaRPr sz="90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919" name="Google Shape;919;p27"/>
            <p:cNvSpPr txBox="1"/>
            <p:nvPr/>
          </p:nvSpPr>
          <p:spPr>
            <a:xfrm>
              <a:off x="1130935" y="3654426"/>
              <a:ext cx="4449444" cy="33599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6351" algn="ctr" rtl="0"/>
              <a:r>
                <a:rPr lang="ko-KR" altLang="en-US" sz="1050" dirty="0" err="1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컨퍼런스룸</a:t>
              </a:r>
              <a:endParaRPr sz="105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920" name="Google Shape;920;p27"/>
          <p:cNvGrpSpPr/>
          <p:nvPr/>
        </p:nvGrpSpPr>
        <p:grpSpPr>
          <a:xfrm>
            <a:off x="5771123" y="3409950"/>
            <a:ext cx="1391677" cy="279400"/>
            <a:chOff x="9934850" y="3356267"/>
            <a:chExt cx="4781550" cy="558800"/>
          </a:xfrm>
          <a:solidFill>
            <a:schemeClr val="tx2"/>
          </a:solidFill>
        </p:grpSpPr>
        <p:sp>
          <p:nvSpPr>
            <p:cNvPr id="921" name="Google Shape;921;p27"/>
            <p:cNvSpPr/>
            <p:nvPr/>
          </p:nvSpPr>
          <p:spPr>
            <a:xfrm>
              <a:off x="9934850" y="3356267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algn="ctr" rtl="0"/>
              <a:endParaRPr sz="90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922" name="Google Shape;922;p27"/>
            <p:cNvSpPr txBox="1"/>
            <p:nvPr/>
          </p:nvSpPr>
          <p:spPr>
            <a:xfrm>
              <a:off x="10074550" y="3467393"/>
              <a:ext cx="4449444" cy="33599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6351" algn="ctr" rtl="0"/>
              <a:r>
                <a:rPr lang="ko-KR" altLang="en-US" sz="1050" dirty="0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라운지</a:t>
              </a:r>
              <a:endParaRPr sz="105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923" name="Google Shape;923;p27"/>
          <p:cNvSpPr/>
          <p:nvPr/>
        </p:nvSpPr>
        <p:spPr>
          <a:xfrm>
            <a:off x="398033" y="3731463"/>
            <a:ext cx="2350779" cy="560602"/>
          </a:xfrm>
          <a:prstGeom prst="roundRect">
            <a:avLst>
              <a:gd name="adj" fmla="val 17739"/>
            </a:avLst>
          </a:prstGeom>
          <a:solidFill>
            <a:srgbClr val="88C1FF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rtl="0"/>
            <a:endParaRPr sz="900" dirty="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24" name="Google Shape;924;p27"/>
          <p:cNvSpPr txBox="1"/>
          <p:nvPr/>
        </p:nvSpPr>
        <p:spPr>
          <a:xfrm>
            <a:off x="421660" y="3834803"/>
            <a:ext cx="2400300" cy="353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l" rtl="0">
              <a:buClr>
                <a:schemeClr val="dk1"/>
              </a:buClr>
              <a:buSzPts val="2000"/>
            </a:pP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최대 수용 가능 인원</a:t>
            </a:r>
            <a:r>
              <a:rPr lang="en-US" altLang="ko-KR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 36</a:t>
            </a: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인 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 rtl="0">
              <a:buClr>
                <a:schemeClr val="dk1"/>
              </a:buClr>
              <a:buSzPts val="2000"/>
            </a:pP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사용 가능 장비</a:t>
            </a:r>
            <a:r>
              <a:rPr lang="en-US" altLang="ko-KR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 </a:t>
            </a: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스크린</a:t>
            </a:r>
            <a:r>
              <a:rPr lang="en-US" altLang="ko-KR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화이트보드</a:t>
            </a:r>
            <a:r>
              <a:rPr lang="en-US" altLang="ko-KR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HDMI</a:t>
            </a:r>
            <a:endParaRPr sz="1000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925" name="Google Shape;925;p27"/>
          <p:cNvSpPr/>
          <p:nvPr/>
        </p:nvSpPr>
        <p:spPr>
          <a:xfrm>
            <a:off x="5723130" y="3731463"/>
            <a:ext cx="3077971" cy="560602"/>
          </a:xfrm>
          <a:prstGeom prst="roundRect">
            <a:avLst>
              <a:gd name="adj" fmla="val 17739"/>
            </a:avLst>
          </a:prstGeom>
          <a:solidFill>
            <a:srgbClr val="88C1FF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rtl="0"/>
            <a:endParaRPr sz="900" dirty="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26" name="Google Shape;926;p27"/>
          <p:cNvSpPr txBox="1"/>
          <p:nvPr/>
        </p:nvSpPr>
        <p:spPr>
          <a:xfrm>
            <a:off x="5782457" y="3834803"/>
            <a:ext cx="2552700" cy="353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l" rtl="0">
              <a:buClr>
                <a:schemeClr val="dk1"/>
              </a:buClr>
              <a:buSzPts val="2000"/>
            </a:pP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최대 수용 가능 인원</a:t>
            </a:r>
            <a:r>
              <a:rPr lang="en-US" altLang="ko-KR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 40</a:t>
            </a: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인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 rtl="0">
              <a:buClr>
                <a:schemeClr val="dk1"/>
              </a:buClr>
              <a:buSzPts val="2000"/>
            </a:pP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추천용도 </a:t>
            </a:r>
            <a:r>
              <a:rPr lang="en-US" altLang="ko-KR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 </a:t>
            </a: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세미나</a:t>
            </a:r>
            <a:r>
              <a:rPr lang="en-US" altLang="ko-KR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컨퍼런스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930" name="Google Shape;930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01057" y="1176602"/>
            <a:ext cx="3081262" cy="1988001"/>
          </a:xfrm>
          <a:prstGeom prst="roundRect">
            <a:avLst>
              <a:gd name="adj" fmla="val 9541"/>
            </a:avLst>
          </a:prstGeom>
          <a:noFill/>
          <a:ln>
            <a:noFill/>
          </a:ln>
        </p:spPr>
      </p:pic>
      <p:pic>
        <p:nvPicPr>
          <p:cNvPr id="931" name="Google Shape;931;p27"/>
          <p:cNvPicPr preferRelativeResize="0"/>
          <p:nvPr/>
        </p:nvPicPr>
        <p:blipFill rotWithShape="1">
          <a:blip r:embed="rId4">
            <a:alphaModFix/>
          </a:blip>
          <a:srcRect l="12136"/>
          <a:stretch/>
        </p:blipFill>
        <p:spPr>
          <a:xfrm>
            <a:off x="413927" y="1194150"/>
            <a:ext cx="2247900" cy="1987200"/>
          </a:xfrm>
          <a:prstGeom prst="roundRect">
            <a:avLst>
              <a:gd name="adj" fmla="val 9214"/>
            </a:avLst>
          </a:prstGeom>
          <a:noFill/>
          <a:ln>
            <a:noFill/>
          </a:ln>
        </p:spPr>
      </p:pic>
      <p:pic>
        <p:nvPicPr>
          <p:cNvPr id="932" name="Google Shape;932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37749" y="1177403"/>
            <a:ext cx="2282475" cy="1987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grpSp>
        <p:nvGrpSpPr>
          <p:cNvPr id="933" name="Google Shape;933;p27"/>
          <p:cNvGrpSpPr/>
          <p:nvPr/>
        </p:nvGrpSpPr>
        <p:grpSpPr>
          <a:xfrm>
            <a:off x="2992867" y="3409950"/>
            <a:ext cx="1391677" cy="279400"/>
            <a:chOff x="991235" y="3543300"/>
            <a:chExt cx="4781550" cy="558800"/>
          </a:xfrm>
          <a:solidFill>
            <a:schemeClr val="tx2"/>
          </a:solidFill>
        </p:grpSpPr>
        <p:sp>
          <p:nvSpPr>
            <p:cNvPr id="934" name="Google Shape;934;p27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algn="ctr" rtl="0"/>
              <a:endParaRPr sz="90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935" name="Google Shape;935;p27"/>
            <p:cNvSpPr txBox="1"/>
            <p:nvPr/>
          </p:nvSpPr>
          <p:spPr>
            <a:xfrm>
              <a:off x="1130935" y="3654426"/>
              <a:ext cx="4449444" cy="33599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6351" algn="ctr" rtl="0"/>
              <a:r>
                <a:rPr lang="ko-KR" altLang="en-US" sz="1050" dirty="0" err="1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미팅룸</a:t>
              </a:r>
              <a:r>
                <a:rPr lang="en-US" altLang="ko-KR" sz="1050" dirty="0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(C3-C5)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936" name="Google Shape;936;p27"/>
          <p:cNvSpPr/>
          <p:nvPr/>
        </p:nvSpPr>
        <p:spPr>
          <a:xfrm>
            <a:off x="2971800" y="3731463"/>
            <a:ext cx="2541393" cy="560602"/>
          </a:xfrm>
          <a:prstGeom prst="roundRect">
            <a:avLst>
              <a:gd name="adj" fmla="val 17739"/>
            </a:avLst>
          </a:prstGeom>
          <a:solidFill>
            <a:srgbClr val="88C1FF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rtl="0"/>
            <a:endParaRPr sz="900" dirty="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37" name="Google Shape;937;p27"/>
          <p:cNvSpPr txBox="1"/>
          <p:nvPr/>
        </p:nvSpPr>
        <p:spPr>
          <a:xfrm>
            <a:off x="3012577" y="3834803"/>
            <a:ext cx="2541393" cy="353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l" rtl="0">
              <a:buClr>
                <a:schemeClr val="dk1"/>
              </a:buClr>
              <a:buSzPts val="2000"/>
            </a:pP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최대 수용 가능 인원</a:t>
            </a:r>
            <a:r>
              <a:rPr lang="en-US" altLang="ko-KR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 8</a:t>
            </a: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인 </a:t>
            </a:r>
            <a:endParaRPr sz="1000" dirty="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algn="l" rtl="0">
              <a:buClr>
                <a:schemeClr val="dk1"/>
              </a:buClr>
              <a:buSzPts val="2000"/>
            </a:pP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사용 가능 장비</a:t>
            </a:r>
            <a:r>
              <a:rPr lang="en-US" altLang="ko-KR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 75</a:t>
            </a: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인치 </a:t>
            </a:r>
            <a:r>
              <a:rPr lang="en-US" altLang="ko-KR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TV, HDMI, </a:t>
            </a: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화이트보드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CAE22A-C8B0-1A57-E91A-13B4176FEA4E}"/>
              </a:ext>
            </a:extLst>
          </p:cNvPr>
          <p:cNvSpPr txBox="1"/>
          <p:nvPr/>
        </p:nvSpPr>
        <p:spPr>
          <a:xfrm>
            <a:off x="180000" y="237351"/>
            <a:ext cx="24384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spc="-150" dirty="0" err="1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모두의연구소</a:t>
            </a:r>
            <a:r>
              <a:rPr lang="ko-KR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K-HP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캠퍼스 소개 </a:t>
            </a:r>
            <a:r>
              <a:rPr lang="en-US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-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대전캠퍼스</a:t>
            </a:r>
            <a:endParaRPr lang="ko-KR" altLang="en-US" sz="1200" spc="-150" dirty="0">
              <a:solidFill>
                <a:srgbClr val="11004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A62C638B-1869-EB88-AE9B-2D01F86E3078}"/>
              </a:ext>
            </a:extLst>
          </p:cNvPr>
          <p:cNvSpPr txBox="1">
            <a:spLocks/>
          </p:cNvSpPr>
          <p:nvPr/>
        </p:nvSpPr>
        <p:spPr>
          <a:xfrm>
            <a:off x="3520440" y="4917073"/>
            <a:ext cx="210312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altLang="ko-KR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14856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49F00-C311-6CD7-25CC-26D9FF929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4;p2">
            <a:extLst>
              <a:ext uri="{FF2B5EF4-FFF2-40B4-BE49-F238E27FC236}">
                <a16:creationId xmlns:a16="http://schemas.microsoft.com/office/drawing/2014/main" id="{C213E8C6-B9F7-A2FD-F825-BD94FCAF8557}"/>
              </a:ext>
            </a:extLst>
          </p:cNvPr>
          <p:cNvSpPr/>
          <p:nvPr/>
        </p:nvSpPr>
        <p:spPr>
          <a:xfrm>
            <a:off x="2895600" y="1276350"/>
            <a:ext cx="2819400" cy="119459"/>
          </a:xfrm>
          <a:prstGeom prst="roundRect">
            <a:avLst>
              <a:gd name="adj" fmla="val 50000"/>
            </a:avLst>
          </a:prstGeom>
          <a:solidFill>
            <a:srgbClr val="88C1FF">
              <a:alpha val="54000"/>
            </a:srgbClr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0" cap="none" spc="0" normalizeH="0" baseline="0" noProof="0" dirty="0">
              <a:ln>
                <a:noFill/>
              </a:ln>
              <a:solidFill>
                <a:srgbClr val="110044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Google Shape;65;p2">
            <a:extLst>
              <a:ext uri="{FF2B5EF4-FFF2-40B4-BE49-F238E27FC236}">
                <a16:creationId xmlns:a16="http://schemas.microsoft.com/office/drawing/2014/main" id="{C19EBA5D-345D-311B-100D-0B1007FCE5F2}"/>
              </a:ext>
            </a:extLst>
          </p:cNvPr>
          <p:cNvSpPr txBox="1"/>
          <p:nvPr/>
        </p:nvSpPr>
        <p:spPr>
          <a:xfrm>
            <a:off x="2286000" y="2356238"/>
            <a:ext cx="4572000" cy="184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Google Shape;70;p2">
            <a:extLst>
              <a:ext uri="{FF2B5EF4-FFF2-40B4-BE49-F238E27FC236}">
                <a16:creationId xmlns:a16="http://schemas.microsoft.com/office/drawing/2014/main" id="{00C121B1-3F95-FD7F-B19F-9B191D88DF79}"/>
              </a:ext>
            </a:extLst>
          </p:cNvPr>
          <p:cNvSpPr txBox="1"/>
          <p:nvPr/>
        </p:nvSpPr>
        <p:spPr>
          <a:xfrm>
            <a:off x="1574452" y="1759139"/>
            <a:ext cx="6319499" cy="507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0" cap="none" spc="0" normalizeH="0" baseline="0" noProof="0" dirty="0">
                <a:ln>
                  <a:noFill/>
                </a:ln>
                <a:solidFill>
                  <a:srgbClr val="110044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Share Value, Grow together</a:t>
            </a: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10044"/>
              </a:solidFill>
              <a:effectLst/>
              <a:uLnTx/>
              <a:uFillTx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8" name="Google Shape;71;p2">
            <a:extLst>
              <a:ext uri="{FF2B5EF4-FFF2-40B4-BE49-F238E27FC236}">
                <a16:creationId xmlns:a16="http://schemas.microsoft.com/office/drawing/2014/main" id="{A982BFA3-AC13-8F42-C9F5-E54A7DA300B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8517" y="2266950"/>
            <a:ext cx="3333750" cy="244376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Google Shape;72;p2">
            <a:extLst>
              <a:ext uri="{FF2B5EF4-FFF2-40B4-BE49-F238E27FC236}">
                <a16:creationId xmlns:a16="http://schemas.microsoft.com/office/drawing/2014/main" id="{373A50D4-3C5C-F766-EF54-83B63A5EAF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5779650"/>
              </p:ext>
            </p:extLst>
          </p:nvPr>
        </p:nvGraphicFramePr>
        <p:xfrm>
          <a:off x="4734201" y="2753371"/>
          <a:ext cx="3381101" cy="15237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88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750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7200" marR="0" lvl="1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 spc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회사명</a:t>
                      </a:r>
                      <a:endParaRPr sz="500" spc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54500" marR="0" lvl="0" indent="127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 spc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모두의연구소</a:t>
                      </a:r>
                      <a:endParaRPr sz="500" spc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50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7200" marR="0" lvl="1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 spc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설립일</a:t>
                      </a:r>
                      <a:endParaRPr sz="500" spc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54500" marR="0" lvl="0" indent="127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 spc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2015.12.05</a:t>
                      </a:r>
                      <a:endParaRPr sz="500" spc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50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7200" marR="0" lvl="1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 spc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대 표</a:t>
                      </a:r>
                      <a:endParaRPr sz="500" spc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5450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 spc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김승일</a:t>
                      </a:r>
                      <a:endParaRPr sz="500" spc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50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7200" marR="0" lvl="1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 spc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사업내용</a:t>
                      </a:r>
                      <a:endParaRPr sz="500" spc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5450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 spc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인공지능 교육 / 커뮤니티 사업</a:t>
                      </a:r>
                      <a:endParaRPr sz="500" spc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50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7200" marR="0" lvl="1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 spc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본사주소</a:t>
                      </a:r>
                      <a:endParaRPr sz="1000" u="none" strike="noStrike" cap="none" spc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54500" marR="0" lvl="0" indent="127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 spc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Arial"/>
                        </a:rPr>
                        <a:t>서울특별시 강남구 강남대로 324 2F</a:t>
                      </a:r>
                      <a:endParaRPr sz="500" spc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Google Shape;73;p2">
            <a:extLst>
              <a:ext uri="{FF2B5EF4-FFF2-40B4-BE49-F238E27FC236}">
                <a16:creationId xmlns:a16="http://schemas.microsoft.com/office/drawing/2014/main" id="{A8CD3F34-DF73-8018-C208-C1A01CEEA7B2}"/>
              </a:ext>
            </a:extLst>
          </p:cNvPr>
          <p:cNvSpPr txBox="1"/>
          <p:nvPr/>
        </p:nvSpPr>
        <p:spPr>
          <a:xfrm>
            <a:off x="2248375" y="3071397"/>
            <a:ext cx="524828" cy="167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63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현황분석</a:t>
            </a: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11" name="Google Shape;74;p2">
            <a:extLst>
              <a:ext uri="{FF2B5EF4-FFF2-40B4-BE49-F238E27FC236}">
                <a16:creationId xmlns:a16="http://schemas.microsoft.com/office/drawing/2014/main" id="{D0F6CB4F-3F7C-51D9-F131-F45E30ACD0E0}"/>
              </a:ext>
            </a:extLst>
          </p:cNvPr>
          <p:cNvSpPr/>
          <p:nvPr/>
        </p:nvSpPr>
        <p:spPr>
          <a:xfrm>
            <a:off x="1196142" y="2904214"/>
            <a:ext cx="6762750" cy="50284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2" name="Google Shape;75;p2">
            <a:extLst>
              <a:ext uri="{FF2B5EF4-FFF2-40B4-BE49-F238E27FC236}">
                <a16:creationId xmlns:a16="http://schemas.microsoft.com/office/drawing/2014/main" id="{F61062F2-317B-A570-DC39-506055FE29C6}"/>
              </a:ext>
            </a:extLst>
          </p:cNvPr>
          <p:cNvCxnSpPr/>
          <p:nvPr/>
        </p:nvCxnSpPr>
        <p:spPr>
          <a:xfrm>
            <a:off x="4916409" y="2739971"/>
            <a:ext cx="3042483" cy="6137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76;p2">
            <a:extLst>
              <a:ext uri="{FF2B5EF4-FFF2-40B4-BE49-F238E27FC236}">
                <a16:creationId xmlns:a16="http://schemas.microsoft.com/office/drawing/2014/main" id="{8F97CCE1-E4A5-E0FB-ECBF-12AD6160E13D}"/>
              </a:ext>
            </a:extLst>
          </p:cNvPr>
          <p:cNvCxnSpPr/>
          <p:nvPr/>
        </p:nvCxnSpPr>
        <p:spPr>
          <a:xfrm>
            <a:off x="4953000" y="4324350"/>
            <a:ext cx="3042483" cy="6137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69;p2">
            <a:extLst>
              <a:ext uri="{FF2B5EF4-FFF2-40B4-BE49-F238E27FC236}">
                <a16:creationId xmlns:a16="http://schemas.microsoft.com/office/drawing/2014/main" id="{A1839B60-1A46-E147-A6D4-56248306CE88}"/>
              </a:ext>
            </a:extLst>
          </p:cNvPr>
          <p:cNvSpPr txBox="1"/>
          <p:nvPr/>
        </p:nvSpPr>
        <p:spPr>
          <a:xfrm>
            <a:off x="641974" y="819150"/>
            <a:ext cx="8006726" cy="8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1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모두의연구소는</a:t>
            </a:r>
            <a:r>
              <a:rPr kumimoji="0" lang="ko-KR" altLang="en-US" sz="1600" b="0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국내 최대 </a:t>
            </a:r>
            <a:r>
              <a:rPr kumimoji="0" lang="en-US" altLang="ko-KR" sz="1600" b="0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</a:t>
            </a:r>
            <a:r>
              <a:rPr kumimoji="0" lang="ko-KR" altLang="en-US" sz="1600" b="0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연구 커뮤니티의 전문성을 바탕으로</a:t>
            </a:r>
            <a:endParaRPr kumimoji="0" sz="1800" b="0" i="0" u="none" strike="noStrike" kern="0" cap="none" spc="-15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93750"/>
              </a:lnSpc>
              <a:spcBef>
                <a:spcPts val="5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실무와 연구 역량을 겸비한 </a:t>
            </a:r>
            <a:r>
              <a:rPr kumimoji="0" lang="en-US" altLang="ko-KR" sz="1600" b="0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</a:t>
            </a:r>
            <a:r>
              <a:rPr kumimoji="0" lang="ko-KR" altLang="en-US" sz="1600" b="0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전문 인재를 양성하여</a:t>
            </a:r>
            <a:endParaRPr kumimoji="0" sz="1800" b="0" i="0" u="none" strike="noStrike" kern="0" cap="none" spc="-15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93750"/>
              </a:lnSpc>
              <a:spcBef>
                <a:spcPts val="5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대한민국 </a:t>
            </a:r>
            <a:r>
              <a:rPr kumimoji="0" lang="en-US" altLang="ko-KR" sz="1600" b="0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</a:t>
            </a:r>
            <a:r>
              <a:rPr kumimoji="0" lang="ko-KR" altLang="en-US" sz="1600" b="0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산업의 성장을 이끌어갑니다</a:t>
            </a:r>
            <a:endParaRPr kumimoji="0" sz="1600" b="0" i="0" u="none" strike="noStrike" kern="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4BC75D-068F-917B-760F-D213F46F0FE3}"/>
              </a:ext>
            </a:extLst>
          </p:cNvPr>
          <p:cNvSpPr txBox="1"/>
          <p:nvPr/>
        </p:nvSpPr>
        <p:spPr>
          <a:xfrm>
            <a:off x="180000" y="237351"/>
            <a:ext cx="1133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모두의연구소 소개 </a:t>
            </a:r>
          </a:p>
        </p:txBody>
      </p:sp>
      <p:sp>
        <p:nvSpPr>
          <p:cNvPr id="14" name="슬라이드 번호 개체 틀 4">
            <a:extLst>
              <a:ext uri="{FF2B5EF4-FFF2-40B4-BE49-F238E27FC236}">
                <a16:creationId xmlns:a16="http://schemas.microsoft.com/office/drawing/2014/main" id="{58E45B44-ABA1-9F1C-1E29-D8E645FE891F}"/>
              </a:ext>
            </a:extLst>
          </p:cNvPr>
          <p:cNvSpPr txBox="1">
            <a:spLocks/>
          </p:cNvSpPr>
          <p:nvPr/>
        </p:nvSpPr>
        <p:spPr>
          <a:xfrm>
            <a:off x="3520440" y="4917073"/>
            <a:ext cx="210312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altLang="ko-KR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85670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F5664-9EEE-7D60-263B-C0CFAA04D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"/>
          <p:cNvSpPr txBox="1"/>
          <p:nvPr/>
        </p:nvSpPr>
        <p:spPr>
          <a:xfrm>
            <a:off x="381000" y="1504950"/>
            <a:ext cx="8420100" cy="1699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algn="ctr" defTabSz="457200" rtl="0">
              <a:lnSpc>
                <a:spcPct val="150000"/>
              </a:lnSpc>
              <a:buClr>
                <a:srgbClr val="000000"/>
              </a:buClr>
            </a:pPr>
            <a:r>
              <a:rPr kumimoji="0" lang="ko-KR" altLang="en-US" sz="2800" b="1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이미 </a:t>
            </a:r>
            <a:r>
              <a:rPr lang="ko-KR" altLang="en-US" sz="40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총 </a:t>
            </a:r>
            <a:r>
              <a:rPr lang="en-US" altLang="ko-KR" sz="40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1,000+</a:t>
            </a:r>
            <a:r>
              <a:rPr lang="ko-KR" altLang="en-US" sz="40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개의 </a:t>
            </a:r>
            <a:r>
              <a:rPr lang="ko-KR" altLang="en-US" sz="2800" b="1" spc="-15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많은 기업</a:t>
            </a:r>
            <a:r>
              <a:rPr lang="en-US" altLang="ko-KR" sz="2800" b="1" spc="-15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/</a:t>
            </a:r>
            <a:r>
              <a:rPr lang="ko-KR" altLang="en-US" sz="2800" b="1" spc="-15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기관에서 </a:t>
            </a:r>
            <a:endParaRPr lang="en-US" altLang="ko-KR" sz="2800" b="1" spc="-15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algn="ctr" defTabSz="457200" rtl="0">
              <a:lnSpc>
                <a:spcPct val="150000"/>
              </a:lnSpc>
              <a:spcBef>
                <a:spcPts val="515"/>
              </a:spcBef>
              <a:buClr>
                <a:srgbClr val="000000"/>
              </a:buClr>
            </a:pPr>
            <a:r>
              <a:rPr lang="ko-KR" altLang="en-US" sz="2800" b="1" spc="-15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모두의연구소와</a:t>
            </a:r>
            <a:r>
              <a:rPr lang="ko-KR" altLang="en-US" sz="2800" b="1" spc="-15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 </a:t>
            </a:r>
            <a:r>
              <a:rPr lang="en-US" altLang="ko-KR" sz="2800" b="1" spc="-15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</a:t>
            </a:r>
            <a:r>
              <a:rPr lang="ko-KR" altLang="en-US" sz="2800" b="1" spc="-15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교육을 진행하고 있습니다</a:t>
            </a:r>
            <a:endParaRPr sz="2800" b="1" spc="-15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F164DAB-3313-32BA-C2CB-C369B4E95543}"/>
              </a:ext>
            </a:extLst>
          </p:cNvPr>
          <p:cNvGrpSpPr/>
          <p:nvPr/>
        </p:nvGrpSpPr>
        <p:grpSpPr>
          <a:xfrm>
            <a:off x="2057400" y="666750"/>
            <a:ext cx="5029200" cy="4144184"/>
            <a:chOff x="1388699" y="2217723"/>
            <a:chExt cx="2607013" cy="1989842"/>
          </a:xfrm>
        </p:grpSpPr>
        <p:pic>
          <p:nvPicPr>
            <p:cNvPr id="214" name="Google Shape;214;p8"/>
            <p:cNvPicPr preferRelativeResize="0"/>
            <p:nvPr/>
          </p:nvPicPr>
          <p:blipFill rotWithShape="1">
            <a:blip r:embed="rId2">
              <a:alphaModFix amt="20000"/>
            </a:blip>
            <a:srcRect/>
            <a:stretch/>
          </p:blipFill>
          <p:spPr>
            <a:xfrm>
              <a:off x="2112143" y="2239851"/>
              <a:ext cx="513283" cy="150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8"/>
            <p:cNvPicPr preferRelativeResize="0"/>
            <p:nvPr/>
          </p:nvPicPr>
          <p:blipFill rotWithShape="1">
            <a:blip r:embed="rId3">
              <a:alphaModFix amt="20000"/>
            </a:blip>
            <a:srcRect/>
            <a:stretch/>
          </p:blipFill>
          <p:spPr>
            <a:xfrm>
              <a:off x="1485900" y="2217723"/>
              <a:ext cx="513284" cy="1640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8"/>
            <p:cNvPicPr preferRelativeResize="0"/>
            <p:nvPr/>
          </p:nvPicPr>
          <p:blipFill rotWithShape="1">
            <a:blip r:embed="rId4">
              <a:alphaModFix amt="20000"/>
            </a:blip>
            <a:srcRect/>
            <a:stretch/>
          </p:blipFill>
          <p:spPr>
            <a:xfrm>
              <a:off x="3375783" y="2244228"/>
              <a:ext cx="399387" cy="141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8"/>
            <p:cNvPicPr preferRelativeResize="0"/>
            <p:nvPr/>
          </p:nvPicPr>
          <p:blipFill rotWithShape="1">
            <a:blip r:embed="rId5">
              <a:alphaModFix amt="20000"/>
            </a:blip>
            <a:srcRect/>
            <a:stretch/>
          </p:blipFill>
          <p:spPr>
            <a:xfrm>
              <a:off x="2700612" y="2260622"/>
              <a:ext cx="551058" cy="1299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8"/>
            <p:cNvPicPr preferRelativeResize="0"/>
            <p:nvPr/>
          </p:nvPicPr>
          <p:blipFill rotWithShape="1">
            <a:blip r:embed="rId6">
              <a:alphaModFix amt="20000"/>
            </a:blip>
            <a:srcRect/>
            <a:stretch/>
          </p:blipFill>
          <p:spPr>
            <a:xfrm>
              <a:off x="2318365" y="2484641"/>
              <a:ext cx="671663" cy="1274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8"/>
            <p:cNvPicPr preferRelativeResize="0"/>
            <p:nvPr/>
          </p:nvPicPr>
          <p:blipFill rotWithShape="1">
            <a:blip r:embed="rId7">
              <a:alphaModFix amt="20000"/>
            </a:blip>
            <a:srcRect/>
            <a:stretch/>
          </p:blipFill>
          <p:spPr>
            <a:xfrm>
              <a:off x="1485900" y="2502112"/>
              <a:ext cx="770356" cy="1151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8"/>
            <p:cNvPicPr preferRelativeResize="0"/>
            <p:nvPr/>
          </p:nvPicPr>
          <p:blipFill rotWithShape="1">
            <a:blip r:embed="rId8">
              <a:alphaModFix amt="20000"/>
            </a:blip>
            <a:srcRect/>
            <a:stretch/>
          </p:blipFill>
          <p:spPr>
            <a:xfrm>
              <a:off x="1969534" y="2728241"/>
              <a:ext cx="560661" cy="1770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8"/>
            <p:cNvPicPr preferRelativeResize="0"/>
            <p:nvPr/>
          </p:nvPicPr>
          <p:blipFill rotWithShape="1">
            <a:blip r:embed="rId9">
              <a:alphaModFix amt="20000"/>
            </a:blip>
            <a:srcRect/>
            <a:stretch/>
          </p:blipFill>
          <p:spPr>
            <a:xfrm>
              <a:off x="1485900" y="2749927"/>
              <a:ext cx="327326" cy="1299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8"/>
            <p:cNvPicPr preferRelativeResize="0"/>
            <p:nvPr/>
          </p:nvPicPr>
          <p:blipFill rotWithShape="1">
            <a:blip r:embed="rId10">
              <a:alphaModFix amt="20000"/>
            </a:blip>
            <a:srcRect/>
            <a:stretch/>
          </p:blipFill>
          <p:spPr>
            <a:xfrm>
              <a:off x="3148418" y="2683092"/>
              <a:ext cx="499111" cy="229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8"/>
            <p:cNvPicPr preferRelativeResize="0"/>
            <p:nvPr/>
          </p:nvPicPr>
          <p:blipFill rotWithShape="1">
            <a:blip r:embed="rId11">
              <a:alphaModFix amt="20000"/>
            </a:blip>
            <a:srcRect/>
            <a:stretch/>
          </p:blipFill>
          <p:spPr>
            <a:xfrm>
              <a:off x="2711845" y="2683092"/>
              <a:ext cx="293284" cy="2056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8"/>
            <p:cNvPicPr preferRelativeResize="0"/>
            <p:nvPr/>
          </p:nvPicPr>
          <p:blipFill rotWithShape="1">
            <a:blip r:embed="rId12">
              <a:alphaModFix amt="20000"/>
            </a:blip>
            <a:srcRect/>
            <a:stretch/>
          </p:blipFill>
          <p:spPr>
            <a:xfrm>
              <a:off x="2045512" y="3000671"/>
              <a:ext cx="560660" cy="1449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8"/>
            <p:cNvPicPr preferRelativeResize="0"/>
            <p:nvPr/>
          </p:nvPicPr>
          <p:blipFill rotWithShape="1">
            <a:blip r:embed="rId13">
              <a:alphaModFix amt="20000"/>
            </a:blip>
            <a:srcRect/>
            <a:stretch/>
          </p:blipFill>
          <p:spPr>
            <a:xfrm>
              <a:off x="1470119" y="2990871"/>
              <a:ext cx="513284" cy="1547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p8"/>
            <p:cNvPicPr preferRelativeResize="0"/>
            <p:nvPr/>
          </p:nvPicPr>
          <p:blipFill rotWithShape="1">
            <a:blip r:embed="rId14">
              <a:alphaModFix amt="20000"/>
            </a:blip>
            <a:srcRect/>
            <a:stretch/>
          </p:blipFill>
          <p:spPr>
            <a:xfrm>
              <a:off x="3073000" y="2511567"/>
              <a:ext cx="818193" cy="73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8"/>
            <p:cNvPicPr preferRelativeResize="0"/>
            <p:nvPr/>
          </p:nvPicPr>
          <p:blipFill rotWithShape="1">
            <a:blip r:embed="rId15">
              <a:alphaModFix amt="20000"/>
            </a:blip>
            <a:srcRect/>
            <a:stretch/>
          </p:blipFill>
          <p:spPr>
            <a:xfrm>
              <a:off x="2658359" y="2977895"/>
              <a:ext cx="517041" cy="1677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8"/>
            <p:cNvPicPr preferRelativeResize="0"/>
            <p:nvPr/>
          </p:nvPicPr>
          <p:blipFill rotWithShape="1">
            <a:blip r:embed="rId16">
              <a:alphaModFix amt="20000"/>
            </a:blip>
            <a:srcRect/>
            <a:stretch/>
          </p:blipFill>
          <p:spPr>
            <a:xfrm>
              <a:off x="3259420" y="2943253"/>
              <a:ext cx="473763" cy="2158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8"/>
            <p:cNvPicPr preferRelativeResize="0"/>
            <p:nvPr/>
          </p:nvPicPr>
          <p:blipFill rotWithShape="1">
            <a:blip r:embed="rId17">
              <a:alphaModFix amt="20000"/>
            </a:blip>
            <a:srcRect/>
            <a:stretch/>
          </p:blipFill>
          <p:spPr>
            <a:xfrm>
              <a:off x="1424440" y="3257378"/>
              <a:ext cx="621072" cy="1653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8"/>
            <p:cNvPicPr preferRelativeResize="0"/>
            <p:nvPr/>
          </p:nvPicPr>
          <p:blipFill rotWithShape="1">
            <a:blip r:embed="rId18">
              <a:alphaModFix amt="20000"/>
            </a:blip>
            <a:srcRect/>
            <a:stretch/>
          </p:blipFill>
          <p:spPr>
            <a:xfrm>
              <a:off x="2115371" y="3279734"/>
              <a:ext cx="671664" cy="1374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8"/>
            <p:cNvPicPr preferRelativeResize="0"/>
            <p:nvPr/>
          </p:nvPicPr>
          <p:blipFill rotWithShape="1">
            <a:blip r:embed="rId19">
              <a:alphaModFix amt="20000"/>
            </a:blip>
            <a:srcRect/>
            <a:stretch/>
          </p:blipFill>
          <p:spPr>
            <a:xfrm>
              <a:off x="2899827" y="3284811"/>
              <a:ext cx="833354" cy="1216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8"/>
            <p:cNvPicPr preferRelativeResize="0"/>
            <p:nvPr/>
          </p:nvPicPr>
          <p:blipFill rotWithShape="1">
            <a:blip r:embed="rId20">
              <a:alphaModFix amt="20000"/>
            </a:blip>
            <a:srcRect/>
            <a:stretch/>
          </p:blipFill>
          <p:spPr>
            <a:xfrm>
              <a:off x="1468979" y="3552572"/>
              <a:ext cx="618175" cy="1331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8"/>
            <p:cNvPicPr preferRelativeResize="0"/>
            <p:nvPr/>
          </p:nvPicPr>
          <p:blipFill rotWithShape="1">
            <a:blip r:embed="rId21">
              <a:alphaModFix amt="20000"/>
            </a:blip>
            <a:srcRect/>
            <a:stretch/>
          </p:blipFill>
          <p:spPr>
            <a:xfrm>
              <a:off x="2193654" y="3530026"/>
              <a:ext cx="577048" cy="1731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8"/>
            <p:cNvPicPr preferRelativeResize="0"/>
            <p:nvPr/>
          </p:nvPicPr>
          <p:blipFill rotWithShape="1">
            <a:blip r:embed="rId22">
              <a:alphaModFix amt="20000"/>
            </a:blip>
            <a:srcRect/>
            <a:stretch/>
          </p:blipFill>
          <p:spPr>
            <a:xfrm>
              <a:off x="3429649" y="4091971"/>
              <a:ext cx="566063" cy="1012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8"/>
            <p:cNvPicPr preferRelativeResize="0"/>
            <p:nvPr/>
          </p:nvPicPr>
          <p:blipFill rotWithShape="1">
            <a:blip r:embed="rId23">
              <a:alphaModFix amt="20000"/>
            </a:blip>
            <a:srcRect/>
            <a:stretch/>
          </p:blipFill>
          <p:spPr>
            <a:xfrm>
              <a:off x="1470220" y="3778175"/>
              <a:ext cx="336415" cy="2422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8"/>
            <p:cNvPicPr preferRelativeResize="0"/>
            <p:nvPr/>
          </p:nvPicPr>
          <p:blipFill rotWithShape="1">
            <a:blip r:embed="rId24">
              <a:alphaModFix amt="20000"/>
            </a:blip>
            <a:srcRect/>
            <a:stretch/>
          </p:blipFill>
          <p:spPr>
            <a:xfrm>
              <a:off x="1867936" y="3778174"/>
              <a:ext cx="671664" cy="1913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8"/>
            <p:cNvPicPr preferRelativeResize="0"/>
            <p:nvPr/>
          </p:nvPicPr>
          <p:blipFill rotWithShape="1">
            <a:blip r:embed="rId25">
              <a:alphaModFix amt="20000"/>
            </a:blip>
            <a:srcRect/>
            <a:stretch/>
          </p:blipFill>
          <p:spPr>
            <a:xfrm>
              <a:off x="1388699" y="4108931"/>
              <a:ext cx="768034" cy="797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8"/>
            <p:cNvPicPr preferRelativeResize="0"/>
            <p:nvPr/>
          </p:nvPicPr>
          <p:blipFill rotWithShape="1">
            <a:blip r:embed="rId26">
              <a:alphaModFix amt="20000"/>
            </a:blip>
            <a:srcRect/>
            <a:stretch/>
          </p:blipFill>
          <p:spPr>
            <a:xfrm>
              <a:off x="2239329" y="4079427"/>
              <a:ext cx="467449" cy="1281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8"/>
            <p:cNvPicPr preferRelativeResize="0"/>
            <p:nvPr/>
          </p:nvPicPr>
          <p:blipFill rotWithShape="1">
            <a:blip r:embed="rId27">
              <a:alphaModFix amt="20000"/>
            </a:blip>
            <a:srcRect/>
            <a:stretch/>
          </p:blipFill>
          <p:spPr>
            <a:xfrm>
              <a:off x="2596632" y="3801439"/>
              <a:ext cx="709036" cy="1480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8"/>
            <p:cNvPicPr preferRelativeResize="0"/>
            <p:nvPr/>
          </p:nvPicPr>
          <p:blipFill rotWithShape="1">
            <a:blip r:embed="rId28">
              <a:alphaModFix amt="20000"/>
            </a:blip>
            <a:srcRect/>
            <a:stretch/>
          </p:blipFill>
          <p:spPr>
            <a:xfrm>
              <a:off x="3500831" y="3533248"/>
              <a:ext cx="293395" cy="1648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8"/>
            <p:cNvPicPr preferRelativeResize="0"/>
            <p:nvPr/>
          </p:nvPicPr>
          <p:blipFill rotWithShape="1">
            <a:blip r:embed="rId29">
              <a:alphaModFix amt="20000"/>
            </a:blip>
            <a:srcRect/>
            <a:stretch/>
          </p:blipFill>
          <p:spPr>
            <a:xfrm>
              <a:off x="2761612" y="4091971"/>
              <a:ext cx="598625" cy="1155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8"/>
            <p:cNvPicPr preferRelativeResize="0"/>
            <p:nvPr/>
          </p:nvPicPr>
          <p:blipFill rotWithShape="1">
            <a:blip r:embed="rId30">
              <a:alphaModFix amt="20000"/>
            </a:blip>
            <a:srcRect/>
            <a:stretch/>
          </p:blipFill>
          <p:spPr>
            <a:xfrm>
              <a:off x="2907173" y="3563579"/>
              <a:ext cx="490799" cy="1060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8"/>
            <p:cNvPicPr preferRelativeResize="0"/>
            <p:nvPr/>
          </p:nvPicPr>
          <p:blipFill rotWithShape="1">
            <a:blip r:embed="rId31">
              <a:alphaModFix amt="20000"/>
            </a:blip>
            <a:srcRect/>
            <a:stretch/>
          </p:blipFill>
          <p:spPr>
            <a:xfrm>
              <a:off x="3391168" y="3752522"/>
              <a:ext cx="465774" cy="2850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B1A14CB-9361-E830-419C-9DDE9351334B}"/>
              </a:ext>
            </a:extLst>
          </p:cNvPr>
          <p:cNvSpPr txBox="1"/>
          <p:nvPr/>
        </p:nvSpPr>
        <p:spPr>
          <a:xfrm>
            <a:off x="180000" y="237351"/>
            <a:ext cx="1133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모두의연구소 소개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ECB3EE-2ED1-037A-2E83-3CC9A4E92137}"/>
              </a:ext>
            </a:extLst>
          </p:cNvPr>
          <p:cNvSpPr txBox="1">
            <a:spLocks/>
          </p:cNvSpPr>
          <p:nvPr/>
        </p:nvSpPr>
        <p:spPr>
          <a:xfrm>
            <a:off x="3520440" y="4917073"/>
            <a:ext cx="210312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altLang="ko-KR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9648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 rot="-10800000">
            <a:off x="12700" y="0"/>
            <a:ext cx="9017000" cy="5143500"/>
          </a:xfrm>
          <a:prstGeom prst="rect">
            <a:avLst/>
          </a:prstGeom>
        </p:spPr>
      </p:pic>
      <p:pic>
        <p:nvPicPr>
          <p:cNvPr id="6" name="object 16">
            <a:extLst>
              <a:ext uri="{FF2B5EF4-FFF2-40B4-BE49-F238E27FC236}">
                <a16:creationId xmlns:a16="http://schemas.microsoft.com/office/drawing/2014/main" id="{B1BE4BA9-51C0-0CF6-29A3-C1CF62A6013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54767" y="133350"/>
            <a:ext cx="668006" cy="265910"/>
          </a:xfrm>
          <a:prstGeom prst="rect">
            <a:avLst/>
          </a:prstGeom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10B94FD5-5E08-CE48-FAD0-19AB2E1F4607}"/>
              </a:ext>
            </a:extLst>
          </p:cNvPr>
          <p:cNvSpPr txBox="1"/>
          <p:nvPr/>
        </p:nvSpPr>
        <p:spPr>
          <a:xfrm>
            <a:off x="381000" y="4541491"/>
            <a:ext cx="292100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68579" rIns="68579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ts val="1000"/>
              <a:buFontTx/>
              <a:buNone/>
              <a:tabLst/>
              <a:defRPr/>
            </a:pPr>
            <a:endParaRPr kumimoji="0" lang="en-US" altLang="ko-KR" sz="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ts val="1000"/>
              <a:buFontTx/>
              <a:buNone/>
              <a:tabLst/>
              <a:defRPr/>
            </a:pP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Website : www.modulabs.co.kr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ts val="1000"/>
              <a:buFontTx/>
              <a:buNone/>
              <a:tabLst/>
              <a:defRPr/>
            </a:pP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Address : </a:t>
            </a: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서울 강남구 강남대로 </a:t>
            </a: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324 (</a:t>
            </a:r>
            <a:r>
              <a:rPr kumimoji="0" lang="ko-KR" altLang="en-US" sz="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역삼디오슈페리움</a:t>
            </a: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) 2</a:t>
            </a: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층 모두의연구소 강남캠퍼스</a:t>
            </a:r>
            <a:endParaRPr kumimoji="0" lang="en-US" altLang="ko-KR" sz="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ts val="1000"/>
              <a:buFontTx/>
              <a:buNone/>
              <a:tabLst/>
              <a:defRPr/>
            </a:pP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ⓒ ㈜모두의연구소</a:t>
            </a: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9E2E44-00A8-B064-25DB-55F2F56D3266}"/>
              </a:ext>
            </a:extLst>
          </p:cNvPr>
          <p:cNvSpPr txBox="1"/>
          <p:nvPr/>
        </p:nvSpPr>
        <p:spPr>
          <a:xfrm>
            <a:off x="381000" y="1721547"/>
            <a:ext cx="20714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감사합니다</a:t>
            </a:r>
            <a:r>
              <a:rPr kumimoji="0" lang="en-US" altLang="ko-KR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kumimoji="0" lang="ko-KR" altLang="en-US" sz="3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9CE152-3030-D3D2-8A7F-CA43BB8105ED}"/>
              </a:ext>
            </a:extLst>
          </p:cNvPr>
          <p:cNvSpPr txBox="1"/>
          <p:nvPr/>
        </p:nvSpPr>
        <p:spPr>
          <a:xfrm>
            <a:off x="411300" y="2724150"/>
            <a:ext cx="1430200" cy="10339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교육문의</a:t>
            </a:r>
            <a:endParaRPr kumimoji="0" lang="en-US" altLang="ko-KR" sz="10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50" dirty="0">
                <a:solidFill>
                  <a:prstClr val="whit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KHP</a:t>
            </a:r>
            <a:r>
              <a:rPr lang="ko-KR" altLang="en-US" sz="1050" dirty="0">
                <a:solidFill>
                  <a:prstClr val="whit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팀 김은주 팀장   </a:t>
            </a:r>
            <a:endParaRPr lang="en-US" altLang="ko-KR" sz="1050" dirty="0">
              <a:solidFill>
                <a:prstClr val="white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50" dirty="0">
                <a:solidFill>
                  <a:prstClr val="whit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kej@modulabs.co.kr 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50" dirty="0">
                <a:solidFill>
                  <a:prstClr val="whit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010-7476-1828</a:t>
            </a:r>
            <a:endParaRPr lang="ko-KR" altLang="en-US" sz="1050" dirty="0">
              <a:solidFill>
                <a:prstClr val="white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BF8BAED-E204-133B-BCA7-B213B4076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1000" y="4895850"/>
            <a:ext cx="1066800" cy="182563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1527</TotalTime>
  <Words>4263</Words>
  <Application>Microsoft Office PowerPoint</Application>
  <PresentationFormat>화면 슬라이드 쇼(16:9)</PresentationFormat>
  <Paragraphs>1002</Paragraphs>
  <Slides>30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30</vt:i4>
      </vt:variant>
    </vt:vector>
  </HeadingPairs>
  <TitlesOfParts>
    <vt:vector size="41" baseType="lpstr">
      <vt:lpstr>HGGothicE</vt:lpstr>
      <vt:lpstr>Noto Sans Symbols</vt:lpstr>
      <vt:lpstr>Pretendard</vt:lpstr>
      <vt:lpstr>Pretendard ExtraBold</vt:lpstr>
      <vt:lpstr>Pretendard Medium</vt:lpstr>
      <vt:lpstr>맑은 고딕</vt:lpstr>
      <vt:lpstr>Arial</vt:lpstr>
      <vt:lpstr>Calibri</vt:lpstr>
      <vt:lpstr>Helvetica</vt:lpstr>
      <vt:lpstr>Office Theme</vt:lpstr>
      <vt:lpstr>1_Office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김은주</cp:lastModifiedBy>
  <cp:revision>346</cp:revision>
  <dcterms:created xsi:type="dcterms:W3CDTF">2025-09-19T00:38:49Z</dcterms:created>
  <dcterms:modified xsi:type="dcterms:W3CDTF">2026-03-30T08:08:04Z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2025-09-18T00:00:00Z</vt:filetime>
  </property>
  <property fmtid="{D5CDD505-2E9C-101B-9397-08002B2CF9AE}" pid="3" name="Creator">
    <vt:lpwstr>Microsoft® PowerPoint® Microsoft 365용</vt:lpwstr>
  </property>
  <property fmtid="{D5CDD505-2E9C-101B-9397-08002B2CF9AE}" pid="4" name="LastSaved">
    <vt:filetime>2025-09-19T00:00:00Z</vt:filetime>
  </property>
  <property fmtid="{D5CDD505-2E9C-101B-9397-08002B2CF9AE}" pid="5" name="Producer">
    <vt:lpwstr>Microsoft® PowerPoint® Microsoft 365용</vt:lpwstr>
  </property>
</Properties>
</file>