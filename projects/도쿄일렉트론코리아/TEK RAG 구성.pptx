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4118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6">
          <p15:clr>
            <a:srgbClr val="A4A3A4"/>
          </p15:clr>
        </p15:guide>
        <p15:guide id="2" orient="horz" pos="833">
          <p15:clr>
            <a:srgbClr val="A4A3A4"/>
          </p15:clr>
        </p15:guide>
        <p15:guide id="3" orient="horz" pos="432">
          <p15:clr>
            <a:srgbClr val="A4A3A4"/>
          </p15:clr>
        </p15:guide>
        <p15:guide id="4" orient="horz" pos="4001">
          <p15:clr>
            <a:srgbClr val="A4A3A4"/>
          </p15:clr>
        </p15:guide>
        <p15:guide id="5" pos="309">
          <p15:clr>
            <a:srgbClr val="A4A3A4"/>
          </p15:clr>
        </p15:guide>
        <p15:guide id="6" pos="7294">
          <p15:clr>
            <a:srgbClr val="A4A3A4"/>
          </p15:clr>
        </p15:guide>
        <p15:guide id="7" pos="384">
          <p15:clr>
            <a:srgbClr val="A4A3A4"/>
          </p15:clr>
        </p15:guide>
        <p15:guide id="8" pos="7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FE7"/>
    <a:srgbClr val="E7F1F9"/>
    <a:srgbClr val="CBE2F3"/>
    <a:srgbClr val="00B0F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63" autoAdjust="0"/>
  </p:normalViewPr>
  <p:slideViewPr>
    <p:cSldViewPr snapToGrid="0">
      <p:cViewPr varScale="1">
        <p:scale>
          <a:sx n="122" d="100"/>
          <a:sy n="122" d="100"/>
        </p:scale>
        <p:origin x="813" y="291"/>
      </p:cViewPr>
      <p:guideLst>
        <p:guide orient="horz" pos="3686"/>
        <p:guide orient="horz" pos="833"/>
        <p:guide orient="horz" pos="432"/>
        <p:guide orient="horz" pos="4001"/>
        <p:guide pos="309"/>
        <p:guide pos="7294"/>
        <p:guide pos="384"/>
        <p:guide pos="736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8481E-7A05-4419-A0A4-6DD2DF21DBC6}" type="datetimeFigureOut">
              <a:rPr lang="en-US" sz="800"/>
              <a:t>3/27/2026</a:t>
            </a:fld>
            <a:endParaRPr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4E519-52BF-49B4-853B-27B289441D69}" type="slidenum">
              <a:rPr sz="80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72439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06D45B96-3D6A-498D-B2F0-1E3BE332B42F}" type="datetimeFigureOut">
              <a:rPr lang="en-US"/>
              <a:pPr/>
              <a:t>3/27/2026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4000" y="756000"/>
            <a:ext cx="5501471" cy="3096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4000" y="4140000"/>
            <a:ext cx="5500800" cy="4320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</a:t>
            </a:r>
          </a:p>
          <a:p>
            <a:pPr lvl="6"/>
            <a:r>
              <a:t>Seven</a:t>
            </a:r>
          </a:p>
          <a:p>
            <a:pPr lvl="7"/>
            <a:r>
              <a:t>Eight</a:t>
            </a:r>
          </a:p>
          <a:p>
            <a:pPr lvl="8"/>
            <a:r>
              <a:t>nine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F8BA1D-C711-49BA-9AF8-9EDF82793BF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0922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71450" algn="l" defTabSz="914400" rtl="0" eaLnBrk="1" latinLnBrk="0" hangingPunct="1"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4008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40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18872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46304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73736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01168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28600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8BA1D-C711-49BA-9AF8-9EDF82793BF3}" type="slidenum">
              <a:rPr lang="en-US" altLang="ja-JP" smtClean="0"/>
              <a:pPr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5300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C2B7C3-1FEA-444E-8B4D-9E7A761950D4}"/>
              </a:ext>
            </a:extLst>
          </p:cNvPr>
          <p:cNvSpPr/>
          <p:nvPr userDrawn="1"/>
        </p:nvSpPr>
        <p:spPr>
          <a:xfrm>
            <a:off x="-3" y="2730500"/>
            <a:ext cx="12186905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7D68662-10FC-4351-B028-5EA0EB6EC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54" y="2057575"/>
            <a:ext cx="2646260" cy="2646000"/>
          </a:xfrm>
          <a:prstGeom prst="rect">
            <a:avLst/>
          </a:prstGeom>
        </p:spPr>
      </p:pic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261" y="4495613"/>
            <a:ext cx="5573712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261" y="5026836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61" y="5329390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261" y="5620537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3204000"/>
            <a:ext cx="7891200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4" name="正方形/長方形 3"/>
          <p:cNvSpPr/>
          <p:nvPr userDrawn="1"/>
        </p:nvSpPr>
        <p:spPr>
          <a:xfrm>
            <a:off x="0" y="0"/>
            <a:ext cx="12186906" cy="685148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F2ABEC3-DE7D-4C0D-A38D-D256F9DF96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75"/>
          <a:stretch/>
        </p:blipFill>
        <p:spPr>
          <a:xfrm>
            <a:off x="641693" y="497640"/>
            <a:ext cx="1139400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21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D8F40E1-3029-4984-A27D-D058220A8282}"/>
              </a:ext>
            </a:extLst>
          </p:cNvPr>
          <p:cNvSpPr/>
          <p:nvPr userDrawn="1"/>
        </p:nvSpPr>
        <p:spPr>
          <a:xfrm>
            <a:off x="-3" y="2730500"/>
            <a:ext cx="12186905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10ECFCF-043D-485E-9CAB-1C34451A09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54" y="2057576"/>
            <a:ext cx="2646260" cy="2645998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E34DA1A-7367-4EC3-A38C-296A0D51C0D4}"/>
              </a:ext>
            </a:extLst>
          </p:cNvPr>
          <p:cNvSpPr/>
          <p:nvPr userDrawn="1"/>
        </p:nvSpPr>
        <p:spPr>
          <a:xfrm>
            <a:off x="0" y="0"/>
            <a:ext cx="12186906" cy="685148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261" y="4495613"/>
            <a:ext cx="5573712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261" y="5026836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61" y="5329390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261" y="5620537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3204000"/>
            <a:ext cx="7891200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C7D3246-0E4E-46E7-A589-25A6D1827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75"/>
          <a:stretch/>
        </p:blipFill>
        <p:spPr>
          <a:xfrm>
            <a:off x="641693" y="497640"/>
            <a:ext cx="1139400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78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1897B70-73E4-4E83-A0D7-090CFA17B0AC}"/>
              </a:ext>
            </a:extLst>
          </p:cNvPr>
          <p:cNvSpPr/>
          <p:nvPr userDrawn="1"/>
        </p:nvSpPr>
        <p:spPr>
          <a:xfrm>
            <a:off x="-3" y="2730500"/>
            <a:ext cx="12186905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B7680FA-63DE-4192-8915-258F4448BE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54" y="2057576"/>
            <a:ext cx="2646260" cy="2645998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71AFC04-352C-446A-BDB6-9A19EC5E7AC0}"/>
              </a:ext>
            </a:extLst>
          </p:cNvPr>
          <p:cNvSpPr/>
          <p:nvPr userDrawn="1"/>
        </p:nvSpPr>
        <p:spPr>
          <a:xfrm>
            <a:off x="0" y="0"/>
            <a:ext cx="12186906" cy="685148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261" y="4495613"/>
            <a:ext cx="5573712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261" y="5026836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61" y="5329390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261" y="5620537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3204000"/>
            <a:ext cx="7891200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A880186-AA57-4EA3-9B78-E3CF7921A9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75"/>
          <a:stretch/>
        </p:blipFill>
        <p:spPr>
          <a:xfrm>
            <a:off x="641693" y="497640"/>
            <a:ext cx="1139400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16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9E1FC3-FAAD-4821-83E2-16031ECDEB46}"/>
              </a:ext>
            </a:extLst>
          </p:cNvPr>
          <p:cNvSpPr/>
          <p:nvPr userDrawn="1"/>
        </p:nvSpPr>
        <p:spPr>
          <a:xfrm>
            <a:off x="-3" y="2730500"/>
            <a:ext cx="12186905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51CEEB6-9DB5-4108-92BE-055CF6C380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54" y="2057576"/>
            <a:ext cx="2646260" cy="2645998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3543BA1-4B82-4796-8578-05E252268059}"/>
              </a:ext>
            </a:extLst>
          </p:cNvPr>
          <p:cNvSpPr/>
          <p:nvPr userDrawn="1"/>
        </p:nvSpPr>
        <p:spPr>
          <a:xfrm>
            <a:off x="0" y="0"/>
            <a:ext cx="12186906" cy="685148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261" y="4495613"/>
            <a:ext cx="5573712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261" y="5026836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61" y="5329390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261" y="5620537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3204000"/>
            <a:ext cx="7891200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368C0B1-6364-4C4D-A39E-BC5A3AE11E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75"/>
          <a:stretch/>
        </p:blipFill>
        <p:spPr>
          <a:xfrm>
            <a:off x="641693" y="497640"/>
            <a:ext cx="1139400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08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92ECE52-D65C-4075-B0EB-8FEB4399A46B}"/>
              </a:ext>
            </a:extLst>
          </p:cNvPr>
          <p:cNvSpPr/>
          <p:nvPr userDrawn="1"/>
        </p:nvSpPr>
        <p:spPr>
          <a:xfrm>
            <a:off x="-3" y="2730500"/>
            <a:ext cx="12186905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AB6BCC2-1467-4991-820E-0C85117B07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54" y="2057576"/>
            <a:ext cx="2646260" cy="2645998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95497F7-793D-4AD6-84D1-28247580CF35}"/>
              </a:ext>
            </a:extLst>
          </p:cNvPr>
          <p:cNvSpPr/>
          <p:nvPr userDrawn="1"/>
        </p:nvSpPr>
        <p:spPr>
          <a:xfrm>
            <a:off x="0" y="0"/>
            <a:ext cx="12186906" cy="685148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261" y="4495613"/>
            <a:ext cx="5573712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261" y="5026836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61" y="5329390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261" y="5620537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3204000"/>
            <a:ext cx="7891200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3997E1F-2963-49CE-A963-1F6C5E04EE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75"/>
          <a:stretch/>
        </p:blipFill>
        <p:spPr>
          <a:xfrm>
            <a:off x="641693" y="497640"/>
            <a:ext cx="1139400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2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3BC0AEB-B4A9-4BBD-98F2-E8AD00BB6B5B}"/>
              </a:ext>
            </a:extLst>
          </p:cNvPr>
          <p:cNvSpPr/>
          <p:nvPr userDrawn="1"/>
        </p:nvSpPr>
        <p:spPr>
          <a:xfrm>
            <a:off x="-3" y="2730500"/>
            <a:ext cx="12186905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1B6E098-94E1-4D97-8A4B-3F998B45E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54" y="2057576"/>
            <a:ext cx="2646260" cy="2645998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3330F46-6AFB-48D6-BA7F-231646312D93}"/>
              </a:ext>
            </a:extLst>
          </p:cNvPr>
          <p:cNvSpPr/>
          <p:nvPr userDrawn="1"/>
        </p:nvSpPr>
        <p:spPr>
          <a:xfrm>
            <a:off x="0" y="0"/>
            <a:ext cx="12186906" cy="685148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261" y="4495613"/>
            <a:ext cx="5573712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261" y="5026836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61" y="5329390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261" y="5620537"/>
            <a:ext cx="5573712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3204000"/>
            <a:ext cx="7891200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6241CBD-5D1D-4F5D-9905-4E884B6BC4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75"/>
          <a:stretch/>
        </p:blipFill>
        <p:spPr>
          <a:xfrm>
            <a:off x="641693" y="497640"/>
            <a:ext cx="1139400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2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6545" y="1382713"/>
            <a:ext cx="774268" cy="4794682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051" y="1382712"/>
            <a:ext cx="10157690" cy="4791259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目次 メイリオ</a:t>
            </a:r>
            <a:r>
              <a:rPr kumimoji="1" lang="en-US" altLang="ja-JP"/>
              <a:t>30pt</a:t>
            </a:r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417"/>
            <a:ext cx="12188825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31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214" y="1382713"/>
            <a:ext cx="10905835" cy="479468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89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215" y="1382712"/>
            <a:ext cx="5294168" cy="47894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quarter" idx="16" hasCustomPrompt="1"/>
          </p:nvPr>
        </p:nvSpPr>
        <p:spPr>
          <a:xfrm>
            <a:off x="6267447" y="1389639"/>
            <a:ext cx="5294168" cy="47894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461572"/>
            <a:ext cx="10916165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928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 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49262" y="3595688"/>
            <a:ext cx="10916164" cy="2578284"/>
          </a:xfrm>
          <a:prstGeom prst="rect">
            <a:avLst/>
          </a:prstGeom>
          <a:solidFill>
            <a:srgbClr val="4B4F54"/>
          </a:solidFill>
        </p:spPr>
        <p:txBody>
          <a:bodyPr tIns="731520"/>
          <a:lstStyle>
            <a:lvl1pPr marL="0" indent="0" algn="ct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アイコンをクリックして図を挿入します</a:t>
            </a:r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70214" y="1382713"/>
            <a:ext cx="10905835" cy="199433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461572"/>
            <a:ext cx="10916165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32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Fram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825" cy="6173972"/>
          </a:xfrm>
          <a:prstGeom prst="rect">
            <a:avLst/>
          </a:prstGeom>
          <a:solidFill>
            <a:srgbClr val="4B4F54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アイコンをクリックして図を挿入します</a:t>
            </a:r>
          </a:p>
        </p:txBody>
      </p:sp>
    </p:spTree>
    <p:extLst>
      <p:ext uri="{BB962C8B-B14F-4D97-AF65-F5344CB8AC3E}">
        <p14:creationId xmlns:p14="http://schemas.microsoft.com/office/powerpoint/2010/main" val="369449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261" y="461572"/>
            <a:ext cx="10916165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05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 userDrawn="1"/>
        </p:nvSpPr>
        <p:spPr bwMode="ltGray">
          <a:xfrm>
            <a:off x="0" y="0"/>
            <a:ext cx="12188825" cy="61739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85824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9600" y="2905200"/>
            <a:ext cx="10916165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セクション名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417"/>
            <a:ext cx="12188825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2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>
          <a:xfrm>
            <a:off x="2451166" y="1651664"/>
            <a:ext cx="744924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ja-JP" altLang="en-US" sz="3600" b="1">
                <a:solidFill>
                  <a:schemeClr val="accent6"/>
                </a:solidFill>
              </a:rPr>
              <a:t>本資料の取扱上の注意</a:t>
            </a:r>
          </a:p>
          <a:p>
            <a:pPr marL="0" indent="0" algn="ctr">
              <a:buNone/>
            </a:pPr>
            <a:endParaRPr lang="en-US" altLang="ja-JP" sz="16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ja-JP" altLang="en-US" sz="16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/>
              <a:t>本資料には機密情報が含まれています。当社の書面による承諾なしに複写、または第三者への開示はできません。</a:t>
            </a:r>
          </a:p>
          <a:p>
            <a:pPr marL="0" indent="0" algn="ctr">
              <a:buNone/>
            </a:pPr>
            <a:endParaRPr lang="ja-JP" altLang="en-US" sz="2800"/>
          </a:p>
          <a:p>
            <a:pPr marL="0" indent="0" algn="ctr">
              <a:buNone/>
            </a:pPr>
            <a:r>
              <a:rPr lang="ja-JP" altLang="en-US" sz="2800"/>
              <a:t>東京エレクトロン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CFC2E3-7362-4A4D-AF62-EB46A42DC724}"/>
              </a:ext>
            </a:extLst>
          </p:cNvPr>
          <p:cNvGrpSpPr/>
          <p:nvPr userDrawn="1"/>
        </p:nvGrpSpPr>
        <p:grpSpPr>
          <a:xfrm>
            <a:off x="3606917" y="5447179"/>
            <a:ext cx="5235118" cy="307777"/>
            <a:chOff x="3911460" y="5353613"/>
            <a:chExt cx="5235118" cy="307777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895A87E-DE30-4F33-916D-105BF57F54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9307" b="24041"/>
            <a:stretch/>
          </p:blipFill>
          <p:spPr>
            <a:xfrm>
              <a:off x="3911460" y="5397999"/>
              <a:ext cx="436264" cy="203992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4DD366C0-CD0A-4610-8569-DE8E104DA3FB}"/>
                </a:ext>
              </a:extLst>
            </p:cNvPr>
            <p:cNvSpPr txBox="1"/>
            <p:nvPr userDrawn="1"/>
          </p:nvSpPr>
          <p:spPr>
            <a:xfrm>
              <a:off x="4332596" y="5353613"/>
              <a:ext cx="4813982" cy="307777"/>
            </a:xfrm>
            <a:prstGeom prst="rect">
              <a:avLst/>
            </a:prstGeom>
            <a:noFill/>
          </p:spPr>
          <p:txBody>
            <a:bodyPr wrap="square" lIns="79200" rIns="79200">
              <a:spAutoFit/>
            </a:bodyPr>
            <a:lstStyle/>
            <a:p>
              <a:r>
                <a:rPr lang="ja-JP" altLang="en-US" sz="1400">
                  <a:effectLst/>
                  <a:ea typeface="メイリオ" panose="020B0604030504040204" pitchFamily="50" charset="-128"/>
                </a:rPr>
                <a:t>および “</a:t>
              </a:r>
              <a:r>
                <a:rPr lang="en-US" altLang="ja-JP" sz="1400">
                  <a:effectLst/>
                  <a:ea typeface="メイリオ" panose="020B0604030504040204" pitchFamily="50" charset="-128"/>
                </a:rPr>
                <a:t>TEL</a:t>
              </a:r>
              <a:r>
                <a:rPr lang="ja-JP" altLang="en-US" sz="1400">
                  <a:effectLst/>
                  <a:ea typeface="メイリオ" panose="020B0604030504040204" pitchFamily="50" charset="-128"/>
                </a:rPr>
                <a:t>” </a:t>
              </a:r>
              <a:r>
                <a:rPr lang="ja-JP" altLang="ja-JP" sz="1400">
                  <a:effectLst/>
                  <a:ea typeface="メイリオ" panose="020B0604030504040204" pitchFamily="50" charset="-128"/>
                </a:rPr>
                <a:t>は、東京エレクトロン株式会社の商標です。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939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 userDrawn="1"/>
        </p:nvSpPr>
        <p:spPr>
          <a:xfrm>
            <a:off x="-1" y="417"/>
            <a:ext cx="12188825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15FE41-5EFA-4183-8A64-08F79914306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81" t="35017" r="37799" b="36779"/>
          <a:stretch/>
        </p:blipFill>
        <p:spPr bwMode="auto">
          <a:xfrm>
            <a:off x="4617217" y="2401556"/>
            <a:ext cx="2964263" cy="193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84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フッター プレースホルダー 2"/>
          <p:cNvSpPr>
            <a:spLocks noGrp="1"/>
          </p:cNvSpPr>
          <p:nvPr/>
        </p:nvSpPr>
        <p:spPr>
          <a:xfrm>
            <a:off x="654117" y="6455259"/>
            <a:ext cx="4997843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>
              <a:solidFill>
                <a:schemeClr val="tx1"/>
              </a:solidFill>
              <a:latin typeface="Arial" pitchFamily="34" charset="0"/>
              <a:ea typeface="メイリオ"/>
              <a:cs typeface="Arial" pitchFamily="34" charset="0"/>
            </a:endParaRPr>
          </a:p>
        </p:txBody>
      </p:sp>
      <p:sp>
        <p:nvSpPr>
          <p:cNvPr id="29" name="Title Placeholder 1"/>
          <p:cNvSpPr>
            <a:spLocks noGrp="1"/>
          </p:cNvSpPr>
          <p:nvPr>
            <p:ph type="title"/>
          </p:nvPr>
        </p:nvSpPr>
        <p:spPr>
          <a:xfrm>
            <a:off x="649261" y="461572"/>
            <a:ext cx="10916165" cy="5232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30" name="Text Placeholder 2"/>
          <p:cNvSpPr>
            <a:spLocks noGrp="1"/>
          </p:cNvSpPr>
          <p:nvPr>
            <p:ph type="body" idx="1"/>
          </p:nvPr>
        </p:nvSpPr>
        <p:spPr>
          <a:xfrm>
            <a:off x="652571" y="1373188"/>
            <a:ext cx="10912855" cy="452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</a:t>
            </a:r>
            <a:r>
              <a:rPr lang="en-US" altLang="ja-JP"/>
              <a:t>5</a:t>
            </a:r>
            <a:r>
              <a:rPr lang="ja-JP" altLang="en-US"/>
              <a:t>レベル</a:t>
            </a:r>
          </a:p>
        </p:txBody>
      </p:sp>
      <p:sp>
        <p:nvSpPr>
          <p:cNvPr id="50" name="テキスト プレースホルダー 4"/>
          <p:cNvSpPr txBox="1">
            <a:spLocks/>
          </p:cNvSpPr>
          <p:nvPr/>
        </p:nvSpPr>
        <p:spPr>
          <a:xfrm>
            <a:off x="11276618" y="6428521"/>
            <a:ext cx="505002" cy="26955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4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F7A37A4-0F47-485C-8E1C-E4FAAB63423F}" type="slidenum">
              <a:rPr kumimoji="0" lang="en-US" altLang="ja-JP" sz="1200" smtClean="0">
                <a:solidFill>
                  <a:schemeClr val="tx1"/>
                </a:solidFill>
                <a:latin typeface="Arial"/>
                <a:ea typeface="Meiryo"/>
              </a:rPr>
              <a:pPr algn="r"/>
              <a:t>‹#›</a:t>
            </a:fld>
            <a:endParaRPr kumimoji="0" lang="ja-JP" altLang="en-US" sz="1200">
              <a:solidFill>
                <a:schemeClr val="tx1"/>
              </a:solidFill>
              <a:latin typeface="Arial"/>
              <a:ea typeface="Meiryo"/>
            </a:endParaRPr>
          </a:p>
        </p:txBody>
      </p:sp>
      <p:grpSp>
        <p:nvGrpSpPr>
          <p:cNvPr id="31" name="グループ化 30"/>
          <p:cNvGrpSpPr/>
          <p:nvPr/>
        </p:nvGrpSpPr>
        <p:grpSpPr>
          <a:xfrm>
            <a:off x="-994259" y="0"/>
            <a:ext cx="823920" cy="6858001"/>
            <a:chOff x="-994259" y="0"/>
            <a:chExt cx="823920" cy="6820226"/>
          </a:xfrm>
        </p:grpSpPr>
        <p:sp>
          <p:nvSpPr>
            <p:cNvPr id="51" name="Rectangle 33"/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52" name="Rectangle 30"/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53" name="Rectangle 31"/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54" name="Rectangle 39"/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55" name="Rectangle 41"/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56" name="Rectangle 42"/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57" name="Rectangle 43"/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58" name="TextBox 58"/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59" name="TextBox 59"/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60" name="TextBox 60"/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61" name="TextBox 62"/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62" name="TextBox 64"/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63" name="TextBox 65"/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64" name="TextBox 66"/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65" name="Rectangle 43"/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66" name="TextBox 66"/>
            <p:cNvSpPr txBox="1"/>
            <p:nvPr userDrawn="1"/>
          </p:nvSpPr>
          <p:spPr>
            <a:xfrm>
              <a:off x="-990121" y="6388998"/>
              <a:ext cx="628050" cy="43122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67" name="Rectangle 40"/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68" name="TextBox 63"/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69" name="Rectangle 31"/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70" name="TextBox 59"/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32" name="正方形/長方形 31"/>
          <p:cNvSpPr/>
          <p:nvPr userDrawn="1"/>
        </p:nvSpPr>
        <p:spPr>
          <a:xfrm>
            <a:off x="-1" y="417"/>
            <a:ext cx="12188825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4A67C3C5-8F36-4434-9A1C-CDA511A5D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9888" b="24041"/>
          <a:stretch/>
        </p:blipFill>
        <p:spPr>
          <a:xfrm>
            <a:off x="10609971" y="6376947"/>
            <a:ext cx="609319" cy="28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0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6" r:id="rId2"/>
    <p:sldLayoutId id="2147483701" r:id="rId3"/>
    <p:sldLayoutId id="2147483705" r:id="rId4"/>
    <p:sldLayoutId id="2147483704" r:id="rId5"/>
    <p:sldLayoutId id="2147483702" r:id="rId6"/>
    <p:sldLayoutId id="2147483661" r:id="rId7"/>
    <p:sldLayoutId id="2147483650" r:id="rId8"/>
    <p:sldLayoutId id="2147483652" r:id="rId9"/>
    <p:sldLayoutId id="2147483665" r:id="rId10"/>
    <p:sldLayoutId id="2147483668" r:id="rId11"/>
    <p:sldLayoutId id="2147483654" r:id="rId12"/>
    <p:sldLayoutId id="2147483651" r:id="rId13"/>
    <p:sldLayoutId id="2147483707" r:id="rId14"/>
    <p:sldLayoutId id="214748366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kumimoji="1" sz="3000" kern="1200" baseline="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200"/>
        </a:spcBef>
        <a:buClr>
          <a:schemeClr val="accent3"/>
        </a:buClr>
        <a:buFont typeface="Wingdings" panose="05000000000000000000" pitchFamily="2" charset="2"/>
        <a:buChar char="§"/>
        <a:defRPr kumimoji="1" sz="24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1pPr>
      <a:lvl2pPr marL="466344" indent="-237744" algn="l" defTabSz="914400" rtl="0" eaLnBrk="1" latinLnBrk="0" hangingPunct="1">
        <a:spcBef>
          <a:spcPts val="600"/>
        </a:spcBef>
        <a:buFont typeface="Arial" panose="020B0604020202020204" pitchFamily="34" charset="0"/>
        <a:buChar char="–"/>
        <a:defRPr kumimoji="1" sz="20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2pPr>
      <a:lvl3pPr marL="676656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3pPr>
      <a:lvl4pPr marL="9144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4pPr>
      <a:lvl5pPr marL="11430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4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5pPr>
      <a:lvl6pPr marL="13716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26" Type="http://schemas.openxmlformats.org/officeDocument/2006/relationships/image" Target="../media/image33.png"/><Relationship Id="rId3" Type="http://schemas.openxmlformats.org/officeDocument/2006/relationships/image" Target="../media/image12.png"/><Relationship Id="rId21" Type="http://schemas.openxmlformats.org/officeDocument/2006/relationships/image" Target="../media/image29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5.svg"/><Relationship Id="rId25" Type="http://schemas.openxmlformats.org/officeDocument/2006/relationships/image" Target="../media/image32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oleObject" Target="../embeddings/oleObject1.bin"/><Relationship Id="rId5" Type="http://schemas.openxmlformats.org/officeDocument/2006/relationships/image" Target="../media/image14.svg"/><Relationship Id="rId15" Type="http://schemas.microsoft.com/office/2007/relationships/hdphoto" Target="../media/hdphoto1.wdp"/><Relationship Id="rId23" Type="http://schemas.openxmlformats.org/officeDocument/2006/relationships/image" Target="../media/image31.png"/><Relationship Id="rId10" Type="http://schemas.openxmlformats.org/officeDocument/2006/relationships/image" Target="../media/image19.sv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0226-53B7-0F07-96F1-598259C9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フリーフォーム: 図形 315">
            <a:extLst>
              <a:ext uri="{FF2B5EF4-FFF2-40B4-BE49-F238E27FC236}">
                <a16:creationId xmlns:a16="http://schemas.microsoft.com/office/drawing/2014/main" id="{E69BBE6B-F08B-5806-4DDD-478AD32370CB}"/>
              </a:ext>
            </a:extLst>
          </p:cNvPr>
          <p:cNvSpPr/>
          <p:nvPr/>
        </p:nvSpPr>
        <p:spPr>
          <a:xfrm>
            <a:off x="2018902" y="656610"/>
            <a:ext cx="8288843" cy="4562538"/>
          </a:xfrm>
          <a:custGeom>
            <a:avLst/>
            <a:gdLst>
              <a:gd name="connsiteX0" fmla="*/ 367643 w 8288843"/>
              <a:gd name="connsiteY0" fmla="*/ 0 h 4517018"/>
              <a:gd name="connsiteX1" fmla="*/ 7914555 w 8288843"/>
              <a:gd name="connsiteY1" fmla="*/ 0 h 4517018"/>
              <a:gd name="connsiteX2" fmla="*/ 8282198 w 8288843"/>
              <a:gd name="connsiteY2" fmla="*/ 367643 h 4517018"/>
              <a:gd name="connsiteX3" fmla="*/ 8282198 w 8288843"/>
              <a:gd name="connsiteY3" fmla="*/ 1838171 h 4517018"/>
              <a:gd name="connsiteX4" fmla="*/ 8274729 w 8288843"/>
              <a:gd name="connsiteY4" fmla="*/ 1912264 h 4517018"/>
              <a:gd name="connsiteX5" fmla="*/ 8268038 w 8288843"/>
              <a:gd name="connsiteY5" fmla="*/ 1933819 h 4517018"/>
              <a:gd name="connsiteX6" fmla="*/ 8278890 w 8288843"/>
              <a:gd name="connsiteY6" fmla="*/ 1968779 h 4517018"/>
              <a:gd name="connsiteX7" fmla="*/ 8288843 w 8288843"/>
              <a:gd name="connsiteY7" fmla="*/ 2067513 h 4517018"/>
              <a:gd name="connsiteX8" fmla="*/ 8288843 w 8288843"/>
              <a:gd name="connsiteY8" fmla="*/ 4027105 h 4517018"/>
              <a:gd name="connsiteX9" fmla="*/ 7798930 w 8288843"/>
              <a:gd name="connsiteY9" fmla="*/ 4517018 h 4517018"/>
              <a:gd name="connsiteX10" fmla="*/ 5722627 w 8288843"/>
              <a:gd name="connsiteY10" fmla="*/ 4517018 h 4517018"/>
              <a:gd name="connsiteX11" fmla="*/ 5232714 w 8288843"/>
              <a:gd name="connsiteY11" fmla="*/ 4027105 h 4517018"/>
              <a:gd name="connsiteX12" fmla="*/ 5232714 w 8288843"/>
              <a:gd name="connsiteY12" fmla="*/ 2205814 h 4517018"/>
              <a:gd name="connsiteX13" fmla="*/ 367643 w 8288843"/>
              <a:gd name="connsiteY13" fmla="*/ 2205814 h 4517018"/>
              <a:gd name="connsiteX14" fmla="*/ 0 w 8288843"/>
              <a:gd name="connsiteY14" fmla="*/ 1838171 h 4517018"/>
              <a:gd name="connsiteX15" fmla="*/ 0 w 8288843"/>
              <a:gd name="connsiteY15" fmla="*/ 367643 h 4517018"/>
              <a:gd name="connsiteX16" fmla="*/ 367643 w 8288843"/>
              <a:gd name="connsiteY16" fmla="*/ 0 h 4517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288843" h="4517018">
                <a:moveTo>
                  <a:pt x="367643" y="0"/>
                </a:moveTo>
                <a:lnTo>
                  <a:pt x="7914555" y="0"/>
                </a:lnTo>
                <a:cubicBezTo>
                  <a:pt x="8117599" y="0"/>
                  <a:pt x="8282198" y="164599"/>
                  <a:pt x="8282198" y="367643"/>
                </a:cubicBezTo>
                <a:lnTo>
                  <a:pt x="8282198" y="1838171"/>
                </a:lnTo>
                <a:cubicBezTo>
                  <a:pt x="8282198" y="1863552"/>
                  <a:pt x="8279626" y="1888331"/>
                  <a:pt x="8274729" y="1912264"/>
                </a:cubicBezTo>
                <a:lnTo>
                  <a:pt x="8268038" y="1933819"/>
                </a:lnTo>
                <a:lnTo>
                  <a:pt x="8278890" y="1968779"/>
                </a:lnTo>
                <a:cubicBezTo>
                  <a:pt x="8285416" y="2000671"/>
                  <a:pt x="8288843" y="2033692"/>
                  <a:pt x="8288843" y="2067513"/>
                </a:cubicBezTo>
                <a:lnTo>
                  <a:pt x="8288843" y="4027105"/>
                </a:lnTo>
                <a:cubicBezTo>
                  <a:pt x="8288843" y="4297676"/>
                  <a:pt x="8069501" y="4517018"/>
                  <a:pt x="7798930" y="4517018"/>
                </a:cubicBezTo>
                <a:lnTo>
                  <a:pt x="5722627" y="4517018"/>
                </a:lnTo>
                <a:cubicBezTo>
                  <a:pt x="5452056" y="4517018"/>
                  <a:pt x="5232714" y="4297676"/>
                  <a:pt x="5232714" y="4027105"/>
                </a:cubicBezTo>
                <a:lnTo>
                  <a:pt x="5232714" y="2205814"/>
                </a:lnTo>
                <a:lnTo>
                  <a:pt x="367643" y="2205814"/>
                </a:lnTo>
                <a:cubicBezTo>
                  <a:pt x="164599" y="2205814"/>
                  <a:pt x="0" y="2041215"/>
                  <a:pt x="0" y="1838171"/>
                </a:cubicBezTo>
                <a:lnTo>
                  <a:pt x="0" y="367643"/>
                </a:lnTo>
                <a:cubicBezTo>
                  <a:pt x="0" y="164599"/>
                  <a:pt x="164599" y="0"/>
                  <a:pt x="367643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rgbClr val="F75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A5552076-ADFC-5137-0978-861F871CEB66}"/>
              </a:ext>
            </a:extLst>
          </p:cNvPr>
          <p:cNvSpPr/>
          <p:nvPr/>
        </p:nvSpPr>
        <p:spPr>
          <a:xfrm>
            <a:off x="10634382" y="694264"/>
            <a:ext cx="1438516" cy="5620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20C6B9E6-B3C2-3A05-FA45-A7A75F680F94}"/>
              </a:ext>
            </a:extLst>
          </p:cNvPr>
          <p:cNvSpPr/>
          <p:nvPr/>
        </p:nvSpPr>
        <p:spPr>
          <a:xfrm>
            <a:off x="10634382" y="698632"/>
            <a:ext cx="1442799" cy="270838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User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37B3BAE7-65B2-8B60-4AD8-3C7457F3C293}"/>
              </a:ext>
            </a:extLst>
          </p:cNvPr>
          <p:cNvSpPr/>
          <p:nvPr/>
        </p:nvSpPr>
        <p:spPr>
          <a:xfrm>
            <a:off x="194810" y="694264"/>
            <a:ext cx="1438516" cy="5620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5" name="四角形: 角を丸くする 224">
            <a:extLst>
              <a:ext uri="{FF2B5EF4-FFF2-40B4-BE49-F238E27FC236}">
                <a16:creationId xmlns:a16="http://schemas.microsoft.com/office/drawing/2014/main" id="{E20EA46F-4F8F-A8EE-FB47-7DC255EAC14F}"/>
              </a:ext>
            </a:extLst>
          </p:cNvPr>
          <p:cNvSpPr/>
          <p:nvPr/>
        </p:nvSpPr>
        <p:spPr>
          <a:xfrm>
            <a:off x="2018902" y="2939611"/>
            <a:ext cx="4973670" cy="143322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F75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9512AE5-3A39-EE48-9BB3-0C100738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17" y="100200"/>
            <a:ext cx="10916165" cy="523220"/>
          </a:xfrm>
        </p:spPr>
        <p:txBody>
          <a:bodyPr/>
          <a:lstStyle/>
          <a:p>
            <a:r>
              <a:rPr lang="en-US" altLang="ja-JP" dirty="0"/>
              <a:t>RAG</a:t>
            </a:r>
            <a:r>
              <a:rPr lang="ja-JP" altLang="en-US" dirty="0"/>
              <a:t>基盤の全体像</a:t>
            </a:r>
            <a:endParaRPr kumimoji="1" lang="ja-JP" altLang="en-US" dirty="0"/>
          </a:p>
        </p:txBody>
      </p:sp>
      <p:sp>
        <p:nvSpPr>
          <p:cNvPr id="183" name="グラフィックス 21">
            <a:extLst>
              <a:ext uri="{FF2B5EF4-FFF2-40B4-BE49-F238E27FC236}">
                <a16:creationId xmlns:a16="http://schemas.microsoft.com/office/drawing/2014/main" id="{362C7904-AF6F-59B2-B2D7-4CE075046D8E}"/>
              </a:ext>
            </a:extLst>
          </p:cNvPr>
          <p:cNvSpPr/>
          <p:nvPr/>
        </p:nvSpPr>
        <p:spPr>
          <a:xfrm>
            <a:off x="2439051" y="700402"/>
            <a:ext cx="248334" cy="269068"/>
          </a:xfrm>
          <a:custGeom>
            <a:avLst/>
            <a:gdLst>
              <a:gd name="connsiteX0" fmla="*/ 0 w 248334"/>
              <a:gd name="connsiteY0" fmla="*/ 70116 h 269068"/>
              <a:gd name="connsiteX1" fmla="*/ 0 w 248334"/>
              <a:gd name="connsiteY1" fmla="*/ 78220 h 269068"/>
              <a:gd name="connsiteX2" fmla="*/ 124167 w 248334"/>
              <a:gd name="connsiteY2" fmla="*/ 148273 h 269068"/>
              <a:gd name="connsiteX3" fmla="*/ 235055 w 248334"/>
              <a:gd name="connsiteY3" fmla="*/ 85643 h 269068"/>
              <a:gd name="connsiteX4" fmla="*/ 235055 w 248334"/>
              <a:gd name="connsiteY4" fmla="*/ 110967 h 269068"/>
              <a:gd name="connsiteX5" fmla="*/ 124167 w 248334"/>
              <a:gd name="connsiteY5" fmla="*/ 173961 h 269068"/>
              <a:gd name="connsiteX6" fmla="*/ 6252 w 248334"/>
              <a:gd name="connsiteY6" fmla="*/ 106963 h 269068"/>
              <a:gd name="connsiteX7" fmla="*/ 0 w 248334"/>
              <a:gd name="connsiteY7" fmla="*/ 110445 h 269068"/>
              <a:gd name="connsiteX8" fmla="*/ 0 w 248334"/>
              <a:gd name="connsiteY8" fmla="*/ 158909 h 269068"/>
              <a:gd name="connsiteX9" fmla="*/ 124167 w 248334"/>
              <a:gd name="connsiteY9" fmla="*/ 228787 h 269068"/>
              <a:gd name="connsiteX10" fmla="*/ 235055 w 248334"/>
              <a:gd name="connsiteY10" fmla="*/ 166395 h 269068"/>
              <a:gd name="connsiteX11" fmla="*/ 235055 w 248334"/>
              <a:gd name="connsiteY11" fmla="*/ 191498 h 269068"/>
              <a:gd name="connsiteX12" fmla="*/ 124167 w 248334"/>
              <a:gd name="connsiteY12" fmla="*/ 254523 h 269068"/>
              <a:gd name="connsiteX13" fmla="*/ 6252 w 248334"/>
              <a:gd name="connsiteY13" fmla="*/ 187509 h 269068"/>
              <a:gd name="connsiteX14" fmla="*/ 0 w 248334"/>
              <a:gd name="connsiteY14" fmla="*/ 190991 h 269068"/>
              <a:gd name="connsiteX15" fmla="*/ 0 w 248334"/>
              <a:gd name="connsiteY15" fmla="*/ 199206 h 269068"/>
              <a:gd name="connsiteX16" fmla="*/ 124167 w 248334"/>
              <a:gd name="connsiteY16" fmla="*/ 269068 h 269068"/>
              <a:gd name="connsiteX17" fmla="*/ 248334 w 248334"/>
              <a:gd name="connsiteY17" fmla="*/ 199206 h 269068"/>
              <a:gd name="connsiteX18" fmla="*/ 248334 w 248334"/>
              <a:gd name="connsiteY18" fmla="*/ 150694 h 269068"/>
              <a:gd name="connsiteX19" fmla="*/ 242003 w 248334"/>
              <a:gd name="connsiteY19" fmla="*/ 147244 h 269068"/>
              <a:gd name="connsiteX20" fmla="*/ 124167 w 248334"/>
              <a:gd name="connsiteY20" fmla="*/ 214242 h 269068"/>
              <a:gd name="connsiteX21" fmla="*/ 13248 w 248334"/>
              <a:gd name="connsiteY21" fmla="*/ 151216 h 269068"/>
              <a:gd name="connsiteX22" fmla="*/ 13248 w 248334"/>
              <a:gd name="connsiteY22" fmla="*/ 126241 h 269068"/>
              <a:gd name="connsiteX23" fmla="*/ 124167 w 248334"/>
              <a:gd name="connsiteY23" fmla="*/ 188569 h 269068"/>
              <a:gd name="connsiteX24" fmla="*/ 248334 w 248334"/>
              <a:gd name="connsiteY24" fmla="*/ 118707 h 269068"/>
              <a:gd name="connsiteX25" fmla="*/ 248334 w 248334"/>
              <a:gd name="connsiteY25" fmla="*/ 70876 h 269068"/>
              <a:gd name="connsiteX26" fmla="*/ 242003 w 248334"/>
              <a:gd name="connsiteY26" fmla="*/ 67410 h 269068"/>
              <a:gd name="connsiteX27" fmla="*/ 124167 w 248334"/>
              <a:gd name="connsiteY27" fmla="*/ 134423 h 269068"/>
              <a:gd name="connsiteX28" fmla="*/ 18946 w 248334"/>
              <a:gd name="connsiteY28" fmla="*/ 74627 h 269068"/>
              <a:gd name="connsiteX29" fmla="*/ 124167 w 248334"/>
              <a:gd name="connsiteY29" fmla="*/ 15194 h 269068"/>
              <a:gd name="connsiteX30" fmla="*/ 210839 w 248334"/>
              <a:gd name="connsiteY30" fmla="*/ 64165 h 269068"/>
              <a:gd name="connsiteX31" fmla="*/ 218420 w 248334"/>
              <a:gd name="connsiteY31" fmla="*/ 59907 h 269068"/>
              <a:gd name="connsiteX32" fmla="*/ 218420 w 248334"/>
              <a:gd name="connsiteY32" fmla="*/ 53228 h 269068"/>
              <a:gd name="connsiteX33" fmla="*/ 124167 w 248334"/>
              <a:gd name="connsiteY33" fmla="*/ 0 h 269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48334" h="269068">
                <a:moveTo>
                  <a:pt x="0" y="70116"/>
                </a:moveTo>
                <a:lnTo>
                  <a:pt x="0" y="78220"/>
                </a:lnTo>
                <a:lnTo>
                  <a:pt x="124167" y="148273"/>
                </a:lnTo>
                <a:lnTo>
                  <a:pt x="235055" y="85643"/>
                </a:lnTo>
                <a:lnTo>
                  <a:pt x="235055" y="110967"/>
                </a:lnTo>
                <a:lnTo>
                  <a:pt x="124167" y="173961"/>
                </a:lnTo>
                <a:lnTo>
                  <a:pt x="6252" y="106963"/>
                </a:lnTo>
                <a:lnTo>
                  <a:pt x="0" y="110445"/>
                </a:lnTo>
                <a:lnTo>
                  <a:pt x="0" y="158909"/>
                </a:lnTo>
                <a:lnTo>
                  <a:pt x="124167" y="228787"/>
                </a:lnTo>
                <a:lnTo>
                  <a:pt x="235055" y="166395"/>
                </a:lnTo>
                <a:lnTo>
                  <a:pt x="235055" y="191498"/>
                </a:lnTo>
                <a:lnTo>
                  <a:pt x="124167" y="254523"/>
                </a:lnTo>
                <a:lnTo>
                  <a:pt x="6252" y="187509"/>
                </a:lnTo>
                <a:lnTo>
                  <a:pt x="0" y="190991"/>
                </a:lnTo>
                <a:lnTo>
                  <a:pt x="0" y="199206"/>
                </a:lnTo>
                <a:lnTo>
                  <a:pt x="124167" y="269068"/>
                </a:lnTo>
                <a:lnTo>
                  <a:pt x="248334" y="199206"/>
                </a:lnTo>
                <a:lnTo>
                  <a:pt x="248334" y="150694"/>
                </a:lnTo>
                <a:lnTo>
                  <a:pt x="242003" y="147244"/>
                </a:lnTo>
                <a:lnTo>
                  <a:pt x="124167" y="214242"/>
                </a:lnTo>
                <a:lnTo>
                  <a:pt x="13248" y="151216"/>
                </a:lnTo>
                <a:lnTo>
                  <a:pt x="13248" y="126241"/>
                </a:lnTo>
                <a:lnTo>
                  <a:pt x="124167" y="188569"/>
                </a:lnTo>
                <a:lnTo>
                  <a:pt x="248334" y="118707"/>
                </a:lnTo>
                <a:lnTo>
                  <a:pt x="248334" y="70876"/>
                </a:lnTo>
                <a:lnTo>
                  <a:pt x="242003" y="67410"/>
                </a:lnTo>
                <a:lnTo>
                  <a:pt x="124167" y="134423"/>
                </a:lnTo>
                <a:lnTo>
                  <a:pt x="18946" y="74627"/>
                </a:lnTo>
                <a:lnTo>
                  <a:pt x="124167" y="15194"/>
                </a:lnTo>
                <a:lnTo>
                  <a:pt x="210839" y="64165"/>
                </a:lnTo>
                <a:lnTo>
                  <a:pt x="218420" y="59907"/>
                </a:lnTo>
                <a:lnTo>
                  <a:pt x="218420" y="53228"/>
                </a:lnTo>
                <a:lnTo>
                  <a:pt x="124167" y="0"/>
                </a:lnTo>
                <a:close/>
              </a:path>
            </a:pathLst>
          </a:custGeom>
          <a:solidFill>
            <a:srgbClr val="FF3621"/>
          </a:solidFill>
          <a:ln w="15346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6DD44B-A398-042B-A7C6-37AC3ACC2D66}"/>
              </a:ext>
            </a:extLst>
          </p:cNvPr>
          <p:cNvSpPr/>
          <p:nvPr/>
        </p:nvSpPr>
        <p:spPr>
          <a:xfrm>
            <a:off x="1903201" y="5321039"/>
            <a:ext cx="8519264" cy="1027089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105A6B7-1813-DB3B-1E5C-F6443D03A0FF}"/>
              </a:ext>
            </a:extLst>
          </p:cNvPr>
          <p:cNvSpPr/>
          <p:nvPr/>
        </p:nvSpPr>
        <p:spPr>
          <a:xfrm>
            <a:off x="1898278" y="5290975"/>
            <a:ext cx="8515722" cy="263107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Platform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64AFEACC-1C69-815F-D498-4DDDF6C0928B}"/>
              </a:ext>
            </a:extLst>
          </p:cNvPr>
          <p:cNvSpPr/>
          <p:nvPr/>
        </p:nvSpPr>
        <p:spPr>
          <a:xfrm>
            <a:off x="193380" y="698632"/>
            <a:ext cx="1438517" cy="214670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Data Sources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948DC18B-7D72-E730-2E09-65ED852B1FD4}"/>
              </a:ext>
            </a:extLst>
          </p:cNvPr>
          <p:cNvSpPr/>
          <p:nvPr/>
        </p:nvSpPr>
        <p:spPr>
          <a:xfrm>
            <a:off x="2259600" y="1032468"/>
            <a:ext cx="1072270" cy="171615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FE1D411E-0C12-4E2F-AC39-2BD279E0B145}"/>
              </a:ext>
            </a:extLst>
          </p:cNvPr>
          <p:cNvSpPr/>
          <p:nvPr/>
        </p:nvSpPr>
        <p:spPr>
          <a:xfrm>
            <a:off x="2263093" y="1037302"/>
            <a:ext cx="1068777" cy="260944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Ingest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D1053E3-4602-44DC-A852-53D9890A88AC}"/>
              </a:ext>
            </a:extLst>
          </p:cNvPr>
          <p:cNvSpPr/>
          <p:nvPr/>
        </p:nvSpPr>
        <p:spPr>
          <a:xfrm>
            <a:off x="3494933" y="1015091"/>
            <a:ext cx="5354929" cy="101461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65B69287-C80F-8BF5-0E46-A585038E5806}"/>
              </a:ext>
            </a:extLst>
          </p:cNvPr>
          <p:cNvSpPr/>
          <p:nvPr/>
        </p:nvSpPr>
        <p:spPr>
          <a:xfrm>
            <a:off x="3498475" y="1018633"/>
            <a:ext cx="5351387" cy="262879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Process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F5CE7930-E16F-EDB2-E3FF-1F0DF929FA82}"/>
              </a:ext>
            </a:extLst>
          </p:cNvPr>
          <p:cNvSpPr/>
          <p:nvPr/>
        </p:nvSpPr>
        <p:spPr>
          <a:xfrm>
            <a:off x="3494932" y="2057415"/>
            <a:ext cx="5354929" cy="69120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7B1ECD80-60FB-8421-031A-9D65A77A2568}"/>
              </a:ext>
            </a:extLst>
          </p:cNvPr>
          <p:cNvSpPr/>
          <p:nvPr/>
        </p:nvSpPr>
        <p:spPr>
          <a:xfrm>
            <a:off x="3498475" y="2060956"/>
            <a:ext cx="5332258" cy="283371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Storage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pic>
        <p:nvPicPr>
          <p:cNvPr id="150" name="図 149">
            <a:extLst>
              <a:ext uri="{FF2B5EF4-FFF2-40B4-BE49-F238E27FC236}">
                <a16:creationId xmlns:a16="http://schemas.microsoft.com/office/drawing/2014/main" id="{AEC8346A-24D1-54B0-DB35-392755EAD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579" y="2358881"/>
            <a:ext cx="1393832" cy="387974"/>
          </a:xfrm>
          <a:prstGeom prst="rect">
            <a:avLst/>
          </a:prstGeom>
        </p:spPr>
      </p:pic>
      <p:pic>
        <p:nvPicPr>
          <p:cNvPr id="158" name="グラフィックス 157" descr="時計 枠線">
            <a:extLst>
              <a:ext uri="{FF2B5EF4-FFF2-40B4-BE49-F238E27FC236}">
                <a16:creationId xmlns:a16="http://schemas.microsoft.com/office/drawing/2014/main" id="{FF8DF0DC-AD75-2281-774F-6E20C3E7D6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6731" y="1388987"/>
            <a:ext cx="594886" cy="594886"/>
          </a:xfrm>
          <a:prstGeom prst="rect">
            <a:avLst/>
          </a:prstGeom>
        </p:spPr>
      </p:pic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690C7420-4338-F83F-E28B-B8F01331A621}"/>
              </a:ext>
            </a:extLst>
          </p:cNvPr>
          <p:cNvSpPr txBox="1"/>
          <p:nvPr/>
        </p:nvSpPr>
        <p:spPr>
          <a:xfrm>
            <a:off x="2440216" y="197499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Batch</a:t>
            </a:r>
          </a:p>
          <a:p>
            <a:pPr algn="ctr"/>
            <a:r>
              <a:rPr kumimoji="1" lang="en-US" altLang="ja-JP" sz="900"/>
              <a:t>Ingestion</a:t>
            </a:r>
            <a:endParaRPr kumimoji="1" lang="ja-JP" altLang="en-US" sz="900"/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F9F57AB8-733C-1C40-A3E6-388CD367831D}"/>
              </a:ext>
            </a:extLst>
          </p:cNvPr>
          <p:cNvSpPr/>
          <p:nvPr/>
        </p:nvSpPr>
        <p:spPr>
          <a:xfrm>
            <a:off x="7502970" y="4367717"/>
            <a:ext cx="2558746" cy="69120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4348FFEF-8D02-617F-1E85-4E63851ED718}"/>
              </a:ext>
            </a:extLst>
          </p:cNvPr>
          <p:cNvSpPr/>
          <p:nvPr/>
        </p:nvSpPr>
        <p:spPr>
          <a:xfrm>
            <a:off x="7506512" y="4371259"/>
            <a:ext cx="2558746" cy="269932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Governance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pic>
        <p:nvPicPr>
          <p:cNvPr id="148" name="図 147">
            <a:extLst>
              <a:ext uri="{FF2B5EF4-FFF2-40B4-BE49-F238E27FC236}">
                <a16:creationId xmlns:a16="http://schemas.microsoft.com/office/drawing/2014/main" id="{1018DDD1-A514-2A8D-89E0-EDD1EC0436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2478" y="4677241"/>
            <a:ext cx="1448694" cy="337262"/>
          </a:xfrm>
          <a:prstGeom prst="rect">
            <a:avLst/>
          </a:prstGeom>
        </p:spPr>
      </p:pic>
      <p:grpSp>
        <p:nvGrpSpPr>
          <p:cNvPr id="173" name="グループ化 172">
            <a:extLst>
              <a:ext uri="{FF2B5EF4-FFF2-40B4-BE49-F238E27FC236}">
                <a16:creationId xmlns:a16="http://schemas.microsoft.com/office/drawing/2014/main" id="{C72608FD-D8C4-7206-0081-57315C77AD45}"/>
              </a:ext>
            </a:extLst>
          </p:cNvPr>
          <p:cNvGrpSpPr/>
          <p:nvPr/>
        </p:nvGrpSpPr>
        <p:grpSpPr>
          <a:xfrm>
            <a:off x="3631730" y="1392931"/>
            <a:ext cx="1098212" cy="468445"/>
            <a:chOff x="9506146" y="1714515"/>
            <a:chExt cx="1098212" cy="468445"/>
          </a:xfrm>
        </p:grpSpPr>
        <p:sp>
          <p:nvSpPr>
            <p:cNvPr id="168" name="テキスト ボックス 167">
              <a:extLst>
                <a:ext uri="{FF2B5EF4-FFF2-40B4-BE49-F238E27FC236}">
                  <a16:creationId xmlns:a16="http://schemas.microsoft.com/office/drawing/2014/main" id="{237AFC29-B61F-A013-4C14-000A03489740}"/>
                </a:ext>
              </a:extLst>
            </p:cNvPr>
            <p:cNvSpPr txBox="1"/>
            <p:nvPr/>
          </p:nvSpPr>
          <p:spPr>
            <a:xfrm>
              <a:off x="9855435" y="1772538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900"/>
                <a:t>Bronze</a:t>
              </a:r>
            </a:p>
            <a:p>
              <a:pPr algn="ctr"/>
              <a:r>
                <a:rPr kumimoji="1" lang="en-US" altLang="ja-JP" sz="900"/>
                <a:t>(Raw data)</a:t>
              </a:r>
              <a:endParaRPr kumimoji="1" lang="ja-JP" altLang="en-US" sz="900"/>
            </a:p>
          </p:txBody>
        </p:sp>
        <p:pic>
          <p:nvPicPr>
            <p:cNvPr id="167" name="グラフィックス 166" descr="データベース 枠線">
              <a:extLst>
                <a:ext uri="{FF2B5EF4-FFF2-40B4-BE49-F238E27FC236}">
                  <a16:creationId xmlns:a16="http://schemas.microsoft.com/office/drawing/2014/main" id="{247D5688-C578-E02E-7481-FCF4BCBB3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06146" y="1714515"/>
              <a:ext cx="468445" cy="468445"/>
            </a:xfrm>
            <a:prstGeom prst="rect">
              <a:avLst/>
            </a:prstGeom>
          </p:spPr>
        </p:pic>
      </p:grpSp>
      <p:sp>
        <p:nvSpPr>
          <p:cNvPr id="171" name="テキスト ボックス 170">
            <a:extLst>
              <a:ext uri="{FF2B5EF4-FFF2-40B4-BE49-F238E27FC236}">
                <a16:creationId xmlns:a16="http://schemas.microsoft.com/office/drawing/2014/main" id="{57BE6F88-9DB3-B749-4EC7-6B65AC8666FE}"/>
              </a:ext>
            </a:extLst>
          </p:cNvPr>
          <p:cNvSpPr txBox="1"/>
          <p:nvPr/>
        </p:nvSpPr>
        <p:spPr>
          <a:xfrm>
            <a:off x="8001353" y="1436002"/>
            <a:ext cx="82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00"/>
              <a:t>Gold</a:t>
            </a:r>
          </a:p>
          <a:p>
            <a:pPr algn="ctr"/>
            <a:r>
              <a:rPr kumimoji="1" lang="en-US" altLang="ja-JP" sz="900"/>
              <a:t>(Vectorized)</a:t>
            </a:r>
            <a:endParaRPr kumimoji="1" lang="ja-JP" altLang="en-US" sz="900"/>
          </a:p>
        </p:txBody>
      </p:sp>
      <p:pic>
        <p:nvPicPr>
          <p:cNvPr id="172" name="グラフィックス 171" descr="データベース 枠線">
            <a:extLst>
              <a:ext uri="{FF2B5EF4-FFF2-40B4-BE49-F238E27FC236}">
                <a16:creationId xmlns:a16="http://schemas.microsoft.com/office/drawing/2014/main" id="{28808DC3-616F-712D-F594-693022D8AD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0073" y="1383458"/>
            <a:ext cx="468445" cy="468445"/>
          </a:xfrm>
          <a:prstGeom prst="rect">
            <a:avLst/>
          </a:prstGeom>
        </p:spPr>
      </p:pic>
      <p:cxnSp>
        <p:nvCxnSpPr>
          <p:cNvPr id="178" name="直線矢印コネクタ 177">
            <a:extLst>
              <a:ext uri="{FF2B5EF4-FFF2-40B4-BE49-F238E27FC236}">
                <a16:creationId xmlns:a16="http://schemas.microsoft.com/office/drawing/2014/main" id="{2A6630E6-0512-D924-97C7-F22CDEDB9E63}"/>
              </a:ext>
            </a:extLst>
          </p:cNvPr>
          <p:cNvCxnSpPr/>
          <p:nvPr/>
        </p:nvCxnSpPr>
        <p:spPr>
          <a:xfrm>
            <a:off x="6546838" y="1735667"/>
            <a:ext cx="1043235" cy="0"/>
          </a:xfrm>
          <a:prstGeom prst="straightConnector1">
            <a:avLst/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1ABEE3B2-5C5E-7305-8600-D048DD2495AC}"/>
              </a:ext>
            </a:extLst>
          </p:cNvPr>
          <p:cNvGrpSpPr/>
          <p:nvPr/>
        </p:nvGrpSpPr>
        <p:grpSpPr>
          <a:xfrm>
            <a:off x="6510484" y="1303918"/>
            <a:ext cx="1111182" cy="400110"/>
            <a:chOff x="9020197" y="3217462"/>
            <a:chExt cx="1111182" cy="400110"/>
          </a:xfrm>
        </p:grpSpPr>
        <p:pic>
          <p:nvPicPr>
            <p:cNvPr id="72" name="Picture 8" descr="Openai アイコン、ロゴ、シンボル – 無料ダウンロード PNG、SVG">
              <a:extLst>
                <a:ext uri="{FF2B5EF4-FFF2-40B4-BE49-F238E27FC236}">
                  <a16:creationId xmlns:a16="http://schemas.microsoft.com/office/drawing/2014/main" id="{4D0B68A7-B6CC-F36A-FF1E-0BF7FB00C9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0197" y="3263176"/>
              <a:ext cx="297926" cy="297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9" name="テキスト ボックス 178">
              <a:extLst>
                <a:ext uri="{FF2B5EF4-FFF2-40B4-BE49-F238E27FC236}">
                  <a16:creationId xmlns:a16="http://schemas.microsoft.com/office/drawing/2014/main" id="{82784480-85E9-94A3-4CBF-B5E436755F69}"/>
                </a:ext>
              </a:extLst>
            </p:cNvPr>
            <p:cNvSpPr txBox="1"/>
            <p:nvPr/>
          </p:nvSpPr>
          <p:spPr>
            <a:xfrm>
              <a:off x="9302306" y="3217462"/>
              <a:ext cx="8290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/>
                <a:t>Embedding</a:t>
              </a:r>
            </a:p>
            <a:p>
              <a:r>
                <a:rPr kumimoji="1" lang="en-US" altLang="ja-JP" sz="1000"/>
                <a:t>Model</a:t>
              </a:r>
              <a:endParaRPr kumimoji="1" lang="ja-JP" altLang="en-US" sz="1000"/>
            </a:p>
          </p:txBody>
        </p:sp>
      </p:grp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4E939E5F-4D3C-AEB7-FAC3-1DC9B0FCB3AD}"/>
              </a:ext>
            </a:extLst>
          </p:cNvPr>
          <p:cNvCxnSpPr>
            <a:cxnSpLocks/>
          </p:cNvCxnSpPr>
          <p:nvPr/>
        </p:nvCxnSpPr>
        <p:spPr>
          <a:xfrm>
            <a:off x="4749207" y="1704028"/>
            <a:ext cx="737193" cy="0"/>
          </a:xfrm>
          <a:prstGeom prst="straightConnector1">
            <a:avLst/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Sharepoint アイコン、ロゴ、シンボル – 無料ダウンロード PNG、SVG">
            <a:extLst>
              <a:ext uri="{FF2B5EF4-FFF2-40B4-BE49-F238E27FC236}">
                <a16:creationId xmlns:a16="http://schemas.microsoft.com/office/drawing/2014/main" id="{564520A7-D9BA-4CD3-FFF7-9E622001C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36" y="1197936"/>
            <a:ext cx="582144" cy="58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Box - Google Play のアプリ">
            <a:extLst>
              <a:ext uri="{FF2B5EF4-FFF2-40B4-BE49-F238E27FC236}">
                <a16:creationId xmlns:a16="http://schemas.microsoft.com/office/drawing/2014/main" id="{0337D7AD-AE67-C39D-EBE4-857030F4E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10" y="2782327"/>
            <a:ext cx="451394" cy="45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 descr="マグカップ, カップ, コーヒーカップ が含まれている画像&#10;&#10;自動的に生成された説明">
            <a:extLst>
              <a:ext uri="{FF2B5EF4-FFF2-40B4-BE49-F238E27FC236}">
                <a16:creationId xmlns:a16="http://schemas.microsoft.com/office/drawing/2014/main" id="{91F17A08-E279-6753-1AD6-8D144473004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37778" y1="22667" x2="60000" y2="22667"/>
                        <a14:foregroundMark x1="38667" y1="56000" x2="68000" y2="56000"/>
                        <a14:foregroundMark x1="40000" y1="72444" x2="62222" y2="74667"/>
                        <a14:foregroundMark x1="62222" y1="74667" x2="62667" y2="75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51" y="4189600"/>
            <a:ext cx="655884" cy="492412"/>
          </a:xfrm>
          <a:prstGeom prst="rect">
            <a:avLst/>
          </a:prstGeom>
        </p:spPr>
      </p:pic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FDE8CF4A-54F9-3932-7FB5-254BA67A9055}"/>
              </a:ext>
            </a:extLst>
          </p:cNvPr>
          <p:cNvSpPr/>
          <p:nvPr/>
        </p:nvSpPr>
        <p:spPr>
          <a:xfrm>
            <a:off x="9146180" y="1015534"/>
            <a:ext cx="931111" cy="17330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8E2D2B14-7F0E-23F7-F38B-D1B8D6977F28}"/>
              </a:ext>
            </a:extLst>
          </p:cNvPr>
          <p:cNvSpPr/>
          <p:nvPr/>
        </p:nvSpPr>
        <p:spPr>
          <a:xfrm>
            <a:off x="9153275" y="1020368"/>
            <a:ext cx="931111" cy="238316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Serve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187" name="テキスト ボックス 186">
            <a:extLst>
              <a:ext uri="{FF2B5EF4-FFF2-40B4-BE49-F238E27FC236}">
                <a16:creationId xmlns:a16="http://schemas.microsoft.com/office/drawing/2014/main" id="{78B63FFB-ACA6-05F0-7E3E-1F2EF2DD57E2}"/>
              </a:ext>
            </a:extLst>
          </p:cNvPr>
          <p:cNvSpPr txBox="1"/>
          <p:nvPr/>
        </p:nvSpPr>
        <p:spPr>
          <a:xfrm>
            <a:off x="9304008" y="1459669"/>
            <a:ext cx="5934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200"/>
              <a:t>&lt;/&gt;</a:t>
            </a:r>
            <a:endParaRPr kumimoji="1" lang="ja-JP" altLang="en-US" sz="2200"/>
          </a:p>
        </p:txBody>
      </p: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7B118CE0-6368-4385-89AC-D50F336F17B2}"/>
              </a:ext>
            </a:extLst>
          </p:cNvPr>
          <p:cNvSpPr txBox="1"/>
          <p:nvPr/>
        </p:nvSpPr>
        <p:spPr>
          <a:xfrm>
            <a:off x="9200532" y="1820286"/>
            <a:ext cx="82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00"/>
              <a:t>Serving</a:t>
            </a:r>
          </a:p>
          <a:p>
            <a:pPr algn="ctr"/>
            <a:r>
              <a:rPr kumimoji="1" lang="en-US" altLang="ja-JP" sz="900"/>
              <a:t>Endpoint</a:t>
            </a:r>
            <a:endParaRPr kumimoji="1" lang="ja-JP" altLang="en-US" sz="900"/>
          </a:p>
        </p:txBody>
      </p:sp>
      <p:grpSp>
        <p:nvGrpSpPr>
          <p:cNvPr id="174" name="グループ化 173">
            <a:extLst>
              <a:ext uri="{FF2B5EF4-FFF2-40B4-BE49-F238E27FC236}">
                <a16:creationId xmlns:a16="http://schemas.microsoft.com/office/drawing/2014/main" id="{6B428203-1F28-3479-00AF-C564DF69C09F}"/>
              </a:ext>
            </a:extLst>
          </p:cNvPr>
          <p:cNvGrpSpPr/>
          <p:nvPr/>
        </p:nvGrpSpPr>
        <p:grpSpPr>
          <a:xfrm>
            <a:off x="5457094" y="1410113"/>
            <a:ext cx="1132079" cy="468445"/>
            <a:chOff x="9527172" y="2430459"/>
            <a:chExt cx="1132079" cy="468445"/>
          </a:xfrm>
        </p:grpSpPr>
        <p:sp>
          <p:nvSpPr>
            <p:cNvPr id="169" name="テキスト ボックス 168">
              <a:extLst>
                <a:ext uri="{FF2B5EF4-FFF2-40B4-BE49-F238E27FC236}">
                  <a16:creationId xmlns:a16="http://schemas.microsoft.com/office/drawing/2014/main" id="{441F813C-0F76-FA53-27A6-CD08FADB5D52}"/>
                </a:ext>
              </a:extLst>
            </p:cNvPr>
            <p:cNvSpPr txBox="1"/>
            <p:nvPr/>
          </p:nvSpPr>
          <p:spPr>
            <a:xfrm>
              <a:off x="9910328" y="2480015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900"/>
                <a:t>Silver</a:t>
              </a:r>
            </a:p>
            <a:p>
              <a:pPr algn="ctr"/>
              <a:r>
                <a:rPr kumimoji="1" lang="en-US" altLang="ja-JP" sz="900"/>
                <a:t>(Cleansed)</a:t>
              </a:r>
              <a:endParaRPr kumimoji="1" lang="ja-JP" altLang="en-US" sz="900"/>
            </a:p>
          </p:txBody>
        </p:sp>
        <p:pic>
          <p:nvPicPr>
            <p:cNvPr id="170" name="グラフィックス 169" descr="データベース 枠線">
              <a:extLst>
                <a:ext uri="{FF2B5EF4-FFF2-40B4-BE49-F238E27FC236}">
                  <a16:creationId xmlns:a16="http://schemas.microsoft.com/office/drawing/2014/main" id="{FB6B0C73-0A89-7FC2-1916-B6FC1C4D7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527172" y="2430459"/>
              <a:ext cx="468445" cy="468445"/>
            </a:xfrm>
            <a:prstGeom prst="rect">
              <a:avLst/>
            </a:prstGeom>
          </p:spPr>
        </p:pic>
      </p:grpSp>
      <p:pic>
        <p:nvPicPr>
          <p:cNvPr id="189" name="図 188" descr="図形&#10;&#10;低い精度で自動的に生成された説明">
            <a:extLst>
              <a:ext uri="{FF2B5EF4-FFF2-40B4-BE49-F238E27FC236}">
                <a16:creationId xmlns:a16="http://schemas.microsoft.com/office/drawing/2014/main" id="{66F763E2-CE17-DA7D-39CF-325898BC059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10" y="1446892"/>
            <a:ext cx="528103" cy="528103"/>
          </a:xfrm>
          <a:prstGeom prst="rect">
            <a:avLst/>
          </a:prstGeom>
        </p:spPr>
      </p:pic>
      <p:sp>
        <p:nvSpPr>
          <p:cNvPr id="192" name="テキスト ボックス 191">
            <a:extLst>
              <a:ext uri="{FF2B5EF4-FFF2-40B4-BE49-F238E27FC236}">
                <a16:creationId xmlns:a16="http://schemas.microsoft.com/office/drawing/2014/main" id="{0903CCDF-188C-1659-5EBB-6341A5200AE1}"/>
              </a:ext>
            </a:extLst>
          </p:cNvPr>
          <p:cNvSpPr txBox="1"/>
          <p:nvPr/>
        </p:nvSpPr>
        <p:spPr>
          <a:xfrm>
            <a:off x="2670926" y="678085"/>
            <a:ext cx="5056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rgbClr val="F75D4D"/>
                </a:solidFill>
              </a:rPr>
              <a:t>RAG</a:t>
            </a:r>
            <a:r>
              <a:rPr kumimoji="1" lang="ja-JP" altLang="en-US" sz="1600" dirty="0">
                <a:solidFill>
                  <a:srgbClr val="F75D4D"/>
                </a:solidFill>
              </a:rPr>
              <a:t>基盤</a:t>
            </a:r>
            <a:r>
              <a:rPr kumimoji="1" lang="en-US" altLang="ja-JP" sz="1600" dirty="0">
                <a:solidFill>
                  <a:srgbClr val="F75D4D"/>
                </a:solidFill>
              </a:rPr>
              <a:t>(TELIS</a:t>
            </a:r>
            <a:r>
              <a:rPr kumimoji="1" lang="ja-JP" altLang="en-US" sz="1600" dirty="0">
                <a:solidFill>
                  <a:srgbClr val="F75D4D"/>
                </a:solidFill>
              </a:rPr>
              <a:t>用 </a:t>
            </a:r>
            <a:r>
              <a:rPr kumimoji="1" lang="en-US" altLang="ja-JP" sz="1600" dirty="0">
                <a:solidFill>
                  <a:srgbClr val="F75D4D"/>
                </a:solidFill>
              </a:rPr>
              <a:t>Azure Databricks </a:t>
            </a:r>
            <a:r>
              <a:rPr kumimoji="1" lang="ja-JP" altLang="en-US" sz="1600" dirty="0">
                <a:solidFill>
                  <a:srgbClr val="F75D4D"/>
                </a:solidFill>
              </a:rPr>
              <a:t>ワークスペース</a:t>
            </a:r>
            <a:r>
              <a:rPr kumimoji="1" lang="en-US" altLang="ja-JP" sz="1600" dirty="0">
                <a:solidFill>
                  <a:srgbClr val="F75D4D"/>
                </a:solidFill>
              </a:rPr>
              <a:t>)</a:t>
            </a:r>
            <a:endParaRPr kumimoji="1" lang="ja-JP" altLang="en-US" sz="1600" dirty="0">
              <a:solidFill>
                <a:srgbClr val="F75D4D"/>
              </a:solidFill>
            </a:endParaRPr>
          </a:p>
        </p:txBody>
      </p:sp>
      <p:sp>
        <p:nvSpPr>
          <p:cNvPr id="226" name="グラフィックス 21">
            <a:extLst>
              <a:ext uri="{FF2B5EF4-FFF2-40B4-BE49-F238E27FC236}">
                <a16:creationId xmlns:a16="http://schemas.microsoft.com/office/drawing/2014/main" id="{6A9F8F08-788B-EF2B-B2E6-900B0E5F10DA}"/>
              </a:ext>
            </a:extLst>
          </p:cNvPr>
          <p:cNvSpPr/>
          <p:nvPr/>
        </p:nvSpPr>
        <p:spPr>
          <a:xfrm>
            <a:off x="2439051" y="2998619"/>
            <a:ext cx="248334" cy="269068"/>
          </a:xfrm>
          <a:custGeom>
            <a:avLst/>
            <a:gdLst>
              <a:gd name="connsiteX0" fmla="*/ 0 w 248334"/>
              <a:gd name="connsiteY0" fmla="*/ 70116 h 269068"/>
              <a:gd name="connsiteX1" fmla="*/ 0 w 248334"/>
              <a:gd name="connsiteY1" fmla="*/ 78220 h 269068"/>
              <a:gd name="connsiteX2" fmla="*/ 124167 w 248334"/>
              <a:gd name="connsiteY2" fmla="*/ 148273 h 269068"/>
              <a:gd name="connsiteX3" fmla="*/ 235055 w 248334"/>
              <a:gd name="connsiteY3" fmla="*/ 85643 h 269068"/>
              <a:gd name="connsiteX4" fmla="*/ 235055 w 248334"/>
              <a:gd name="connsiteY4" fmla="*/ 110967 h 269068"/>
              <a:gd name="connsiteX5" fmla="*/ 124167 w 248334"/>
              <a:gd name="connsiteY5" fmla="*/ 173961 h 269068"/>
              <a:gd name="connsiteX6" fmla="*/ 6252 w 248334"/>
              <a:gd name="connsiteY6" fmla="*/ 106963 h 269068"/>
              <a:gd name="connsiteX7" fmla="*/ 0 w 248334"/>
              <a:gd name="connsiteY7" fmla="*/ 110445 h 269068"/>
              <a:gd name="connsiteX8" fmla="*/ 0 w 248334"/>
              <a:gd name="connsiteY8" fmla="*/ 158909 h 269068"/>
              <a:gd name="connsiteX9" fmla="*/ 124167 w 248334"/>
              <a:gd name="connsiteY9" fmla="*/ 228787 h 269068"/>
              <a:gd name="connsiteX10" fmla="*/ 235055 w 248334"/>
              <a:gd name="connsiteY10" fmla="*/ 166395 h 269068"/>
              <a:gd name="connsiteX11" fmla="*/ 235055 w 248334"/>
              <a:gd name="connsiteY11" fmla="*/ 191498 h 269068"/>
              <a:gd name="connsiteX12" fmla="*/ 124167 w 248334"/>
              <a:gd name="connsiteY12" fmla="*/ 254523 h 269068"/>
              <a:gd name="connsiteX13" fmla="*/ 6252 w 248334"/>
              <a:gd name="connsiteY13" fmla="*/ 187509 h 269068"/>
              <a:gd name="connsiteX14" fmla="*/ 0 w 248334"/>
              <a:gd name="connsiteY14" fmla="*/ 190991 h 269068"/>
              <a:gd name="connsiteX15" fmla="*/ 0 w 248334"/>
              <a:gd name="connsiteY15" fmla="*/ 199206 h 269068"/>
              <a:gd name="connsiteX16" fmla="*/ 124167 w 248334"/>
              <a:gd name="connsiteY16" fmla="*/ 269068 h 269068"/>
              <a:gd name="connsiteX17" fmla="*/ 248334 w 248334"/>
              <a:gd name="connsiteY17" fmla="*/ 199206 h 269068"/>
              <a:gd name="connsiteX18" fmla="*/ 248334 w 248334"/>
              <a:gd name="connsiteY18" fmla="*/ 150694 h 269068"/>
              <a:gd name="connsiteX19" fmla="*/ 242003 w 248334"/>
              <a:gd name="connsiteY19" fmla="*/ 147244 h 269068"/>
              <a:gd name="connsiteX20" fmla="*/ 124167 w 248334"/>
              <a:gd name="connsiteY20" fmla="*/ 214242 h 269068"/>
              <a:gd name="connsiteX21" fmla="*/ 13248 w 248334"/>
              <a:gd name="connsiteY21" fmla="*/ 151216 h 269068"/>
              <a:gd name="connsiteX22" fmla="*/ 13248 w 248334"/>
              <a:gd name="connsiteY22" fmla="*/ 126241 h 269068"/>
              <a:gd name="connsiteX23" fmla="*/ 124167 w 248334"/>
              <a:gd name="connsiteY23" fmla="*/ 188569 h 269068"/>
              <a:gd name="connsiteX24" fmla="*/ 248334 w 248334"/>
              <a:gd name="connsiteY24" fmla="*/ 118707 h 269068"/>
              <a:gd name="connsiteX25" fmla="*/ 248334 w 248334"/>
              <a:gd name="connsiteY25" fmla="*/ 70876 h 269068"/>
              <a:gd name="connsiteX26" fmla="*/ 242003 w 248334"/>
              <a:gd name="connsiteY26" fmla="*/ 67410 h 269068"/>
              <a:gd name="connsiteX27" fmla="*/ 124167 w 248334"/>
              <a:gd name="connsiteY27" fmla="*/ 134423 h 269068"/>
              <a:gd name="connsiteX28" fmla="*/ 18946 w 248334"/>
              <a:gd name="connsiteY28" fmla="*/ 74627 h 269068"/>
              <a:gd name="connsiteX29" fmla="*/ 124167 w 248334"/>
              <a:gd name="connsiteY29" fmla="*/ 15194 h 269068"/>
              <a:gd name="connsiteX30" fmla="*/ 210839 w 248334"/>
              <a:gd name="connsiteY30" fmla="*/ 64165 h 269068"/>
              <a:gd name="connsiteX31" fmla="*/ 218420 w 248334"/>
              <a:gd name="connsiteY31" fmla="*/ 59907 h 269068"/>
              <a:gd name="connsiteX32" fmla="*/ 218420 w 248334"/>
              <a:gd name="connsiteY32" fmla="*/ 53228 h 269068"/>
              <a:gd name="connsiteX33" fmla="*/ 124167 w 248334"/>
              <a:gd name="connsiteY33" fmla="*/ 0 h 269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48334" h="269068">
                <a:moveTo>
                  <a:pt x="0" y="70116"/>
                </a:moveTo>
                <a:lnTo>
                  <a:pt x="0" y="78220"/>
                </a:lnTo>
                <a:lnTo>
                  <a:pt x="124167" y="148273"/>
                </a:lnTo>
                <a:lnTo>
                  <a:pt x="235055" y="85643"/>
                </a:lnTo>
                <a:lnTo>
                  <a:pt x="235055" y="110967"/>
                </a:lnTo>
                <a:lnTo>
                  <a:pt x="124167" y="173961"/>
                </a:lnTo>
                <a:lnTo>
                  <a:pt x="6252" y="106963"/>
                </a:lnTo>
                <a:lnTo>
                  <a:pt x="0" y="110445"/>
                </a:lnTo>
                <a:lnTo>
                  <a:pt x="0" y="158909"/>
                </a:lnTo>
                <a:lnTo>
                  <a:pt x="124167" y="228787"/>
                </a:lnTo>
                <a:lnTo>
                  <a:pt x="235055" y="166395"/>
                </a:lnTo>
                <a:lnTo>
                  <a:pt x="235055" y="191498"/>
                </a:lnTo>
                <a:lnTo>
                  <a:pt x="124167" y="254523"/>
                </a:lnTo>
                <a:lnTo>
                  <a:pt x="6252" y="187509"/>
                </a:lnTo>
                <a:lnTo>
                  <a:pt x="0" y="190991"/>
                </a:lnTo>
                <a:lnTo>
                  <a:pt x="0" y="199206"/>
                </a:lnTo>
                <a:lnTo>
                  <a:pt x="124167" y="269068"/>
                </a:lnTo>
                <a:lnTo>
                  <a:pt x="248334" y="199206"/>
                </a:lnTo>
                <a:lnTo>
                  <a:pt x="248334" y="150694"/>
                </a:lnTo>
                <a:lnTo>
                  <a:pt x="242003" y="147244"/>
                </a:lnTo>
                <a:lnTo>
                  <a:pt x="124167" y="214242"/>
                </a:lnTo>
                <a:lnTo>
                  <a:pt x="13248" y="151216"/>
                </a:lnTo>
                <a:lnTo>
                  <a:pt x="13248" y="126241"/>
                </a:lnTo>
                <a:lnTo>
                  <a:pt x="124167" y="188569"/>
                </a:lnTo>
                <a:lnTo>
                  <a:pt x="248334" y="118707"/>
                </a:lnTo>
                <a:lnTo>
                  <a:pt x="248334" y="70876"/>
                </a:lnTo>
                <a:lnTo>
                  <a:pt x="242003" y="67410"/>
                </a:lnTo>
                <a:lnTo>
                  <a:pt x="124167" y="134423"/>
                </a:lnTo>
                <a:lnTo>
                  <a:pt x="18946" y="74627"/>
                </a:lnTo>
                <a:lnTo>
                  <a:pt x="124167" y="15194"/>
                </a:lnTo>
                <a:lnTo>
                  <a:pt x="210839" y="64165"/>
                </a:lnTo>
                <a:lnTo>
                  <a:pt x="218420" y="59907"/>
                </a:lnTo>
                <a:lnTo>
                  <a:pt x="218420" y="53228"/>
                </a:lnTo>
                <a:lnTo>
                  <a:pt x="124167" y="0"/>
                </a:lnTo>
                <a:close/>
              </a:path>
            </a:pathLst>
          </a:custGeom>
          <a:solidFill>
            <a:srgbClr val="FF3621"/>
          </a:solidFill>
          <a:ln w="15346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2C879165-F1AA-6D13-46FC-54959C2E06CE}"/>
              </a:ext>
            </a:extLst>
          </p:cNvPr>
          <p:cNvSpPr/>
          <p:nvPr/>
        </p:nvSpPr>
        <p:spPr>
          <a:xfrm>
            <a:off x="2270279" y="3330685"/>
            <a:ext cx="1061591" cy="95140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EDF82BCA-F624-080C-6223-7E2558141D0B}"/>
              </a:ext>
            </a:extLst>
          </p:cNvPr>
          <p:cNvSpPr/>
          <p:nvPr/>
        </p:nvSpPr>
        <p:spPr>
          <a:xfrm>
            <a:off x="2263094" y="3335519"/>
            <a:ext cx="1068776" cy="245498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Ingest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290C59A5-E01E-B64C-C945-894DF2A094E0}"/>
              </a:ext>
            </a:extLst>
          </p:cNvPr>
          <p:cNvSpPr/>
          <p:nvPr/>
        </p:nvSpPr>
        <p:spPr>
          <a:xfrm>
            <a:off x="3480157" y="3335519"/>
            <a:ext cx="3313477" cy="96878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65D610AA-993F-1CE7-60DA-63FA138095AF}"/>
              </a:ext>
            </a:extLst>
          </p:cNvPr>
          <p:cNvSpPr/>
          <p:nvPr/>
        </p:nvSpPr>
        <p:spPr>
          <a:xfrm>
            <a:off x="3498475" y="3316850"/>
            <a:ext cx="3309935" cy="283541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Process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35" name="テキスト ボックス 234">
            <a:extLst>
              <a:ext uri="{FF2B5EF4-FFF2-40B4-BE49-F238E27FC236}">
                <a16:creationId xmlns:a16="http://schemas.microsoft.com/office/drawing/2014/main" id="{115C345E-17E8-697A-86F3-8DF6519E387E}"/>
              </a:ext>
            </a:extLst>
          </p:cNvPr>
          <p:cNvSpPr txBox="1"/>
          <p:nvPr/>
        </p:nvSpPr>
        <p:spPr>
          <a:xfrm>
            <a:off x="5598606" y="1824812"/>
            <a:ext cx="704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See</a:t>
            </a:r>
            <a:r>
              <a:rPr kumimoji="1" lang="ja-JP" altLang="en-US" sz="900"/>
              <a:t> </a:t>
            </a:r>
            <a:r>
              <a:rPr kumimoji="1" lang="en-US" altLang="ja-JP" sz="900"/>
              <a:t>Index</a:t>
            </a:r>
            <a:endParaRPr kumimoji="1" lang="ja-JP" altLang="en-US" sz="900"/>
          </a:p>
        </p:txBody>
      </p:sp>
      <p:grpSp>
        <p:nvGrpSpPr>
          <p:cNvPr id="239" name="グループ化 238">
            <a:extLst>
              <a:ext uri="{FF2B5EF4-FFF2-40B4-BE49-F238E27FC236}">
                <a16:creationId xmlns:a16="http://schemas.microsoft.com/office/drawing/2014/main" id="{FC0E2740-F736-49C1-C469-639312E96967}"/>
              </a:ext>
            </a:extLst>
          </p:cNvPr>
          <p:cNvGrpSpPr/>
          <p:nvPr/>
        </p:nvGrpSpPr>
        <p:grpSpPr>
          <a:xfrm>
            <a:off x="3631730" y="3691148"/>
            <a:ext cx="1098212" cy="468445"/>
            <a:chOff x="9506146" y="1714515"/>
            <a:chExt cx="1098212" cy="468445"/>
          </a:xfrm>
        </p:grpSpPr>
        <p:sp>
          <p:nvSpPr>
            <p:cNvPr id="240" name="テキスト ボックス 239">
              <a:extLst>
                <a:ext uri="{FF2B5EF4-FFF2-40B4-BE49-F238E27FC236}">
                  <a16:creationId xmlns:a16="http://schemas.microsoft.com/office/drawing/2014/main" id="{DC25CEBC-EFE1-3C9A-D8DA-EDAEE28E5DD3}"/>
                </a:ext>
              </a:extLst>
            </p:cNvPr>
            <p:cNvSpPr txBox="1"/>
            <p:nvPr/>
          </p:nvSpPr>
          <p:spPr>
            <a:xfrm>
              <a:off x="9855435" y="1772538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900"/>
                <a:t>Bronze</a:t>
              </a:r>
            </a:p>
            <a:p>
              <a:pPr algn="ctr"/>
              <a:r>
                <a:rPr kumimoji="1" lang="en-US" altLang="ja-JP" sz="900"/>
                <a:t>(Raw data)</a:t>
              </a:r>
              <a:endParaRPr kumimoji="1" lang="ja-JP" altLang="en-US" sz="900"/>
            </a:p>
          </p:txBody>
        </p:sp>
        <p:pic>
          <p:nvPicPr>
            <p:cNvPr id="241" name="グラフィックス 240" descr="データベース 枠線">
              <a:extLst>
                <a:ext uri="{FF2B5EF4-FFF2-40B4-BE49-F238E27FC236}">
                  <a16:creationId xmlns:a16="http://schemas.microsoft.com/office/drawing/2014/main" id="{9AFF2F79-10E1-81F0-557A-75B56304E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06146" y="1714515"/>
              <a:ext cx="468445" cy="468445"/>
            </a:xfrm>
            <a:prstGeom prst="rect">
              <a:avLst/>
            </a:prstGeom>
          </p:spPr>
        </p:pic>
      </p:grpSp>
      <p:cxnSp>
        <p:nvCxnSpPr>
          <p:cNvPr id="248" name="直線矢印コネクタ 247">
            <a:extLst>
              <a:ext uri="{FF2B5EF4-FFF2-40B4-BE49-F238E27FC236}">
                <a16:creationId xmlns:a16="http://schemas.microsoft.com/office/drawing/2014/main" id="{C0D76CDC-DE3D-ADFD-CC71-ED2745404DCC}"/>
              </a:ext>
            </a:extLst>
          </p:cNvPr>
          <p:cNvCxnSpPr>
            <a:cxnSpLocks/>
          </p:cNvCxnSpPr>
          <p:nvPr/>
        </p:nvCxnSpPr>
        <p:spPr>
          <a:xfrm>
            <a:off x="4749207" y="4002245"/>
            <a:ext cx="737193" cy="0"/>
          </a:xfrm>
          <a:prstGeom prst="straightConnector1">
            <a:avLst/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グループ化 252">
            <a:extLst>
              <a:ext uri="{FF2B5EF4-FFF2-40B4-BE49-F238E27FC236}">
                <a16:creationId xmlns:a16="http://schemas.microsoft.com/office/drawing/2014/main" id="{F76ADD6F-AEC9-0A3E-F637-866B41CEEEBB}"/>
              </a:ext>
            </a:extLst>
          </p:cNvPr>
          <p:cNvGrpSpPr/>
          <p:nvPr/>
        </p:nvGrpSpPr>
        <p:grpSpPr>
          <a:xfrm>
            <a:off x="5457094" y="3708330"/>
            <a:ext cx="1132079" cy="468445"/>
            <a:chOff x="9527172" y="2430459"/>
            <a:chExt cx="1132079" cy="468445"/>
          </a:xfrm>
        </p:grpSpPr>
        <p:sp>
          <p:nvSpPr>
            <p:cNvPr id="254" name="テキスト ボックス 253">
              <a:extLst>
                <a:ext uri="{FF2B5EF4-FFF2-40B4-BE49-F238E27FC236}">
                  <a16:creationId xmlns:a16="http://schemas.microsoft.com/office/drawing/2014/main" id="{027459E3-AF64-8FB6-D928-AF5E8AA5AFE6}"/>
                </a:ext>
              </a:extLst>
            </p:cNvPr>
            <p:cNvSpPr txBox="1"/>
            <p:nvPr/>
          </p:nvSpPr>
          <p:spPr>
            <a:xfrm>
              <a:off x="9910328" y="2480015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900"/>
                <a:t>Silver</a:t>
              </a:r>
            </a:p>
            <a:p>
              <a:pPr algn="ctr"/>
              <a:r>
                <a:rPr kumimoji="1" lang="en-US" altLang="ja-JP" sz="900"/>
                <a:t>(Cleansed)</a:t>
              </a:r>
              <a:endParaRPr kumimoji="1" lang="ja-JP" altLang="en-US" sz="900"/>
            </a:p>
          </p:txBody>
        </p:sp>
        <p:pic>
          <p:nvPicPr>
            <p:cNvPr id="255" name="グラフィックス 254" descr="データベース 枠線">
              <a:extLst>
                <a:ext uri="{FF2B5EF4-FFF2-40B4-BE49-F238E27FC236}">
                  <a16:creationId xmlns:a16="http://schemas.microsoft.com/office/drawing/2014/main" id="{0ADB85FD-61C2-5E2D-B1E1-6BCEAC49D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527172" y="2430459"/>
              <a:ext cx="468445" cy="468445"/>
            </a:xfrm>
            <a:prstGeom prst="rect">
              <a:avLst/>
            </a:prstGeom>
          </p:spPr>
        </p:pic>
      </p:grpSp>
      <p:sp>
        <p:nvSpPr>
          <p:cNvPr id="256" name="テキスト ボックス 255">
            <a:extLst>
              <a:ext uri="{FF2B5EF4-FFF2-40B4-BE49-F238E27FC236}">
                <a16:creationId xmlns:a16="http://schemas.microsoft.com/office/drawing/2014/main" id="{9D977A77-5A67-02E2-6AAE-4C4071BC1955}"/>
              </a:ext>
            </a:extLst>
          </p:cNvPr>
          <p:cNvSpPr txBox="1"/>
          <p:nvPr/>
        </p:nvSpPr>
        <p:spPr>
          <a:xfrm>
            <a:off x="2670926" y="2976302"/>
            <a:ext cx="3696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solidFill>
                  <a:srgbClr val="F75D4D"/>
                </a:solidFill>
              </a:rPr>
              <a:t>各社 </a:t>
            </a:r>
            <a:r>
              <a:rPr kumimoji="1" lang="en-US" altLang="ja-JP" sz="1600">
                <a:solidFill>
                  <a:srgbClr val="F75D4D"/>
                </a:solidFill>
              </a:rPr>
              <a:t>Azure Databricks </a:t>
            </a:r>
            <a:r>
              <a:rPr kumimoji="1" lang="ja-JP" altLang="en-US" sz="1600">
                <a:solidFill>
                  <a:srgbClr val="F75D4D"/>
                </a:solidFill>
              </a:rPr>
              <a:t>ワークスペース</a:t>
            </a:r>
          </a:p>
        </p:txBody>
      </p:sp>
      <p:sp>
        <p:nvSpPr>
          <p:cNvPr id="257" name="四角形: 角を丸くする 256">
            <a:extLst>
              <a:ext uri="{FF2B5EF4-FFF2-40B4-BE49-F238E27FC236}">
                <a16:creationId xmlns:a16="http://schemas.microsoft.com/office/drawing/2014/main" id="{8A381796-EB85-DBE2-0B01-3745F5122FE8}"/>
              </a:ext>
            </a:extLst>
          </p:cNvPr>
          <p:cNvSpPr/>
          <p:nvPr/>
        </p:nvSpPr>
        <p:spPr>
          <a:xfrm>
            <a:off x="2031298" y="4451317"/>
            <a:ext cx="4982352" cy="34979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F75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59" name="直線矢印コネクタ 258">
            <a:extLst>
              <a:ext uri="{FF2B5EF4-FFF2-40B4-BE49-F238E27FC236}">
                <a16:creationId xmlns:a16="http://schemas.microsoft.com/office/drawing/2014/main" id="{43E8AA33-76B4-11A7-F078-D8FB6B6847A7}"/>
              </a:ext>
            </a:extLst>
          </p:cNvPr>
          <p:cNvCxnSpPr>
            <a:cxnSpLocks/>
          </p:cNvCxnSpPr>
          <p:nvPr/>
        </p:nvCxnSpPr>
        <p:spPr>
          <a:xfrm flipH="1" flipV="1">
            <a:off x="5611093" y="1851903"/>
            <a:ext cx="18364" cy="1814753"/>
          </a:xfrm>
          <a:prstGeom prst="straightConnector1">
            <a:avLst/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四角形: 角を丸くする 263">
            <a:extLst>
              <a:ext uri="{FF2B5EF4-FFF2-40B4-BE49-F238E27FC236}">
                <a16:creationId xmlns:a16="http://schemas.microsoft.com/office/drawing/2014/main" id="{F0B537B9-1E3A-2FA2-8363-4711CF487AD0}"/>
              </a:ext>
            </a:extLst>
          </p:cNvPr>
          <p:cNvSpPr/>
          <p:nvPr/>
        </p:nvSpPr>
        <p:spPr>
          <a:xfrm>
            <a:off x="2031298" y="4871052"/>
            <a:ext cx="4982352" cy="34979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F75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5" name="テキスト ボックス 264">
            <a:extLst>
              <a:ext uri="{FF2B5EF4-FFF2-40B4-BE49-F238E27FC236}">
                <a16:creationId xmlns:a16="http://schemas.microsoft.com/office/drawing/2014/main" id="{776E1562-230F-3D41-8FF1-592DB2DE1DE4}"/>
              </a:ext>
            </a:extLst>
          </p:cNvPr>
          <p:cNvSpPr txBox="1"/>
          <p:nvPr/>
        </p:nvSpPr>
        <p:spPr>
          <a:xfrm>
            <a:off x="2654531" y="4481576"/>
            <a:ext cx="3696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solidFill>
                  <a:srgbClr val="F75D4D"/>
                </a:solidFill>
              </a:rPr>
              <a:t>各社 </a:t>
            </a:r>
            <a:r>
              <a:rPr kumimoji="1" lang="en-US" altLang="ja-JP" sz="1600">
                <a:solidFill>
                  <a:srgbClr val="F75D4D"/>
                </a:solidFill>
              </a:rPr>
              <a:t>Azure Databricks </a:t>
            </a:r>
            <a:r>
              <a:rPr kumimoji="1" lang="ja-JP" altLang="en-US" sz="1600">
                <a:solidFill>
                  <a:srgbClr val="F75D4D"/>
                </a:solidFill>
              </a:rPr>
              <a:t>ワークスペース</a:t>
            </a:r>
          </a:p>
        </p:txBody>
      </p:sp>
      <p:sp>
        <p:nvSpPr>
          <p:cNvPr id="266" name="グラフィックス 21">
            <a:extLst>
              <a:ext uri="{FF2B5EF4-FFF2-40B4-BE49-F238E27FC236}">
                <a16:creationId xmlns:a16="http://schemas.microsoft.com/office/drawing/2014/main" id="{BB470667-0E48-236B-44E1-FF674D1BF636}"/>
              </a:ext>
            </a:extLst>
          </p:cNvPr>
          <p:cNvSpPr/>
          <p:nvPr/>
        </p:nvSpPr>
        <p:spPr>
          <a:xfrm>
            <a:off x="2428636" y="4491678"/>
            <a:ext cx="248334" cy="269068"/>
          </a:xfrm>
          <a:custGeom>
            <a:avLst/>
            <a:gdLst>
              <a:gd name="connsiteX0" fmla="*/ 0 w 248334"/>
              <a:gd name="connsiteY0" fmla="*/ 70116 h 269068"/>
              <a:gd name="connsiteX1" fmla="*/ 0 w 248334"/>
              <a:gd name="connsiteY1" fmla="*/ 78220 h 269068"/>
              <a:gd name="connsiteX2" fmla="*/ 124167 w 248334"/>
              <a:gd name="connsiteY2" fmla="*/ 148273 h 269068"/>
              <a:gd name="connsiteX3" fmla="*/ 235055 w 248334"/>
              <a:gd name="connsiteY3" fmla="*/ 85643 h 269068"/>
              <a:gd name="connsiteX4" fmla="*/ 235055 w 248334"/>
              <a:gd name="connsiteY4" fmla="*/ 110967 h 269068"/>
              <a:gd name="connsiteX5" fmla="*/ 124167 w 248334"/>
              <a:gd name="connsiteY5" fmla="*/ 173961 h 269068"/>
              <a:gd name="connsiteX6" fmla="*/ 6252 w 248334"/>
              <a:gd name="connsiteY6" fmla="*/ 106963 h 269068"/>
              <a:gd name="connsiteX7" fmla="*/ 0 w 248334"/>
              <a:gd name="connsiteY7" fmla="*/ 110445 h 269068"/>
              <a:gd name="connsiteX8" fmla="*/ 0 w 248334"/>
              <a:gd name="connsiteY8" fmla="*/ 158909 h 269068"/>
              <a:gd name="connsiteX9" fmla="*/ 124167 w 248334"/>
              <a:gd name="connsiteY9" fmla="*/ 228787 h 269068"/>
              <a:gd name="connsiteX10" fmla="*/ 235055 w 248334"/>
              <a:gd name="connsiteY10" fmla="*/ 166395 h 269068"/>
              <a:gd name="connsiteX11" fmla="*/ 235055 w 248334"/>
              <a:gd name="connsiteY11" fmla="*/ 191498 h 269068"/>
              <a:gd name="connsiteX12" fmla="*/ 124167 w 248334"/>
              <a:gd name="connsiteY12" fmla="*/ 254523 h 269068"/>
              <a:gd name="connsiteX13" fmla="*/ 6252 w 248334"/>
              <a:gd name="connsiteY13" fmla="*/ 187509 h 269068"/>
              <a:gd name="connsiteX14" fmla="*/ 0 w 248334"/>
              <a:gd name="connsiteY14" fmla="*/ 190991 h 269068"/>
              <a:gd name="connsiteX15" fmla="*/ 0 w 248334"/>
              <a:gd name="connsiteY15" fmla="*/ 199206 h 269068"/>
              <a:gd name="connsiteX16" fmla="*/ 124167 w 248334"/>
              <a:gd name="connsiteY16" fmla="*/ 269068 h 269068"/>
              <a:gd name="connsiteX17" fmla="*/ 248334 w 248334"/>
              <a:gd name="connsiteY17" fmla="*/ 199206 h 269068"/>
              <a:gd name="connsiteX18" fmla="*/ 248334 w 248334"/>
              <a:gd name="connsiteY18" fmla="*/ 150694 h 269068"/>
              <a:gd name="connsiteX19" fmla="*/ 242003 w 248334"/>
              <a:gd name="connsiteY19" fmla="*/ 147244 h 269068"/>
              <a:gd name="connsiteX20" fmla="*/ 124167 w 248334"/>
              <a:gd name="connsiteY20" fmla="*/ 214242 h 269068"/>
              <a:gd name="connsiteX21" fmla="*/ 13248 w 248334"/>
              <a:gd name="connsiteY21" fmla="*/ 151216 h 269068"/>
              <a:gd name="connsiteX22" fmla="*/ 13248 w 248334"/>
              <a:gd name="connsiteY22" fmla="*/ 126241 h 269068"/>
              <a:gd name="connsiteX23" fmla="*/ 124167 w 248334"/>
              <a:gd name="connsiteY23" fmla="*/ 188569 h 269068"/>
              <a:gd name="connsiteX24" fmla="*/ 248334 w 248334"/>
              <a:gd name="connsiteY24" fmla="*/ 118707 h 269068"/>
              <a:gd name="connsiteX25" fmla="*/ 248334 w 248334"/>
              <a:gd name="connsiteY25" fmla="*/ 70876 h 269068"/>
              <a:gd name="connsiteX26" fmla="*/ 242003 w 248334"/>
              <a:gd name="connsiteY26" fmla="*/ 67410 h 269068"/>
              <a:gd name="connsiteX27" fmla="*/ 124167 w 248334"/>
              <a:gd name="connsiteY27" fmla="*/ 134423 h 269068"/>
              <a:gd name="connsiteX28" fmla="*/ 18946 w 248334"/>
              <a:gd name="connsiteY28" fmla="*/ 74627 h 269068"/>
              <a:gd name="connsiteX29" fmla="*/ 124167 w 248334"/>
              <a:gd name="connsiteY29" fmla="*/ 15194 h 269068"/>
              <a:gd name="connsiteX30" fmla="*/ 210839 w 248334"/>
              <a:gd name="connsiteY30" fmla="*/ 64165 h 269068"/>
              <a:gd name="connsiteX31" fmla="*/ 218420 w 248334"/>
              <a:gd name="connsiteY31" fmla="*/ 59907 h 269068"/>
              <a:gd name="connsiteX32" fmla="*/ 218420 w 248334"/>
              <a:gd name="connsiteY32" fmla="*/ 53228 h 269068"/>
              <a:gd name="connsiteX33" fmla="*/ 124167 w 248334"/>
              <a:gd name="connsiteY33" fmla="*/ 0 h 269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48334" h="269068">
                <a:moveTo>
                  <a:pt x="0" y="70116"/>
                </a:moveTo>
                <a:lnTo>
                  <a:pt x="0" y="78220"/>
                </a:lnTo>
                <a:lnTo>
                  <a:pt x="124167" y="148273"/>
                </a:lnTo>
                <a:lnTo>
                  <a:pt x="235055" y="85643"/>
                </a:lnTo>
                <a:lnTo>
                  <a:pt x="235055" y="110967"/>
                </a:lnTo>
                <a:lnTo>
                  <a:pt x="124167" y="173961"/>
                </a:lnTo>
                <a:lnTo>
                  <a:pt x="6252" y="106963"/>
                </a:lnTo>
                <a:lnTo>
                  <a:pt x="0" y="110445"/>
                </a:lnTo>
                <a:lnTo>
                  <a:pt x="0" y="158909"/>
                </a:lnTo>
                <a:lnTo>
                  <a:pt x="124167" y="228787"/>
                </a:lnTo>
                <a:lnTo>
                  <a:pt x="235055" y="166395"/>
                </a:lnTo>
                <a:lnTo>
                  <a:pt x="235055" y="191498"/>
                </a:lnTo>
                <a:lnTo>
                  <a:pt x="124167" y="254523"/>
                </a:lnTo>
                <a:lnTo>
                  <a:pt x="6252" y="187509"/>
                </a:lnTo>
                <a:lnTo>
                  <a:pt x="0" y="190991"/>
                </a:lnTo>
                <a:lnTo>
                  <a:pt x="0" y="199206"/>
                </a:lnTo>
                <a:lnTo>
                  <a:pt x="124167" y="269068"/>
                </a:lnTo>
                <a:lnTo>
                  <a:pt x="248334" y="199206"/>
                </a:lnTo>
                <a:lnTo>
                  <a:pt x="248334" y="150694"/>
                </a:lnTo>
                <a:lnTo>
                  <a:pt x="242003" y="147244"/>
                </a:lnTo>
                <a:lnTo>
                  <a:pt x="124167" y="214242"/>
                </a:lnTo>
                <a:lnTo>
                  <a:pt x="13248" y="151216"/>
                </a:lnTo>
                <a:lnTo>
                  <a:pt x="13248" y="126241"/>
                </a:lnTo>
                <a:lnTo>
                  <a:pt x="124167" y="188569"/>
                </a:lnTo>
                <a:lnTo>
                  <a:pt x="248334" y="118707"/>
                </a:lnTo>
                <a:lnTo>
                  <a:pt x="248334" y="70876"/>
                </a:lnTo>
                <a:lnTo>
                  <a:pt x="242003" y="67410"/>
                </a:lnTo>
                <a:lnTo>
                  <a:pt x="124167" y="134423"/>
                </a:lnTo>
                <a:lnTo>
                  <a:pt x="18946" y="74627"/>
                </a:lnTo>
                <a:lnTo>
                  <a:pt x="124167" y="15194"/>
                </a:lnTo>
                <a:lnTo>
                  <a:pt x="210839" y="64165"/>
                </a:lnTo>
                <a:lnTo>
                  <a:pt x="218420" y="59907"/>
                </a:lnTo>
                <a:lnTo>
                  <a:pt x="218420" y="53228"/>
                </a:lnTo>
                <a:lnTo>
                  <a:pt x="124167" y="0"/>
                </a:lnTo>
                <a:close/>
              </a:path>
            </a:pathLst>
          </a:custGeom>
          <a:solidFill>
            <a:srgbClr val="FF3621"/>
          </a:solidFill>
          <a:ln w="15346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cxnSp>
        <p:nvCxnSpPr>
          <p:cNvPr id="268" name="コネクタ: カギ線 267">
            <a:extLst>
              <a:ext uri="{FF2B5EF4-FFF2-40B4-BE49-F238E27FC236}">
                <a16:creationId xmlns:a16="http://schemas.microsoft.com/office/drawing/2014/main" id="{B336794E-9503-D941-D2A9-10CA3FC9C46D}"/>
              </a:ext>
            </a:extLst>
          </p:cNvPr>
          <p:cNvCxnSpPr>
            <a:cxnSpLocks/>
            <a:stCxn id="15" idx="3"/>
            <a:endCxn id="127" idx="1"/>
          </p:cNvCxnSpPr>
          <p:nvPr/>
        </p:nvCxnSpPr>
        <p:spPr>
          <a:xfrm>
            <a:off x="1197580" y="1489008"/>
            <a:ext cx="1062020" cy="401536"/>
          </a:xfrm>
          <a:prstGeom prst="bentConnector3">
            <a:avLst>
              <a:gd name="adj1" fmla="val 52306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コネクタ: カギ線 268">
            <a:extLst>
              <a:ext uri="{FF2B5EF4-FFF2-40B4-BE49-F238E27FC236}">
                <a16:creationId xmlns:a16="http://schemas.microsoft.com/office/drawing/2014/main" id="{AAE2DE67-4A16-D201-40C5-067526E0F4C4}"/>
              </a:ext>
            </a:extLst>
          </p:cNvPr>
          <p:cNvCxnSpPr>
            <a:cxnSpLocks/>
            <a:stCxn id="17" idx="3"/>
            <a:endCxn id="127" idx="1"/>
          </p:cNvCxnSpPr>
          <p:nvPr/>
        </p:nvCxnSpPr>
        <p:spPr>
          <a:xfrm flipV="1">
            <a:off x="1101404" y="1890544"/>
            <a:ext cx="1158196" cy="1117480"/>
          </a:xfrm>
          <a:prstGeom prst="bentConnector3">
            <a:avLst>
              <a:gd name="adj1" fmla="val 56344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コネクタ: カギ線 280">
            <a:extLst>
              <a:ext uri="{FF2B5EF4-FFF2-40B4-BE49-F238E27FC236}">
                <a16:creationId xmlns:a16="http://schemas.microsoft.com/office/drawing/2014/main" id="{F8DE7900-60C6-D18D-3628-845FE62CA046}"/>
              </a:ext>
            </a:extLst>
          </p:cNvPr>
          <p:cNvCxnSpPr>
            <a:cxnSpLocks/>
            <a:stCxn id="11" idx="3"/>
            <a:endCxn id="127" idx="1"/>
          </p:cNvCxnSpPr>
          <p:nvPr/>
        </p:nvCxnSpPr>
        <p:spPr>
          <a:xfrm flipV="1">
            <a:off x="1185735" y="1890544"/>
            <a:ext cx="1073865" cy="2545262"/>
          </a:xfrm>
          <a:prstGeom prst="bentConnector3">
            <a:avLst>
              <a:gd name="adj1" fmla="val 53041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コネクタ: カギ線 286">
            <a:extLst>
              <a:ext uri="{FF2B5EF4-FFF2-40B4-BE49-F238E27FC236}">
                <a16:creationId xmlns:a16="http://schemas.microsoft.com/office/drawing/2014/main" id="{9F702736-7290-FA16-7F36-9EDDD9614A18}"/>
              </a:ext>
            </a:extLst>
          </p:cNvPr>
          <p:cNvCxnSpPr>
            <a:cxnSpLocks/>
            <a:stCxn id="185" idx="3"/>
            <a:endCxn id="189" idx="1"/>
          </p:cNvCxnSpPr>
          <p:nvPr/>
        </p:nvCxnSpPr>
        <p:spPr>
          <a:xfrm flipV="1">
            <a:off x="10077291" y="1710944"/>
            <a:ext cx="1260019" cy="171133"/>
          </a:xfrm>
          <a:prstGeom prst="bentConnector3">
            <a:avLst>
              <a:gd name="adj1" fmla="val 67495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テキスト ボックス 295">
            <a:extLst>
              <a:ext uri="{FF2B5EF4-FFF2-40B4-BE49-F238E27FC236}">
                <a16:creationId xmlns:a16="http://schemas.microsoft.com/office/drawing/2014/main" id="{AA85C863-78DA-AA1B-B753-AB0890AF7E7D}"/>
              </a:ext>
            </a:extLst>
          </p:cNvPr>
          <p:cNvSpPr txBox="1"/>
          <p:nvPr/>
        </p:nvSpPr>
        <p:spPr>
          <a:xfrm>
            <a:off x="537488" y="177889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SharePoint</a:t>
            </a:r>
          </a:p>
          <a:p>
            <a:pPr algn="ctr"/>
            <a:r>
              <a:rPr kumimoji="1" lang="en-US" altLang="ja-JP" sz="900"/>
              <a:t>Online</a:t>
            </a:r>
            <a:endParaRPr kumimoji="1" lang="ja-JP" altLang="en-US" sz="900"/>
          </a:p>
        </p:txBody>
      </p:sp>
      <p:sp>
        <p:nvSpPr>
          <p:cNvPr id="298" name="テキスト ボックス 297">
            <a:extLst>
              <a:ext uri="{FF2B5EF4-FFF2-40B4-BE49-F238E27FC236}">
                <a16:creationId xmlns:a16="http://schemas.microsoft.com/office/drawing/2014/main" id="{9A117775-4C29-09E4-95C5-F23997A15435}"/>
              </a:ext>
            </a:extLst>
          </p:cNvPr>
          <p:cNvSpPr txBox="1"/>
          <p:nvPr/>
        </p:nvSpPr>
        <p:spPr>
          <a:xfrm>
            <a:off x="683987" y="3267663"/>
            <a:ext cx="3834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Box</a:t>
            </a:r>
            <a:endParaRPr kumimoji="1" lang="ja-JP" altLang="en-US" sz="900"/>
          </a:p>
        </p:txBody>
      </p:sp>
      <p:sp>
        <p:nvSpPr>
          <p:cNvPr id="299" name="テキスト ボックス 298">
            <a:extLst>
              <a:ext uri="{FF2B5EF4-FFF2-40B4-BE49-F238E27FC236}">
                <a16:creationId xmlns:a16="http://schemas.microsoft.com/office/drawing/2014/main" id="{2BEFF25E-E75E-B665-F82A-584292BCADE2}"/>
              </a:ext>
            </a:extLst>
          </p:cNvPr>
          <p:cNvSpPr txBox="1"/>
          <p:nvPr/>
        </p:nvSpPr>
        <p:spPr>
          <a:xfrm>
            <a:off x="503294" y="4650853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Database</a:t>
            </a:r>
            <a:endParaRPr kumimoji="1" lang="ja-JP" altLang="en-US" sz="900"/>
          </a:p>
        </p:txBody>
      </p:sp>
      <p:sp>
        <p:nvSpPr>
          <p:cNvPr id="303" name="テキスト ボックス 302">
            <a:extLst>
              <a:ext uri="{FF2B5EF4-FFF2-40B4-BE49-F238E27FC236}">
                <a16:creationId xmlns:a16="http://schemas.microsoft.com/office/drawing/2014/main" id="{F30A63CA-BC03-C252-E2D8-4CA5DD0364B4}"/>
              </a:ext>
            </a:extLst>
          </p:cNvPr>
          <p:cNvSpPr txBox="1"/>
          <p:nvPr/>
        </p:nvSpPr>
        <p:spPr>
          <a:xfrm>
            <a:off x="11230653" y="201264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00"/>
              <a:t>各社アプリ</a:t>
            </a:r>
          </a:p>
        </p:txBody>
      </p:sp>
      <p:pic>
        <p:nvPicPr>
          <p:cNvPr id="314" name="図 313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FE4E01F-D129-3AE7-09D4-B6A4D754A5F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761" y="2661437"/>
            <a:ext cx="401973" cy="401973"/>
          </a:xfrm>
          <a:prstGeom prst="rect">
            <a:avLst/>
          </a:prstGeom>
        </p:spPr>
      </p:pic>
      <p:sp>
        <p:nvSpPr>
          <p:cNvPr id="315" name="テキスト ボックス 314">
            <a:extLst>
              <a:ext uri="{FF2B5EF4-FFF2-40B4-BE49-F238E27FC236}">
                <a16:creationId xmlns:a16="http://schemas.microsoft.com/office/drawing/2014/main" id="{759C8804-5E27-738C-B945-22A82234A4EE}"/>
              </a:ext>
            </a:extLst>
          </p:cNvPr>
          <p:cNvSpPr txBox="1"/>
          <p:nvPr/>
        </p:nvSpPr>
        <p:spPr>
          <a:xfrm>
            <a:off x="11113387" y="3105586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RAG</a:t>
            </a:r>
            <a:r>
              <a:rPr kumimoji="1" lang="ja-JP" altLang="en-US" sz="900"/>
              <a:t>システム</a:t>
            </a:r>
            <a:endParaRPr kumimoji="1" lang="en-US" altLang="ja-JP" sz="900"/>
          </a:p>
          <a:p>
            <a:pPr algn="ctr"/>
            <a:r>
              <a:rPr kumimoji="1" lang="ja-JP" altLang="en-US" sz="900"/>
              <a:t>評価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971FA491-8026-74B6-7B63-AF3F360C87C8}"/>
              </a:ext>
            </a:extLst>
          </p:cNvPr>
          <p:cNvSpPr/>
          <p:nvPr/>
        </p:nvSpPr>
        <p:spPr>
          <a:xfrm>
            <a:off x="7503149" y="2888803"/>
            <a:ext cx="2574143" cy="14187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9" name="正方形/長方形 318">
            <a:extLst>
              <a:ext uri="{FF2B5EF4-FFF2-40B4-BE49-F238E27FC236}">
                <a16:creationId xmlns:a16="http://schemas.microsoft.com/office/drawing/2014/main" id="{DEC5D56C-4A6E-25E8-EEA8-08FB3EEA0E7D}"/>
              </a:ext>
            </a:extLst>
          </p:cNvPr>
          <p:cNvSpPr/>
          <p:nvPr/>
        </p:nvSpPr>
        <p:spPr>
          <a:xfrm>
            <a:off x="7503150" y="2875292"/>
            <a:ext cx="2558746" cy="210730"/>
          </a:xfrm>
          <a:prstGeom prst="rect">
            <a:avLst/>
          </a:prstGeom>
          <a:solidFill>
            <a:srgbClr val="143D4A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Compute</a:t>
            </a:r>
            <a:endParaRPr kumimoji="1" lang="ja-JP" altLang="en-US" sz="1600">
              <a:solidFill>
                <a:schemeClr val="bg1"/>
              </a:solidFill>
            </a:endParaRPr>
          </a:p>
        </p:txBody>
      </p:sp>
      <p:cxnSp>
        <p:nvCxnSpPr>
          <p:cNvPr id="323" name="コネクタ: カギ線 322">
            <a:extLst>
              <a:ext uri="{FF2B5EF4-FFF2-40B4-BE49-F238E27FC236}">
                <a16:creationId xmlns:a16="http://schemas.microsoft.com/office/drawing/2014/main" id="{A28FFD2E-4292-4C0A-DD0E-35B6F0D61F29}"/>
              </a:ext>
            </a:extLst>
          </p:cNvPr>
          <p:cNvCxnSpPr>
            <a:cxnSpLocks/>
            <a:stCxn id="326" idx="3"/>
            <a:endCxn id="227" idx="1"/>
          </p:cNvCxnSpPr>
          <p:nvPr/>
        </p:nvCxnSpPr>
        <p:spPr>
          <a:xfrm flipV="1">
            <a:off x="1221748" y="3806388"/>
            <a:ext cx="1048531" cy="1658966"/>
          </a:xfrm>
          <a:prstGeom prst="bentConnector3">
            <a:avLst>
              <a:gd name="adj1" fmla="val 58565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6" name="図 325" descr="マグカップ, カップ, コーヒーカップ が含まれている画像&#10;&#10;自動的に生成された説明">
            <a:extLst>
              <a:ext uri="{FF2B5EF4-FFF2-40B4-BE49-F238E27FC236}">
                <a16:creationId xmlns:a16="http://schemas.microsoft.com/office/drawing/2014/main" id="{426ECB9C-0DD0-254A-CB30-6A951A21372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37778" y1="22667" x2="60000" y2="22667"/>
                        <a14:foregroundMark x1="38667" y1="56000" x2="68000" y2="56000"/>
                        <a14:foregroundMark x1="40000" y1="72444" x2="62222" y2="74667"/>
                        <a14:foregroundMark x1="62222" y1="74667" x2="62667" y2="75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64" y="5219148"/>
            <a:ext cx="655884" cy="492412"/>
          </a:xfrm>
          <a:prstGeom prst="rect">
            <a:avLst/>
          </a:prstGeom>
        </p:spPr>
      </p:pic>
      <p:pic>
        <p:nvPicPr>
          <p:cNvPr id="334" name="Picture 8" descr="Openai アイコン、ロゴ、シンボル – 無料ダウンロード PNG、SVG">
            <a:extLst>
              <a:ext uri="{FF2B5EF4-FFF2-40B4-BE49-F238E27FC236}">
                <a16:creationId xmlns:a16="http://schemas.microsoft.com/office/drawing/2014/main" id="{5B9AA68D-6347-4452-CA49-F33B3140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599" y="3267026"/>
            <a:ext cx="297926" cy="29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" name="テキスト ボックス 334">
            <a:extLst>
              <a:ext uri="{FF2B5EF4-FFF2-40B4-BE49-F238E27FC236}">
                <a16:creationId xmlns:a16="http://schemas.microsoft.com/office/drawing/2014/main" id="{017E26EB-E725-A6CF-A5EA-8F1317321648}"/>
              </a:ext>
            </a:extLst>
          </p:cNvPr>
          <p:cNvSpPr txBox="1"/>
          <p:nvPr/>
        </p:nvSpPr>
        <p:spPr>
          <a:xfrm>
            <a:off x="8027284" y="3210641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/>
              <a:t>LLM</a:t>
            </a:r>
          </a:p>
          <a:p>
            <a:r>
              <a:rPr kumimoji="1" lang="en-US" altLang="ja-JP" sz="1000"/>
              <a:t>Endpoint</a:t>
            </a:r>
            <a:endParaRPr kumimoji="1" lang="ja-JP" altLang="en-US" sz="1000"/>
          </a:p>
        </p:txBody>
      </p:sp>
      <p:pic>
        <p:nvPicPr>
          <p:cNvPr id="337" name="グラフィックス 336" descr="プロセッサ 枠線">
            <a:extLst>
              <a:ext uri="{FF2B5EF4-FFF2-40B4-BE49-F238E27FC236}">
                <a16:creationId xmlns:a16="http://schemas.microsoft.com/office/drawing/2014/main" id="{ED49C84B-CD74-D212-F737-E6431E201B0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80146" y="3210641"/>
            <a:ext cx="445165" cy="445165"/>
          </a:xfrm>
          <a:prstGeom prst="rect">
            <a:avLst/>
          </a:prstGeom>
        </p:spPr>
      </p:pic>
      <p:sp>
        <p:nvSpPr>
          <p:cNvPr id="338" name="テキスト ボックス 337">
            <a:extLst>
              <a:ext uri="{FF2B5EF4-FFF2-40B4-BE49-F238E27FC236}">
                <a16:creationId xmlns:a16="http://schemas.microsoft.com/office/drawing/2014/main" id="{0480D52D-2C74-D5F1-980B-690FB002923B}"/>
              </a:ext>
            </a:extLst>
          </p:cNvPr>
          <p:cNvSpPr txBox="1"/>
          <p:nvPr/>
        </p:nvSpPr>
        <p:spPr>
          <a:xfrm>
            <a:off x="9164408" y="3233721"/>
            <a:ext cx="901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/>
              <a:t>SQL</a:t>
            </a:r>
          </a:p>
          <a:p>
            <a:r>
              <a:rPr kumimoji="1" lang="en-US" altLang="ja-JP" sz="1000"/>
              <a:t>Warehouses</a:t>
            </a:r>
            <a:endParaRPr kumimoji="1" lang="ja-JP" altLang="en-US" sz="1000"/>
          </a:p>
        </p:txBody>
      </p:sp>
      <p:sp>
        <p:nvSpPr>
          <p:cNvPr id="341" name="テキスト ボックス 340">
            <a:extLst>
              <a:ext uri="{FF2B5EF4-FFF2-40B4-BE49-F238E27FC236}">
                <a16:creationId xmlns:a16="http://schemas.microsoft.com/office/drawing/2014/main" id="{E0EE2954-F16E-87AE-C886-2BDB04F11D09}"/>
              </a:ext>
            </a:extLst>
          </p:cNvPr>
          <p:cNvSpPr txBox="1"/>
          <p:nvPr/>
        </p:nvSpPr>
        <p:spPr>
          <a:xfrm>
            <a:off x="9196848" y="378299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/>
              <a:t>Serving</a:t>
            </a:r>
            <a:endParaRPr kumimoji="1" lang="ja-JP" altLang="en-US" sz="1000"/>
          </a:p>
        </p:txBody>
      </p:sp>
      <p:pic>
        <p:nvPicPr>
          <p:cNvPr id="343" name="グラフィックス 342" descr="プロセッサ 枠線">
            <a:extLst>
              <a:ext uri="{FF2B5EF4-FFF2-40B4-BE49-F238E27FC236}">
                <a16:creationId xmlns:a16="http://schemas.microsoft.com/office/drawing/2014/main" id="{776B4490-62B9-C851-39D3-28C64AF72D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98605" y="3680817"/>
            <a:ext cx="445165" cy="445165"/>
          </a:xfrm>
          <a:prstGeom prst="rect">
            <a:avLst/>
          </a:prstGeom>
        </p:spPr>
      </p:pic>
      <p:pic>
        <p:nvPicPr>
          <p:cNvPr id="344" name="グラフィックス 343" descr="プロセッサ 枠線">
            <a:extLst>
              <a:ext uri="{FF2B5EF4-FFF2-40B4-BE49-F238E27FC236}">
                <a16:creationId xmlns:a16="http://schemas.microsoft.com/office/drawing/2014/main" id="{8ECC198E-4863-2000-ACA8-DD383F50BF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89971" y="3689283"/>
            <a:ext cx="445165" cy="445165"/>
          </a:xfrm>
          <a:prstGeom prst="rect">
            <a:avLst/>
          </a:prstGeom>
        </p:spPr>
      </p:pic>
      <p:sp>
        <p:nvSpPr>
          <p:cNvPr id="345" name="テキスト ボックス 344">
            <a:extLst>
              <a:ext uri="{FF2B5EF4-FFF2-40B4-BE49-F238E27FC236}">
                <a16:creationId xmlns:a16="http://schemas.microsoft.com/office/drawing/2014/main" id="{871A6EC4-4039-00CD-24BB-6DAD02465434}"/>
              </a:ext>
            </a:extLst>
          </p:cNvPr>
          <p:cNvSpPr txBox="1"/>
          <p:nvPr/>
        </p:nvSpPr>
        <p:spPr>
          <a:xfrm>
            <a:off x="8012276" y="3787281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/>
              <a:t>Compute</a:t>
            </a:r>
            <a:endParaRPr kumimoji="1" lang="ja-JP" altLang="en-US" sz="1000"/>
          </a:p>
        </p:txBody>
      </p:sp>
      <p:cxnSp>
        <p:nvCxnSpPr>
          <p:cNvPr id="347" name="コネクタ: カギ線 346">
            <a:extLst>
              <a:ext uri="{FF2B5EF4-FFF2-40B4-BE49-F238E27FC236}">
                <a16:creationId xmlns:a16="http://schemas.microsoft.com/office/drawing/2014/main" id="{33382D27-B005-B607-C6EB-2D1880D06973}"/>
              </a:ext>
            </a:extLst>
          </p:cNvPr>
          <p:cNvCxnSpPr>
            <a:cxnSpLocks/>
            <a:stCxn id="185" idx="3"/>
            <a:endCxn id="314" idx="1"/>
          </p:cNvCxnSpPr>
          <p:nvPr/>
        </p:nvCxnSpPr>
        <p:spPr>
          <a:xfrm>
            <a:off x="10077291" y="1882077"/>
            <a:ext cx="1266470" cy="980347"/>
          </a:xfrm>
          <a:prstGeom prst="bentConnector3">
            <a:avLst>
              <a:gd name="adj1" fmla="val 67406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2" name="図 351">
            <a:extLst>
              <a:ext uri="{FF2B5EF4-FFF2-40B4-BE49-F238E27FC236}">
                <a16:creationId xmlns:a16="http://schemas.microsoft.com/office/drawing/2014/main" id="{DDCBD4EF-C76D-63C8-5A89-4D958E0E75D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1727" y="2372037"/>
            <a:ext cx="1032669" cy="324553"/>
          </a:xfrm>
          <a:prstGeom prst="rect">
            <a:avLst/>
          </a:prstGeom>
        </p:spPr>
      </p:pic>
      <p:pic>
        <p:nvPicPr>
          <p:cNvPr id="354" name="図 353">
            <a:extLst>
              <a:ext uri="{FF2B5EF4-FFF2-40B4-BE49-F238E27FC236}">
                <a16:creationId xmlns:a16="http://schemas.microsoft.com/office/drawing/2014/main" id="{92F69D06-0A2F-54B2-54A7-4A8858B9748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28909" y="5637046"/>
            <a:ext cx="470193" cy="548559"/>
          </a:xfrm>
          <a:prstGeom prst="rect">
            <a:avLst/>
          </a:prstGeom>
        </p:spPr>
      </p:pic>
      <p:sp>
        <p:nvSpPr>
          <p:cNvPr id="355" name="テキスト ボックス 354">
            <a:extLst>
              <a:ext uri="{FF2B5EF4-FFF2-40B4-BE49-F238E27FC236}">
                <a16:creationId xmlns:a16="http://schemas.microsoft.com/office/drawing/2014/main" id="{C8298B40-686D-4AE1-5FC4-780BA841A219}"/>
              </a:ext>
            </a:extLst>
          </p:cNvPr>
          <p:cNvSpPr txBox="1"/>
          <p:nvPr/>
        </p:nvSpPr>
        <p:spPr>
          <a:xfrm>
            <a:off x="3501564" y="573896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Microsoft</a:t>
            </a:r>
          </a:p>
          <a:p>
            <a:pPr algn="ctr"/>
            <a:r>
              <a:rPr kumimoji="1" lang="en-US" altLang="ja-JP" sz="900"/>
              <a:t>Azure</a:t>
            </a:r>
            <a:endParaRPr kumimoji="1" lang="ja-JP" altLang="en-US" sz="900"/>
          </a:p>
        </p:txBody>
      </p:sp>
      <p:graphicFrame>
        <p:nvGraphicFramePr>
          <p:cNvPr id="356" name="オブジェクト 355">
            <a:extLst>
              <a:ext uri="{FF2B5EF4-FFF2-40B4-BE49-F238E27FC236}">
                <a16:creationId xmlns:a16="http://schemas.microsoft.com/office/drawing/2014/main" id="{DE7CF6A9-E92D-E7C0-BFFD-187479956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1489" y="5632378"/>
          <a:ext cx="643341" cy="57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4" imgW="724980" imgH="650707" progId="Paint.Picture">
                  <p:embed/>
                </p:oleObj>
              </mc:Choice>
              <mc:Fallback>
                <p:oleObj name="Bitmap Image" r:id="rId24" imgW="724980" imgH="650707" progId="Paint.Picture">
                  <p:embed/>
                  <p:pic>
                    <p:nvPicPr>
                      <p:cNvPr id="356" name="オブジェクト 355">
                        <a:extLst>
                          <a:ext uri="{FF2B5EF4-FFF2-40B4-BE49-F238E27FC236}">
                            <a16:creationId xmlns:a16="http://schemas.microsoft.com/office/drawing/2014/main" id="{DE7CF6A9-E92D-E7C0-BFFD-1874799567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981489" y="5632378"/>
                        <a:ext cx="643341" cy="577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テキスト ボックス 356">
            <a:extLst>
              <a:ext uri="{FF2B5EF4-FFF2-40B4-BE49-F238E27FC236}">
                <a16:creationId xmlns:a16="http://schemas.microsoft.com/office/drawing/2014/main" id="{5F9E5424-1814-C57A-90AB-5F10BFC399C5}"/>
              </a:ext>
            </a:extLst>
          </p:cNvPr>
          <p:cNvSpPr txBox="1"/>
          <p:nvPr/>
        </p:nvSpPr>
        <p:spPr>
          <a:xfrm>
            <a:off x="8600746" y="5705833"/>
            <a:ext cx="69762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Red Hat</a:t>
            </a:r>
          </a:p>
          <a:p>
            <a:pPr algn="ctr"/>
            <a:r>
              <a:rPr kumimoji="1" lang="en-US" altLang="ja-JP" sz="900"/>
              <a:t>OpenShift</a:t>
            </a:r>
          </a:p>
          <a:p>
            <a:pPr algn="ctr"/>
            <a:r>
              <a:rPr kumimoji="1" lang="en-US" altLang="ja-JP" sz="900"/>
              <a:t>(</a:t>
            </a:r>
            <a:r>
              <a:rPr kumimoji="1" lang="ja-JP" altLang="en-US" sz="900"/>
              <a:t>開発中</a:t>
            </a:r>
            <a:r>
              <a:rPr kumimoji="1" lang="en-US" altLang="ja-JP" sz="900"/>
              <a:t>)</a:t>
            </a:r>
            <a:endParaRPr kumimoji="1" lang="ja-JP" altLang="en-US" sz="900"/>
          </a:p>
        </p:txBody>
      </p:sp>
      <p:pic>
        <p:nvPicPr>
          <p:cNvPr id="359" name="図 358">
            <a:extLst>
              <a:ext uri="{FF2B5EF4-FFF2-40B4-BE49-F238E27FC236}">
                <a16:creationId xmlns:a16="http://schemas.microsoft.com/office/drawing/2014/main" id="{07358A3F-2443-87D8-7A9E-034A6285482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72328" y="5669468"/>
            <a:ext cx="1585067" cy="546575"/>
          </a:xfrm>
          <a:prstGeom prst="rect">
            <a:avLst/>
          </a:prstGeom>
        </p:spPr>
      </p:pic>
      <p:cxnSp>
        <p:nvCxnSpPr>
          <p:cNvPr id="365" name="コネクタ: カギ線 364">
            <a:extLst>
              <a:ext uri="{FF2B5EF4-FFF2-40B4-BE49-F238E27FC236}">
                <a16:creationId xmlns:a16="http://schemas.microsoft.com/office/drawing/2014/main" id="{A2FDF4B2-BC56-22EB-EB4F-A7F80D04DA74}"/>
              </a:ext>
            </a:extLst>
          </p:cNvPr>
          <p:cNvCxnSpPr>
            <a:cxnSpLocks/>
            <a:stCxn id="127" idx="3"/>
            <a:endCxn id="131" idx="1"/>
          </p:cNvCxnSpPr>
          <p:nvPr/>
        </p:nvCxnSpPr>
        <p:spPr>
          <a:xfrm flipV="1">
            <a:off x="3331870" y="1522398"/>
            <a:ext cx="163063" cy="368146"/>
          </a:xfrm>
          <a:prstGeom prst="bentConnector3">
            <a:avLst>
              <a:gd name="adj1" fmla="val 50000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コネクタ: カギ線 371">
            <a:extLst>
              <a:ext uri="{FF2B5EF4-FFF2-40B4-BE49-F238E27FC236}">
                <a16:creationId xmlns:a16="http://schemas.microsoft.com/office/drawing/2014/main" id="{67C0E7F9-58B6-BCD8-AB4D-BC7A68E25098}"/>
              </a:ext>
            </a:extLst>
          </p:cNvPr>
          <p:cNvCxnSpPr>
            <a:cxnSpLocks/>
            <a:stCxn id="227" idx="3"/>
            <a:endCxn id="229" idx="1"/>
          </p:cNvCxnSpPr>
          <p:nvPr/>
        </p:nvCxnSpPr>
        <p:spPr>
          <a:xfrm>
            <a:off x="3331870" y="3806388"/>
            <a:ext cx="148287" cy="13522"/>
          </a:xfrm>
          <a:prstGeom prst="bentConnector3">
            <a:avLst>
              <a:gd name="adj1" fmla="val 50000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コネクタ: カギ線 377">
            <a:extLst>
              <a:ext uri="{FF2B5EF4-FFF2-40B4-BE49-F238E27FC236}">
                <a16:creationId xmlns:a16="http://schemas.microsoft.com/office/drawing/2014/main" id="{BB84E3C5-03AE-BB18-8460-4A147F1CD27E}"/>
              </a:ext>
            </a:extLst>
          </p:cNvPr>
          <p:cNvCxnSpPr>
            <a:cxnSpLocks/>
            <a:stCxn id="171" idx="3"/>
            <a:endCxn id="185" idx="1"/>
          </p:cNvCxnSpPr>
          <p:nvPr/>
        </p:nvCxnSpPr>
        <p:spPr>
          <a:xfrm>
            <a:off x="8830733" y="1620668"/>
            <a:ext cx="315447" cy="261409"/>
          </a:xfrm>
          <a:prstGeom prst="bentConnector3">
            <a:avLst>
              <a:gd name="adj1" fmla="val 50000"/>
            </a:avLst>
          </a:prstGeom>
          <a:ln w="12700">
            <a:solidFill>
              <a:srgbClr val="00A9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テキスト ボックス 389">
            <a:extLst>
              <a:ext uri="{FF2B5EF4-FFF2-40B4-BE49-F238E27FC236}">
                <a16:creationId xmlns:a16="http://schemas.microsoft.com/office/drawing/2014/main" id="{C1DEC27D-3C33-C1C7-0E1B-ACE937B03786}"/>
              </a:ext>
            </a:extLst>
          </p:cNvPr>
          <p:cNvSpPr txBox="1"/>
          <p:nvPr/>
        </p:nvSpPr>
        <p:spPr>
          <a:xfrm>
            <a:off x="10638514" y="1478616"/>
            <a:ext cx="6543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/>
              <a:t>REST API</a:t>
            </a:r>
            <a:endParaRPr kumimoji="1" lang="ja-JP" altLang="en-US" sz="800"/>
          </a:p>
        </p:txBody>
      </p:sp>
      <p:sp>
        <p:nvSpPr>
          <p:cNvPr id="395" name="テキスト ボックス 394">
            <a:extLst>
              <a:ext uri="{FF2B5EF4-FFF2-40B4-BE49-F238E27FC236}">
                <a16:creationId xmlns:a16="http://schemas.microsoft.com/office/drawing/2014/main" id="{0B21AB77-1B9F-353D-3D4A-695089904001}"/>
              </a:ext>
            </a:extLst>
          </p:cNvPr>
          <p:cNvSpPr txBox="1"/>
          <p:nvPr/>
        </p:nvSpPr>
        <p:spPr>
          <a:xfrm>
            <a:off x="551268" y="5660065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00"/>
              <a:t>Database</a:t>
            </a:r>
            <a:endParaRPr kumimoji="1" lang="ja-JP" altLang="en-US" sz="900"/>
          </a:p>
        </p:txBody>
      </p:sp>
      <p:sp>
        <p:nvSpPr>
          <p:cNvPr id="400" name="テキスト ボックス 399">
            <a:extLst>
              <a:ext uri="{FF2B5EF4-FFF2-40B4-BE49-F238E27FC236}">
                <a16:creationId xmlns:a16="http://schemas.microsoft.com/office/drawing/2014/main" id="{F64249B6-2D82-751D-2FB5-696C83DA6AB5}"/>
              </a:ext>
            </a:extLst>
          </p:cNvPr>
          <p:cNvSpPr txBox="1"/>
          <p:nvPr/>
        </p:nvSpPr>
        <p:spPr>
          <a:xfrm>
            <a:off x="2660698" y="4910939"/>
            <a:ext cx="3696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solidFill>
                  <a:srgbClr val="F75D4D"/>
                </a:solidFill>
              </a:rPr>
              <a:t>各社 </a:t>
            </a:r>
            <a:r>
              <a:rPr kumimoji="1" lang="en-US" altLang="ja-JP" sz="1600">
                <a:solidFill>
                  <a:srgbClr val="F75D4D"/>
                </a:solidFill>
              </a:rPr>
              <a:t>Azure Databricks </a:t>
            </a:r>
            <a:r>
              <a:rPr kumimoji="1" lang="ja-JP" altLang="en-US" sz="1600">
                <a:solidFill>
                  <a:srgbClr val="F75D4D"/>
                </a:solidFill>
              </a:rPr>
              <a:t>ワークスペース</a:t>
            </a:r>
          </a:p>
        </p:txBody>
      </p:sp>
      <p:sp>
        <p:nvSpPr>
          <p:cNvPr id="401" name="グラフィックス 21">
            <a:extLst>
              <a:ext uri="{FF2B5EF4-FFF2-40B4-BE49-F238E27FC236}">
                <a16:creationId xmlns:a16="http://schemas.microsoft.com/office/drawing/2014/main" id="{62ED3E87-394D-E819-77D9-841FC67B1692}"/>
              </a:ext>
            </a:extLst>
          </p:cNvPr>
          <p:cNvSpPr/>
          <p:nvPr/>
        </p:nvSpPr>
        <p:spPr>
          <a:xfrm>
            <a:off x="2434803" y="4921041"/>
            <a:ext cx="248334" cy="269068"/>
          </a:xfrm>
          <a:custGeom>
            <a:avLst/>
            <a:gdLst>
              <a:gd name="connsiteX0" fmla="*/ 0 w 248334"/>
              <a:gd name="connsiteY0" fmla="*/ 70116 h 269068"/>
              <a:gd name="connsiteX1" fmla="*/ 0 w 248334"/>
              <a:gd name="connsiteY1" fmla="*/ 78220 h 269068"/>
              <a:gd name="connsiteX2" fmla="*/ 124167 w 248334"/>
              <a:gd name="connsiteY2" fmla="*/ 148273 h 269068"/>
              <a:gd name="connsiteX3" fmla="*/ 235055 w 248334"/>
              <a:gd name="connsiteY3" fmla="*/ 85643 h 269068"/>
              <a:gd name="connsiteX4" fmla="*/ 235055 w 248334"/>
              <a:gd name="connsiteY4" fmla="*/ 110967 h 269068"/>
              <a:gd name="connsiteX5" fmla="*/ 124167 w 248334"/>
              <a:gd name="connsiteY5" fmla="*/ 173961 h 269068"/>
              <a:gd name="connsiteX6" fmla="*/ 6252 w 248334"/>
              <a:gd name="connsiteY6" fmla="*/ 106963 h 269068"/>
              <a:gd name="connsiteX7" fmla="*/ 0 w 248334"/>
              <a:gd name="connsiteY7" fmla="*/ 110445 h 269068"/>
              <a:gd name="connsiteX8" fmla="*/ 0 w 248334"/>
              <a:gd name="connsiteY8" fmla="*/ 158909 h 269068"/>
              <a:gd name="connsiteX9" fmla="*/ 124167 w 248334"/>
              <a:gd name="connsiteY9" fmla="*/ 228787 h 269068"/>
              <a:gd name="connsiteX10" fmla="*/ 235055 w 248334"/>
              <a:gd name="connsiteY10" fmla="*/ 166395 h 269068"/>
              <a:gd name="connsiteX11" fmla="*/ 235055 w 248334"/>
              <a:gd name="connsiteY11" fmla="*/ 191498 h 269068"/>
              <a:gd name="connsiteX12" fmla="*/ 124167 w 248334"/>
              <a:gd name="connsiteY12" fmla="*/ 254523 h 269068"/>
              <a:gd name="connsiteX13" fmla="*/ 6252 w 248334"/>
              <a:gd name="connsiteY13" fmla="*/ 187509 h 269068"/>
              <a:gd name="connsiteX14" fmla="*/ 0 w 248334"/>
              <a:gd name="connsiteY14" fmla="*/ 190991 h 269068"/>
              <a:gd name="connsiteX15" fmla="*/ 0 w 248334"/>
              <a:gd name="connsiteY15" fmla="*/ 199206 h 269068"/>
              <a:gd name="connsiteX16" fmla="*/ 124167 w 248334"/>
              <a:gd name="connsiteY16" fmla="*/ 269068 h 269068"/>
              <a:gd name="connsiteX17" fmla="*/ 248334 w 248334"/>
              <a:gd name="connsiteY17" fmla="*/ 199206 h 269068"/>
              <a:gd name="connsiteX18" fmla="*/ 248334 w 248334"/>
              <a:gd name="connsiteY18" fmla="*/ 150694 h 269068"/>
              <a:gd name="connsiteX19" fmla="*/ 242003 w 248334"/>
              <a:gd name="connsiteY19" fmla="*/ 147244 h 269068"/>
              <a:gd name="connsiteX20" fmla="*/ 124167 w 248334"/>
              <a:gd name="connsiteY20" fmla="*/ 214242 h 269068"/>
              <a:gd name="connsiteX21" fmla="*/ 13248 w 248334"/>
              <a:gd name="connsiteY21" fmla="*/ 151216 h 269068"/>
              <a:gd name="connsiteX22" fmla="*/ 13248 w 248334"/>
              <a:gd name="connsiteY22" fmla="*/ 126241 h 269068"/>
              <a:gd name="connsiteX23" fmla="*/ 124167 w 248334"/>
              <a:gd name="connsiteY23" fmla="*/ 188569 h 269068"/>
              <a:gd name="connsiteX24" fmla="*/ 248334 w 248334"/>
              <a:gd name="connsiteY24" fmla="*/ 118707 h 269068"/>
              <a:gd name="connsiteX25" fmla="*/ 248334 w 248334"/>
              <a:gd name="connsiteY25" fmla="*/ 70876 h 269068"/>
              <a:gd name="connsiteX26" fmla="*/ 242003 w 248334"/>
              <a:gd name="connsiteY26" fmla="*/ 67410 h 269068"/>
              <a:gd name="connsiteX27" fmla="*/ 124167 w 248334"/>
              <a:gd name="connsiteY27" fmla="*/ 134423 h 269068"/>
              <a:gd name="connsiteX28" fmla="*/ 18946 w 248334"/>
              <a:gd name="connsiteY28" fmla="*/ 74627 h 269068"/>
              <a:gd name="connsiteX29" fmla="*/ 124167 w 248334"/>
              <a:gd name="connsiteY29" fmla="*/ 15194 h 269068"/>
              <a:gd name="connsiteX30" fmla="*/ 210839 w 248334"/>
              <a:gd name="connsiteY30" fmla="*/ 64165 h 269068"/>
              <a:gd name="connsiteX31" fmla="*/ 218420 w 248334"/>
              <a:gd name="connsiteY31" fmla="*/ 59907 h 269068"/>
              <a:gd name="connsiteX32" fmla="*/ 218420 w 248334"/>
              <a:gd name="connsiteY32" fmla="*/ 53228 h 269068"/>
              <a:gd name="connsiteX33" fmla="*/ 124167 w 248334"/>
              <a:gd name="connsiteY33" fmla="*/ 0 h 269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48334" h="269068">
                <a:moveTo>
                  <a:pt x="0" y="70116"/>
                </a:moveTo>
                <a:lnTo>
                  <a:pt x="0" y="78220"/>
                </a:lnTo>
                <a:lnTo>
                  <a:pt x="124167" y="148273"/>
                </a:lnTo>
                <a:lnTo>
                  <a:pt x="235055" y="85643"/>
                </a:lnTo>
                <a:lnTo>
                  <a:pt x="235055" y="110967"/>
                </a:lnTo>
                <a:lnTo>
                  <a:pt x="124167" y="173961"/>
                </a:lnTo>
                <a:lnTo>
                  <a:pt x="6252" y="106963"/>
                </a:lnTo>
                <a:lnTo>
                  <a:pt x="0" y="110445"/>
                </a:lnTo>
                <a:lnTo>
                  <a:pt x="0" y="158909"/>
                </a:lnTo>
                <a:lnTo>
                  <a:pt x="124167" y="228787"/>
                </a:lnTo>
                <a:lnTo>
                  <a:pt x="235055" y="166395"/>
                </a:lnTo>
                <a:lnTo>
                  <a:pt x="235055" y="191498"/>
                </a:lnTo>
                <a:lnTo>
                  <a:pt x="124167" y="254523"/>
                </a:lnTo>
                <a:lnTo>
                  <a:pt x="6252" y="187509"/>
                </a:lnTo>
                <a:lnTo>
                  <a:pt x="0" y="190991"/>
                </a:lnTo>
                <a:lnTo>
                  <a:pt x="0" y="199206"/>
                </a:lnTo>
                <a:lnTo>
                  <a:pt x="124167" y="269068"/>
                </a:lnTo>
                <a:lnTo>
                  <a:pt x="248334" y="199206"/>
                </a:lnTo>
                <a:lnTo>
                  <a:pt x="248334" y="150694"/>
                </a:lnTo>
                <a:lnTo>
                  <a:pt x="242003" y="147244"/>
                </a:lnTo>
                <a:lnTo>
                  <a:pt x="124167" y="214242"/>
                </a:lnTo>
                <a:lnTo>
                  <a:pt x="13248" y="151216"/>
                </a:lnTo>
                <a:lnTo>
                  <a:pt x="13248" y="126241"/>
                </a:lnTo>
                <a:lnTo>
                  <a:pt x="124167" y="188569"/>
                </a:lnTo>
                <a:lnTo>
                  <a:pt x="248334" y="118707"/>
                </a:lnTo>
                <a:lnTo>
                  <a:pt x="248334" y="70876"/>
                </a:lnTo>
                <a:lnTo>
                  <a:pt x="242003" y="67410"/>
                </a:lnTo>
                <a:lnTo>
                  <a:pt x="124167" y="134423"/>
                </a:lnTo>
                <a:lnTo>
                  <a:pt x="18946" y="74627"/>
                </a:lnTo>
                <a:lnTo>
                  <a:pt x="124167" y="15194"/>
                </a:lnTo>
                <a:lnTo>
                  <a:pt x="210839" y="64165"/>
                </a:lnTo>
                <a:lnTo>
                  <a:pt x="218420" y="59907"/>
                </a:lnTo>
                <a:lnTo>
                  <a:pt x="218420" y="53228"/>
                </a:lnTo>
                <a:lnTo>
                  <a:pt x="124167" y="0"/>
                </a:lnTo>
                <a:close/>
              </a:path>
            </a:pathLst>
          </a:custGeom>
          <a:solidFill>
            <a:srgbClr val="FF3621"/>
          </a:solidFill>
          <a:ln w="15346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02" name="テキスト ボックス 401">
            <a:extLst>
              <a:ext uri="{FF2B5EF4-FFF2-40B4-BE49-F238E27FC236}">
                <a16:creationId xmlns:a16="http://schemas.microsoft.com/office/drawing/2014/main" id="{DC151F42-AC85-9770-39C3-C330CD32C587}"/>
              </a:ext>
            </a:extLst>
          </p:cNvPr>
          <p:cNvSpPr txBox="1"/>
          <p:nvPr/>
        </p:nvSpPr>
        <p:spPr>
          <a:xfrm>
            <a:off x="1686785" y="1609968"/>
            <a:ext cx="6543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/>
              <a:t>REST API</a:t>
            </a:r>
            <a:endParaRPr kumimoji="1" lang="ja-JP" altLang="en-US" sz="8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C9F67A-81BB-96AB-3FBB-EA8DDF97C393}"/>
              </a:ext>
            </a:extLst>
          </p:cNvPr>
          <p:cNvSpPr/>
          <p:nvPr/>
        </p:nvSpPr>
        <p:spPr>
          <a:xfrm>
            <a:off x="3543468" y="93739"/>
            <a:ext cx="1221677" cy="47438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 cap="flat" cmpd="sng" algn="ctr">
            <a:solidFill>
              <a:schemeClr val="accent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参考</a:t>
            </a:r>
          </a:p>
        </p:txBody>
      </p:sp>
    </p:spTree>
    <p:extLst>
      <p:ext uri="{BB962C8B-B14F-4D97-AF65-F5344CB8AC3E}">
        <p14:creationId xmlns:p14="http://schemas.microsoft.com/office/powerpoint/2010/main" val="424526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_PPT_16X9_JPN_Confidential_printfriendly_20161229">
  <a:themeElements>
    <a:clrScheme name="TEL　Brand　color">
      <a:dk1>
        <a:srgbClr val="2D2D2D"/>
      </a:dk1>
      <a:lt1>
        <a:srgbClr val="FFFFFF"/>
      </a:lt1>
      <a:dk2>
        <a:srgbClr val="EEDC00"/>
      </a:dk2>
      <a:lt2>
        <a:srgbClr val="F4F4F4"/>
      </a:lt2>
      <a:accent1>
        <a:srgbClr val="00A9E0"/>
      </a:accent1>
      <a:accent2>
        <a:srgbClr val="8031A7"/>
      </a:accent2>
      <a:accent3>
        <a:srgbClr val="78BE20"/>
      </a:accent3>
      <a:accent4>
        <a:srgbClr val="FF6A13"/>
      </a:accent4>
      <a:accent5>
        <a:srgbClr val="00B2A9"/>
      </a:accent5>
      <a:accent6>
        <a:srgbClr val="DA1884"/>
      </a:accent6>
      <a:hlink>
        <a:srgbClr val="00A9E0"/>
      </a:hlink>
      <a:folHlink>
        <a:srgbClr val="A7A8AA"/>
      </a:folHlink>
    </a:clrScheme>
    <a:fontScheme name="Eteris">
      <a:maj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200"/>
        </a:defPPr>
      </a:lstStyle>
    </a:txDef>
  </a:objectDefaults>
  <a:extraClrSchemeLst/>
  <a:extLst>
    <a:ext uri="{05A4C25C-085E-4340-85A3-A5531E510DB2}">
      <thm15:themeFamily xmlns:thm15="http://schemas.microsoft.com/office/thememl/2012/main" name="TEL_PPT_16X9_JPN_Confidential_printfriendly_20220330.potx" id="{A305900E-4017-4B18-9515-2B70D4E9EA6D}" vid="{18D8B917-A4FE-483C-916E-C85AC3A06007}"/>
    </a:ext>
  </a:extLst>
</a:theme>
</file>

<file path=ppt/theme/theme2.xml><?xml version="1.0" encoding="utf-8"?>
<a:theme xmlns:a="http://schemas.openxmlformats.org/drawingml/2006/main" name="Office Theme">
  <a:themeElements>
    <a:clrScheme name="Eteris">
      <a:dk1>
        <a:srgbClr val="4B4F54"/>
      </a:dk1>
      <a:lt1>
        <a:sysClr val="window" lastClr="FFFFFF"/>
      </a:lt1>
      <a:dk2>
        <a:srgbClr val="201547"/>
      </a:dk2>
      <a:lt2>
        <a:srgbClr val="DADCDE"/>
      </a:lt2>
      <a:accent1>
        <a:srgbClr val="5949A7"/>
      </a:accent1>
      <a:accent2>
        <a:srgbClr val="8ED018"/>
      </a:accent2>
      <a:accent3>
        <a:srgbClr val="147BD1"/>
      </a:accent3>
      <a:accent4>
        <a:srgbClr val="1DB5DF"/>
      </a:accent4>
      <a:accent5>
        <a:srgbClr val="981D97"/>
      </a:accent5>
      <a:accent6>
        <a:srgbClr val="8FD6BD"/>
      </a:accent6>
      <a:hlink>
        <a:srgbClr val="1DB5DF"/>
      </a:hlink>
      <a:folHlink>
        <a:srgbClr val="90959C"/>
      </a:folHlink>
    </a:clrScheme>
    <a:fontScheme name="Eteris">
      <a:maj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200"/>
        </a:defPPr>
      </a:lstStyle>
    </a:txDef>
  </a:objectDefaults>
  <a:extraClrSchemeLst/>
  <a:custClrLst>
    <a:custClr name="R89 | G73 | B167">
      <a:srgbClr val="5949A7"/>
    </a:custClr>
    <a:custClr name="R142 | G208 | B24">
      <a:srgbClr val="8ED018"/>
    </a:custClr>
    <a:custClr name="R20 | G123 | B209">
      <a:srgbClr val="147BD1"/>
    </a:custClr>
    <a:custClr name="R29 | G181 | B223">
      <a:srgbClr val="1DB5DF"/>
    </a:custClr>
    <a:custClr name="R143 | G214 | B189">
      <a:srgbClr val="8FD6BD"/>
    </a:custClr>
    <a:custClr name="R152 | G29 | B151">
      <a:srgbClr val="981D97"/>
    </a:custClr>
    <a:custClr name="R206 | G0 | B88">
      <a:srgbClr val="CE0058"/>
    </a:custClr>
    <a:custClr name="R242 | G131 | B8">
      <a:srgbClr val="F28308"/>
    </a:custClr>
    <a:custClr name="R242 | G193 | B12">
      <a:srgbClr val="F2C10C"/>
    </a:custClr>
    <a:custClr name="R32 | G21 | B71">
      <a:srgbClr val="201547"/>
    </a:custClr>
    <a:custClr name="R255 | G255 | B255">
      <a:srgbClr val="FFFFFF"/>
    </a:custClr>
    <a:custClr name="R218 | G220 | B222">
      <a:srgbClr val="DADCDE"/>
    </a:custClr>
    <a:custClr name="R181 | G184 | B189">
      <a:srgbClr val="B5B8BD"/>
    </a:custClr>
    <a:custClr name="R144 | G149 | B156">
      <a:srgbClr val="90959C"/>
    </a:custClr>
    <a:custClr name="R75 | G79 | B84">
      <a:srgbClr val="4B4F54"/>
    </a:custClr>
    <a:custClr name="R0 | G0 | B0">
      <a:srgbClr val="000000"/>
    </a:custClr>
  </a:custClrLst>
</a:theme>
</file>

<file path=ppt/theme/theme3.xml><?xml version="1.0" encoding="utf-8"?>
<a:theme xmlns:a="http://schemas.openxmlformats.org/drawingml/2006/main" name="Office Theme">
  <a:themeElements>
    <a:clrScheme name="Eteris">
      <a:dk1>
        <a:srgbClr val="4B4F54"/>
      </a:dk1>
      <a:lt1>
        <a:sysClr val="window" lastClr="FFFFFF"/>
      </a:lt1>
      <a:dk2>
        <a:srgbClr val="201547"/>
      </a:dk2>
      <a:lt2>
        <a:srgbClr val="DADCDE"/>
      </a:lt2>
      <a:accent1>
        <a:srgbClr val="5949A7"/>
      </a:accent1>
      <a:accent2>
        <a:srgbClr val="8ED018"/>
      </a:accent2>
      <a:accent3>
        <a:srgbClr val="147BD1"/>
      </a:accent3>
      <a:accent4>
        <a:srgbClr val="1DB5DF"/>
      </a:accent4>
      <a:accent5>
        <a:srgbClr val="981D97"/>
      </a:accent5>
      <a:accent6>
        <a:srgbClr val="8FD6BD"/>
      </a:accent6>
      <a:hlink>
        <a:srgbClr val="1DB5DF"/>
      </a:hlink>
      <a:folHlink>
        <a:srgbClr val="90959C"/>
      </a:folHlink>
    </a:clrScheme>
    <a:fontScheme name="Eteris">
      <a:maj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200"/>
        </a:defPPr>
      </a:lstStyle>
    </a:txDef>
  </a:objectDefaults>
  <a:extraClrSchemeLst/>
  <a:custClrLst>
    <a:custClr name="R89 | G73 | B167">
      <a:srgbClr val="5949A7"/>
    </a:custClr>
    <a:custClr name="R142 | G208 | B24">
      <a:srgbClr val="8ED018"/>
    </a:custClr>
    <a:custClr name="R20 | G123 | B209">
      <a:srgbClr val="147BD1"/>
    </a:custClr>
    <a:custClr name="R29 | G181 | B223">
      <a:srgbClr val="1DB5DF"/>
    </a:custClr>
    <a:custClr name="R143 | G214 | B189">
      <a:srgbClr val="8FD6BD"/>
    </a:custClr>
    <a:custClr name="R152 | G29 | B151">
      <a:srgbClr val="981D97"/>
    </a:custClr>
    <a:custClr name="R206 | G0 | B88">
      <a:srgbClr val="CE0058"/>
    </a:custClr>
    <a:custClr name="R242 | G131 | B8">
      <a:srgbClr val="F28308"/>
    </a:custClr>
    <a:custClr name="R242 | G193 | B12">
      <a:srgbClr val="F2C10C"/>
    </a:custClr>
    <a:custClr name="R32 | G21 | B71">
      <a:srgbClr val="201547"/>
    </a:custClr>
    <a:custClr name="R255 | G255 | B255">
      <a:srgbClr val="FFFFFF"/>
    </a:custClr>
    <a:custClr name="R218 | G220 | B222">
      <a:srgbClr val="DADCDE"/>
    </a:custClr>
    <a:custClr name="R181 | G184 | B189">
      <a:srgbClr val="B5B8BD"/>
    </a:custClr>
    <a:custClr name="R144 | G149 | B156">
      <a:srgbClr val="90959C"/>
    </a:custClr>
    <a:custClr name="R75 | G79 | B84">
      <a:srgbClr val="4B4F54"/>
    </a:custClr>
    <a:custClr name="R0 | G0 | B0">
      <a:srgbClr val="000000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AA2C342F6009B42A6327ECEBF98EF22" ma:contentTypeVersion="8" ma:contentTypeDescription="새 문서를 만듭니다." ma:contentTypeScope="" ma:versionID="426dd707b6e2e50d848f67e719104160">
  <xsd:schema xmlns:xsd="http://www.w3.org/2001/XMLSchema" xmlns:xs="http://www.w3.org/2001/XMLSchema" xmlns:p="http://schemas.microsoft.com/office/2006/metadata/properties" xmlns:ns2="555af0b2-9533-4ce6-a34f-c4fa82d77cd3" targetNamespace="http://schemas.microsoft.com/office/2006/metadata/properties" ma:root="true" ma:fieldsID="f1fb03aef6a3a8e5fb6206ca76eea64c" ns2:_="">
    <xsd:import namespace="555af0b2-9533-4ce6-a34f-c4fa82d77cd3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5af0b2-9533-4ce6-a34f-c4fa82d77cd3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D53987-26F3-410E-8CD8-7FB238A621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D2775B-D028-4F67-92DB-B1CF6F9DD396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555af0b2-9533-4ce6-a34f-c4fa82d77cd3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399F363-4EA9-48D0-9730-E6B0AEDC81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5af0b2-9533-4ce6-a34f-c4fa82d77c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c433003-a081-4dfb-a631-100526250b1a}" enabled="0" method="" siteId="{8c433003-a081-4dfb-a631-100526250b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TEL_PPT_16X9_JPN_Confidential_printfriendly_20230323</Template>
  <TotalTime>1642</TotalTime>
  <Words>98</Words>
  <Application>Microsoft Office PowerPoint</Application>
  <PresentationFormat>사용자 지정</PresentationFormat>
  <Paragraphs>57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メイリオ</vt:lpstr>
      <vt:lpstr>メイリオ</vt:lpstr>
      <vt:lpstr>Arial</vt:lpstr>
      <vt:lpstr>Wingdings</vt:lpstr>
      <vt:lpstr>TEL_PPT_16X9_JPN_Confidential_printfriendly_20161229</vt:lpstr>
      <vt:lpstr>Bitmap Image</vt:lpstr>
      <vt:lpstr>RAG基盤の全体像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TEL IEE ISID Mizuguchi, Harutaka</dc:creator>
  <cp:lastModifiedBy>TEK IS Kwon, Victor</cp:lastModifiedBy>
  <cp:revision>96</cp:revision>
  <dcterms:created xsi:type="dcterms:W3CDTF">2023-06-09T05:50:12Z</dcterms:created>
  <dcterms:modified xsi:type="dcterms:W3CDTF">2026-03-27T02:48:49Z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2015754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D5.0.5</vt:lpwstr>
  </property>
  <property fmtid="{D5CDD505-2E9C-101B-9397-08002B2CF9AE}" pid="5" name="ContentTypeId">
    <vt:lpwstr>0x0101007AA2C342F6009B42A6327ECEBF98EF22</vt:lpwstr>
  </property>
  <property fmtid="{D5CDD505-2E9C-101B-9397-08002B2CF9AE}" pid="6" name="MediaServiceImageTags">
    <vt:lpwstr/>
  </property>
</Properties>
</file>