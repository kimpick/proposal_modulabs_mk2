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868680"/>
            <a:ext cx="73152" cy="54864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914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모두의연구소 × LGE  ·  전략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0" i="0">
                <a:solidFill>
                  <a:srgbClr val="FFFFFF"/>
                </a:solidFill>
                <a:latin typeface="Pretendard Bold"/>
              </a:rPr>
              <a:t>개발자 역량 고도화와</a:t>
            </a:r>
          </a:p>
          <a:p>
            <a:pPr algn="l">
              <a:lnSpc>
                <a:spcPct val="125000"/>
              </a:lnSpc>
            </a:pPr>
            <a:r>
              <a:rPr sz="4400" b="0" i="0">
                <a:solidFill>
                  <a:srgbClr val="FFFFFF"/>
                </a:solidFill>
                <a:latin typeface="Pretendard Bold"/>
              </a:rPr>
              <a:t>조직 지식 인프라를 위한</a:t>
            </a:r>
          </a:p>
          <a:p>
            <a:pPr algn="l">
              <a:lnSpc>
                <a:spcPct val="125000"/>
              </a:lnSpc>
            </a:pPr>
            <a:r>
              <a:rPr sz="4400" b="0" i="0">
                <a:solidFill>
                  <a:srgbClr val="FFFFFF"/>
                </a:solidFill>
                <a:latin typeface="Pretendard Bold"/>
              </a:rPr>
              <a:t>Agentic AI 통합 교육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54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AAAEB5"/>
                </a:solidFill>
                <a:latin typeface="Pretendard Light"/>
              </a:rPr>
              <a:t>CLI 마스터리 · Agentic AI 심화 · 지식관리체계  |  총 14일 83H 집중 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217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280"/>
                </a:solidFill>
                <a:latin typeface="Pretendard"/>
              </a:rPr>
              <a:t>2026.07  ·  모두의연구소 AI 기업교육 커리큘럼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0" y="6263640"/>
            <a:ext cx="365760" cy="73152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 i="0">
                <a:solidFill>
                  <a:srgbClr val="030712"/>
                </a:solidFill>
                <a:latin typeface="Pretendard Bold"/>
              </a:rPr>
              <a:t>6일×2트랙 + 5일 집중, 14일 투자로 LGE 개발자와 조직 지식 자산을 동시 전환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7585C"/>
                </a:solidFill>
                <a:latin typeface="Pretendard 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971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32918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2E3339"/>
                </a:solidFill>
                <a:latin typeface="Pretendard"/>
              </a:rPr>
              <a:t>AX 속도가 경쟁우위를 결정 — LGE는 2-3년 내 30% 생산성 향상 목표 (CEO 발표)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7585C"/>
                </a:solidFill>
                <a:latin typeface="Pretendard Bold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3931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42519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2E3339"/>
                </a:solidFill>
                <a:latin typeface="Pretendard"/>
              </a:rPr>
              <a:t>개발자 역량 라인(6일) + 조직 지식 인프라 라인(5일), 총 14일 83H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7585C"/>
                </a:solidFill>
                <a:latin typeface="Pretendard Bold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4892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52120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2E3339"/>
                </a:solidFill>
                <a:latin typeface="Pretendard"/>
              </a:rPr>
              <a:t>2026 Q3-Q4 실행 승인 — 3개 과정 모듈러 운영, 사후 로드맵 포함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F656C"/>
                </a:solidFill>
                <a:latin typeface="Pretendard"/>
              </a:rPr>
              <a:t>출처: LG Electronics CEO 전사 전략 발표 (2026.01) · 모두의연구소 제안서 종합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FFFFFF"/>
                </a:solidFill>
                <a:latin typeface="Pretendard Bold"/>
              </a:rPr>
              <a:t>"AX(AI Transformation)의 속도가</a:t>
            </a:r>
          </a:p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FFFFFF"/>
                </a:solidFill>
                <a:latin typeface="Pretendard Bold"/>
              </a:rPr>
              <a:t>비즈니스의 성패를 좌우한다"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AAAEB5"/>
                </a:solidFill>
                <a:latin typeface="Pretendard Light"/>
              </a:rPr>
              <a:t>— 구자완 LG Electronics CEO, 2025년 사내 메시지 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480560"/>
            <a:ext cx="548640" cy="4572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47548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8920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7585C"/>
                </a:solidFill>
                <a:latin typeface="Pretendard Bold"/>
              </a:rPr>
              <a:t>LGE 자체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035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Pretendard"/>
              </a:rPr>
              <a:t>전사 생산성 30% 향상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Pretendard"/>
              </a:rPr>
              <a:t>(2-3년 내 달성, 2026.01 발표)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8920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7585C"/>
                </a:solidFill>
                <a:latin typeface="Pretendard Bold"/>
              </a:rPr>
              <a:t>제도적 타이밍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3035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Pretendard"/>
              </a:rPr>
              <a:t>AI 기본법 전면 시행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Pretendard"/>
              </a:rPr>
              <a:t>(2026.01, 공공 AI 우선 구매)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7548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48920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7585C"/>
                </a:solidFill>
                <a:latin typeface="Pretendard Bold"/>
              </a:rPr>
              <a:t>시장 현실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53035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Pretendard"/>
              </a:rPr>
              <a:t>Fortune 500의 80%가 이미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Pretendard"/>
              </a:rPr>
              <a:t>활성 AI 에이전트 운영 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280"/>
                </a:solidFill>
                <a:latin typeface="Pretendard"/>
              </a:rPr>
              <a:t>출처: LG Newsroom (2026.01) · AI Basic Act (2026.01 시행) · Microsoft Security Blog (2026.02)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58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Pretendard Bold"/>
              </a:rPr>
              <a:t>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0" i="0">
                <a:solidFill>
                  <a:srgbClr val="FFFFFF"/>
                </a:solidFill>
                <a:latin typeface="Pretendard Bold"/>
              </a:rPr>
              <a:t>두 축을 동시에 확보해야</a:t>
            </a:r>
          </a:p>
          <a:p>
            <a:pPr algn="l">
              <a:lnSpc>
                <a:spcPct val="125000"/>
              </a:lnSpc>
            </a:pPr>
            <a:r>
              <a:rPr sz="3600" b="0" i="0">
                <a:solidFill>
                  <a:srgbClr val="FFFFFF"/>
                </a:solidFill>
                <a:latin typeface="Pretendard Bold"/>
              </a:rPr>
              <a:t>Agentic AI 시대의 주도권을 쥡니다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200400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383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7585C"/>
                </a:solidFill>
                <a:latin typeface="Pretendard Bold"/>
              </a:rPr>
              <a:t>LINE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30712"/>
                </a:solidFill>
                <a:latin typeface="Pretendard Bold"/>
              </a:rPr>
              <a:t>개발자 역량 고도화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2E3339"/>
                </a:solidFill>
                <a:latin typeface="Pretendard"/>
              </a:rPr>
              <a:t>도구 사용자 → 하네스/루프 설계자 → 에이전트 오케스트레이터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49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7585C"/>
                </a:solidFill>
                <a:latin typeface="Pretendard Bold"/>
              </a:rPr>
              <a:t>Track 1 (3일) + Track 2 (3일) = 48H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200400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3383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7585C"/>
                </a:solidFill>
                <a:latin typeface="Pretendard Bold"/>
              </a:rPr>
              <a:t>LINE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30712"/>
                </a:solidFill>
                <a:latin typeface="Pretendard Bold"/>
              </a:rPr>
              <a:t>조직 지식 인프라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52628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2E3339"/>
                </a:solidFill>
                <a:latin typeface="Pretendard"/>
              </a:rPr>
              <a:t>RAG → OKF · 온톨로지 · 자체 MCP 서버 (지식 자산화)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349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7585C"/>
                </a:solidFill>
                <a:latin typeface="Pretendard Bold"/>
              </a:rPr>
              <a:t>지식관리체계 (5일) = 35H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Pretendard Bold"/>
              </a:rPr>
              <a:t>개발자 한 명의 역량 전환 × 조직 전체의 지식 자산화 = LGE 고유 AX 자산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MARKET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 i="0">
                <a:solidFill>
                  <a:srgbClr val="030712"/>
                </a:solidFill>
                <a:latin typeface="Pretendard Bold"/>
              </a:rPr>
              <a:t>전 세계 개발자 90%가 이미 AI를 씁니다 — 그럼 LGE 개발자의 위치는?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92608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0" i="0">
                <a:solidFill>
                  <a:srgbClr val="F7585C"/>
                </a:solidFill>
                <a:latin typeface="Pretendard Bold"/>
              </a:rPr>
              <a:t>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030712"/>
                </a:solidFill>
                <a:latin typeface="Pretendard Bold"/>
              </a:rPr>
              <a:t>개발자 AI 도구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5F656C"/>
                </a:solidFill>
                <a:latin typeface="Pretendard"/>
              </a:rPr>
              <a:t>Google DORA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92608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20040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0" i="0">
                <a:solidFill>
                  <a:srgbClr val="F7585C"/>
                </a:solidFill>
                <a:latin typeface="Pretendard Bold"/>
              </a:rPr>
              <a:t>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5262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030712"/>
                </a:solidFill>
                <a:latin typeface="Pretendard Bold"/>
              </a:rPr>
              <a:t>코딩 속도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50749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5F656C"/>
                </a:solidFill>
                <a:latin typeface="Pretendard"/>
              </a:rPr>
              <a:t>GitHub Copilot 실증 (Microsoft)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92608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20040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0" i="0">
                <a:solidFill>
                  <a:srgbClr val="F7585C"/>
                </a:solidFill>
                <a:latin typeface="Pretendard Bold"/>
              </a:rP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5262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030712"/>
                </a:solidFill>
                <a:latin typeface="Pretendard Bold"/>
              </a:rPr>
              <a:t>Fortune 500 AI 에이전트 운영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50749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5F656C"/>
                </a:solidFill>
                <a:latin typeface="Pretendard"/>
              </a:rPr>
              <a:t>Microsoft Security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30712"/>
                </a:solidFill>
                <a:latin typeface="Pretendard Bold"/>
              </a:rPr>
              <a:t>경쟁사는 이미 움직이고 있습니다. LGE가 우위를 점할 시간적 여유가 줄어들고 있습니다.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F656C"/>
                </a:solidFill>
                <a:latin typeface="Pretendard"/>
              </a:rPr>
              <a:t>출처: Google DORA State of AI-Assisted Software Development (2025) · Microsoft Research Copilot Study · Microsoft Security Blog (2026.02)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PROPOSAL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 i="0">
                <a:solidFill>
                  <a:srgbClr val="030712"/>
                </a:solidFill>
                <a:latin typeface="Pretendard Bold"/>
              </a:rPr>
              <a:t>3개 과정, 2개 라인, 총 14일 83H — 모듈러 선택 가능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3520440" cy="3657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7585C"/>
                </a:solidFill>
                <a:latin typeface="Pretendard Bold"/>
              </a:rPr>
              <a:t>LINE 1 · TRACK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30712"/>
                </a:solidFill>
                <a:latin typeface="Pretendard Bold"/>
              </a:rPr>
              <a:t>CLI 도구 입문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F656C"/>
                </a:solidFill>
                <a:latin typeface="Pretendard"/>
              </a:rPr>
              <a:t>Codex + Claude Code 마스터리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030712"/>
                </a:solidFill>
                <a:latin typeface="Pretendard Bold"/>
              </a:rPr>
              <a:t>3일</a:t>
            </a:r>
            <a:r>
              <a:rPr sz="2000" b="0" i="0">
                <a:solidFill>
                  <a:srgbClr val="AAAEB5"/>
                </a:solidFill>
                <a:latin typeface="Pretendard Bold"/>
              </a:rPr>
              <a:t>  ·  </a:t>
            </a:r>
            <a:r>
              <a:rPr sz="2800" b="0" i="0">
                <a:solidFill>
                  <a:srgbClr val="F7585C"/>
                </a:solidFill>
                <a:latin typeface="Pretendard Bold"/>
              </a:rPr>
              <a:t>24H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983480"/>
            <a:ext cx="73152" cy="73152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8920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E3339"/>
                </a:solidFill>
                <a:latin typeface="Pretendard"/>
              </a:rPr>
              <a:t>에이전틱 패러다임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257800"/>
            <a:ext cx="73152" cy="73152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16636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E3339"/>
                </a:solidFill>
                <a:latin typeface="Pretendard"/>
              </a:rPr>
              <a:t>Codex CLI (GPT-5.6)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532120"/>
            <a:ext cx="73152" cy="73152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44068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E3339"/>
                </a:solidFill>
                <a:latin typeface="Pretendard"/>
              </a:rPr>
              <a:t>Claude Code (4.7)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806440"/>
            <a:ext cx="73152" cy="73152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71500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E3339"/>
                </a:solidFill>
                <a:latin typeface="Pretendard"/>
              </a:rPr>
              <a:t>Subagents · Hooks · Skills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6080760"/>
            <a:ext cx="73152" cy="73152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98932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E3339"/>
                </a:solidFill>
                <a:latin typeface="Pretendard"/>
              </a:rPr>
              <a:t>MCP 파이프라인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2743200"/>
            <a:ext cx="3520440" cy="3657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926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7585C"/>
                </a:solidFill>
                <a:latin typeface="Pretendard Bold"/>
              </a:rPr>
              <a:t>LINE 1 · TRACK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2461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30712"/>
                </a:solidFill>
                <a:latin typeface="Pretendard Bold"/>
              </a:rPr>
              <a:t>Agentic AI 심화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7033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F656C"/>
                </a:solidFill>
                <a:latin typeface="Pretendard"/>
              </a:rPr>
              <a:t>하네스 + 루프 엔지니어링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1605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030712"/>
                </a:solidFill>
                <a:latin typeface="Pretendard Bold"/>
              </a:rPr>
              <a:t>3일</a:t>
            </a:r>
            <a:r>
              <a:rPr sz="2000" b="0" i="0">
                <a:solidFill>
                  <a:srgbClr val="AAAEB5"/>
                </a:solidFill>
                <a:latin typeface="Pretendard Bold"/>
              </a:rPr>
              <a:t>  ·  </a:t>
            </a:r>
            <a:r>
              <a:rPr sz="2800" b="0" i="0">
                <a:solidFill>
                  <a:srgbClr val="F7585C"/>
                </a:solidFill>
                <a:latin typeface="Pretendard Bold"/>
              </a:rPr>
              <a:t>24H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4983480"/>
            <a:ext cx="73152" cy="73152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48920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E3339"/>
                </a:solidFill>
                <a:latin typeface="Pretendard"/>
              </a:rPr>
              <a:t>AGENTS.md 설계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5257800"/>
            <a:ext cx="73152" cy="73152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516636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E3339"/>
                </a:solidFill>
                <a:latin typeface="Pretendard"/>
              </a:rPr>
              <a:t>Architectural Constraints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5532120"/>
            <a:ext cx="73152" cy="73152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544068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E3339"/>
                </a:solidFill>
                <a:latin typeface="Pretendard"/>
              </a:rPr>
              <a:t>AORR 상태 머신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5806440"/>
            <a:ext cx="73152" cy="73152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571500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E3339"/>
                </a:solidFill>
                <a:latin typeface="Pretendard"/>
              </a:rPr>
              <a:t>Self-Correcting TDD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6080760"/>
            <a:ext cx="73152" cy="73152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598932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E3339"/>
                </a:solidFill>
                <a:latin typeface="Pretendard"/>
              </a:rPr>
              <a:t>마스터-워커 오케스트레이션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2743200"/>
            <a:ext cx="3520440" cy="3657600"/>
          </a:xfrm>
          <a:prstGeom prst="roundRect">
            <a:avLst>
              <a:gd name="adj" fmla="val 6000"/>
            </a:avLst>
          </a:prstGeom>
          <a:solidFill>
            <a:srgbClr val="FF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2926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7585C"/>
                </a:solidFill>
                <a:latin typeface="Pretendard Bold"/>
              </a:rPr>
              <a:t>LINE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2461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30712"/>
                </a:solidFill>
                <a:latin typeface="Pretendard Bold"/>
              </a:rPr>
              <a:t>지식관리체계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7033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F656C"/>
                </a:solidFill>
                <a:latin typeface="Pretendard"/>
              </a:rPr>
              <a:t>RAG → OKF · MCP 서버 개발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1605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030712"/>
                </a:solidFill>
                <a:latin typeface="Pretendard Bold"/>
              </a:rPr>
              <a:t>5일</a:t>
            </a:r>
            <a:r>
              <a:rPr sz="2000" b="0" i="0">
                <a:solidFill>
                  <a:srgbClr val="AAAEB5"/>
                </a:solidFill>
                <a:latin typeface="Pretendard Bold"/>
              </a:rPr>
              <a:t>  ·  </a:t>
            </a:r>
            <a:r>
              <a:rPr sz="2800" b="0" i="0">
                <a:solidFill>
                  <a:srgbClr val="F7585C"/>
                </a:solidFill>
                <a:latin typeface="Pretendard Bold"/>
              </a:rPr>
              <a:t>35H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4983480"/>
            <a:ext cx="73152" cy="73152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48920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E3339"/>
                </a:solidFill>
                <a:latin typeface="Pretendard"/>
              </a:rPr>
              <a:t>온톨로지 설계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5257800"/>
            <a:ext cx="73152" cy="73152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516636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E3339"/>
                </a:solidFill>
                <a:latin typeface="Pretendard"/>
              </a:rPr>
              <a:t>OKF 아카이빙 자동화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5532120"/>
            <a:ext cx="73152" cy="73152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544068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E3339"/>
                </a:solidFill>
                <a:latin typeface="Pretendard"/>
              </a:rPr>
              <a:t>FastMCP 서버 직접 개발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5806440"/>
            <a:ext cx="73152" cy="73152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571500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E3339"/>
                </a:solidFill>
                <a:latin typeface="Pretendard"/>
              </a:rPr>
              <a:t>에이전트 통합 · 자가교정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6080760"/>
            <a:ext cx="73152" cy="73152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598932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E3339"/>
                </a:solidFill>
                <a:latin typeface="Pretendard"/>
              </a:rPr>
              <a:t>팀 미니 프로젝트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F656C"/>
                </a:solidFill>
                <a:latin typeface="Pretendard"/>
              </a:rPr>
              <a:t>모듈러 운영: 3개 과정을 순차 이수 또는 개별 선택 가능 · 그룹별 12-15명 권장 · 주강사 1 + 보조강사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LINE 1 · TRACK 1 (기초)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030712"/>
                </a:solidFill>
                <a:latin typeface="Pretendard Bold"/>
              </a:rPr>
              <a:t>Codex + Claude Code CLI 마스터리 — 개발자 개인 역량의 첫 도약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83464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7585C"/>
                </a:solidFill>
                <a:latin typeface="Pretendard Bold"/>
              </a:rPr>
              <a:t>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971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F7585C"/>
                </a:solidFill>
                <a:latin typeface="Pretendard Bold"/>
              </a:rPr>
              <a:t>8H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30712"/>
                </a:solidFill>
                <a:latin typeface="Pretendard Bold"/>
              </a:rPr>
              <a:t>패러다임 + Codex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069080"/>
            <a:ext cx="365760" cy="36576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407408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에이전틱 코딩 개념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791456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817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Codex CLI 환경 구축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175504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6577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스캐폴딩 · 멀티파일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559552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44982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PR 기반 코드 리뷰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83464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971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7585C"/>
                </a:solidFill>
                <a:latin typeface="Pretendard Bold"/>
              </a:rPr>
              <a:t>DAY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971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F7585C"/>
                </a:solidFill>
                <a:latin typeface="Pretendard Bold"/>
              </a:rPr>
              <a:t>8H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4290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30712"/>
                </a:solidFill>
                <a:latin typeface="Pretendard Bold"/>
              </a:rPr>
              <a:t>Claude Code 심화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4069080"/>
            <a:ext cx="365760" cy="36576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4407408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4297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Claude Code CLI 환경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4791456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46817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디버깅 · 리팩토링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5175504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506577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Subagents 분업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5559552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544982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Hooks · SKILL.md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283464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971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7585C"/>
                </a:solidFill>
                <a:latin typeface="Pretendard Bold"/>
              </a:rPr>
              <a:t>DAY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2971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F7585C"/>
                </a:solidFill>
                <a:latin typeface="Pretendard Bold"/>
              </a:rPr>
              <a:t>8H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4290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30712"/>
                </a:solidFill>
                <a:latin typeface="Pretendard Bold"/>
              </a:rPr>
              <a:t>통합 실전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4069080"/>
            <a:ext cx="365760" cy="36576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4407408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4297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컨텍스트 엔지니어링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4791456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46817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MCP 서버 연동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5175504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506577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Codex+Claude 분업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5559552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544982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팀 프로젝트 발표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30712"/>
                </a:solidFill>
                <a:latin typeface="Pretendard Bold"/>
              </a:rPr>
              <a:t>→  산출물: CLI 자동화 프로젝트 1건 + Hooks+Skills 적용 Claude Code 환경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F656C"/>
                </a:solidFill>
                <a:latin typeface="Pretendard"/>
              </a:rPr>
              <a:t>선수: Python/Node 기초 이상, CLI·Git 능숙 · 최신 도구: Codex CLI v0.145, Claude Code v2.1, GPT-5.6, Claude 4.7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LINE 1 · TRACK 2 (심화)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030712"/>
                </a:solidFill>
                <a:latin typeface="Pretendard Bold"/>
              </a:rPr>
              <a:t>Agentic AI 하네스 + 루프 엔지니어링 — 에이전트 오케스트레이터로 도약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83464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7585C"/>
                </a:solidFill>
                <a:latin typeface="Pretendard Bold"/>
              </a:rPr>
              <a:t>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9718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5F656C"/>
                </a:solidFill>
                <a:latin typeface="Pretendard Bold"/>
              </a:rPr>
              <a:t>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30712"/>
                </a:solidFill>
                <a:latin typeface="Pretendard Bold"/>
              </a:rPr>
              <a:t>하네스 엔지니어링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069080"/>
            <a:ext cx="365760" cy="36576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407408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하네스 패러다임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791456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817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AGENTS.md 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175504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6577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제약 + 엔트로피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559552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44982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Sandbox · 가드레일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83464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971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7585C"/>
                </a:solidFill>
                <a:latin typeface="Pretendard Bold"/>
              </a:rPr>
              <a:t>DAY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9718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5F656C"/>
                </a:solidFill>
                <a:latin typeface="Pretendard Bold"/>
              </a:rPr>
              <a:t>동적 흐름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4290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30712"/>
                </a:solidFill>
                <a:latin typeface="Pretendard Bold"/>
              </a:rPr>
              <a:t>루프 엔지니어링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4069080"/>
            <a:ext cx="365760" cy="36576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4407408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4297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AORR 상태 머신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4791456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46817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Self-Correcting TDD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5175504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506577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영구 메모리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5559552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544982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무한루프 탈출 · HITL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283464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971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7585C"/>
                </a:solidFill>
                <a:latin typeface="Pretendard Bold"/>
              </a:rPr>
              <a:t>DAY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29718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1">
                <a:solidFill>
                  <a:srgbClr val="5F656C"/>
                </a:solidFill>
                <a:latin typeface="Pretendard Bold"/>
              </a:rPr>
              <a:t>통합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4290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30712"/>
                </a:solidFill>
                <a:latin typeface="Pretendard Bold"/>
              </a:rPr>
              <a:t>오케스트레이션 실전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4069080"/>
            <a:ext cx="365760" cy="36576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4407408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42976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마스터-워커 하이브리드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4791456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46817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Tmux 4분할 관제소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5175504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506577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Git Worktree 샌드박스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5559552"/>
            <a:ext cx="64008" cy="6400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544982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E3339"/>
                </a:solidFill>
                <a:latin typeface="Pretendard"/>
              </a:rPr>
              <a:t>버그 티켓 자율 루프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30712"/>
                </a:solidFill>
                <a:latin typeface="Pretendard Bold"/>
              </a:rPr>
              <a:t>→  산출물: 버그 자율 해결 파이프라인 + LGE 30/60/90일 도입 로드맵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F656C"/>
                </a:solidFill>
                <a:latin typeface="Pretendard"/>
              </a:rPr>
              <a:t>선수: Track 1 수료 또는 CLI 에이전틱 코딩 실무 경험 · Boris Cherny 루프 3단계 · Anthropic Engineering Blog 기반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LINE 2 · 조직 지식 인프라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030712"/>
                </a:solidFill>
                <a:latin typeface="Pretendard Bold"/>
              </a:rPr>
              <a:t>RAG를 넘어 OKF · 온톨로지 · 자체 MCP 서버로 조직 지식을 자산화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2157984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30712"/>
                </a:solidFill>
                <a:latin typeface="Pretendard Bold"/>
              </a:rPr>
              <a:t>지식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F656C"/>
                </a:solidFill>
                <a:latin typeface="Pretendard"/>
              </a:rPr>
              <a:t>LLMwiki 핸즈온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6624" y="3566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7585C"/>
                </a:solidFill>
                <a:latin typeface="Pretendard Bold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9504" y="2743200"/>
            <a:ext cx="2157984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72384" y="288036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384" y="3246120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30712"/>
                </a:solidFill>
                <a:latin typeface="Pretendard Bold"/>
              </a:rPr>
              <a:t>OKF 아카이빙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3931920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F656C"/>
                </a:solidFill>
                <a:latin typeface="Pretendard"/>
              </a:rPr>
              <a:t>문서 → OKF 자동 변환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3566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7585C"/>
                </a:solidFill>
                <a:latin typeface="Pretendard Bold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8928" y="2743200"/>
            <a:ext cx="2157984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8" y="288036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DAY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3246120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30712"/>
                </a:solidFill>
                <a:latin typeface="Pretendard Bold"/>
              </a:rPr>
              <a:t>MCP 서버 개발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3931920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F656C"/>
                </a:solidFill>
                <a:latin typeface="Pretendard"/>
              </a:rPr>
              <a:t>FastMCP Resource ·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3566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7585C"/>
                </a:solidFill>
                <a:latin typeface="Pretendard Bold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2743200"/>
            <a:ext cx="2157984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2" y="288036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DAY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2" y="3246120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30712"/>
                </a:solidFill>
                <a:latin typeface="Pretendard Bold"/>
              </a:rPr>
              <a:t>에이전트 통합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2" y="3931920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F656C"/>
                </a:solidFill>
                <a:latin typeface="Pretendard"/>
              </a:rPr>
              <a:t>에러북 자가교정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4896" y="35661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7585C"/>
                </a:solidFill>
                <a:latin typeface="Pretendard Bold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37776" y="2743200"/>
            <a:ext cx="2157984" cy="2194560"/>
          </a:xfrm>
          <a:prstGeom prst="roundRect">
            <a:avLst>
              <a:gd name="adj" fmla="val 6000"/>
            </a:avLst>
          </a:prstGeom>
          <a:solidFill>
            <a:srgbClr val="FF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0656" y="288036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DAY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0656" y="3246120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30712"/>
                </a:solidFill>
                <a:latin typeface="Pretendard Bold"/>
              </a:rPr>
              <a:t>미니 프로젝트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0656" y="3931920"/>
            <a:ext cx="1792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F656C"/>
                </a:solidFill>
                <a:latin typeface="Pretendard"/>
              </a:rPr>
              <a:t>팀 파이프라인 완성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2120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7585C"/>
                </a:solidFill>
                <a:latin typeface="Pretendard Bold"/>
              </a:rPr>
              <a:t>● 데이터 주권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5321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E3339"/>
                </a:solidFill>
                <a:latin typeface="Pretendard"/>
              </a:rPr>
              <a:t>사내 지식이 외부 LLM에 유출되지 않는 구조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52120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7585C"/>
                </a:solidFill>
                <a:latin typeface="Pretendard Bold"/>
              </a:rPr>
              <a:t>● 에이전트 친화적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5321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E3339"/>
                </a:solidFill>
                <a:latin typeface="Pretendard"/>
              </a:rPr>
              <a:t>에이전트가 사내 지식을 자율 조회·활용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2120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7585C"/>
                </a:solidFill>
                <a:latin typeface="Pretendard Bold"/>
              </a:rPr>
              <a:t>● 복리 효과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55321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E3339"/>
                </a:solidFill>
                <a:latin typeface="Pretendard"/>
              </a:rPr>
              <a:t>지식이 쓸수록 축적되는 compounding 구조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F656C"/>
                </a:solidFill>
                <a:latin typeface="Pretendard"/>
              </a:rPr>
              <a:t>선수: Python 기초 이상 (FastMCP 서버 코딩 포함) · OKF: Google Cloud 2026.06 공개 스펙 · APEX-MEM: Amazon Science 2026.04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SYNERGY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030712"/>
                </a:solidFill>
                <a:latin typeface="Pretendard Bold"/>
              </a:rPr>
              <a:t>두 라인이 만나면 LGE 고유의 'Agentic AX 자산'이 완성됩니다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200400"/>
            <a:ext cx="35204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030712"/>
                </a:solidFill>
                <a:latin typeface="Pretendard Bold"/>
              </a:rPr>
              <a:t>개발자 + 지식 서버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14800"/>
            <a:ext cx="457200" cy="4572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2E3339"/>
                </a:solidFill>
                <a:latin typeface="Pretendard"/>
              </a:rPr>
              <a:t>Track 1·2 수료 개발자가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2E3339"/>
                </a:solidFill>
                <a:latin typeface="Pretendard"/>
              </a:rPr>
              <a:t>자체 MCP 서버를 직접 확장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200400"/>
            <a:ext cx="35204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3832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030712"/>
                </a:solidFill>
                <a:latin typeface="Pretendard Bold"/>
              </a:rPr>
              <a:t>조직 지식 + 에이전트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4114800"/>
            <a:ext cx="457200" cy="4572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434340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2E3339"/>
                </a:solidFill>
                <a:latin typeface="Pretendard"/>
              </a:rPr>
              <a:t>사내 문서가 에이전트를 통해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2E3339"/>
                </a:solidFill>
                <a:latin typeface="Pretendard"/>
              </a:rPr>
              <a:t>현업 의사결정에 실시간 활용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200400"/>
            <a:ext cx="35204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3832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030712"/>
                </a:solidFill>
                <a:latin typeface="Pretendard Bold"/>
              </a:rPr>
              <a:t>복리 효과 창출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4114800"/>
            <a:ext cx="457200" cy="4572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34340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2E3339"/>
                </a:solidFill>
                <a:latin typeface="Pretendard"/>
              </a:rPr>
              <a:t>교육 일회성이 아니라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2E3339"/>
                </a:solidFill>
                <a:latin typeface="Pretendard"/>
              </a:rPr>
              <a:t>지속 진화하는 자산 형성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030712"/>
                </a:solidFill>
                <a:latin typeface="Pretendard Bold"/>
              </a:rPr>
              <a:t>개별 과정의 단순 합(14일)을 넘어 — LGE가 독자적으로 운영·확장하는 Agentic AX 체계로 진화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030712"/>
                </a:solidFill>
                <a:latin typeface="Pretendard Bold"/>
              </a:rPr>
              <a:t>정량적 임팩트 — 모든 숫자에 명확한 출처가 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56C"/>
                </a:solidFill>
                <a:latin typeface="Pretendard Bold"/>
              </a:rPr>
              <a:t>개발 생산성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F7585C"/>
                </a:solidFill>
                <a:latin typeface="Pretendard Bold"/>
              </a:rPr>
              <a:t>+55%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0175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30712"/>
                </a:solidFill>
                <a:latin typeface="Pretendard Bold"/>
              </a:rPr>
              <a:t>코딩 속도 향상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42900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5F656C"/>
                </a:solidFill>
                <a:latin typeface="Pretendard"/>
              </a:rPr>
              <a:t>Microsoft Research Copilot 실증 (16,223명)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74320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926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56C"/>
                </a:solidFill>
                <a:latin typeface="Pretendard Bold"/>
              </a:rPr>
              <a:t>에이전트 성능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33756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030712"/>
                </a:solidFill>
                <a:latin typeface="Pretendard Bold"/>
              </a:rPr>
              <a:t>+90.2%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30175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30712"/>
                </a:solidFill>
                <a:latin typeface="Pretendard Bold"/>
              </a:rPr>
              <a:t>단일 대비 성능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42900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5F656C"/>
                </a:solidFill>
                <a:latin typeface="Pretendard"/>
              </a:rPr>
              <a:t>Anthropic Multi-agent 연구 (breadth-first 작업 한정)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1772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56C"/>
                </a:solidFill>
                <a:latin typeface="Pretendard Bold"/>
              </a:rPr>
              <a:t>조직 데이터 활용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1208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F7585C"/>
                </a:solidFill>
                <a:latin typeface="Pretendard Bold"/>
              </a:rPr>
              <a:t>1/480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8920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30712"/>
                </a:solidFill>
                <a:latin typeface="Pretendard Bold"/>
              </a:rPr>
              <a:t>분석 시간 단축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530352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5F656C"/>
                </a:solidFill>
                <a:latin typeface="Pretendard"/>
              </a:rPr>
              <a:t>LGE CHATDA 사례: 3-5일 → 30분 (CEO 발표 인용)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61772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800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56C"/>
                </a:solidFill>
                <a:latin typeface="Pretendard Bold"/>
              </a:rPr>
              <a:t>기술 부채 리스크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21208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030712"/>
                </a:solidFill>
                <a:latin typeface="Pretendard Bold"/>
              </a:rPr>
              <a:t>↓ 73%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48920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030712"/>
                </a:solidFill>
                <a:latin typeface="Pretendard Bold"/>
              </a:rPr>
              <a:t>AI 코드 유지보수 우려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530352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5F656C"/>
                </a:solidFill>
                <a:latin typeface="Pretendard"/>
              </a:rPr>
              <a:t>GitLab 2026 — 본 과정으로 통제 역량 확보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F656C"/>
                </a:solidFill>
                <a:latin typeface="Pretendard"/>
              </a:rPr>
              <a:t>※  모든 수치는 공개 출처 기반. LGE 내부 환경에서의 실제 효과는 파일럿 그룹 사후 측정 권장. 과장된 예측 배제.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NEXT STEPS ·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0" i="0">
                <a:solidFill>
                  <a:srgbClr val="FFFFFF"/>
                </a:solidFill>
                <a:latin typeface="Pretendard Bold"/>
              </a:rPr>
              <a:t>2026 Q3-Q4 실행 승인을 요청드립니다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3520440" cy="2468880"/>
          </a:xfrm>
          <a:prstGeom prst="roundRect">
            <a:avLst>
              <a:gd name="adj" fmla="val 6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결정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FFFFFF"/>
                </a:solidFill>
                <a:latin typeface="Pretendard Bold"/>
              </a:rPr>
              <a:t>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Pretendard"/>
              </a:rPr>
              <a:t>2026 Q3~Q4 중 14일 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AAAEB5"/>
                </a:solidFill>
                <a:latin typeface="Pretendard"/>
              </a:rPr>
              <a:t>트랙별 그룹 편성 유연성 확보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743200"/>
            <a:ext cx="3520440" cy="2468880"/>
          </a:xfrm>
          <a:prstGeom prst="roundRect">
            <a:avLst>
              <a:gd name="adj" fmla="val 6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결정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2461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FFFFFF"/>
                </a:solidFill>
                <a:latin typeface="Pretendard Bold"/>
              </a:rPr>
              <a:t>규모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9319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Pretendard"/>
              </a:rPr>
              <a:t>그룹당 12-15명 × N회차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6177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AAAEB5"/>
                </a:solidFill>
                <a:latin typeface="Pretendard"/>
              </a:rPr>
              <a:t>개발자 역량 진단 후 라인 배정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3520440" cy="2468880"/>
          </a:xfrm>
          <a:prstGeom prst="roundRect">
            <a:avLst>
              <a:gd name="adj" fmla="val 6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결정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461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FFFFFF"/>
                </a:solidFill>
                <a:latin typeface="Pretendard Bold"/>
              </a:rPr>
              <a:t>강사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9319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Pretendard"/>
              </a:rPr>
              <a:t>주강사 1 + 보조강사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6177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AAAEB5"/>
                </a:solidFill>
                <a:latin typeface="Pretendard"/>
              </a:rPr>
              <a:t>실습 구간마다 개인별 멘토링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577840"/>
            <a:ext cx="73152" cy="54864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623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7585C"/>
                </a:solidFill>
                <a:latin typeface="Pretendard Bold"/>
              </a:rPr>
              <a:t>다음 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97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FFFFF"/>
                </a:solidFill>
                <a:latin typeface="Pretendard Bold"/>
              </a:rPr>
              <a:t>상세 일정 협의 → 사전 역량 진단 → 교육 확정 → 1주일 전 사전 설치 가이드 → 착수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AAEB5"/>
                </a:solidFill>
                <a:latin typeface="Pretendard"/>
              </a:rPr>
              <a:t>모두의연구소  ·  dohee.kim@modulabs.co.kr  ·  010-9947-9875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