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362" r:id="rId2"/>
    <p:sldId id="365" r:id="rId3"/>
    <p:sldId id="363" r:id="rId4"/>
    <p:sldId id="364" r:id="rId5"/>
    <p:sldId id="374" r:id="rId6"/>
    <p:sldId id="373" r:id="rId7"/>
    <p:sldId id="369" r:id="rId8"/>
    <p:sldId id="368" r:id="rId9"/>
  </p:sldIdLst>
  <p:sldSz cx="18288000" cy="10287000"/>
  <p:notesSz cx="18288000" cy="10287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6072">
          <p15:clr>
            <a:srgbClr val="A4A3A4"/>
          </p15:clr>
        </p15:guide>
        <p15:guide id="4" pos="960">
          <p15:clr>
            <a:srgbClr val="A4A3A4"/>
          </p15:clr>
        </p15:guide>
        <p15:guide id="5" pos="10691">
          <p15:clr>
            <a:srgbClr val="A4A3A4"/>
          </p15:clr>
        </p15:guide>
        <p15:guide id="6" orient="horz" pos="3240">
          <p15:clr>
            <a:srgbClr val="A4A3A4"/>
          </p15:clr>
        </p15:guide>
        <p15:guide id="7" orient="horz" pos="4536">
          <p15:clr>
            <a:srgbClr val="A4A3A4"/>
          </p15:clr>
        </p15:guide>
        <p15:guide id="8" pos="5760">
          <p15:clr>
            <a:srgbClr val="A4A3A4"/>
          </p15:clr>
        </p15:guide>
        <p15:guide id="9" orient="horz" pos="2184">
          <p15:clr>
            <a:srgbClr val="A4A3A4"/>
          </p15:clr>
        </p15:guide>
        <p15:guide id="10" pos="4368">
          <p15:clr>
            <a:srgbClr val="A4A3A4"/>
          </p15:clr>
        </p15:guide>
        <p15:guide id="11" pos="8016">
          <p15:clr>
            <a:srgbClr val="A4A3A4"/>
          </p15:clr>
        </p15:guide>
        <p15:guide id="12" orient="horz" pos="4200">
          <p15:clr>
            <a:srgbClr val="A4A3A4"/>
          </p15:clr>
        </p15:guide>
        <p15:guide id="13" orient="horz" pos="4104">
          <p15:clr>
            <a:srgbClr val="A4A3A4"/>
          </p15:clr>
        </p15:guide>
        <p15:guide id="14" orient="horz" pos="1944">
          <p15:clr>
            <a:srgbClr val="A4A3A4"/>
          </p15:clr>
        </p15:guide>
        <p15:guide id="15" orient="horz" pos="458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1" roundtripDataSignature="AMtx7mgV4SENNlo++cLpDdZqvY4t6A2F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7C6"/>
    <a:srgbClr val="F1F8FF"/>
    <a:srgbClr val="09518D"/>
    <a:srgbClr val="033FDC"/>
    <a:srgbClr val="373C44"/>
    <a:srgbClr val="022374"/>
    <a:srgbClr val="FAC090"/>
    <a:srgbClr val="D9D9D9"/>
    <a:srgbClr val="FDEAD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471A5B-356D-4816-B887-930DB0A71829}">
  <a:tblStyle styleId="{E4471A5B-356D-4816-B887-930DB0A7182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2105E08-A03A-4D31-905E-AC8CB7551CD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3E9"/>
          </a:solidFill>
        </a:fill>
      </a:tcStyle>
    </a:wholeTbl>
    <a:band1H>
      <a:tcTxStyle b="off" i="off"/>
      <a:tcStyle>
        <a:tcBdr/>
        <a:fill>
          <a:solidFill>
            <a:srgbClr val="DEE7D0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EE7D0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45562D0-3BA9-4743-B3AE-38917C5A011E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5026" autoAdjust="0"/>
  </p:normalViewPr>
  <p:slideViewPr>
    <p:cSldViewPr snapToGrid="0">
      <p:cViewPr varScale="1">
        <p:scale>
          <a:sx n="52" d="100"/>
          <a:sy n="52" d="100"/>
        </p:scale>
        <p:origin x="878" y="67"/>
      </p:cViewPr>
      <p:guideLst>
        <p:guide orient="horz" pos="600"/>
        <p:guide pos="2160"/>
        <p:guide orient="horz" pos="6072"/>
        <p:guide pos="960"/>
        <p:guide pos="10691"/>
        <p:guide orient="horz" pos="3240"/>
        <p:guide orient="horz" pos="4536"/>
        <p:guide pos="5760"/>
        <p:guide orient="horz" pos="2184"/>
        <p:guide pos="4368"/>
        <p:guide pos="8016"/>
        <p:guide orient="horz" pos="4200"/>
        <p:guide orient="horz" pos="4104"/>
        <p:guide orient="horz" pos="1944"/>
        <p:guide orient="horz" pos="45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9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9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0358438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A4ACF77-B115-55BF-D22A-E3A305418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205E56A2-F69B-56BE-9C24-8EFEF5F86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754E8F1B-9E55-B93C-63FD-FCDD06FAF6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F464987C-6263-007A-642F-3E0FF627E3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3506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CED7F1F-65BD-B434-3D8A-9E38BF9F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D4577D85-D16B-12D7-73BC-F81E25CDC1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79A96E3F-B7D2-3280-A711-D8FE87479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0C2DCD7C-DCEC-0651-3EB7-5997122237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7526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3B8541F-7CDD-A04F-8EAE-67050607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358B5229-DD4E-B834-F588-04C6C1A05F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EFE71E39-F4FB-6FF2-69D9-25E9F73DB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95329BC4-6458-E3F2-2D07-AE56AA35E2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0965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C3C5CE7-4CB2-37C5-3D1A-9BF2E211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414A92D-B649-3FE5-FACE-3793578DC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7401E07-5162-6FF5-01E2-D9F93A3D9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DAD676FA-167B-C95D-0780-731B2B1156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972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ADC9A43-6040-D556-1164-C83D9EEF3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8BE64CB0-08DE-904D-1271-5FCA64AA0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5F471D84-4EF4-08C0-2F6C-F001C7931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396F6D34-DD3C-0AB2-C656-26857741D2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7860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40CE7931-D297-1BE4-CD6A-FECFE538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BF8019D-A5EA-2E75-FA41-C8CB5CC67C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594C4907-9849-78C9-D441-86FA570515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DCD854FB-136A-C828-F6E4-798167934F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254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2829409-4C27-4BD8-389C-65CB2053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7C85AE8-01A3-B862-466E-CD36300E73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E162CA07-A18F-3B31-5EC0-B96249102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1A0BB97-A3D5-4F10-2613-E92F244B19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8190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EDC3C06-A14D-C6FE-3C15-33FF9A71D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FF25D68-4182-A9A7-9E0B-10D8C149C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2D46BAAA-81A8-8558-7C9F-AE39DD6DC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89447403-319A-BF93-CCD2-5C5824D728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37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8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>
              <a:alpha val="60392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88"/>
          <p:cNvSpPr txBox="1">
            <a:spLocks noGrp="1"/>
          </p:cNvSpPr>
          <p:nvPr>
            <p:ph type="title"/>
          </p:nvPr>
        </p:nvSpPr>
        <p:spPr>
          <a:xfrm>
            <a:off x="1437878" y="1391776"/>
            <a:ext cx="12459335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8"/>
          <p:cNvSpPr txBox="1">
            <a:spLocks noGrp="1"/>
          </p:cNvSpPr>
          <p:nvPr>
            <p:ph type="body" idx="1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8"/>
          <p:cNvSpPr txBox="1">
            <a:spLocks noGrp="1"/>
          </p:cNvSpPr>
          <p:nvPr>
            <p:ph type="body" idx="2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8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8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8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4"/>
          <p:cNvSpPr txBox="1">
            <a:spLocks noGrp="1"/>
          </p:cNvSpPr>
          <p:nvPr>
            <p:ph type="ctrTitle"/>
          </p:nvPr>
        </p:nvSpPr>
        <p:spPr>
          <a:xfrm>
            <a:off x="1495450" y="1587441"/>
            <a:ext cx="12421235" cy="81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4"/>
          <p:cNvSpPr txBox="1">
            <a:spLocks noGrp="1"/>
          </p:cNvSpPr>
          <p:nvPr>
            <p:ph type="subTitle" idx="1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4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4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4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5"/>
          <p:cNvSpPr txBox="1">
            <a:spLocks noGrp="1"/>
          </p:cNvSpPr>
          <p:nvPr>
            <p:ph type="body" idx="1"/>
          </p:nvPr>
        </p:nvSpPr>
        <p:spPr>
          <a:xfrm>
            <a:off x="901005" y="8894896"/>
            <a:ext cx="16478254" cy="4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5"/>
          <p:cNvSpPr txBox="1">
            <a:spLocks noGrp="1"/>
          </p:cNvSpPr>
          <p:nvPr>
            <p:ph type="title"/>
          </p:nvPr>
        </p:nvSpPr>
        <p:spPr>
          <a:xfrm>
            <a:off x="1437878" y="1391776"/>
            <a:ext cx="12459335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5"/>
          <p:cNvSpPr txBox="1">
            <a:spLocks noGrp="1"/>
          </p:cNvSpPr>
          <p:nvPr>
            <p:ph type="body" idx="2"/>
          </p:nvPr>
        </p:nvSpPr>
        <p:spPr>
          <a:xfrm>
            <a:off x="1409700" y="3060700"/>
            <a:ext cx="15262225" cy="578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5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페이지">
  <p:cSld name="빈 페이지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6"/>
          <p:cNvSpPr txBox="1">
            <a:spLocks noGrp="1"/>
          </p:cNvSpPr>
          <p:nvPr>
            <p:ph type="sldNum" idx="12"/>
          </p:nvPr>
        </p:nvSpPr>
        <p:spPr>
          <a:xfrm>
            <a:off x="8958986" y="9804796"/>
            <a:ext cx="362884" cy="3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3575" tIns="53575" rIns="53575" bIns="5357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373C4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5"/>
          <p:cNvSpPr txBox="1">
            <a:spLocks noGrp="1"/>
          </p:cNvSpPr>
          <p:nvPr>
            <p:ph type="title"/>
          </p:nvPr>
        </p:nvSpPr>
        <p:spPr>
          <a:xfrm>
            <a:off x="1437878" y="1391776"/>
            <a:ext cx="12459335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body" idx="1"/>
          </p:nvPr>
        </p:nvSpPr>
        <p:spPr>
          <a:xfrm>
            <a:off x="1409700" y="3060700"/>
            <a:ext cx="15262225" cy="578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5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5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85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0D6A16-A91A-2886-D12C-517B30C23095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223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7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CFDCDE7-CC83-E721-6FAB-912D30AA2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359;p16">
            <a:extLst>
              <a:ext uri="{FF2B5EF4-FFF2-40B4-BE49-F238E27FC236}">
                <a16:creationId xmlns:a16="http://schemas.microsoft.com/office/drawing/2014/main" id="{20E62A96-2637-6577-B962-AC31BC3EC97B}"/>
              </a:ext>
            </a:extLst>
          </p:cNvPr>
          <p:cNvSpPr txBox="1"/>
          <p:nvPr/>
        </p:nvSpPr>
        <p:spPr>
          <a:xfrm>
            <a:off x="1233772" y="797928"/>
            <a:ext cx="10623439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기업의 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Transformation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위한 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 혁신</a:t>
            </a:r>
            <a:endParaRPr sz="28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79" name="Google Shape;359;p16">
            <a:extLst>
              <a:ext uri="{FF2B5EF4-FFF2-40B4-BE49-F238E27FC236}">
                <a16:creationId xmlns:a16="http://schemas.microsoft.com/office/drawing/2014/main" id="{42B02463-C229-38D7-65B1-B5F689EB223D}"/>
              </a:ext>
            </a:extLst>
          </p:cNvPr>
          <p:cNvSpPr txBox="1"/>
          <p:nvPr/>
        </p:nvSpPr>
        <p:spPr>
          <a:xfrm>
            <a:off x="1233771" y="1560097"/>
            <a:ext cx="16375355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 플랫폼은 기업의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Transformation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지원하기 위해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교육 운영 방식을 멀티 에이전트 기반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구조로 재설계한 혁신 모델이다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br>
              <a:rPr lang="ko-KR" altLang="en-US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1" name="Google Shape;359;p16">
            <a:extLst>
              <a:ext uri="{FF2B5EF4-FFF2-40B4-BE49-F238E27FC236}">
                <a16:creationId xmlns:a16="http://schemas.microsoft.com/office/drawing/2014/main" id="{66F35372-40F8-F7B9-3E3D-6BF752E0F587}"/>
              </a:ext>
            </a:extLst>
          </p:cNvPr>
          <p:cNvSpPr txBox="1"/>
          <p:nvPr/>
        </p:nvSpPr>
        <p:spPr>
          <a:xfrm>
            <a:off x="1233772" y="2907042"/>
            <a:ext cx="15932010" cy="5675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교육은 고객 문의 → 니즈 파악 → 커리큘럼 제안 → 강의 운영 → 만족도 평가로 이어지는 프로세스 중심 구조였다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b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방식은 담당자의 경험과 역량에 의존하는 비중이 높아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기업의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전환 성과와 직접적으로 연결되기 어렵다는 한계가 있었다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br>
              <a:rPr lang="ko-KR" altLang="en-US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ko-KR" alt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 플랫폼은 교육 전 과정을 진단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운영의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구조로 체계화한다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fontAlgn="base"/>
            <a:br>
              <a:rPr lang="ko-KR" altLang="en-US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 : </a:t>
            </a:r>
            <a:r>
              <a:rPr lang="ko-KR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</a:t>
            </a:r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조직내 </a:t>
            </a:r>
            <a:r>
              <a:rPr lang="en-US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</a:t>
            </a:r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역량 </a:t>
            </a:r>
            <a:r>
              <a:rPr lang="ko-KR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수준</a:t>
            </a:r>
            <a:r>
              <a:rPr lang="en-US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학습수준</a:t>
            </a:r>
            <a:endParaRPr lang="en-US" altLang="ko-KR" sz="24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컨설턴트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 : </a:t>
            </a:r>
            <a:r>
              <a:rPr lang="ko-KR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 내 역할을 고려한</a:t>
            </a:r>
            <a:r>
              <a:rPr lang="en-US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커리큘럼 추천</a:t>
            </a:r>
            <a:endParaRPr lang="en-US" altLang="ko-KR" sz="24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교육운영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 : </a:t>
            </a:r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학습관리 </a:t>
            </a:r>
            <a:r>
              <a:rPr lang="en-US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운영관리</a:t>
            </a:r>
            <a:r>
              <a:rPr lang="en-US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평가 업무효율</a:t>
            </a:r>
            <a:r>
              <a:rPr lang="ko-KR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증강</a:t>
            </a:r>
            <a:br>
              <a:rPr lang="ko-KR" altLang="en-US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ko-KR" alt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기본 베이스는 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LMS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ko-KR" altLang="en-US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코드셀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실습이 아닌 바이브코딩 방식으로 업무 중심 실행과 결과 생성까지 연결하는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LMS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변경을 포함한다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altLang="ko-KR" sz="4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064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C039B3DE-6044-07CE-02A8-AC9BE135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BD75B70A-1CDC-7A8D-8F0F-338ACE14E9B9}"/>
              </a:ext>
            </a:extLst>
          </p:cNvPr>
          <p:cNvGrpSpPr/>
          <p:nvPr/>
        </p:nvGrpSpPr>
        <p:grpSpPr>
          <a:xfrm>
            <a:off x="0" y="6933351"/>
            <a:ext cx="18519965" cy="1998216"/>
            <a:chOff x="-17615" y="1377545"/>
            <a:chExt cx="18305614" cy="1998216"/>
          </a:xfrm>
        </p:grpSpPr>
        <p:pic>
          <p:nvPicPr>
            <p:cNvPr id="89" name="object 53">
              <a:extLst>
                <a:ext uri="{FF2B5EF4-FFF2-40B4-BE49-F238E27FC236}">
                  <a16:creationId xmlns:a16="http://schemas.microsoft.com/office/drawing/2014/main" id="{0B276AFA-06C6-0CF3-16F3-FD237A21AFA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00073" y="1438104"/>
              <a:ext cx="6687926" cy="1819663"/>
            </a:xfrm>
            <a:prstGeom prst="rect">
              <a:avLst/>
            </a:prstGeom>
          </p:spPr>
        </p:pic>
        <p:pic>
          <p:nvPicPr>
            <p:cNvPr id="90" name="object 54">
              <a:extLst>
                <a:ext uri="{FF2B5EF4-FFF2-40B4-BE49-F238E27FC236}">
                  <a16:creationId xmlns:a16="http://schemas.microsoft.com/office/drawing/2014/main" id="{24AD2A04-3DD5-AFA3-2FB9-94669B79CBC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89578" y="1823771"/>
              <a:ext cx="5866456" cy="1014500"/>
            </a:xfrm>
            <a:prstGeom prst="rect">
              <a:avLst/>
            </a:prstGeom>
          </p:spPr>
        </p:pic>
        <p:pic>
          <p:nvPicPr>
            <p:cNvPr id="91" name="object 55">
              <a:extLst>
                <a:ext uri="{FF2B5EF4-FFF2-40B4-BE49-F238E27FC236}">
                  <a16:creationId xmlns:a16="http://schemas.microsoft.com/office/drawing/2014/main" id="{2EED084A-7F5B-FED7-17E1-50C69A75C2F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52934" y="1556098"/>
              <a:ext cx="5162751" cy="1819663"/>
            </a:xfrm>
            <a:prstGeom prst="rect">
              <a:avLst/>
            </a:prstGeom>
          </p:spPr>
        </p:pic>
        <p:sp>
          <p:nvSpPr>
            <p:cNvPr id="92" name="object 56">
              <a:extLst>
                <a:ext uri="{FF2B5EF4-FFF2-40B4-BE49-F238E27FC236}">
                  <a16:creationId xmlns:a16="http://schemas.microsoft.com/office/drawing/2014/main" id="{8E9700BA-8315-14F9-79D0-5BA71C32E008}"/>
                </a:ext>
              </a:extLst>
            </p:cNvPr>
            <p:cNvSpPr/>
            <p:nvPr/>
          </p:nvSpPr>
          <p:spPr>
            <a:xfrm>
              <a:off x="9957438" y="1823771"/>
              <a:ext cx="4168054" cy="1014880"/>
            </a:xfrm>
            <a:custGeom>
              <a:avLst/>
              <a:gdLst/>
              <a:ahLst/>
              <a:cxnLst/>
              <a:rect l="l" t="t" r="r" b="b"/>
              <a:pathLst>
                <a:path w="2780029" h="676910">
                  <a:moveTo>
                    <a:pt x="2441448" y="0"/>
                  </a:moveTo>
                  <a:lnTo>
                    <a:pt x="338327" y="0"/>
                  </a:lnTo>
                  <a:lnTo>
                    <a:pt x="292426" y="3089"/>
                  </a:lnTo>
                  <a:lnTo>
                    <a:pt x="248399" y="12087"/>
                  </a:lnTo>
                  <a:lnTo>
                    <a:pt x="206650" y="26592"/>
                  </a:lnTo>
                  <a:lnTo>
                    <a:pt x="167583" y="46199"/>
                  </a:lnTo>
                  <a:lnTo>
                    <a:pt x="131601" y="70505"/>
                  </a:lnTo>
                  <a:lnTo>
                    <a:pt x="99107" y="99107"/>
                  </a:lnTo>
                  <a:lnTo>
                    <a:pt x="70505" y="131601"/>
                  </a:lnTo>
                  <a:lnTo>
                    <a:pt x="46199" y="167583"/>
                  </a:lnTo>
                  <a:lnTo>
                    <a:pt x="26592" y="206650"/>
                  </a:lnTo>
                  <a:lnTo>
                    <a:pt x="12087" y="248399"/>
                  </a:lnTo>
                  <a:lnTo>
                    <a:pt x="3089" y="292426"/>
                  </a:lnTo>
                  <a:lnTo>
                    <a:pt x="0" y="338328"/>
                  </a:lnTo>
                  <a:lnTo>
                    <a:pt x="3089" y="384229"/>
                  </a:lnTo>
                  <a:lnTo>
                    <a:pt x="12087" y="428256"/>
                  </a:lnTo>
                  <a:lnTo>
                    <a:pt x="26592" y="470005"/>
                  </a:lnTo>
                  <a:lnTo>
                    <a:pt x="46199" y="509072"/>
                  </a:lnTo>
                  <a:lnTo>
                    <a:pt x="70505" y="545054"/>
                  </a:lnTo>
                  <a:lnTo>
                    <a:pt x="99107" y="577548"/>
                  </a:lnTo>
                  <a:lnTo>
                    <a:pt x="131601" y="606150"/>
                  </a:lnTo>
                  <a:lnTo>
                    <a:pt x="167583" y="630456"/>
                  </a:lnTo>
                  <a:lnTo>
                    <a:pt x="206650" y="650063"/>
                  </a:lnTo>
                  <a:lnTo>
                    <a:pt x="248399" y="664568"/>
                  </a:lnTo>
                  <a:lnTo>
                    <a:pt x="292426" y="673566"/>
                  </a:lnTo>
                  <a:lnTo>
                    <a:pt x="338327" y="676656"/>
                  </a:lnTo>
                  <a:lnTo>
                    <a:pt x="2441448" y="676656"/>
                  </a:lnTo>
                  <a:lnTo>
                    <a:pt x="2487349" y="673566"/>
                  </a:lnTo>
                  <a:lnTo>
                    <a:pt x="2531376" y="664568"/>
                  </a:lnTo>
                  <a:lnTo>
                    <a:pt x="2573125" y="650063"/>
                  </a:lnTo>
                  <a:lnTo>
                    <a:pt x="2612192" y="630456"/>
                  </a:lnTo>
                  <a:lnTo>
                    <a:pt x="2648174" y="606150"/>
                  </a:lnTo>
                  <a:lnTo>
                    <a:pt x="2680668" y="577548"/>
                  </a:lnTo>
                  <a:lnTo>
                    <a:pt x="2709270" y="545054"/>
                  </a:lnTo>
                  <a:lnTo>
                    <a:pt x="2733576" y="509072"/>
                  </a:lnTo>
                  <a:lnTo>
                    <a:pt x="2753183" y="470005"/>
                  </a:lnTo>
                  <a:lnTo>
                    <a:pt x="2767688" y="428256"/>
                  </a:lnTo>
                  <a:lnTo>
                    <a:pt x="2776686" y="384229"/>
                  </a:lnTo>
                  <a:lnTo>
                    <a:pt x="2779776" y="338328"/>
                  </a:lnTo>
                  <a:lnTo>
                    <a:pt x="2776686" y="292426"/>
                  </a:lnTo>
                  <a:lnTo>
                    <a:pt x="2767688" y="248399"/>
                  </a:lnTo>
                  <a:lnTo>
                    <a:pt x="2753183" y="206650"/>
                  </a:lnTo>
                  <a:lnTo>
                    <a:pt x="2733576" y="167583"/>
                  </a:lnTo>
                  <a:lnTo>
                    <a:pt x="2709270" y="131601"/>
                  </a:lnTo>
                  <a:lnTo>
                    <a:pt x="2680668" y="99107"/>
                  </a:lnTo>
                  <a:lnTo>
                    <a:pt x="2648174" y="70505"/>
                  </a:lnTo>
                  <a:lnTo>
                    <a:pt x="2612192" y="46199"/>
                  </a:lnTo>
                  <a:lnTo>
                    <a:pt x="2573125" y="26592"/>
                  </a:lnTo>
                  <a:lnTo>
                    <a:pt x="2531376" y="12087"/>
                  </a:lnTo>
                  <a:lnTo>
                    <a:pt x="2487349" y="3089"/>
                  </a:lnTo>
                  <a:lnTo>
                    <a:pt x="2441448" y="0"/>
                  </a:lnTo>
                  <a:close/>
                </a:path>
              </a:pathLst>
            </a:custGeom>
            <a:solidFill>
              <a:srgbClr val="0C6C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60">
              <a:extLst>
                <a:ext uri="{FF2B5EF4-FFF2-40B4-BE49-F238E27FC236}">
                  <a16:creationId xmlns:a16="http://schemas.microsoft.com/office/drawing/2014/main" id="{D4FA2501-6E93-B07D-C5AC-76F15683FCC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29003" y="1556090"/>
              <a:ext cx="5103344" cy="1819663"/>
            </a:xfrm>
            <a:prstGeom prst="rect">
              <a:avLst/>
            </a:prstGeom>
          </p:spPr>
        </p:pic>
        <p:sp>
          <p:nvSpPr>
            <p:cNvPr id="97" name="object 61">
              <a:extLst>
                <a:ext uri="{FF2B5EF4-FFF2-40B4-BE49-F238E27FC236}">
                  <a16:creationId xmlns:a16="http://schemas.microsoft.com/office/drawing/2014/main" id="{85F3FD94-8BCE-6B46-9C3E-A2EA087D8B36}"/>
                </a:ext>
              </a:extLst>
            </p:cNvPr>
            <p:cNvSpPr/>
            <p:nvPr/>
          </p:nvSpPr>
          <p:spPr>
            <a:xfrm>
              <a:off x="6836251" y="1823771"/>
              <a:ext cx="4112836" cy="1014880"/>
            </a:xfrm>
            <a:custGeom>
              <a:avLst/>
              <a:gdLst/>
              <a:ahLst/>
              <a:cxnLst/>
              <a:rect l="l" t="t" r="r" b="b"/>
              <a:pathLst>
                <a:path w="2743200" h="676910">
                  <a:moveTo>
                    <a:pt x="2404872" y="0"/>
                  </a:moveTo>
                  <a:lnTo>
                    <a:pt x="338328" y="0"/>
                  </a:lnTo>
                  <a:lnTo>
                    <a:pt x="292426" y="3089"/>
                  </a:lnTo>
                  <a:lnTo>
                    <a:pt x="248399" y="12087"/>
                  </a:lnTo>
                  <a:lnTo>
                    <a:pt x="206650" y="26592"/>
                  </a:lnTo>
                  <a:lnTo>
                    <a:pt x="167583" y="46199"/>
                  </a:lnTo>
                  <a:lnTo>
                    <a:pt x="131601" y="70505"/>
                  </a:lnTo>
                  <a:lnTo>
                    <a:pt x="99107" y="99107"/>
                  </a:lnTo>
                  <a:lnTo>
                    <a:pt x="70505" y="131601"/>
                  </a:lnTo>
                  <a:lnTo>
                    <a:pt x="46199" y="167583"/>
                  </a:lnTo>
                  <a:lnTo>
                    <a:pt x="26592" y="206650"/>
                  </a:lnTo>
                  <a:lnTo>
                    <a:pt x="12087" y="248399"/>
                  </a:lnTo>
                  <a:lnTo>
                    <a:pt x="3089" y="292426"/>
                  </a:lnTo>
                  <a:lnTo>
                    <a:pt x="0" y="338328"/>
                  </a:lnTo>
                  <a:lnTo>
                    <a:pt x="3089" y="384229"/>
                  </a:lnTo>
                  <a:lnTo>
                    <a:pt x="12087" y="428256"/>
                  </a:lnTo>
                  <a:lnTo>
                    <a:pt x="26592" y="470005"/>
                  </a:lnTo>
                  <a:lnTo>
                    <a:pt x="46199" y="509072"/>
                  </a:lnTo>
                  <a:lnTo>
                    <a:pt x="70505" y="545054"/>
                  </a:lnTo>
                  <a:lnTo>
                    <a:pt x="99107" y="577548"/>
                  </a:lnTo>
                  <a:lnTo>
                    <a:pt x="131601" y="606150"/>
                  </a:lnTo>
                  <a:lnTo>
                    <a:pt x="167583" y="630456"/>
                  </a:lnTo>
                  <a:lnTo>
                    <a:pt x="206650" y="650063"/>
                  </a:lnTo>
                  <a:lnTo>
                    <a:pt x="248399" y="664568"/>
                  </a:lnTo>
                  <a:lnTo>
                    <a:pt x="292426" y="673566"/>
                  </a:lnTo>
                  <a:lnTo>
                    <a:pt x="338328" y="676656"/>
                  </a:lnTo>
                  <a:lnTo>
                    <a:pt x="2404872" y="676656"/>
                  </a:lnTo>
                  <a:lnTo>
                    <a:pt x="2450773" y="673566"/>
                  </a:lnTo>
                  <a:lnTo>
                    <a:pt x="2494800" y="664568"/>
                  </a:lnTo>
                  <a:lnTo>
                    <a:pt x="2536549" y="650063"/>
                  </a:lnTo>
                  <a:lnTo>
                    <a:pt x="2575616" y="630456"/>
                  </a:lnTo>
                  <a:lnTo>
                    <a:pt x="2611598" y="606150"/>
                  </a:lnTo>
                  <a:lnTo>
                    <a:pt x="2644092" y="577548"/>
                  </a:lnTo>
                  <a:lnTo>
                    <a:pt x="2672694" y="545054"/>
                  </a:lnTo>
                  <a:lnTo>
                    <a:pt x="2697000" y="509072"/>
                  </a:lnTo>
                  <a:lnTo>
                    <a:pt x="2716607" y="470005"/>
                  </a:lnTo>
                  <a:lnTo>
                    <a:pt x="2731112" y="428256"/>
                  </a:lnTo>
                  <a:lnTo>
                    <a:pt x="2740110" y="384229"/>
                  </a:lnTo>
                  <a:lnTo>
                    <a:pt x="2743200" y="338328"/>
                  </a:lnTo>
                  <a:lnTo>
                    <a:pt x="2740110" y="292426"/>
                  </a:lnTo>
                  <a:lnTo>
                    <a:pt x="2731112" y="248399"/>
                  </a:lnTo>
                  <a:lnTo>
                    <a:pt x="2716607" y="206650"/>
                  </a:lnTo>
                  <a:lnTo>
                    <a:pt x="2697000" y="167583"/>
                  </a:lnTo>
                  <a:lnTo>
                    <a:pt x="2672694" y="131601"/>
                  </a:lnTo>
                  <a:lnTo>
                    <a:pt x="2644092" y="99107"/>
                  </a:lnTo>
                  <a:lnTo>
                    <a:pt x="2611598" y="70505"/>
                  </a:lnTo>
                  <a:lnTo>
                    <a:pt x="2575616" y="46199"/>
                  </a:lnTo>
                  <a:lnTo>
                    <a:pt x="2536549" y="26592"/>
                  </a:lnTo>
                  <a:lnTo>
                    <a:pt x="2494800" y="12087"/>
                  </a:lnTo>
                  <a:lnTo>
                    <a:pt x="2450773" y="3089"/>
                  </a:lnTo>
                  <a:lnTo>
                    <a:pt x="2404872" y="0"/>
                  </a:lnTo>
                  <a:close/>
                </a:path>
              </a:pathLst>
            </a:custGeom>
            <a:solidFill>
              <a:srgbClr val="50A9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65">
              <a:extLst>
                <a:ext uri="{FF2B5EF4-FFF2-40B4-BE49-F238E27FC236}">
                  <a16:creationId xmlns:a16="http://schemas.microsoft.com/office/drawing/2014/main" id="{89460CA2-BED0-35A5-F5BA-D134EBD368A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65502" y="1541344"/>
              <a:ext cx="5327455" cy="1819663"/>
            </a:xfrm>
            <a:prstGeom prst="rect">
              <a:avLst/>
            </a:prstGeom>
          </p:spPr>
        </p:pic>
        <p:sp>
          <p:nvSpPr>
            <p:cNvPr id="102" name="object 66">
              <a:extLst>
                <a:ext uri="{FF2B5EF4-FFF2-40B4-BE49-F238E27FC236}">
                  <a16:creationId xmlns:a16="http://schemas.microsoft.com/office/drawing/2014/main" id="{F31DFD34-F391-378B-C18B-FB23B0BCAD7E}"/>
                </a:ext>
              </a:extLst>
            </p:cNvPr>
            <p:cNvSpPr/>
            <p:nvPr/>
          </p:nvSpPr>
          <p:spPr>
            <a:xfrm>
              <a:off x="3484290" y="1823771"/>
              <a:ext cx="4323238" cy="1014880"/>
            </a:xfrm>
            <a:custGeom>
              <a:avLst/>
              <a:gdLst/>
              <a:ahLst/>
              <a:cxnLst/>
              <a:rect l="l" t="t" r="r" b="b"/>
              <a:pathLst>
                <a:path w="2883535" h="676910">
                  <a:moveTo>
                    <a:pt x="2545080" y="0"/>
                  </a:moveTo>
                  <a:lnTo>
                    <a:pt x="338328" y="0"/>
                  </a:lnTo>
                  <a:lnTo>
                    <a:pt x="292426" y="3089"/>
                  </a:lnTo>
                  <a:lnTo>
                    <a:pt x="248399" y="12087"/>
                  </a:lnTo>
                  <a:lnTo>
                    <a:pt x="206650" y="26592"/>
                  </a:lnTo>
                  <a:lnTo>
                    <a:pt x="167583" y="46199"/>
                  </a:lnTo>
                  <a:lnTo>
                    <a:pt x="131601" y="70505"/>
                  </a:lnTo>
                  <a:lnTo>
                    <a:pt x="99107" y="99107"/>
                  </a:lnTo>
                  <a:lnTo>
                    <a:pt x="70505" y="131601"/>
                  </a:lnTo>
                  <a:lnTo>
                    <a:pt x="46199" y="167583"/>
                  </a:lnTo>
                  <a:lnTo>
                    <a:pt x="26592" y="206650"/>
                  </a:lnTo>
                  <a:lnTo>
                    <a:pt x="12087" y="248399"/>
                  </a:lnTo>
                  <a:lnTo>
                    <a:pt x="3089" y="292426"/>
                  </a:lnTo>
                  <a:lnTo>
                    <a:pt x="0" y="338328"/>
                  </a:lnTo>
                  <a:lnTo>
                    <a:pt x="3089" y="384229"/>
                  </a:lnTo>
                  <a:lnTo>
                    <a:pt x="12087" y="428256"/>
                  </a:lnTo>
                  <a:lnTo>
                    <a:pt x="26592" y="470005"/>
                  </a:lnTo>
                  <a:lnTo>
                    <a:pt x="46199" y="509072"/>
                  </a:lnTo>
                  <a:lnTo>
                    <a:pt x="70505" y="545054"/>
                  </a:lnTo>
                  <a:lnTo>
                    <a:pt x="99107" y="577548"/>
                  </a:lnTo>
                  <a:lnTo>
                    <a:pt x="131601" y="606150"/>
                  </a:lnTo>
                  <a:lnTo>
                    <a:pt x="167583" y="630456"/>
                  </a:lnTo>
                  <a:lnTo>
                    <a:pt x="206650" y="650063"/>
                  </a:lnTo>
                  <a:lnTo>
                    <a:pt x="248399" y="664568"/>
                  </a:lnTo>
                  <a:lnTo>
                    <a:pt x="292426" y="673566"/>
                  </a:lnTo>
                  <a:lnTo>
                    <a:pt x="338328" y="676656"/>
                  </a:lnTo>
                  <a:lnTo>
                    <a:pt x="2545080" y="676656"/>
                  </a:lnTo>
                  <a:lnTo>
                    <a:pt x="2590981" y="673566"/>
                  </a:lnTo>
                  <a:lnTo>
                    <a:pt x="2635008" y="664568"/>
                  </a:lnTo>
                  <a:lnTo>
                    <a:pt x="2676757" y="650063"/>
                  </a:lnTo>
                  <a:lnTo>
                    <a:pt x="2715824" y="630456"/>
                  </a:lnTo>
                  <a:lnTo>
                    <a:pt x="2751806" y="606150"/>
                  </a:lnTo>
                  <a:lnTo>
                    <a:pt x="2784300" y="577548"/>
                  </a:lnTo>
                  <a:lnTo>
                    <a:pt x="2812902" y="545054"/>
                  </a:lnTo>
                  <a:lnTo>
                    <a:pt x="2837208" y="509072"/>
                  </a:lnTo>
                  <a:lnTo>
                    <a:pt x="2856815" y="470005"/>
                  </a:lnTo>
                  <a:lnTo>
                    <a:pt x="2871320" y="428256"/>
                  </a:lnTo>
                  <a:lnTo>
                    <a:pt x="2880318" y="384229"/>
                  </a:lnTo>
                  <a:lnTo>
                    <a:pt x="2883408" y="338328"/>
                  </a:lnTo>
                  <a:lnTo>
                    <a:pt x="2880318" y="292426"/>
                  </a:lnTo>
                  <a:lnTo>
                    <a:pt x="2871320" y="248399"/>
                  </a:lnTo>
                  <a:lnTo>
                    <a:pt x="2856815" y="206650"/>
                  </a:lnTo>
                  <a:lnTo>
                    <a:pt x="2837208" y="167583"/>
                  </a:lnTo>
                  <a:lnTo>
                    <a:pt x="2812902" y="131601"/>
                  </a:lnTo>
                  <a:lnTo>
                    <a:pt x="2784300" y="99107"/>
                  </a:lnTo>
                  <a:lnTo>
                    <a:pt x="2751806" y="70505"/>
                  </a:lnTo>
                  <a:lnTo>
                    <a:pt x="2715824" y="46199"/>
                  </a:lnTo>
                  <a:lnTo>
                    <a:pt x="2676757" y="26592"/>
                  </a:lnTo>
                  <a:lnTo>
                    <a:pt x="2635008" y="12087"/>
                  </a:lnTo>
                  <a:lnTo>
                    <a:pt x="2590981" y="3089"/>
                  </a:lnTo>
                  <a:lnTo>
                    <a:pt x="2545080" y="0"/>
                  </a:lnTo>
                  <a:close/>
                </a:path>
              </a:pathLst>
            </a:custGeom>
            <a:solidFill>
              <a:srgbClr val="00B7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70">
              <a:extLst>
                <a:ext uri="{FF2B5EF4-FFF2-40B4-BE49-F238E27FC236}">
                  <a16:creationId xmlns:a16="http://schemas.microsoft.com/office/drawing/2014/main" id="{8D8E962B-B7A0-5025-6D2C-A1CFCA0CFC2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1377545"/>
              <a:ext cx="4925119" cy="1819663"/>
            </a:xfrm>
            <a:prstGeom prst="rect">
              <a:avLst/>
            </a:prstGeom>
          </p:spPr>
        </p:pic>
        <p:sp>
          <p:nvSpPr>
            <p:cNvPr id="107" name="object 71">
              <a:extLst>
                <a:ext uri="{FF2B5EF4-FFF2-40B4-BE49-F238E27FC236}">
                  <a16:creationId xmlns:a16="http://schemas.microsoft.com/office/drawing/2014/main" id="{1F25278A-1F5D-058F-53FA-D42A652F1A08}"/>
                </a:ext>
              </a:extLst>
            </p:cNvPr>
            <p:cNvSpPr/>
            <p:nvPr/>
          </p:nvSpPr>
          <p:spPr>
            <a:xfrm>
              <a:off x="-17615" y="1823581"/>
              <a:ext cx="4383216" cy="1014880"/>
            </a:xfrm>
            <a:custGeom>
              <a:avLst/>
              <a:gdLst/>
              <a:ahLst/>
              <a:cxnLst/>
              <a:rect l="l" t="t" r="r" b="b"/>
              <a:pathLst>
                <a:path w="2923540" h="676910">
                  <a:moveTo>
                    <a:pt x="2584704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2584704" y="676656"/>
                  </a:lnTo>
                  <a:lnTo>
                    <a:pt x="2630605" y="673566"/>
                  </a:lnTo>
                  <a:lnTo>
                    <a:pt x="2674632" y="664568"/>
                  </a:lnTo>
                  <a:lnTo>
                    <a:pt x="2716381" y="650063"/>
                  </a:lnTo>
                  <a:lnTo>
                    <a:pt x="2755448" y="630456"/>
                  </a:lnTo>
                  <a:lnTo>
                    <a:pt x="2791430" y="606150"/>
                  </a:lnTo>
                  <a:lnTo>
                    <a:pt x="2823924" y="577548"/>
                  </a:lnTo>
                  <a:lnTo>
                    <a:pt x="2852526" y="545054"/>
                  </a:lnTo>
                  <a:lnTo>
                    <a:pt x="2876832" y="509072"/>
                  </a:lnTo>
                  <a:lnTo>
                    <a:pt x="2896439" y="470005"/>
                  </a:lnTo>
                  <a:lnTo>
                    <a:pt x="2910944" y="428256"/>
                  </a:lnTo>
                  <a:lnTo>
                    <a:pt x="2919942" y="384229"/>
                  </a:lnTo>
                  <a:lnTo>
                    <a:pt x="2923032" y="338328"/>
                  </a:lnTo>
                  <a:lnTo>
                    <a:pt x="2919942" y="292426"/>
                  </a:lnTo>
                  <a:lnTo>
                    <a:pt x="2910944" y="248399"/>
                  </a:lnTo>
                  <a:lnTo>
                    <a:pt x="2896439" y="206650"/>
                  </a:lnTo>
                  <a:lnTo>
                    <a:pt x="2876832" y="167583"/>
                  </a:lnTo>
                  <a:lnTo>
                    <a:pt x="2852526" y="131601"/>
                  </a:lnTo>
                  <a:lnTo>
                    <a:pt x="2823924" y="99107"/>
                  </a:lnTo>
                  <a:lnTo>
                    <a:pt x="2791430" y="70505"/>
                  </a:lnTo>
                  <a:lnTo>
                    <a:pt x="2755448" y="46199"/>
                  </a:lnTo>
                  <a:lnTo>
                    <a:pt x="2716381" y="26592"/>
                  </a:lnTo>
                  <a:lnTo>
                    <a:pt x="2674632" y="12087"/>
                  </a:lnTo>
                  <a:lnTo>
                    <a:pt x="2630605" y="3089"/>
                  </a:lnTo>
                  <a:lnTo>
                    <a:pt x="2584704" y="0"/>
                  </a:lnTo>
                  <a:close/>
                </a:path>
              </a:pathLst>
            </a:custGeom>
            <a:solidFill>
              <a:srgbClr val="73CFD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3" name="Google Shape;360;p16">
              <a:extLst>
                <a:ext uri="{FF2B5EF4-FFF2-40B4-BE49-F238E27FC236}">
                  <a16:creationId xmlns:a16="http://schemas.microsoft.com/office/drawing/2014/main" id="{775194DA-9C87-F4BA-E9D8-1C4266A126CD}"/>
                </a:ext>
              </a:extLst>
            </p:cNvPr>
            <p:cNvSpPr txBox="1"/>
            <p:nvPr/>
          </p:nvSpPr>
          <p:spPr>
            <a:xfrm>
              <a:off x="1296335" y="2032884"/>
              <a:ext cx="1992371" cy="5007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0175" rIns="0" bIns="0" anchor="t" anchorCtr="0">
              <a:spAutoFit/>
            </a:bodyPr>
            <a:lstStyle/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① 고객문의</a:t>
              </a:r>
              <a:endParaRPr lang="en-US" altLang="ko-KR" sz="2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4" name="Google Shape;360;p16">
              <a:extLst>
                <a:ext uri="{FF2B5EF4-FFF2-40B4-BE49-F238E27FC236}">
                  <a16:creationId xmlns:a16="http://schemas.microsoft.com/office/drawing/2014/main" id="{78656F21-EF9E-D08D-A43F-E479AFFE1251}"/>
                </a:ext>
              </a:extLst>
            </p:cNvPr>
            <p:cNvSpPr txBox="1"/>
            <p:nvPr/>
          </p:nvSpPr>
          <p:spPr>
            <a:xfrm>
              <a:off x="4547967" y="2000293"/>
              <a:ext cx="2725091" cy="5007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0175" rIns="0" bIns="0" anchor="t" anchorCtr="0">
              <a:spAutoFit/>
            </a:bodyPr>
            <a:lstStyle/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② 고객사 </a:t>
              </a:r>
              <a:r>
                <a:rPr lang="en-US" altLang="ko-KR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NEEDS</a:t>
              </a:r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파악</a:t>
              </a:r>
              <a:endParaRPr lang="en-US" altLang="ko-KR" sz="2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6" name="Google Shape;360;p16">
              <a:extLst>
                <a:ext uri="{FF2B5EF4-FFF2-40B4-BE49-F238E27FC236}">
                  <a16:creationId xmlns:a16="http://schemas.microsoft.com/office/drawing/2014/main" id="{B80DD5FA-7D14-4160-08C5-1C40CA5AF873}"/>
                </a:ext>
              </a:extLst>
            </p:cNvPr>
            <p:cNvSpPr txBox="1"/>
            <p:nvPr/>
          </p:nvSpPr>
          <p:spPr>
            <a:xfrm>
              <a:off x="8063631" y="2025226"/>
              <a:ext cx="1992371" cy="5007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0175" rIns="0" bIns="0" anchor="t" anchorCtr="0">
              <a:spAutoFit/>
            </a:bodyPr>
            <a:lstStyle/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③ 커리큘럼제안</a:t>
              </a:r>
              <a:endParaRPr lang="en-US" altLang="ko-KR" sz="2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7" name="Google Shape;360;p16">
              <a:extLst>
                <a:ext uri="{FF2B5EF4-FFF2-40B4-BE49-F238E27FC236}">
                  <a16:creationId xmlns:a16="http://schemas.microsoft.com/office/drawing/2014/main" id="{7D0D5403-AE18-BBA0-A07A-FAE14D7BA6F3}"/>
                </a:ext>
              </a:extLst>
            </p:cNvPr>
            <p:cNvSpPr txBox="1"/>
            <p:nvPr/>
          </p:nvSpPr>
          <p:spPr>
            <a:xfrm>
              <a:off x="11395027" y="1995660"/>
              <a:ext cx="1992371" cy="5007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0175" rIns="0" bIns="0" anchor="t" anchorCtr="0">
              <a:spAutoFit/>
            </a:bodyPr>
            <a:lstStyle/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④ 교육운영</a:t>
              </a:r>
              <a:endParaRPr lang="en-US" altLang="ko-KR" sz="2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8" name="Google Shape;360;p16">
              <a:extLst>
                <a:ext uri="{FF2B5EF4-FFF2-40B4-BE49-F238E27FC236}">
                  <a16:creationId xmlns:a16="http://schemas.microsoft.com/office/drawing/2014/main" id="{498062ED-229E-BC6F-3DD6-2E03B7CB6574}"/>
                </a:ext>
              </a:extLst>
            </p:cNvPr>
            <p:cNvSpPr txBox="1"/>
            <p:nvPr/>
          </p:nvSpPr>
          <p:spPr>
            <a:xfrm>
              <a:off x="14571432" y="1982104"/>
              <a:ext cx="2758620" cy="500778"/>
            </a:xfrm>
            <a:prstGeom prst="rect">
              <a:avLst/>
            </a:prstGeom>
            <a:solidFill>
              <a:srgbClr val="09518D"/>
            </a:solidFill>
            <a:ln>
              <a:noFill/>
            </a:ln>
          </p:spPr>
          <p:txBody>
            <a:bodyPr spcFirstLastPara="1" wrap="square" lIns="0" tIns="130175" rIns="0" bIns="0" anchor="t" anchorCtr="0">
              <a:spAutoFit/>
            </a:bodyPr>
            <a:lstStyle/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⑤ 만족도조사</a:t>
              </a:r>
              <a:endParaRPr lang="en-US" altLang="ko-KR" sz="2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30" name="Google Shape;360;p16">
            <a:extLst>
              <a:ext uri="{FF2B5EF4-FFF2-40B4-BE49-F238E27FC236}">
                <a16:creationId xmlns:a16="http://schemas.microsoft.com/office/drawing/2014/main" id="{A102CFF8-C454-8287-2417-F0BD96C39A44}"/>
              </a:ext>
            </a:extLst>
          </p:cNvPr>
          <p:cNvSpPr txBox="1"/>
          <p:nvPr/>
        </p:nvSpPr>
        <p:spPr>
          <a:xfrm>
            <a:off x="2061857" y="8555952"/>
            <a:ext cx="1428766" cy="105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175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교육주제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교육시간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교육인원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2" name="Google Shape;360;p16">
            <a:extLst>
              <a:ext uri="{FF2B5EF4-FFF2-40B4-BE49-F238E27FC236}">
                <a16:creationId xmlns:a16="http://schemas.microsoft.com/office/drawing/2014/main" id="{885900A8-E705-7134-4E8F-622B648B88B8}"/>
              </a:ext>
            </a:extLst>
          </p:cNvPr>
          <p:cNvSpPr txBox="1"/>
          <p:nvPr/>
        </p:nvSpPr>
        <p:spPr>
          <a:xfrm>
            <a:off x="4810398" y="8562530"/>
            <a:ext cx="3012451" cy="74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175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인터뷰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맞춤형커리큘럼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3" name="Google Shape;360;p16">
            <a:extLst>
              <a:ext uri="{FF2B5EF4-FFF2-40B4-BE49-F238E27FC236}">
                <a16:creationId xmlns:a16="http://schemas.microsoft.com/office/drawing/2014/main" id="{2CBEBA08-B7C8-B8DB-8920-33ECB5F56535}"/>
              </a:ext>
            </a:extLst>
          </p:cNvPr>
          <p:cNvSpPr txBox="1"/>
          <p:nvPr/>
        </p:nvSpPr>
        <p:spPr>
          <a:xfrm>
            <a:off x="8523910" y="8559242"/>
            <a:ext cx="3012451" cy="105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175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강사섭외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교안작성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교육장소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일정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4" name="Google Shape;360;p16">
            <a:extLst>
              <a:ext uri="{FF2B5EF4-FFF2-40B4-BE49-F238E27FC236}">
                <a16:creationId xmlns:a16="http://schemas.microsoft.com/office/drawing/2014/main" id="{2BE0AAC3-6925-A094-2AC0-52901F75A764}"/>
              </a:ext>
            </a:extLst>
          </p:cNvPr>
          <p:cNvSpPr txBox="1"/>
          <p:nvPr/>
        </p:nvSpPr>
        <p:spPr>
          <a:xfrm>
            <a:off x="11829234" y="8504084"/>
            <a:ext cx="3012451" cy="136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175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강의진행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교안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실습계정배포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강의운영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5" name="Google Shape;360;p16">
            <a:extLst>
              <a:ext uri="{FF2B5EF4-FFF2-40B4-BE49-F238E27FC236}">
                <a16:creationId xmlns:a16="http://schemas.microsoft.com/office/drawing/2014/main" id="{F76B4A01-5110-0A01-C9E7-DB93F04BC002}"/>
              </a:ext>
            </a:extLst>
          </p:cNvPr>
          <p:cNvSpPr txBox="1"/>
          <p:nvPr/>
        </p:nvSpPr>
        <p:spPr>
          <a:xfrm>
            <a:off x="15435049" y="8477722"/>
            <a:ext cx="3012451" cy="74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175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만족도조사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결과보고서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B441978B-236B-B923-01BA-8BE98CF5DE57}"/>
              </a:ext>
            </a:extLst>
          </p:cNvPr>
          <p:cNvGrpSpPr/>
          <p:nvPr/>
        </p:nvGrpSpPr>
        <p:grpSpPr>
          <a:xfrm>
            <a:off x="1190113" y="2594152"/>
            <a:ext cx="14374112" cy="4343401"/>
            <a:chOff x="2128414" y="5325585"/>
            <a:chExt cx="14374112" cy="4343401"/>
          </a:xfrm>
        </p:grpSpPr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2FE998F1-FF07-6BE2-FF7F-3D9174FA9BD9}"/>
                </a:ext>
              </a:extLst>
            </p:cNvPr>
            <p:cNvGrpSpPr/>
            <p:nvPr/>
          </p:nvGrpSpPr>
          <p:grpSpPr>
            <a:xfrm>
              <a:off x="2128414" y="5325585"/>
              <a:ext cx="11350810" cy="3287325"/>
              <a:chOff x="2259838" y="2479294"/>
              <a:chExt cx="5628385" cy="1630045"/>
            </a:xfrm>
          </p:grpSpPr>
          <p:grpSp>
            <p:nvGrpSpPr>
              <p:cNvPr id="112" name="object 2">
                <a:extLst>
                  <a:ext uri="{FF2B5EF4-FFF2-40B4-BE49-F238E27FC236}">
                    <a16:creationId xmlns:a16="http://schemas.microsoft.com/office/drawing/2014/main" id="{40A79EB2-D32E-F2C4-A278-A189C8BE3039}"/>
                  </a:ext>
                </a:extLst>
              </p:cNvPr>
              <p:cNvGrpSpPr/>
              <p:nvPr/>
            </p:nvGrpSpPr>
            <p:grpSpPr>
              <a:xfrm>
                <a:off x="2259838" y="2479294"/>
                <a:ext cx="4643120" cy="1630045"/>
                <a:chOff x="2259838" y="2479294"/>
                <a:chExt cx="4643120" cy="1630045"/>
              </a:xfrm>
            </p:grpSpPr>
            <p:sp>
              <p:nvSpPr>
                <p:cNvPr id="113" name="object 3">
                  <a:extLst>
                    <a:ext uri="{FF2B5EF4-FFF2-40B4-BE49-F238E27FC236}">
                      <a16:creationId xmlns:a16="http://schemas.microsoft.com/office/drawing/2014/main" id="{2412F67B-7C54-F631-5B7D-A31533447C82}"/>
                    </a:ext>
                  </a:extLst>
                </p:cNvPr>
                <p:cNvSpPr/>
                <p:nvPr/>
              </p:nvSpPr>
              <p:spPr>
                <a:xfrm>
                  <a:off x="2266188" y="2485644"/>
                  <a:ext cx="4630420" cy="1617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0420" h="1617345">
                      <a:moveTo>
                        <a:pt x="3821429" y="0"/>
                      </a:moveTo>
                      <a:lnTo>
                        <a:pt x="808482" y="0"/>
                      </a:lnTo>
                      <a:lnTo>
                        <a:pt x="760975" y="1372"/>
                      </a:lnTo>
                      <a:lnTo>
                        <a:pt x="714192" y="5438"/>
                      </a:lnTo>
                      <a:lnTo>
                        <a:pt x="668207" y="12123"/>
                      </a:lnTo>
                      <a:lnTo>
                        <a:pt x="623098" y="21351"/>
                      </a:lnTo>
                      <a:lnTo>
                        <a:pt x="578939" y="33045"/>
                      </a:lnTo>
                      <a:lnTo>
                        <a:pt x="535806" y="47131"/>
                      </a:lnTo>
                      <a:lnTo>
                        <a:pt x="493776" y="63531"/>
                      </a:lnTo>
                      <a:lnTo>
                        <a:pt x="452923" y="82171"/>
                      </a:lnTo>
                      <a:lnTo>
                        <a:pt x="413324" y="102974"/>
                      </a:lnTo>
                      <a:lnTo>
                        <a:pt x="375055" y="125866"/>
                      </a:lnTo>
                      <a:lnTo>
                        <a:pt x="338191" y="150769"/>
                      </a:lnTo>
                      <a:lnTo>
                        <a:pt x="302809" y="177608"/>
                      </a:lnTo>
                      <a:lnTo>
                        <a:pt x="268984" y="206307"/>
                      </a:lnTo>
                      <a:lnTo>
                        <a:pt x="236791" y="236791"/>
                      </a:lnTo>
                      <a:lnTo>
                        <a:pt x="206307" y="268984"/>
                      </a:lnTo>
                      <a:lnTo>
                        <a:pt x="177608" y="302809"/>
                      </a:lnTo>
                      <a:lnTo>
                        <a:pt x="150769" y="338191"/>
                      </a:lnTo>
                      <a:lnTo>
                        <a:pt x="125866" y="375055"/>
                      </a:lnTo>
                      <a:lnTo>
                        <a:pt x="102974" y="413324"/>
                      </a:lnTo>
                      <a:lnTo>
                        <a:pt x="82171" y="452923"/>
                      </a:lnTo>
                      <a:lnTo>
                        <a:pt x="63531" y="493775"/>
                      </a:lnTo>
                      <a:lnTo>
                        <a:pt x="47131" y="535806"/>
                      </a:lnTo>
                      <a:lnTo>
                        <a:pt x="33045" y="578939"/>
                      </a:lnTo>
                      <a:lnTo>
                        <a:pt x="21351" y="623098"/>
                      </a:lnTo>
                      <a:lnTo>
                        <a:pt x="12123" y="668207"/>
                      </a:lnTo>
                      <a:lnTo>
                        <a:pt x="5438" y="714192"/>
                      </a:lnTo>
                      <a:lnTo>
                        <a:pt x="1372" y="760975"/>
                      </a:lnTo>
                      <a:lnTo>
                        <a:pt x="0" y="808481"/>
                      </a:lnTo>
                      <a:lnTo>
                        <a:pt x="1372" y="855988"/>
                      </a:lnTo>
                      <a:lnTo>
                        <a:pt x="5438" y="902771"/>
                      </a:lnTo>
                      <a:lnTo>
                        <a:pt x="12123" y="948756"/>
                      </a:lnTo>
                      <a:lnTo>
                        <a:pt x="21351" y="993865"/>
                      </a:lnTo>
                      <a:lnTo>
                        <a:pt x="33045" y="1038024"/>
                      </a:lnTo>
                      <a:lnTo>
                        <a:pt x="47131" y="1081157"/>
                      </a:lnTo>
                      <a:lnTo>
                        <a:pt x="63531" y="1123187"/>
                      </a:lnTo>
                      <a:lnTo>
                        <a:pt x="82171" y="1164040"/>
                      </a:lnTo>
                      <a:lnTo>
                        <a:pt x="102974" y="1203639"/>
                      </a:lnTo>
                      <a:lnTo>
                        <a:pt x="125866" y="1241908"/>
                      </a:lnTo>
                      <a:lnTo>
                        <a:pt x="150769" y="1278772"/>
                      </a:lnTo>
                      <a:lnTo>
                        <a:pt x="177608" y="1314154"/>
                      </a:lnTo>
                      <a:lnTo>
                        <a:pt x="206307" y="1347979"/>
                      </a:lnTo>
                      <a:lnTo>
                        <a:pt x="236791" y="1380172"/>
                      </a:lnTo>
                      <a:lnTo>
                        <a:pt x="268984" y="1410656"/>
                      </a:lnTo>
                      <a:lnTo>
                        <a:pt x="302809" y="1439355"/>
                      </a:lnTo>
                      <a:lnTo>
                        <a:pt x="338191" y="1466194"/>
                      </a:lnTo>
                      <a:lnTo>
                        <a:pt x="375055" y="1491097"/>
                      </a:lnTo>
                      <a:lnTo>
                        <a:pt x="413324" y="1513989"/>
                      </a:lnTo>
                      <a:lnTo>
                        <a:pt x="452923" y="1534792"/>
                      </a:lnTo>
                      <a:lnTo>
                        <a:pt x="493776" y="1553432"/>
                      </a:lnTo>
                      <a:lnTo>
                        <a:pt x="535806" y="1569832"/>
                      </a:lnTo>
                      <a:lnTo>
                        <a:pt x="578939" y="1583918"/>
                      </a:lnTo>
                      <a:lnTo>
                        <a:pt x="623098" y="1595612"/>
                      </a:lnTo>
                      <a:lnTo>
                        <a:pt x="668207" y="1604840"/>
                      </a:lnTo>
                      <a:lnTo>
                        <a:pt x="714192" y="1611525"/>
                      </a:lnTo>
                      <a:lnTo>
                        <a:pt x="760975" y="1615591"/>
                      </a:lnTo>
                      <a:lnTo>
                        <a:pt x="808482" y="1616963"/>
                      </a:lnTo>
                      <a:lnTo>
                        <a:pt x="3821429" y="1616963"/>
                      </a:lnTo>
                      <a:lnTo>
                        <a:pt x="3868936" y="1615591"/>
                      </a:lnTo>
                      <a:lnTo>
                        <a:pt x="3915719" y="1611525"/>
                      </a:lnTo>
                      <a:lnTo>
                        <a:pt x="3961704" y="1604840"/>
                      </a:lnTo>
                      <a:lnTo>
                        <a:pt x="4006813" y="1595612"/>
                      </a:lnTo>
                      <a:lnTo>
                        <a:pt x="4050972" y="1583918"/>
                      </a:lnTo>
                      <a:lnTo>
                        <a:pt x="4094105" y="1569832"/>
                      </a:lnTo>
                      <a:lnTo>
                        <a:pt x="4136135" y="1553432"/>
                      </a:lnTo>
                      <a:lnTo>
                        <a:pt x="4176988" y="1534792"/>
                      </a:lnTo>
                      <a:lnTo>
                        <a:pt x="4216587" y="1513989"/>
                      </a:lnTo>
                      <a:lnTo>
                        <a:pt x="4254856" y="1491097"/>
                      </a:lnTo>
                      <a:lnTo>
                        <a:pt x="4291720" y="1466194"/>
                      </a:lnTo>
                      <a:lnTo>
                        <a:pt x="4327102" y="1439355"/>
                      </a:lnTo>
                      <a:lnTo>
                        <a:pt x="4360927" y="1410656"/>
                      </a:lnTo>
                      <a:lnTo>
                        <a:pt x="4393120" y="1380172"/>
                      </a:lnTo>
                      <a:lnTo>
                        <a:pt x="4423604" y="1347979"/>
                      </a:lnTo>
                      <a:lnTo>
                        <a:pt x="4452303" y="1314154"/>
                      </a:lnTo>
                      <a:lnTo>
                        <a:pt x="4479142" y="1278772"/>
                      </a:lnTo>
                      <a:lnTo>
                        <a:pt x="4504045" y="1241908"/>
                      </a:lnTo>
                      <a:lnTo>
                        <a:pt x="4526937" y="1203639"/>
                      </a:lnTo>
                      <a:lnTo>
                        <a:pt x="4547740" y="1164040"/>
                      </a:lnTo>
                      <a:lnTo>
                        <a:pt x="4566380" y="1123187"/>
                      </a:lnTo>
                      <a:lnTo>
                        <a:pt x="4582780" y="1081157"/>
                      </a:lnTo>
                      <a:lnTo>
                        <a:pt x="4596866" y="1038024"/>
                      </a:lnTo>
                      <a:lnTo>
                        <a:pt x="4608560" y="993865"/>
                      </a:lnTo>
                      <a:lnTo>
                        <a:pt x="4617788" y="948756"/>
                      </a:lnTo>
                      <a:lnTo>
                        <a:pt x="4624473" y="902771"/>
                      </a:lnTo>
                      <a:lnTo>
                        <a:pt x="4628539" y="855988"/>
                      </a:lnTo>
                      <a:lnTo>
                        <a:pt x="4629912" y="808481"/>
                      </a:lnTo>
                      <a:lnTo>
                        <a:pt x="4628539" y="760975"/>
                      </a:lnTo>
                      <a:lnTo>
                        <a:pt x="4624473" y="714192"/>
                      </a:lnTo>
                      <a:lnTo>
                        <a:pt x="4617788" y="668207"/>
                      </a:lnTo>
                      <a:lnTo>
                        <a:pt x="4608560" y="623098"/>
                      </a:lnTo>
                      <a:lnTo>
                        <a:pt x="4596866" y="578939"/>
                      </a:lnTo>
                      <a:lnTo>
                        <a:pt x="4582780" y="535806"/>
                      </a:lnTo>
                      <a:lnTo>
                        <a:pt x="4566380" y="493775"/>
                      </a:lnTo>
                      <a:lnTo>
                        <a:pt x="4547740" y="452923"/>
                      </a:lnTo>
                      <a:lnTo>
                        <a:pt x="4526937" y="413324"/>
                      </a:lnTo>
                      <a:lnTo>
                        <a:pt x="4504045" y="375055"/>
                      </a:lnTo>
                      <a:lnTo>
                        <a:pt x="4479142" y="338191"/>
                      </a:lnTo>
                      <a:lnTo>
                        <a:pt x="4452303" y="302809"/>
                      </a:lnTo>
                      <a:lnTo>
                        <a:pt x="4423604" y="268984"/>
                      </a:lnTo>
                      <a:lnTo>
                        <a:pt x="4393120" y="236791"/>
                      </a:lnTo>
                      <a:lnTo>
                        <a:pt x="4360927" y="206307"/>
                      </a:lnTo>
                      <a:lnTo>
                        <a:pt x="4327102" y="177608"/>
                      </a:lnTo>
                      <a:lnTo>
                        <a:pt x="4291720" y="150769"/>
                      </a:lnTo>
                      <a:lnTo>
                        <a:pt x="4254856" y="125866"/>
                      </a:lnTo>
                      <a:lnTo>
                        <a:pt x="4216587" y="102974"/>
                      </a:lnTo>
                      <a:lnTo>
                        <a:pt x="4176988" y="82171"/>
                      </a:lnTo>
                      <a:lnTo>
                        <a:pt x="4136136" y="63531"/>
                      </a:lnTo>
                      <a:lnTo>
                        <a:pt x="4094105" y="47131"/>
                      </a:lnTo>
                      <a:lnTo>
                        <a:pt x="4050972" y="33045"/>
                      </a:lnTo>
                      <a:lnTo>
                        <a:pt x="4006813" y="21351"/>
                      </a:lnTo>
                      <a:lnTo>
                        <a:pt x="3961704" y="12123"/>
                      </a:lnTo>
                      <a:lnTo>
                        <a:pt x="3915719" y="5438"/>
                      </a:lnTo>
                      <a:lnTo>
                        <a:pt x="3868936" y="1372"/>
                      </a:lnTo>
                      <a:lnTo>
                        <a:pt x="3821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sp>
              <p:nvSpPr>
                <p:cNvPr id="114" name="object 4">
                  <a:extLst>
                    <a:ext uri="{FF2B5EF4-FFF2-40B4-BE49-F238E27FC236}">
                      <a16:creationId xmlns:a16="http://schemas.microsoft.com/office/drawing/2014/main" id="{C66C92D6-2852-D4B2-5666-A3CDA8BA80DC}"/>
                    </a:ext>
                  </a:extLst>
                </p:cNvPr>
                <p:cNvSpPr/>
                <p:nvPr/>
              </p:nvSpPr>
              <p:spPr>
                <a:xfrm>
                  <a:off x="2266188" y="2485644"/>
                  <a:ext cx="4630420" cy="1617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0420" h="1617345">
                      <a:moveTo>
                        <a:pt x="0" y="808481"/>
                      </a:moveTo>
                      <a:lnTo>
                        <a:pt x="1372" y="760975"/>
                      </a:lnTo>
                      <a:lnTo>
                        <a:pt x="5438" y="714192"/>
                      </a:lnTo>
                      <a:lnTo>
                        <a:pt x="12123" y="668207"/>
                      </a:lnTo>
                      <a:lnTo>
                        <a:pt x="21351" y="623098"/>
                      </a:lnTo>
                      <a:lnTo>
                        <a:pt x="33045" y="578939"/>
                      </a:lnTo>
                      <a:lnTo>
                        <a:pt x="47131" y="535806"/>
                      </a:lnTo>
                      <a:lnTo>
                        <a:pt x="63531" y="493775"/>
                      </a:lnTo>
                      <a:lnTo>
                        <a:pt x="82171" y="452923"/>
                      </a:lnTo>
                      <a:lnTo>
                        <a:pt x="102974" y="413324"/>
                      </a:lnTo>
                      <a:lnTo>
                        <a:pt x="125866" y="375055"/>
                      </a:lnTo>
                      <a:lnTo>
                        <a:pt x="150769" y="338191"/>
                      </a:lnTo>
                      <a:lnTo>
                        <a:pt x="177608" y="302809"/>
                      </a:lnTo>
                      <a:lnTo>
                        <a:pt x="206307" y="268984"/>
                      </a:lnTo>
                      <a:lnTo>
                        <a:pt x="236791" y="236791"/>
                      </a:lnTo>
                      <a:lnTo>
                        <a:pt x="268984" y="206307"/>
                      </a:lnTo>
                      <a:lnTo>
                        <a:pt x="302809" y="177608"/>
                      </a:lnTo>
                      <a:lnTo>
                        <a:pt x="338191" y="150769"/>
                      </a:lnTo>
                      <a:lnTo>
                        <a:pt x="375055" y="125866"/>
                      </a:lnTo>
                      <a:lnTo>
                        <a:pt x="413324" y="102974"/>
                      </a:lnTo>
                      <a:lnTo>
                        <a:pt x="452923" y="82171"/>
                      </a:lnTo>
                      <a:lnTo>
                        <a:pt x="493776" y="63531"/>
                      </a:lnTo>
                      <a:lnTo>
                        <a:pt x="535806" y="47131"/>
                      </a:lnTo>
                      <a:lnTo>
                        <a:pt x="578939" y="33045"/>
                      </a:lnTo>
                      <a:lnTo>
                        <a:pt x="623098" y="21351"/>
                      </a:lnTo>
                      <a:lnTo>
                        <a:pt x="668207" y="12123"/>
                      </a:lnTo>
                      <a:lnTo>
                        <a:pt x="714192" y="5438"/>
                      </a:lnTo>
                      <a:lnTo>
                        <a:pt x="760975" y="1372"/>
                      </a:lnTo>
                      <a:lnTo>
                        <a:pt x="808482" y="0"/>
                      </a:lnTo>
                      <a:lnTo>
                        <a:pt x="3821429" y="0"/>
                      </a:lnTo>
                      <a:lnTo>
                        <a:pt x="3868936" y="1372"/>
                      </a:lnTo>
                      <a:lnTo>
                        <a:pt x="3915719" y="5438"/>
                      </a:lnTo>
                      <a:lnTo>
                        <a:pt x="3961704" y="12123"/>
                      </a:lnTo>
                      <a:lnTo>
                        <a:pt x="4006813" y="21351"/>
                      </a:lnTo>
                      <a:lnTo>
                        <a:pt x="4050972" y="33045"/>
                      </a:lnTo>
                      <a:lnTo>
                        <a:pt x="4094105" y="47131"/>
                      </a:lnTo>
                      <a:lnTo>
                        <a:pt x="4136135" y="63531"/>
                      </a:lnTo>
                      <a:lnTo>
                        <a:pt x="4176988" y="82171"/>
                      </a:lnTo>
                      <a:lnTo>
                        <a:pt x="4216587" y="102974"/>
                      </a:lnTo>
                      <a:lnTo>
                        <a:pt x="4254856" y="125866"/>
                      </a:lnTo>
                      <a:lnTo>
                        <a:pt x="4291720" y="150769"/>
                      </a:lnTo>
                      <a:lnTo>
                        <a:pt x="4327102" y="177608"/>
                      </a:lnTo>
                      <a:lnTo>
                        <a:pt x="4360927" y="206307"/>
                      </a:lnTo>
                      <a:lnTo>
                        <a:pt x="4393120" y="236791"/>
                      </a:lnTo>
                      <a:lnTo>
                        <a:pt x="4423604" y="268984"/>
                      </a:lnTo>
                      <a:lnTo>
                        <a:pt x="4452303" y="302809"/>
                      </a:lnTo>
                      <a:lnTo>
                        <a:pt x="4479142" y="338191"/>
                      </a:lnTo>
                      <a:lnTo>
                        <a:pt x="4504045" y="375055"/>
                      </a:lnTo>
                      <a:lnTo>
                        <a:pt x="4526937" y="413324"/>
                      </a:lnTo>
                      <a:lnTo>
                        <a:pt x="4547740" y="452923"/>
                      </a:lnTo>
                      <a:lnTo>
                        <a:pt x="4566380" y="493775"/>
                      </a:lnTo>
                      <a:lnTo>
                        <a:pt x="4582780" y="535806"/>
                      </a:lnTo>
                      <a:lnTo>
                        <a:pt x="4596866" y="578939"/>
                      </a:lnTo>
                      <a:lnTo>
                        <a:pt x="4608560" y="623098"/>
                      </a:lnTo>
                      <a:lnTo>
                        <a:pt x="4617788" y="668207"/>
                      </a:lnTo>
                      <a:lnTo>
                        <a:pt x="4624473" y="714192"/>
                      </a:lnTo>
                      <a:lnTo>
                        <a:pt x="4628539" y="760975"/>
                      </a:lnTo>
                      <a:lnTo>
                        <a:pt x="4629912" y="808481"/>
                      </a:lnTo>
                      <a:lnTo>
                        <a:pt x="4628539" y="855988"/>
                      </a:lnTo>
                      <a:lnTo>
                        <a:pt x="4624473" y="902771"/>
                      </a:lnTo>
                      <a:lnTo>
                        <a:pt x="4617788" y="948756"/>
                      </a:lnTo>
                      <a:lnTo>
                        <a:pt x="4608560" y="993865"/>
                      </a:lnTo>
                      <a:lnTo>
                        <a:pt x="4596866" y="1038024"/>
                      </a:lnTo>
                      <a:lnTo>
                        <a:pt x="4582780" y="1081157"/>
                      </a:lnTo>
                      <a:lnTo>
                        <a:pt x="4566380" y="1123187"/>
                      </a:lnTo>
                      <a:lnTo>
                        <a:pt x="4547740" y="1164040"/>
                      </a:lnTo>
                      <a:lnTo>
                        <a:pt x="4526937" y="1203639"/>
                      </a:lnTo>
                      <a:lnTo>
                        <a:pt x="4504045" y="1241908"/>
                      </a:lnTo>
                      <a:lnTo>
                        <a:pt x="4479142" y="1278772"/>
                      </a:lnTo>
                      <a:lnTo>
                        <a:pt x="4452303" y="1314154"/>
                      </a:lnTo>
                      <a:lnTo>
                        <a:pt x="4423604" y="1347979"/>
                      </a:lnTo>
                      <a:lnTo>
                        <a:pt x="4393120" y="1380172"/>
                      </a:lnTo>
                      <a:lnTo>
                        <a:pt x="4360927" y="1410656"/>
                      </a:lnTo>
                      <a:lnTo>
                        <a:pt x="4327102" y="1439355"/>
                      </a:lnTo>
                      <a:lnTo>
                        <a:pt x="4291720" y="1466194"/>
                      </a:lnTo>
                      <a:lnTo>
                        <a:pt x="4254856" y="1491097"/>
                      </a:lnTo>
                      <a:lnTo>
                        <a:pt x="4216587" y="1513989"/>
                      </a:lnTo>
                      <a:lnTo>
                        <a:pt x="4176988" y="1534792"/>
                      </a:lnTo>
                      <a:lnTo>
                        <a:pt x="4136135" y="1553432"/>
                      </a:lnTo>
                      <a:lnTo>
                        <a:pt x="4094105" y="1569832"/>
                      </a:lnTo>
                      <a:lnTo>
                        <a:pt x="4050972" y="1583918"/>
                      </a:lnTo>
                      <a:lnTo>
                        <a:pt x="4006813" y="1595612"/>
                      </a:lnTo>
                      <a:lnTo>
                        <a:pt x="3961704" y="1604840"/>
                      </a:lnTo>
                      <a:lnTo>
                        <a:pt x="3915719" y="1611525"/>
                      </a:lnTo>
                      <a:lnTo>
                        <a:pt x="3868936" y="1615591"/>
                      </a:lnTo>
                      <a:lnTo>
                        <a:pt x="3821429" y="1616963"/>
                      </a:lnTo>
                      <a:lnTo>
                        <a:pt x="808482" y="1616963"/>
                      </a:lnTo>
                      <a:lnTo>
                        <a:pt x="760975" y="1615591"/>
                      </a:lnTo>
                      <a:lnTo>
                        <a:pt x="714192" y="1611525"/>
                      </a:lnTo>
                      <a:lnTo>
                        <a:pt x="668207" y="1604840"/>
                      </a:lnTo>
                      <a:lnTo>
                        <a:pt x="623098" y="1595612"/>
                      </a:lnTo>
                      <a:lnTo>
                        <a:pt x="578939" y="1583918"/>
                      </a:lnTo>
                      <a:lnTo>
                        <a:pt x="535806" y="1569832"/>
                      </a:lnTo>
                      <a:lnTo>
                        <a:pt x="493776" y="1553432"/>
                      </a:lnTo>
                      <a:lnTo>
                        <a:pt x="452923" y="1534792"/>
                      </a:lnTo>
                      <a:lnTo>
                        <a:pt x="413324" y="1513989"/>
                      </a:lnTo>
                      <a:lnTo>
                        <a:pt x="375055" y="1491097"/>
                      </a:lnTo>
                      <a:lnTo>
                        <a:pt x="338191" y="1466194"/>
                      </a:lnTo>
                      <a:lnTo>
                        <a:pt x="302809" y="1439355"/>
                      </a:lnTo>
                      <a:lnTo>
                        <a:pt x="268984" y="1410656"/>
                      </a:lnTo>
                      <a:lnTo>
                        <a:pt x="236791" y="1380172"/>
                      </a:lnTo>
                      <a:lnTo>
                        <a:pt x="206307" y="1347979"/>
                      </a:lnTo>
                      <a:lnTo>
                        <a:pt x="177608" y="1314154"/>
                      </a:lnTo>
                      <a:lnTo>
                        <a:pt x="150769" y="1278772"/>
                      </a:lnTo>
                      <a:lnTo>
                        <a:pt x="125866" y="1241908"/>
                      </a:lnTo>
                      <a:lnTo>
                        <a:pt x="102974" y="1203639"/>
                      </a:lnTo>
                      <a:lnTo>
                        <a:pt x="82171" y="1164040"/>
                      </a:lnTo>
                      <a:lnTo>
                        <a:pt x="63531" y="1123187"/>
                      </a:lnTo>
                      <a:lnTo>
                        <a:pt x="47131" y="1081157"/>
                      </a:lnTo>
                      <a:lnTo>
                        <a:pt x="33045" y="1038024"/>
                      </a:lnTo>
                      <a:lnTo>
                        <a:pt x="21351" y="993865"/>
                      </a:lnTo>
                      <a:lnTo>
                        <a:pt x="12123" y="948756"/>
                      </a:lnTo>
                      <a:lnTo>
                        <a:pt x="5438" y="902771"/>
                      </a:lnTo>
                      <a:lnTo>
                        <a:pt x="1372" y="855988"/>
                      </a:lnTo>
                      <a:lnTo>
                        <a:pt x="0" y="808481"/>
                      </a:lnTo>
                      <a:close/>
                    </a:path>
                  </a:pathLst>
                </a:custGeom>
                <a:ln w="12700">
                  <a:solidFill>
                    <a:srgbClr val="6DCCD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pic>
            <p:nvPicPr>
              <p:cNvPr id="119" name="object 79">
                <a:extLst>
                  <a:ext uri="{FF2B5EF4-FFF2-40B4-BE49-F238E27FC236}">
                    <a16:creationId xmlns:a16="http://schemas.microsoft.com/office/drawing/2014/main" id="{AF4425AE-5E16-DBBA-575D-03DF8B81D86E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935723" y="2772155"/>
                <a:ext cx="952500" cy="1045464"/>
              </a:xfrm>
              <a:prstGeom prst="rect">
                <a:avLst/>
              </a:prstGeom>
            </p:spPr>
          </p:pic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933E6576-5A56-6EC3-DB46-6D3A6CEB26A9}"/>
                </a:ext>
              </a:extLst>
            </p:cNvPr>
            <p:cNvGrpSpPr/>
            <p:nvPr/>
          </p:nvGrpSpPr>
          <p:grpSpPr>
            <a:xfrm>
              <a:off x="2533521" y="5771665"/>
              <a:ext cx="2527477" cy="2455814"/>
              <a:chOff x="-996854" y="5562787"/>
              <a:chExt cx="2769865" cy="2691329"/>
            </a:xfrm>
          </p:grpSpPr>
          <p:sp>
            <p:nvSpPr>
              <p:cNvPr id="136" name="타원 135">
                <a:extLst>
                  <a:ext uri="{FF2B5EF4-FFF2-40B4-BE49-F238E27FC236}">
                    <a16:creationId xmlns:a16="http://schemas.microsoft.com/office/drawing/2014/main" id="{7349BECE-6821-0486-EB9E-95C9EDEE9C46}"/>
                  </a:ext>
                </a:extLst>
              </p:cNvPr>
              <p:cNvSpPr/>
              <p:nvPr/>
            </p:nvSpPr>
            <p:spPr>
              <a:xfrm>
                <a:off x="-996854" y="5562787"/>
                <a:ext cx="2769865" cy="2691329"/>
              </a:xfrm>
              <a:prstGeom prst="ellipse">
                <a:avLst/>
              </a:prstGeom>
              <a:solidFill>
                <a:schemeClr val="bg1"/>
              </a:solidFill>
              <a:ln w="101600">
                <a:solidFill>
                  <a:srgbClr val="00B7C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Google Shape;360;p16">
                <a:extLst>
                  <a:ext uri="{FF2B5EF4-FFF2-40B4-BE49-F238E27FC236}">
                    <a16:creationId xmlns:a16="http://schemas.microsoft.com/office/drawing/2014/main" id="{030800D9-9A78-05D7-2121-69210F818FFF}"/>
                  </a:ext>
                </a:extLst>
              </p:cNvPr>
              <p:cNvSpPr txBox="1"/>
              <p:nvPr/>
            </p:nvSpPr>
            <p:spPr>
              <a:xfrm>
                <a:off x="-996854" y="6346512"/>
                <a:ext cx="2712395" cy="108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30175" rIns="0" bIns="0" anchor="t" anchorCtr="0">
                <a:spAutoFit/>
              </a:bodyPr>
              <a:lstStyle/>
              <a:p>
                <a:pPr algn="ctr"/>
                <a:r>
                  <a:rPr lang="en-US" altLang="ko-KR" sz="28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AX </a:t>
                </a:r>
                <a:r>
                  <a:rPr lang="ko-KR" altLang="en-US" sz="28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진단</a:t>
                </a:r>
                <a:endParaRPr lang="en-US" altLang="ko-KR" sz="2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28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en-US" altLang="ko-KR" sz="28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Agent</a:t>
                </a:r>
                <a:endParaRPr lang="ko-KR" altLang="en-US" sz="2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B7BF9ACC-1A80-C0A3-1F1C-6FA860FA82F1}"/>
                </a:ext>
              </a:extLst>
            </p:cNvPr>
            <p:cNvGrpSpPr/>
            <p:nvPr/>
          </p:nvGrpSpPr>
          <p:grpSpPr>
            <a:xfrm>
              <a:off x="5572512" y="5784144"/>
              <a:ext cx="2527477" cy="2455814"/>
              <a:chOff x="-996854" y="5562787"/>
              <a:chExt cx="2769865" cy="2691329"/>
            </a:xfrm>
          </p:grpSpPr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CF4BDAAB-C320-7217-5CB0-25B13927DE4C}"/>
                  </a:ext>
                </a:extLst>
              </p:cNvPr>
              <p:cNvSpPr/>
              <p:nvPr/>
            </p:nvSpPr>
            <p:spPr>
              <a:xfrm>
                <a:off x="-996854" y="5562787"/>
                <a:ext cx="2769865" cy="2691329"/>
              </a:xfrm>
              <a:prstGeom prst="ellipse">
                <a:avLst/>
              </a:prstGeom>
              <a:solidFill>
                <a:schemeClr val="bg1"/>
              </a:solidFill>
              <a:ln w="101600">
                <a:solidFill>
                  <a:srgbClr val="00B7C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0" name="Google Shape;360;p16">
                <a:extLst>
                  <a:ext uri="{FF2B5EF4-FFF2-40B4-BE49-F238E27FC236}">
                    <a16:creationId xmlns:a16="http://schemas.microsoft.com/office/drawing/2014/main" id="{5A1136A5-31F5-79BE-8D0E-2075F5576E9D}"/>
                  </a:ext>
                </a:extLst>
              </p:cNvPr>
              <p:cNvSpPr txBox="1"/>
              <p:nvPr/>
            </p:nvSpPr>
            <p:spPr>
              <a:xfrm>
                <a:off x="-996854" y="6298015"/>
                <a:ext cx="2712395" cy="108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30175" rIns="0" bIns="0" anchor="t" anchorCtr="0">
                <a:spAutoFit/>
              </a:bodyPr>
              <a:lstStyle/>
              <a:p>
                <a:pPr algn="ctr"/>
                <a:r>
                  <a:rPr lang="en-US" altLang="ko-KR" sz="28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AX</a:t>
                </a:r>
                <a:r>
                  <a:rPr lang="ko-KR" altLang="en-US" sz="28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컨설턴트</a:t>
                </a:r>
                <a:endParaRPr lang="en-US" altLang="ko-KR" sz="2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en-US" altLang="ko-KR" sz="28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Agent</a:t>
                </a:r>
                <a:endParaRPr lang="en-US" altLang="ko-KR" sz="2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65BD6C74-6C4E-FB90-2C4B-61E505C06543}"/>
                </a:ext>
              </a:extLst>
            </p:cNvPr>
            <p:cNvGrpSpPr/>
            <p:nvPr/>
          </p:nvGrpSpPr>
          <p:grpSpPr>
            <a:xfrm>
              <a:off x="8525969" y="5762502"/>
              <a:ext cx="2527477" cy="2455814"/>
              <a:chOff x="-996854" y="5562787"/>
              <a:chExt cx="2769865" cy="2691329"/>
            </a:xfrm>
          </p:grpSpPr>
          <p:sp>
            <p:nvSpPr>
              <p:cNvPr id="152" name="타원 151">
                <a:extLst>
                  <a:ext uri="{FF2B5EF4-FFF2-40B4-BE49-F238E27FC236}">
                    <a16:creationId xmlns:a16="http://schemas.microsoft.com/office/drawing/2014/main" id="{6F5C3AF4-667D-3187-20D1-139A14A3BC35}"/>
                  </a:ext>
                </a:extLst>
              </p:cNvPr>
              <p:cNvSpPr/>
              <p:nvPr/>
            </p:nvSpPr>
            <p:spPr>
              <a:xfrm>
                <a:off x="-996854" y="5562787"/>
                <a:ext cx="2769865" cy="2691329"/>
              </a:xfrm>
              <a:prstGeom prst="ellipse">
                <a:avLst/>
              </a:prstGeom>
              <a:solidFill>
                <a:schemeClr val="bg1"/>
              </a:solidFill>
              <a:ln w="101600">
                <a:solidFill>
                  <a:srgbClr val="00B7C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" name="Google Shape;360;p16">
                <a:extLst>
                  <a:ext uri="{FF2B5EF4-FFF2-40B4-BE49-F238E27FC236}">
                    <a16:creationId xmlns:a16="http://schemas.microsoft.com/office/drawing/2014/main" id="{A5E8B9BE-7526-E2F0-CC3F-056BAF3F65E6}"/>
                  </a:ext>
                </a:extLst>
              </p:cNvPr>
              <p:cNvSpPr txBox="1"/>
              <p:nvPr/>
            </p:nvSpPr>
            <p:spPr>
              <a:xfrm>
                <a:off x="-996854" y="6298026"/>
                <a:ext cx="2712395" cy="108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30175" rIns="0" bIns="0" anchor="t" anchorCtr="0">
                <a:spAutoFit/>
              </a:bodyPr>
              <a:lstStyle/>
              <a:p>
                <a:pPr algn="ctr"/>
                <a:r>
                  <a:rPr lang="ko-KR" altLang="en-US" sz="28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교육운영</a:t>
                </a:r>
                <a:endParaRPr lang="en-US" altLang="ko-KR" sz="2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en-US" altLang="ko-KR" sz="28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Agent</a:t>
                </a:r>
                <a:endParaRPr lang="en-US" altLang="ko-KR" sz="2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48C90CF2-67A7-B1D2-36E1-095E1547C8F0}"/>
                </a:ext>
              </a:extLst>
            </p:cNvPr>
            <p:cNvSpPr txBox="1"/>
            <p:nvPr/>
          </p:nvSpPr>
          <p:spPr>
            <a:xfrm>
              <a:off x="2787445" y="8745656"/>
              <a:ext cx="252197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조직 AX 성숙도 분석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직무별 AI 활용도 진단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학습 수준 분류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407DAE82-1174-CC81-F1F9-BC1AEA90E127}"/>
                </a:ext>
              </a:extLst>
            </p:cNvPr>
            <p:cNvSpPr txBox="1"/>
            <p:nvPr/>
          </p:nvSpPr>
          <p:spPr>
            <a:xfrm>
              <a:off x="5766618" y="8729955"/>
              <a:ext cx="337738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ko-KR" altLang="ko-KR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산업·직무 기반 커리큘럼 매칭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ko-KR" altLang="en-US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학습</a:t>
              </a:r>
              <a:r>
                <a:rPr lang="ko-KR" altLang="ko-KR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난이도·기간 </a:t>
              </a:r>
              <a:r>
                <a:rPr lang="ko-KR" altLang="en-US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설정</a:t>
              </a:r>
              <a:endParaRPr lang="en-US" altLang="ko-KR" sz="1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ko-KR" altLang="en-US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산업별</a:t>
              </a:r>
              <a:r>
                <a:rPr lang="ko-KR" altLang="ko-KR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실습 컨텐츠 생성</a:t>
              </a:r>
              <a:endParaRPr lang="en-US" altLang="ko-KR" sz="1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A7DBFB4C-F70D-C540-499E-F3AE22E6C68A}"/>
                </a:ext>
              </a:extLst>
            </p:cNvPr>
            <p:cNvSpPr txBox="1"/>
            <p:nvPr/>
          </p:nvSpPr>
          <p:spPr>
            <a:xfrm>
              <a:off x="9005454" y="8699370"/>
              <a:ext cx="337738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ko-KR" altLang="ko-KR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학습 진행 모니터링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ko-KR" altLang="ko-KR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운영 리스크 감지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ko-KR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AX</a:t>
              </a:r>
              <a:r>
                <a:rPr lang="ko-KR" altLang="en-US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향상 평가 </a:t>
              </a:r>
              <a:r>
                <a:rPr lang="ko-KR" altLang="ko-KR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리포트 생성</a:t>
              </a:r>
              <a:endParaRPr lang="en-US" altLang="ko-KR" sz="1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3F6D4542-90CB-BB13-6E04-44DC1CA4DB74}"/>
                </a:ext>
              </a:extLst>
            </p:cNvPr>
            <p:cNvSpPr/>
            <p:nvPr/>
          </p:nvSpPr>
          <p:spPr>
            <a:xfrm>
              <a:off x="13975049" y="5723736"/>
              <a:ext cx="2527477" cy="2455814"/>
            </a:xfrm>
            <a:prstGeom prst="ellipse">
              <a:avLst/>
            </a:prstGeom>
            <a:solidFill>
              <a:srgbClr val="00B7C6"/>
            </a:solidFill>
            <a:ln w="101600">
              <a:solidFill>
                <a:srgbClr val="00B7C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Google Shape;360;p16">
              <a:extLst>
                <a:ext uri="{FF2B5EF4-FFF2-40B4-BE49-F238E27FC236}">
                  <a16:creationId xmlns:a16="http://schemas.microsoft.com/office/drawing/2014/main" id="{636239EB-4769-3BFA-D568-DEA16DD21E1E}"/>
                </a:ext>
              </a:extLst>
            </p:cNvPr>
            <p:cNvSpPr txBox="1"/>
            <p:nvPr/>
          </p:nvSpPr>
          <p:spPr>
            <a:xfrm>
              <a:off x="14027490" y="6187845"/>
              <a:ext cx="2475036" cy="1424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0175" rIns="0" bIns="0" anchor="t" anchorCtr="0">
              <a:spAutoFit/>
            </a:bodyPr>
            <a:lstStyle/>
            <a:p>
              <a:pPr algn="ctr"/>
              <a:r>
                <a:rPr lang="ko-KR" altLang="en-US" sz="2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 도메인 온톨로지 </a:t>
              </a:r>
              <a:r>
                <a:rPr lang="en-US" altLang="ko-KR" sz="2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&amp; </a:t>
              </a:r>
            </a:p>
            <a:p>
              <a:pPr algn="ctr"/>
              <a:r>
                <a:rPr lang="ko-KR" altLang="en-US" sz="2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멀티 에이전트</a:t>
              </a:r>
              <a:endParaRPr lang="en-US" altLang="ko-KR" sz="4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76" name="Google Shape;359;p16">
            <a:extLst>
              <a:ext uri="{FF2B5EF4-FFF2-40B4-BE49-F238E27FC236}">
                <a16:creationId xmlns:a16="http://schemas.microsoft.com/office/drawing/2014/main" id="{C2A1B93C-354A-D58E-720C-5FFACEA4E21C}"/>
              </a:ext>
            </a:extLst>
          </p:cNvPr>
          <p:cNvSpPr txBox="1"/>
          <p:nvPr/>
        </p:nvSpPr>
        <p:spPr>
          <a:xfrm>
            <a:off x="1233772" y="797928"/>
            <a:ext cx="10623439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기업의 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Transformation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위한 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 혁신</a:t>
            </a:r>
            <a:endParaRPr sz="28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79" name="Google Shape;359;p16">
            <a:extLst>
              <a:ext uri="{FF2B5EF4-FFF2-40B4-BE49-F238E27FC236}">
                <a16:creationId xmlns:a16="http://schemas.microsoft.com/office/drawing/2014/main" id="{400EB74C-B3D5-5348-4139-274AD5A5F706}"/>
              </a:ext>
            </a:extLst>
          </p:cNvPr>
          <p:cNvSpPr txBox="1"/>
          <p:nvPr/>
        </p:nvSpPr>
        <p:spPr>
          <a:xfrm>
            <a:off x="1266095" y="1269151"/>
            <a:ext cx="10623439" cy="84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교육 프로세스를 진단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운영의 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구조로 재설계 각각의 멀티에이전트 도입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컨설턴트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교육운영 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조직 역량을 분석하고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맞춤  교육 설계와  교육성과 관리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80" name="Google Shape;360;p16">
            <a:extLst>
              <a:ext uri="{FF2B5EF4-FFF2-40B4-BE49-F238E27FC236}">
                <a16:creationId xmlns:a16="http://schemas.microsoft.com/office/drawing/2014/main" id="{EAE7D1C1-0275-A88B-4691-0E83FD167EE2}"/>
              </a:ext>
            </a:extLst>
          </p:cNvPr>
          <p:cNvSpPr txBox="1"/>
          <p:nvPr/>
        </p:nvSpPr>
        <p:spPr>
          <a:xfrm>
            <a:off x="-198043" y="8551462"/>
            <a:ext cx="2015701" cy="43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175" rIns="0" bIns="0" anchor="t" anchorCtr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AS</a:t>
            </a: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-IS</a:t>
            </a:r>
          </a:p>
        </p:txBody>
      </p:sp>
    </p:spTree>
    <p:extLst>
      <p:ext uri="{BB962C8B-B14F-4D97-AF65-F5344CB8AC3E}">
        <p14:creationId xmlns:p14="http://schemas.microsoft.com/office/powerpoint/2010/main" val="252555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35D9A2B-E07F-712C-5FF9-760FD61AD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359;p16">
            <a:extLst>
              <a:ext uri="{FF2B5EF4-FFF2-40B4-BE49-F238E27FC236}">
                <a16:creationId xmlns:a16="http://schemas.microsoft.com/office/drawing/2014/main" id="{13724F0E-BCCA-EBC0-6276-11FEDD348223}"/>
              </a:ext>
            </a:extLst>
          </p:cNvPr>
          <p:cNvSpPr txBox="1"/>
          <p:nvPr/>
        </p:nvSpPr>
        <p:spPr>
          <a:xfrm>
            <a:off x="1233772" y="797928"/>
            <a:ext cx="10623439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기업 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전환을 위한 멀티 에이전트 기반 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LMS 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플랫폼</a:t>
            </a:r>
            <a:endParaRPr sz="28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79" name="Google Shape;359;p16">
            <a:extLst>
              <a:ext uri="{FF2B5EF4-FFF2-40B4-BE49-F238E27FC236}">
                <a16:creationId xmlns:a16="http://schemas.microsoft.com/office/drawing/2014/main" id="{262408DE-B9CB-B688-71B3-C196480216D2}"/>
              </a:ext>
            </a:extLst>
          </p:cNvPr>
          <p:cNvSpPr txBox="1"/>
          <p:nvPr/>
        </p:nvSpPr>
        <p:spPr>
          <a:xfrm>
            <a:off x="1266095" y="1269151"/>
            <a:ext cx="13261066" cy="1259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조직의 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역량을 체계적으로 강화하는 플랫폼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맞춤형 커리큘럼을 통해 </a:t>
            </a:r>
            <a:r>
              <a:rPr lang="en-US" altLang="ko-KR" sz="18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8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코드셀</a:t>
            </a:r>
            <a:r>
              <a:rPr lang="ko-KR" altLang="en-US" sz="18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실습이 아닌 바이브코딩 방식으로 업무 중심 실행과 결과 생성까지 연결하는 </a:t>
            </a:r>
            <a:r>
              <a:rPr lang="en-US" altLang="ko-KR" sz="18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온톨로지와 에이전트 기반 자동화를 통해 실행과 교육성과를 효과적으로 관리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grpSp>
        <p:nvGrpSpPr>
          <p:cNvPr id="2" name="Google Shape;361;p16">
            <a:extLst>
              <a:ext uri="{FF2B5EF4-FFF2-40B4-BE49-F238E27FC236}">
                <a16:creationId xmlns:a16="http://schemas.microsoft.com/office/drawing/2014/main" id="{B73858A6-9190-143F-5497-BF0156FBED02}"/>
              </a:ext>
            </a:extLst>
          </p:cNvPr>
          <p:cNvGrpSpPr/>
          <p:nvPr/>
        </p:nvGrpSpPr>
        <p:grpSpPr>
          <a:xfrm>
            <a:off x="2408610" y="7759854"/>
            <a:ext cx="8930012" cy="720725"/>
            <a:chOff x="2595098" y="7984343"/>
            <a:chExt cx="8930012" cy="720725"/>
          </a:xfrm>
        </p:grpSpPr>
        <p:sp>
          <p:nvSpPr>
            <p:cNvPr id="3" name="Google Shape;362;p16">
              <a:extLst>
                <a:ext uri="{FF2B5EF4-FFF2-40B4-BE49-F238E27FC236}">
                  <a16:creationId xmlns:a16="http://schemas.microsoft.com/office/drawing/2014/main" id="{6DF48B35-E91C-C36A-B6FA-0255B0BB9296}"/>
                </a:ext>
              </a:extLst>
            </p:cNvPr>
            <p:cNvSpPr/>
            <p:nvPr/>
          </p:nvSpPr>
          <p:spPr>
            <a:xfrm>
              <a:off x="2595098" y="8054193"/>
              <a:ext cx="8891905" cy="650875"/>
            </a:xfrm>
            <a:custGeom>
              <a:avLst/>
              <a:gdLst/>
              <a:ahLst/>
              <a:cxnLst/>
              <a:rect l="l" t="t" r="r" b="b"/>
              <a:pathLst>
                <a:path w="8891905" h="650875" extrusionOk="0">
                  <a:moveTo>
                    <a:pt x="0" y="59517"/>
                  </a:moveTo>
                  <a:lnTo>
                    <a:pt x="0" y="650287"/>
                  </a:lnTo>
                  <a:lnTo>
                    <a:pt x="8891911" y="650287"/>
                  </a:lnTo>
                  <a:lnTo>
                    <a:pt x="8891911" y="6350"/>
                  </a:lnTo>
                  <a:lnTo>
                    <a:pt x="8891911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" name="Google Shape;363;p16">
              <a:extLst>
                <a:ext uri="{FF2B5EF4-FFF2-40B4-BE49-F238E27FC236}">
                  <a16:creationId xmlns:a16="http://schemas.microsoft.com/office/drawing/2014/main" id="{10571331-5B42-182B-8645-5D7E0100D442}"/>
                </a:ext>
              </a:extLst>
            </p:cNvPr>
            <p:cNvSpPr/>
            <p:nvPr/>
          </p:nvSpPr>
          <p:spPr>
            <a:xfrm>
              <a:off x="11448910" y="798434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 extrusionOk="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pic>
        <p:nvPicPr>
          <p:cNvPr id="6" name="Google Shape;366;p16">
            <a:extLst>
              <a:ext uri="{FF2B5EF4-FFF2-40B4-BE49-F238E27FC236}">
                <a16:creationId xmlns:a16="http://schemas.microsoft.com/office/drawing/2014/main" id="{B8BD1636-D9FC-B1CE-68D3-BC40DB34D3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7980" y="5577457"/>
            <a:ext cx="1555413" cy="1555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367;p16">
            <a:extLst>
              <a:ext uri="{FF2B5EF4-FFF2-40B4-BE49-F238E27FC236}">
                <a16:creationId xmlns:a16="http://schemas.microsoft.com/office/drawing/2014/main" id="{A0BD58BF-6392-EE74-9176-55C603D1ED00}"/>
              </a:ext>
            </a:extLst>
          </p:cNvPr>
          <p:cNvGrpSpPr/>
          <p:nvPr/>
        </p:nvGrpSpPr>
        <p:grpSpPr>
          <a:xfrm>
            <a:off x="2370510" y="3456307"/>
            <a:ext cx="8930005" cy="720138"/>
            <a:chOff x="2556998" y="3690702"/>
            <a:chExt cx="8930005" cy="720138"/>
          </a:xfrm>
        </p:grpSpPr>
        <p:sp>
          <p:nvSpPr>
            <p:cNvPr id="8" name="Google Shape;368;p16">
              <a:extLst>
                <a:ext uri="{FF2B5EF4-FFF2-40B4-BE49-F238E27FC236}">
                  <a16:creationId xmlns:a16="http://schemas.microsoft.com/office/drawing/2014/main" id="{C20DC4C7-D311-6B9E-737E-038086333C67}"/>
                </a:ext>
              </a:extLst>
            </p:cNvPr>
            <p:cNvSpPr/>
            <p:nvPr/>
          </p:nvSpPr>
          <p:spPr>
            <a:xfrm>
              <a:off x="2595098" y="3690702"/>
              <a:ext cx="8891905" cy="650875"/>
            </a:xfrm>
            <a:custGeom>
              <a:avLst/>
              <a:gdLst/>
              <a:ahLst/>
              <a:cxnLst/>
              <a:rect l="l" t="t" r="r" b="b"/>
              <a:pathLst>
                <a:path w="8891905" h="650875" extrusionOk="0">
                  <a:moveTo>
                    <a:pt x="8891911" y="590770"/>
                  </a:moveTo>
                  <a:lnTo>
                    <a:pt x="8891911" y="0"/>
                  </a:lnTo>
                  <a:lnTo>
                    <a:pt x="0" y="0"/>
                  </a:lnTo>
                  <a:lnTo>
                    <a:pt x="0" y="643937"/>
                  </a:lnTo>
                  <a:lnTo>
                    <a:pt x="0" y="650287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9" name="Google Shape;369;p16">
              <a:extLst>
                <a:ext uri="{FF2B5EF4-FFF2-40B4-BE49-F238E27FC236}">
                  <a16:creationId xmlns:a16="http://schemas.microsoft.com/office/drawing/2014/main" id="{D52EAA07-6C8C-480B-6F10-8CBDAE8FFCA7}"/>
                </a:ext>
              </a:extLst>
            </p:cNvPr>
            <p:cNvSpPr/>
            <p:nvPr/>
          </p:nvSpPr>
          <p:spPr>
            <a:xfrm>
              <a:off x="2556998" y="43346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 extrusionOk="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14" name="Google Shape;374;p16">
            <a:extLst>
              <a:ext uri="{FF2B5EF4-FFF2-40B4-BE49-F238E27FC236}">
                <a16:creationId xmlns:a16="http://schemas.microsoft.com/office/drawing/2014/main" id="{43F1B343-9015-2DCB-E89C-E22150E2DEB0}"/>
              </a:ext>
            </a:extLst>
          </p:cNvPr>
          <p:cNvSpPr txBox="1"/>
          <p:nvPr/>
        </p:nvSpPr>
        <p:spPr>
          <a:xfrm>
            <a:off x="1624248" y="5029171"/>
            <a:ext cx="1494373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880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기업 임직원</a:t>
            </a:r>
            <a:endParaRPr sz="1800" b="0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7" name="Google Shape;378;p16">
            <a:extLst>
              <a:ext uri="{FF2B5EF4-FFF2-40B4-BE49-F238E27FC236}">
                <a16:creationId xmlns:a16="http://schemas.microsoft.com/office/drawing/2014/main" id="{C0492F1A-0CAC-2356-1E9F-283D62D2D87A}"/>
              </a:ext>
            </a:extLst>
          </p:cNvPr>
          <p:cNvSpPr txBox="1"/>
          <p:nvPr/>
        </p:nvSpPr>
        <p:spPr>
          <a:xfrm>
            <a:off x="10557943" y="5047424"/>
            <a:ext cx="2332911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algn="ctr">
              <a:buSzPts val="1400"/>
            </a:pPr>
            <a:r>
              <a:rPr lang="ko-KR" altLang="en-US" sz="1800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</a:rPr>
              <a:t>강사</a:t>
            </a:r>
            <a:r>
              <a:rPr lang="en-US" altLang="ko-KR" sz="1800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800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</a:rPr>
              <a:t>운영자</a:t>
            </a:r>
            <a:endParaRPr sz="1800" b="0" i="0" u="none" strike="noStrike" cap="none" dirty="0">
              <a:solidFill>
                <a:srgbClr val="0000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8" name="Google Shape;379;p16">
            <a:extLst>
              <a:ext uri="{FF2B5EF4-FFF2-40B4-BE49-F238E27FC236}">
                <a16:creationId xmlns:a16="http://schemas.microsoft.com/office/drawing/2014/main" id="{B3438D6A-17AD-24CC-9C41-A9624151447F}"/>
              </a:ext>
            </a:extLst>
          </p:cNvPr>
          <p:cNvSpPr txBox="1"/>
          <p:nvPr/>
        </p:nvSpPr>
        <p:spPr>
          <a:xfrm>
            <a:off x="5117653" y="8802044"/>
            <a:ext cx="32766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algn="ctr">
              <a:buSzPts val="1600"/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맞춤형 커리큘럼과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0" lvl="0" algn="ctr">
              <a:buSzPts val="1600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교육컨텐츠생성</a:t>
            </a:r>
            <a:endParaRPr sz="1800" i="0" u="none" strike="noStrike" cap="none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cxnSp>
        <p:nvCxnSpPr>
          <p:cNvPr id="27" name="Google Shape;394;p16">
            <a:extLst>
              <a:ext uri="{FF2B5EF4-FFF2-40B4-BE49-F238E27FC236}">
                <a16:creationId xmlns:a16="http://schemas.microsoft.com/office/drawing/2014/main" id="{28957F3D-1E0E-F30B-7BCC-B70E00931526}"/>
              </a:ext>
            </a:extLst>
          </p:cNvPr>
          <p:cNvCxnSpPr/>
          <p:nvPr/>
        </p:nvCxnSpPr>
        <p:spPr>
          <a:xfrm>
            <a:off x="8993955" y="6176195"/>
            <a:ext cx="124348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Google Shape;400;p16">
            <a:extLst>
              <a:ext uri="{FF2B5EF4-FFF2-40B4-BE49-F238E27FC236}">
                <a16:creationId xmlns:a16="http://schemas.microsoft.com/office/drawing/2014/main" id="{01D89714-FF2F-0279-7C7C-7205482E3C56}"/>
              </a:ext>
            </a:extLst>
          </p:cNvPr>
          <p:cNvSpPr/>
          <p:nvPr/>
        </p:nvSpPr>
        <p:spPr>
          <a:xfrm>
            <a:off x="4712650" y="3187228"/>
            <a:ext cx="3849233" cy="533400"/>
          </a:xfrm>
          <a:prstGeom prst="roundRect">
            <a:avLst>
              <a:gd name="adj" fmla="val 16667"/>
            </a:avLst>
          </a:prstGeom>
          <a:solidFill>
            <a:srgbClr val="DCE6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4" name="Google Shape;401;p16">
            <a:extLst>
              <a:ext uri="{FF2B5EF4-FFF2-40B4-BE49-F238E27FC236}">
                <a16:creationId xmlns:a16="http://schemas.microsoft.com/office/drawing/2014/main" id="{F70BC8E6-F134-27C5-D452-F7CA3F198AC3}"/>
              </a:ext>
            </a:extLst>
          </p:cNvPr>
          <p:cNvSpPr txBox="1"/>
          <p:nvPr/>
        </p:nvSpPr>
        <p:spPr>
          <a:xfrm>
            <a:off x="4712651" y="3241014"/>
            <a:ext cx="3849233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2400" dirty="0">
                <a:solidFill>
                  <a:schemeClr val="dk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400" dirty="0">
                <a:solidFill>
                  <a:schemeClr val="dk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</a:rPr>
              <a:t>플랫폼</a:t>
            </a:r>
            <a:endParaRPr sz="2400" b="0" i="0" u="none" strike="noStrike" cap="none" dirty="0">
              <a:solidFill>
                <a:schemeClr val="dk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5" name="Google Shape;402;p16">
            <a:extLst>
              <a:ext uri="{FF2B5EF4-FFF2-40B4-BE49-F238E27FC236}">
                <a16:creationId xmlns:a16="http://schemas.microsoft.com/office/drawing/2014/main" id="{B036BE1F-C656-0833-EB75-05EB1D28550C}"/>
              </a:ext>
            </a:extLst>
          </p:cNvPr>
          <p:cNvSpPr/>
          <p:nvPr/>
        </p:nvSpPr>
        <p:spPr>
          <a:xfrm>
            <a:off x="4595675" y="4246275"/>
            <a:ext cx="3966210" cy="3430855"/>
          </a:xfrm>
          <a:custGeom>
            <a:avLst/>
            <a:gdLst/>
            <a:ahLst/>
            <a:cxnLst/>
            <a:rect l="l" t="t" r="r" b="b"/>
            <a:pathLst>
              <a:path w="3966209" h="3509645" extrusionOk="0">
                <a:moveTo>
                  <a:pt x="294325" y="0"/>
                </a:moveTo>
                <a:lnTo>
                  <a:pt x="3671769" y="0"/>
                </a:lnTo>
                <a:lnTo>
                  <a:pt x="3730338" y="225"/>
                </a:lnTo>
                <a:lnTo>
                  <a:pt x="3777571" y="1802"/>
                </a:lnTo>
                <a:lnTo>
                  <a:pt x="3844508" y="14423"/>
                </a:lnTo>
                <a:lnTo>
                  <a:pt x="3879714" y="31811"/>
                </a:lnTo>
                <a:lnTo>
                  <a:pt x="3909967" y="56125"/>
                </a:lnTo>
                <a:lnTo>
                  <a:pt x="3934282" y="86380"/>
                </a:lnTo>
                <a:lnTo>
                  <a:pt x="3951671" y="121586"/>
                </a:lnTo>
                <a:lnTo>
                  <a:pt x="3964291" y="188522"/>
                </a:lnTo>
                <a:lnTo>
                  <a:pt x="3965869" y="235755"/>
                </a:lnTo>
                <a:lnTo>
                  <a:pt x="3966094" y="294325"/>
                </a:lnTo>
                <a:lnTo>
                  <a:pt x="3966094" y="3214888"/>
                </a:lnTo>
                <a:lnTo>
                  <a:pt x="3965869" y="3273457"/>
                </a:lnTo>
                <a:lnTo>
                  <a:pt x="3964291" y="3320691"/>
                </a:lnTo>
                <a:lnTo>
                  <a:pt x="3951671" y="3387627"/>
                </a:lnTo>
                <a:lnTo>
                  <a:pt x="3934282" y="3422833"/>
                </a:lnTo>
                <a:lnTo>
                  <a:pt x="3909967" y="3453087"/>
                </a:lnTo>
                <a:lnTo>
                  <a:pt x="3879714" y="3477402"/>
                </a:lnTo>
                <a:lnTo>
                  <a:pt x="3844508" y="3494791"/>
                </a:lnTo>
                <a:lnTo>
                  <a:pt x="3777571" y="3507410"/>
                </a:lnTo>
                <a:lnTo>
                  <a:pt x="3730338" y="3508987"/>
                </a:lnTo>
                <a:lnTo>
                  <a:pt x="3671769" y="3509213"/>
                </a:lnTo>
                <a:lnTo>
                  <a:pt x="294325" y="3509213"/>
                </a:lnTo>
                <a:lnTo>
                  <a:pt x="235755" y="3508987"/>
                </a:lnTo>
                <a:lnTo>
                  <a:pt x="188522" y="3507410"/>
                </a:lnTo>
                <a:lnTo>
                  <a:pt x="121586" y="3494791"/>
                </a:lnTo>
                <a:lnTo>
                  <a:pt x="86380" y="3477402"/>
                </a:lnTo>
                <a:lnTo>
                  <a:pt x="56125" y="3453087"/>
                </a:lnTo>
                <a:lnTo>
                  <a:pt x="31811" y="3422833"/>
                </a:lnTo>
                <a:lnTo>
                  <a:pt x="14423" y="3387627"/>
                </a:lnTo>
                <a:lnTo>
                  <a:pt x="1802" y="3320691"/>
                </a:lnTo>
                <a:lnTo>
                  <a:pt x="225" y="3273457"/>
                </a:lnTo>
                <a:lnTo>
                  <a:pt x="0" y="3214888"/>
                </a:lnTo>
                <a:lnTo>
                  <a:pt x="0" y="294325"/>
                </a:lnTo>
                <a:lnTo>
                  <a:pt x="225" y="235755"/>
                </a:lnTo>
                <a:lnTo>
                  <a:pt x="1802" y="188522"/>
                </a:lnTo>
                <a:lnTo>
                  <a:pt x="14423" y="121586"/>
                </a:lnTo>
                <a:lnTo>
                  <a:pt x="31811" y="86380"/>
                </a:lnTo>
                <a:lnTo>
                  <a:pt x="56125" y="56125"/>
                </a:lnTo>
                <a:lnTo>
                  <a:pt x="86380" y="31811"/>
                </a:lnTo>
                <a:lnTo>
                  <a:pt x="121586" y="14423"/>
                </a:lnTo>
                <a:lnTo>
                  <a:pt x="188522" y="1802"/>
                </a:lnTo>
                <a:lnTo>
                  <a:pt x="235755" y="225"/>
                </a:lnTo>
                <a:lnTo>
                  <a:pt x="294325" y="0"/>
                </a:lnTo>
                <a:close/>
              </a:path>
            </a:pathLst>
          </a:custGeom>
          <a:noFill/>
          <a:ln w="139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6" name="Google Shape;403;p16">
            <a:extLst>
              <a:ext uri="{FF2B5EF4-FFF2-40B4-BE49-F238E27FC236}">
                <a16:creationId xmlns:a16="http://schemas.microsoft.com/office/drawing/2014/main" id="{59B27155-4566-C4D9-B873-F69434D0DBB3}"/>
              </a:ext>
            </a:extLst>
          </p:cNvPr>
          <p:cNvSpPr txBox="1"/>
          <p:nvPr/>
        </p:nvSpPr>
        <p:spPr>
          <a:xfrm>
            <a:off x="5787762" y="4450371"/>
            <a:ext cx="213360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880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</a:rPr>
              <a:t>LMS</a:t>
            </a:r>
            <a:endParaRPr sz="1800" b="0" i="0" u="none" strike="noStrike" cap="none" dirty="0">
              <a:solidFill>
                <a:srgbClr val="0000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37" name="Google Shape;404;p16">
            <a:extLst>
              <a:ext uri="{FF2B5EF4-FFF2-40B4-BE49-F238E27FC236}">
                <a16:creationId xmlns:a16="http://schemas.microsoft.com/office/drawing/2014/main" id="{72622C1B-1DE9-4779-B2E7-AD946CBBD48D}"/>
              </a:ext>
            </a:extLst>
          </p:cNvPr>
          <p:cNvGrpSpPr/>
          <p:nvPr/>
        </p:nvGrpSpPr>
        <p:grpSpPr>
          <a:xfrm>
            <a:off x="4787111" y="4813452"/>
            <a:ext cx="3562985" cy="664279"/>
            <a:chOff x="9224620" y="3265457"/>
            <a:chExt cx="3562985" cy="664279"/>
          </a:xfrm>
        </p:grpSpPr>
        <p:sp>
          <p:nvSpPr>
            <p:cNvPr id="38" name="Google Shape;405;p16">
              <a:extLst>
                <a:ext uri="{FF2B5EF4-FFF2-40B4-BE49-F238E27FC236}">
                  <a16:creationId xmlns:a16="http://schemas.microsoft.com/office/drawing/2014/main" id="{6785C3B5-6A7D-66CB-003B-651627927EE6}"/>
                </a:ext>
              </a:extLst>
            </p:cNvPr>
            <p:cNvSpPr txBox="1"/>
            <p:nvPr/>
          </p:nvSpPr>
          <p:spPr>
            <a:xfrm>
              <a:off x="9224620" y="3265457"/>
              <a:ext cx="3562985" cy="664279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</p:spPr>
          <p:txBody>
            <a:bodyPr spcFirstLastPara="1" wrap="square" lIns="0" tIns="170175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9" name="Google Shape;406;p16">
              <a:extLst>
                <a:ext uri="{FF2B5EF4-FFF2-40B4-BE49-F238E27FC236}">
                  <a16:creationId xmlns:a16="http://schemas.microsoft.com/office/drawing/2014/main" id="{D102E146-1E7E-ABAD-CB8A-17C750A80124}"/>
                </a:ext>
              </a:extLst>
            </p:cNvPr>
            <p:cNvSpPr/>
            <p:nvPr/>
          </p:nvSpPr>
          <p:spPr>
            <a:xfrm>
              <a:off x="9968153" y="3450738"/>
              <a:ext cx="2286001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altLang="ko-KR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AI </a:t>
              </a:r>
              <a:r>
                <a:rPr lang="ko-KR" altLang="en-US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노드학습</a:t>
              </a:r>
              <a:r>
                <a:rPr lang="en-US" altLang="ko-KR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-&gt;</a:t>
              </a:r>
              <a:r>
                <a:rPr lang="ko-KR" altLang="en-US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학습평가</a:t>
              </a:r>
              <a:endParaRPr sz="1600" b="0" i="0" u="none" strike="noStrike" cap="none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40" name="Google Shape;407;p16">
            <a:extLst>
              <a:ext uri="{FF2B5EF4-FFF2-40B4-BE49-F238E27FC236}">
                <a16:creationId xmlns:a16="http://schemas.microsoft.com/office/drawing/2014/main" id="{36354B35-9772-4605-4FAE-830FF2715AF7}"/>
              </a:ext>
            </a:extLst>
          </p:cNvPr>
          <p:cNvGrpSpPr/>
          <p:nvPr/>
        </p:nvGrpSpPr>
        <p:grpSpPr>
          <a:xfrm>
            <a:off x="4787111" y="5476129"/>
            <a:ext cx="3562985" cy="664279"/>
            <a:chOff x="9224620" y="3265457"/>
            <a:chExt cx="3562985" cy="664279"/>
          </a:xfrm>
        </p:grpSpPr>
        <p:sp>
          <p:nvSpPr>
            <p:cNvPr id="41" name="Google Shape;408;p16">
              <a:extLst>
                <a:ext uri="{FF2B5EF4-FFF2-40B4-BE49-F238E27FC236}">
                  <a16:creationId xmlns:a16="http://schemas.microsoft.com/office/drawing/2014/main" id="{980D7913-D303-A6EB-DF1A-E83A76F67817}"/>
                </a:ext>
              </a:extLst>
            </p:cNvPr>
            <p:cNvSpPr txBox="1"/>
            <p:nvPr/>
          </p:nvSpPr>
          <p:spPr>
            <a:xfrm>
              <a:off x="9224620" y="3265457"/>
              <a:ext cx="3562985" cy="664279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</p:spPr>
          <p:txBody>
            <a:bodyPr spcFirstLastPara="1" wrap="square" lIns="0" tIns="170175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2" name="Google Shape;409;p16">
              <a:extLst>
                <a:ext uri="{FF2B5EF4-FFF2-40B4-BE49-F238E27FC236}">
                  <a16:creationId xmlns:a16="http://schemas.microsoft.com/office/drawing/2014/main" id="{3FEC19E1-9C02-EF23-D71C-35F05F8B083F}"/>
                </a:ext>
              </a:extLst>
            </p:cNvPr>
            <p:cNvSpPr/>
            <p:nvPr/>
          </p:nvSpPr>
          <p:spPr>
            <a:xfrm>
              <a:off x="9713322" y="3450739"/>
              <a:ext cx="276778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프로젝트제출</a:t>
              </a:r>
              <a:r>
                <a:rPr lang="en-US" altLang="ko-KR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-&gt; </a:t>
              </a:r>
              <a:r>
                <a:rPr lang="ko-KR" altLang="en-US" sz="160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경험</a:t>
              </a:r>
              <a:r>
                <a:rPr lang="en-US" altLang="ko-KR" sz="160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  <a:r>
                <a:rPr lang="ko-KR" altLang="en-US" sz="160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지식공유</a:t>
              </a:r>
              <a:endParaRPr sz="1600" b="0" i="0" u="none" strike="noStrike" cap="none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43" name="Google Shape;410;p16">
            <a:extLst>
              <a:ext uri="{FF2B5EF4-FFF2-40B4-BE49-F238E27FC236}">
                <a16:creationId xmlns:a16="http://schemas.microsoft.com/office/drawing/2014/main" id="{1BE72018-247C-9D2B-E196-3E579ABAEC20}"/>
              </a:ext>
            </a:extLst>
          </p:cNvPr>
          <p:cNvGrpSpPr/>
          <p:nvPr/>
        </p:nvGrpSpPr>
        <p:grpSpPr>
          <a:xfrm>
            <a:off x="4787111" y="6145078"/>
            <a:ext cx="3562985" cy="664279"/>
            <a:chOff x="9224620" y="3265457"/>
            <a:chExt cx="3562985" cy="664279"/>
          </a:xfrm>
        </p:grpSpPr>
        <p:sp>
          <p:nvSpPr>
            <p:cNvPr id="44" name="Google Shape;411;p16">
              <a:extLst>
                <a:ext uri="{FF2B5EF4-FFF2-40B4-BE49-F238E27FC236}">
                  <a16:creationId xmlns:a16="http://schemas.microsoft.com/office/drawing/2014/main" id="{F9F9D59B-CED1-D6B8-6A0B-9C759E83EB2E}"/>
                </a:ext>
              </a:extLst>
            </p:cNvPr>
            <p:cNvSpPr txBox="1"/>
            <p:nvPr/>
          </p:nvSpPr>
          <p:spPr>
            <a:xfrm>
              <a:off x="9224620" y="3265457"/>
              <a:ext cx="3562985" cy="664279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</p:spPr>
          <p:txBody>
            <a:bodyPr spcFirstLastPara="1" wrap="square" lIns="0" tIns="170175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5" name="Google Shape;412;p16">
              <a:extLst>
                <a:ext uri="{FF2B5EF4-FFF2-40B4-BE49-F238E27FC236}">
                  <a16:creationId xmlns:a16="http://schemas.microsoft.com/office/drawing/2014/main" id="{9A16D0D6-C24C-F45F-C081-FA484E67B68B}"/>
                </a:ext>
              </a:extLst>
            </p:cNvPr>
            <p:cNvSpPr/>
            <p:nvPr/>
          </p:nvSpPr>
          <p:spPr>
            <a:xfrm>
              <a:off x="9968153" y="3430965"/>
              <a:ext cx="2286001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학습스케쥴링</a:t>
              </a:r>
              <a:r>
                <a:rPr lang="en-US" altLang="ko-KR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,</a:t>
              </a:r>
              <a:r>
                <a:rPr lang="ko-KR" altLang="en-US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평가</a:t>
              </a:r>
              <a:endParaRPr sz="1600" b="0" i="0" u="none" strike="noStrike" cap="none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46" name="Google Shape;413;p16">
            <a:extLst>
              <a:ext uri="{FF2B5EF4-FFF2-40B4-BE49-F238E27FC236}">
                <a16:creationId xmlns:a16="http://schemas.microsoft.com/office/drawing/2014/main" id="{705B6D96-6D68-52BE-F7B3-C64007561195}"/>
              </a:ext>
            </a:extLst>
          </p:cNvPr>
          <p:cNvGrpSpPr/>
          <p:nvPr/>
        </p:nvGrpSpPr>
        <p:grpSpPr>
          <a:xfrm>
            <a:off x="4787111" y="6775744"/>
            <a:ext cx="3562985" cy="725835"/>
            <a:chOff x="9224620" y="3234679"/>
            <a:chExt cx="3562985" cy="725835"/>
          </a:xfrm>
        </p:grpSpPr>
        <p:sp>
          <p:nvSpPr>
            <p:cNvPr id="47" name="Google Shape;414;p16">
              <a:extLst>
                <a:ext uri="{FF2B5EF4-FFF2-40B4-BE49-F238E27FC236}">
                  <a16:creationId xmlns:a16="http://schemas.microsoft.com/office/drawing/2014/main" id="{DF7E20E1-A35C-1451-C86A-A6FC4C1A300D}"/>
                </a:ext>
              </a:extLst>
            </p:cNvPr>
            <p:cNvSpPr txBox="1"/>
            <p:nvPr/>
          </p:nvSpPr>
          <p:spPr>
            <a:xfrm>
              <a:off x="9224620" y="3234679"/>
              <a:ext cx="3562985" cy="725835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</p:spPr>
          <p:txBody>
            <a:bodyPr spcFirstLastPara="1" wrap="square" lIns="0" tIns="170175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8" name="Google Shape;415;p16">
              <a:extLst>
                <a:ext uri="{FF2B5EF4-FFF2-40B4-BE49-F238E27FC236}">
                  <a16:creationId xmlns:a16="http://schemas.microsoft.com/office/drawing/2014/main" id="{BC655F09-D021-1BD0-4319-70CFE5666348}"/>
                </a:ext>
              </a:extLst>
            </p:cNvPr>
            <p:cNvSpPr/>
            <p:nvPr/>
          </p:nvSpPr>
          <p:spPr>
            <a:xfrm>
              <a:off x="9750522" y="3425710"/>
              <a:ext cx="2885881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60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현황관리</a:t>
              </a:r>
              <a:r>
                <a:rPr lang="en-US" altLang="ko-KR" sz="160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실습채점</a:t>
              </a:r>
              <a:r>
                <a:rPr lang="en-US" altLang="ko-KR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,</a:t>
              </a:r>
              <a:r>
                <a:rPr lang="ko-KR" altLang="en-US" sz="1600" b="0" i="0" u="none" strike="noStrike" cap="none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별점부여</a:t>
              </a:r>
              <a:endParaRPr sz="1600" b="0" i="0" u="none" strike="noStrike" cap="none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49" name="Google Shape;416;p16">
            <a:extLst>
              <a:ext uri="{FF2B5EF4-FFF2-40B4-BE49-F238E27FC236}">
                <a16:creationId xmlns:a16="http://schemas.microsoft.com/office/drawing/2014/main" id="{10EB2A50-AA6A-0C87-23F3-C2E09455A109}"/>
              </a:ext>
            </a:extLst>
          </p:cNvPr>
          <p:cNvSpPr/>
          <p:nvPr/>
        </p:nvSpPr>
        <p:spPr>
          <a:xfrm>
            <a:off x="4787111" y="4844227"/>
            <a:ext cx="263752" cy="1265406"/>
          </a:xfrm>
          <a:prstGeom prst="rect">
            <a:avLst/>
          </a:prstGeom>
          <a:solidFill>
            <a:srgbClr val="033F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600" b="1" i="0" u="none" strike="noStrike" cap="none" dirty="0">
                <a:solidFill>
                  <a:schemeClr val="lt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rPr>
              <a:t>학습시스템</a:t>
            </a:r>
            <a:endParaRPr sz="1600" b="1" i="0" u="none" strike="noStrike" cap="none" dirty="0">
              <a:solidFill>
                <a:schemeClr val="lt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0" name="Google Shape;417;p16">
            <a:extLst>
              <a:ext uri="{FF2B5EF4-FFF2-40B4-BE49-F238E27FC236}">
                <a16:creationId xmlns:a16="http://schemas.microsoft.com/office/drawing/2014/main" id="{3D5A9E9B-B573-382D-7595-BE7D4DBD81B0}"/>
              </a:ext>
            </a:extLst>
          </p:cNvPr>
          <p:cNvSpPr/>
          <p:nvPr/>
        </p:nvSpPr>
        <p:spPr>
          <a:xfrm>
            <a:off x="4789312" y="6176195"/>
            <a:ext cx="263752" cy="1265406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600" b="1" i="0" u="none" strike="noStrike" cap="none" dirty="0">
                <a:solidFill>
                  <a:schemeClr val="lt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rPr>
              <a:t>학습관리</a:t>
            </a:r>
            <a:endParaRPr sz="1600" b="1" i="0" u="none" strike="noStrike" cap="none" dirty="0">
              <a:solidFill>
                <a:schemeClr val="lt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1" name="Google Shape;376;p16">
            <a:extLst>
              <a:ext uri="{FF2B5EF4-FFF2-40B4-BE49-F238E27FC236}">
                <a16:creationId xmlns:a16="http://schemas.microsoft.com/office/drawing/2014/main" id="{BE23A88F-743F-5DB7-95D2-5FD42533113D}"/>
              </a:ext>
            </a:extLst>
          </p:cNvPr>
          <p:cNvSpPr txBox="1"/>
          <p:nvPr/>
        </p:nvSpPr>
        <p:spPr>
          <a:xfrm>
            <a:off x="3090769" y="6359627"/>
            <a:ext cx="1906424" cy="84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R="588010" lvl="0" algn="ctr">
              <a:buSzPts val="1400"/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조직의 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R="588010" lvl="0" algn="ctr">
              <a:buSzPts val="1400"/>
            </a:pP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수준과 역량 진단</a:t>
            </a:r>
            <a:endParaRPr sz="1800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2" name="Google Shape;380;p16">
            <a:extLst>
              <a:ext uri="{FF2B5EF4-FFF2-40B4-BE49-F238E27FC236}">
                <a16:creationId xmlns:a16="http://schemas.microsoft.com/office/drawing/2014/main" id="{FE3F8C14-BC7F-4D85-A659-DC86AEF4570A}"/>
              </a:ext>
            </a:extLst>
          </p:cNvPr>
          <p:cNvSpPr/>
          <p:nvPr/>
        </p:nvSpPr>
        <p:spPr>
          <a:xfrm>
            <a:off x="2975351" y="5133380"/>
            <a:ext cx="1537053" cy="957818"/>
          </a:xfrm>
          <a:prstGeom prst="roundRect">
            <a:avLst>
              <a:gd name="adj" fmla="val 50000"/>
            </a:avLst>
          </a:prstGeom>
          <a:solidFill>
            <a:srgbClr val="00B7C6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</a:t>
            </a:r>
            <a:endParaRPr lang="en-US" altLang="ko-KR" sz="1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  <a:endParaRPr lang="ko-KR" altLang="en-US" sz="1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Google Shape;380;p16">
            <a:extLst>
              <a:ext uri="{FF2B5EF4-FFF2-40B4-BE49-F238E27FC236}">
                <a16:creationId xmlns:a16="http://schemas.microsoft.com/office/drawing/2014/main" id="{4EDF3E42-B0CD-2924-FE8A-7DC6A30CBCBA}"/>
              </a:ext>
            </a:extLst>
          </p:cNvPr>
          <p:cNvSpPr/>
          <p:nvPr/>
        </p:nvSpPr>
        <p:spPr>
          <a:xfrm>
            <a:off x="5868739" y="7793916"/>
            <a:ext cx="1537053" cy="957818"/>
          </a:xfrm>
          <a:prstGeom prst="roundRect">
            <a:avLst>
              <a:gd name="adj" fmla="val 50000"/>
            </a:avLst>
          </a:prstGeom>
          <a:solidFill>
            <a:srgbClr val="00B7C6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</a:t>
            </a:r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컨설턴트</a:t>
            </a:r>
            <a:endParaRPr lang="en-US" altLang="ko-KR" sz="1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  <a:endParaRPr lang="ko-KR" altLang="en-US" sz="1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Google Shape;380;p16">
            <a:extLst>
              <a:ext uri="{FF2B5EF4-FFF2-40B4-BE49-F238E27FC236}">
                <a16:creationId xmlns:a16="http://schemas.microsoft.com/office/drawing/2014/main" id="{21398459-4226-7212-4D7C-8FEC4BCEB4DC}"/>
              </a:ext>
            </a:extLst>
          </p:cNvPr>
          <p:cNvSpPr/>
          <p:nvPr/>
        </p:nvSpPr>
        <p:spPr>
          <a:xfrm>
            <a:off x="8880463" y="5074227"/>
            <a:ext cx="1537053" cy="957818"/>
          </a:xfrm>
          <a:prstGeom prst="roundRect">
            <a:avLst>
              <a:gd name="adj" fmla="val 50000"/>
            </a:avLst>
          </a:prstGeom>
          <a:solidFill>
            <a:srgbClr val="00B7C6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교육운영</a:t>
            </a:r>
            <a:endParaRPr lang="en-US" altLang="ko-KR" sz="1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</a:p>
        </p:txBody>
      </p:sp>
      <p:sp>
        <p:nvSpPr>
          <p:cNvPr id="62" name="Google Shape;376;p16">
            <a:extLst>
              <a:ext uri="{FF2B5EF4-FFF2-40B4-BE49-F238E27FC236}">
                <a16:creationId xmlns:a16="http://schemas.microsoft.com/office/drawing/2014/main" id="{0B981611-D1A9-22F5-014D-8A791992578A}"/>
              </a:ext>
            </a:extLst>
          </p:cNvPr>
          <p:cNvSpPr txBox="1"/>
          <p:nvPr/>
        </p:nvSpPr>
        <p:spPr>
          <a:xfrm>
            <a:off x="8974774" y="6415969"/>
            <a:ext cx="2287647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R="588010" lvl="0" algn="ctr">
              <a:buSzPts val="1400"/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관리지원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R="588010" lvl="0" algn="ctr">
              <a:buSzPts val="1400"/>
            </a:pPr>
            <a:r>
              <a:rPr 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향상 자동평가</a:t>
            </a:r>
            <a:endParaRPr sz="1800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cxnSp>
        <p:nvCxnSpPr>
          <p:cNvPr id="63" name="Google Shape;394;p16">
            <a:extLst>
              <a:ext uri="{FF2B5EF4-FFF2-40B4-BE49-F238E27FC236}">
                <a16:creationId xmlns:a16="http://schemas.microsoft.com/office/drawing/2014/main" id="{D74D0EA2-2B21-CCEB-1C6B-7273286F85AC}"/>
              </a:ext>
            </a:extLst>
          </p:cNvPr>
          <p:cNvCxnSpPr/>
          <p:nvPr/>
        </p:nvCxnSpPr>
        <p:spPr>
          <a:xfrm>
            <a:off x="3122136" y="6251594"/>
            <a:ext cx="124348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64" name="Google Shape;366;p16">
            <a:extLst>
              <a:ext uri="{FF2B5EF4-FFF2-40B4-BE49-F238E27FC236}">
                <a16:creationId xmlns:a16="http://schemas.microsoft.com/office/drawing/2014/main" id="{0B62E2AF-DDFC-4B04-DF32-D475A390DF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709" y="5478818"/>
            <a:ext cx="1555413" cy="1555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object 37">
            <a:extLst>
              <a:ext uri="{FF2B5EF4-FFF2-40B4-BE49-F238E27FC236}">
                <a16:creationId xmlns:a16="http://schemas.microsoft.com/office/drawing/2014/main" id="{2B58CA71-C9BB-A97A-21C5-66FEF9E668EC}"/>
              </a:ext>
            </a:extLst>
          </p:cNvPr>
          <p:cNvGrpSpPr/>
          <p:nvPr/>
        </p:nvGrpSpPr>
        <p:grpSpPr>
          <a:xfrm>
            <a:off x="13089580" y="2772698"/>
            <a:ext cx="4623234" cy="6312308"/>
            <a:chOff x="1298447" y="2147316"/>
            <a:chExt cx="3096054" cy="4053091"/>
          </a:xfrm>
        </p:grpSpPr>
        <p:pic>
          <p:nvPicPr>
            <p:cNvPr id="78" name="object 38">
              <a:extLst>
                <a:ext uri="{FF2B5EF4-FFF2-40B4-BE49-F238E27FC236}">
                  <a16:creationId xmlns:a16="http://schemas.microsoft.com/office/drawing/2014/main" id="{50EE2F7B-7569-A661-A58D-32A9CE431B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3311" y="2147316"/>
              <a:ext cx="3041190" cy="4053091"/>
            </a:xfrm>
            <a:prstGeom prst="rect">
              <a:avLst/>
            </a:prstGeom>
          </p:spPr>
        </p:pic>
        <p:sp>
          <p:nvSpPr>
            <p:cNvPr id="79" name="object 39">
              <a:extLst>
                <a:ext uri="{FF2B5EF4-FFF2-40B4-BE49-F238E27FC236}">
                  <a16:creationId xmlns:a16="http://schemas.microsoft.com/office/drawing/2014/main" id="{E52FC9D7-BC7F-D2DC-9082-B85284BDACAA}"/>
                </a:ext>
              </a:extLst>
            </p:cNvPr>
            <p:cNvSpPr/>
            <p:nvPr/>
          </p:nvSpPr>
          <p:spPr>
            <a:xfrm>
              <a:off x="1298447" y="2147316"/>
              <a:ext cx="2923540" cy="3843654"/>
            </a:xfrm>
            <a:custGeom>
              <a:avLst/>
              <a:gdLst/>
              <a:ahLst/>
              <a:cxnLst/>
              <a:rect l="l" t="t" r="r" b="b"/>
              <a:pathLst>
                <a:path w="2923540" h="3843654">
                  <a:moveTo>
                    <a:pt x="2730118" y="0"/>
                  </a:moveTo>
                  <a:lnTo>
                    <a:pt x="192913" y="0"/>
                  </a:lnTo>
                  <a:lnTo>
                    <a:pt x="148676" y="5094"/>
                  </a:lnTo>
                  <a:lnTo>
                    <a:pt x="108070" y="19606"/>
                  </a:lnTo>
                  <a:lnTo>
                    <a:pt x="72251" y="42377"/>
                  </a:lnTo>
                  <a:lnTo>
                    <a:pt x="42377" y="72251"/>
                  </a:lnTo>
                  <a:lnTo>
                    <a:pt x="19606" y="108070"/>
                  </a:lnTo>
                  <a:lnTo>
                    <a:pt x="5094" y="148676"/>
                  </a:lnTo>
                  <a:lnTo>
                    <a:pt x="0" y="192912"/>
                  </a:lnTo>
                  <a:lnTo>
                    <a:pt x="0" y="3650576"/>
                  </a:lnTo>
                  <a:lnTo>
                    <a:pt x="5094" y="3694819"/>
                  </a:lnTo>
                  <a:lnTo>
                    <a:pt x="19606" y="3735432"/>
                  </a:lnTo>
                  <a:lnTo>
                    <a:pt x="42377" y="3771258"/>
                  </a:lnTo>
                  <a:lnTo>
                    <a:pt x="72251" y="3801139"/>
                  </a:lnTo>
                  <a:lnTo>
                    <a:pt x="108070" y="3823916"/>
                  </a:lnTo>
                  <a:lnTo>
                    <a:pt x="148676" y="3838432"/>
                  </a:lnTo>
                  <a:lnTo>
                    <a:pt x="192913" y="3843528"/>
                  </a:lnTo>
                  <a:lnTo>
                    <a:pt x="2730118" y="3843528"/>
                  </a:lnTo>
                  <a:lnTo>
                    <a:pt x="2774355" y="3838432"/>
                  </a:lnTo>
                  <a:lnTo>
                    <a:pt x="2814961" y="3823916"/>
                  </a:lnTo>
                  <a:lnTo>
                    <a:pt x="2850780" y="3801139"/>
                  </a:lnTo>
                  <a:lnTo>
                    <a:pt x="2880654" y="3771258"/>
                  </a:lnTo>
                  <a:lnTo>
                    <a:pt x="2903425" y="3735432"/>
                  </a:lnTo>
                  <a:lnTo>
                    <a:pt x="2917937" y="3694819"/>
                  </a:lnTo>
                  <a:lnTo>
                    <a:pt x="2923031" y="3650576"/>
                  </a:lnTo>
                  <a:lnTo>
                    <a:pt x="2923031" y="192912"/>
                  </a:lnTo>
                  <a:lnTo>
                    <a:pt x="2917937" y="148676"/>
                  </a:lnTo>
                  <a:lnTo>
                    <a:pt x="2903425" y="108070"/>
                  </a:lnTo>
                  <a:lnTo>
                    <a:pt x="2880654" y="72251"/>
                  </a:lnTo>
                  <a:lnTo>
                    <a:pt x="2850780" y="42377"/>
                  </a:lnTo>
                  <a:lnTo>
                    <a:pt x="2814961" y="19606"/>
                  </a:lnTo>
                  <a:lnTo>
                    <a:pt x="2774355" y="5094"/>
                  </a:lnTo>
                  <a:lnTo>
                    <a:pt x="27301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2" name="object 48">
            <a:extLst>
              <a:ext uri="{FF2B5EF4-FFF2-40B4-BE49-F238E27FC236}">
                <a16:creationId xmlns:a16="http://schemas.microsoft.com/office/drawing/2014/main" id="{16BE590F-092D-FB93-6F38-29A62FA50A1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91905" y="3151966"/>
            <a:ext cx="399128" cy="400181"/>
          </a:xfrm>
          <a:prstGeom prst="rect">
            <a:avLst/>
          </a:prstGeom>
        </p:spPr>
      </p:pic>
      <p:sp>
        <p:nvSpPr>
          <p:cNvPr id="116" name="Google Shape;359;p16">
            <a:extLst>
              <a:ext uri="{FF2B5EF4-FFF2-40B4-BE49-F238E27FC236}">
                <a16:creationId xmlns:a16="http://schemas.microsoft.com/office/drawing/2014/main" id="{2940596B-8943-2B50-285B-8E46F1650537}"/>
              </a:ext>
            </a:extLst>
          </p:cNvPr>
          <p:cNvSpPr txBox="1"/>
          <p:nvPr/>
        </p:nvSpPr>
        <p:spPr>
          <a:xfrm>
            <a:off x="13795816" y="3130200"/>
            <a:ext cx="1575672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4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조직차원</a:t>
            </a:r>
            <a:endParaRPr sz="24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22" name="Google Shape;359;p16">
            <a:extLst>
              <a:ext uri="{FF2B5EF4-FFF2-40B4-BE49-F238E27FC236}">
                <a16:creationId xmlns:a16="http://schemas.microsoft.com/office/drawing/2014/main" id="{DABA028F-F152-D4DF-68A3-F5D977512953}"/>
              </a:ext>
            </a:extLst>
          </p:cNvPr>
          <p:cNvSpPr txBox="1"/>
          <p:nvPr/>
        </p:nvSpPr>
        <p:spPr>
          <a:xfrm>
            <a:off x="13795816" y="5047291"/>
            <a:ext cx="1575672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학습자차원</a:t>
            </a:r>
            <a:endParaRPr sz="24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17134D-3E49-47A5-5344-2F0602C4ECC3}"/>
              </a:ext>
            </a:extLst>
          </p:cNvPr>
          <p:cNvSpPr txBox="1"/>
          <p:nvPr/>
        </p:nvSpPr>
        <p:spPr>
          <a:xfrm>
            <a:off x="13063301" y="5612551"/>
            <a:ext cx="4383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 수준에 맞는 맞춤형 학습 경로 제공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기반 실습과 성과 관리 강화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 결과의 직무 적용 가능성 향상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DF2F0B4-92BD-5814-0036-2A4DF732B7CF}"/>
              </a:ext>
            </a:extLst>
          </p:cNvPr>
          <p:cNvSpPr txBox="1"/>
          <p:nvPr/>
        </p:nvSpPr>
        <p:spPr>
          <a:xfrm>
            <a:off x="13063301" y="3623069"/>
            <a:ext cx="4383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역량을 정량적으로 진단하고 개선 방향을 설정</a:t>
            </a:r>
            <a:endParaRPr lang="ko-KR" altLang="ko-KR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교육과 실제 전환 성과를 연결하는 구조 확보</a:t>
            </a:r>
            <a:endParaRPr lang="ko-KR" altLang="ko-KR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기반 의사결정 체계 구축</a:t>
            </a:r>
            <a:endParaRPr lang="ko-KR" altLang="ko-KR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3" name="object 111">
            <a:extLst>
              <a:ext uri="{FF2B5EF4-FFF2-40B4-BE49-F238E27FC236}">
                <a16:creationId xmlns:a16="http://schemas.microsoft.com/office/drawing/2014/main" id="{B8EC8EFE-0E92-DC91-D710-91016EC1123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89170" y="7027255"/>
            <a:ext cx="354366" cy="426823"/>
          </a:xfrm>
          <a:prstGeom prst="rect">
            <a:avLst/>
          </a:prstGeom>
        </p:spPr>
      </p:pic>
      <p:grpSp>
        <p:nvGrpSpPr>
          <p:cNvPr id="144" name="object 108">
            <a:extLst>
              <a:ext uri="{FF2B5EF4-FFF2-40B4-BE49-F238E27FC236}">
                <a16:creationId xmlns:a16="http://schemas.microsoft.com/office/drawing/2014/main" id="{C6258751-FF8D-7AF5-161F-9E94E0C6DCD9}"/>
              </a:ext>
            </a:extLst>
          </p:cNvPr>
          <p:cNvGrpSpPr/>
          <p:nvPr/>
        </p:nvGrpSpPr>
        <p:grpSpPr>
          <a:xfrm>
            <a:off x="13294298" y="5107046"/>
            <a:ext cx="266065" cy="279400"/>
            <a:chOff x="8259889" y="3058926"/>
            <a:chExt cx="266065" cy="279400"/>
          </a:xfrm>
        </p:grpSpPr>
        <p:sp>
          <p:nvSpPr>
            <p:cNvPr id="145" name="object 109">
              <a:extLst>
                <a:ext uri="{FF2B5EF4-FFF2-40B4-BE49-F238E27FC236}">
                  <a16:creationId xmlns:a16="http://schemas.microsoft.com/office/drawing/2014/main" id="{F15DBE96-3473-2E61-64D1-017BA30FE3CF}"/>
                </a:ext>
              </a:extLst>
            </p:cNvPr>
            <p:cNvSpPr/>
            <p:nvPr/>
          </p:nvSpPr>
          <p:spPr>
            <a:xfrm>
              <a:off x="8269286" y="3068324"/>
              <a:ext cx="247015" cy="260350"/>
            </a:xfrm>
            <a:custGeom>
              <a:avLst/>
              <a:gdLst/>
              <a:ahLst/>
              <a:cxnLst/>
              <a:rect l="l" t="t" r="r" b="b"/>
              <a:pathLst>
                <a:path w="247015" h="260350">
                  <a:moveTo>
                    <a:pt x="246807" y="34296"/>
                  </a:moveTo>
                  <a:lnTo>
                    <a:pt x="213833" y="11539"/>
                  </a:lnTo>
                  <a:lnTo>
                    <a:pt x="167464" y="0"/>
                  </a:lnTo>
                  <a:lnTo>
                    <a:pt x="139451" y="515"/>
                  </a:lnTo>
                  <a:lnTo>
                    <a:pt x="83923" y="17906"/>
                  </a:lnTo>
                  <a:lnTo>
                    <a:pt x="47537" y="55519"/>
                  </a:lnTo>
                  <a:lnTo>
                    <a:pt x="38284" y="100278"/>
                  </a:lnTo>
                  <a:lnTo>
                    <a:pt x="36275" y="123886"/>
                  </a:lnTo>
                  <a:lnTo>
                    <a:pt x="27786" y="139517"/>
                  </a:lnTo>
                  <a:lnTo>
                    <a:pt x="11854" y="163717"/>
                  </a:lnTo>
                  <a:lnTo>
                    <a:pt x="0" y="186541"/>
                  </a:lnTo>
                  <a:lnTo>
                    <a:pt x="3743" y="198040"/>
                  </a:lnTo>
                  <a:lnTo>
                    <a:pt x="24164" y="201668"/>
                  </a:lnTo>
                  <a:lnTo>
                    <a:pt x="28673" y="245916"/>
                  </a:lnTo>
                  <a:lnTo>
                    <a:pt x="29300" y="249926"/>
                  </a:lnTo>
                  <a:lnTo>
                    <a:pt x="32231" y="258747"/>
                  </a:lnTo>
                  <a:lnTo>
                    <a:pt x="33396" y="260256"/>
                  </a:lnTo>
                </a:path>
              </a:pathLst>
            </a:custGeom>
            <a:ln w="1879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10">
              <a:extLst>
                <a:ext uri="{FF2B5EF4-FFF2-40B4-BE49-F238E27FC236}">
                  <a16:creationId xmlns:a16="http://schemas.microsoft.com/office/drawing/2014/main" id="{903BED62-AEE0-1D5E-C6D2-499AB9EA6C1F}"/>
                </a:ext>
              </a:extLst>
            </p:cNvPr>
            <p:cNvSpPr/>
            <p:nvPr/>
          </p:nvSpPr>
          <p:spPr>
            <a:xfrm>
              <a:off x="8334026" y="3193183"/>
              <a:ext cx="45720" cy="17780"/>
            </a:xfrm>
            <a:custGeom>
              <a:avLst/>
              <a:gdLst/>
              <a:ahLst/>
              <a:cxnLst/>
              <a:rect l="l" t="t" r="r" b="b"/>
              <a:pathLst>
                <a:path w="45720" h="17780">
                  <a:moveTo>
                    <a:pt x="45704" y="7256"/>
                  </a:moveTo>
                  <a:lnTo>
                    <a:pt x="43153" y="12149"/>
                  </a:lnTo>
                  <a:lnTo>
                    <a:pt x="37626" y="15607"/>
                  </a:lnTo>
                  <a:lnTo>
                    <a:pt x="29928" y="17323"/>
                  </a:lnTo>
                  <a:lnTo>
                    <a:pt x="20863" y="16990"/>
                  </a:lnTo>
                  <a:lnTo>
                    <a:pt x="12120" y="14546"/>
                  </a:lnTo>
                  <a:lnTo>
                    <a:pt x="5293" y="10519"/>
                  </a:lnTo>
                  <a:lnTo>
                    <a:pt x="1034" y="5479"/>
                  </a:lnTo>
                  <a:lnTo>
                    <a:pt x="0" y="0"/>
                  </a:lnTo>
                </a:path>
              </a:pathLst>
            </a:custGeom>
            <a:ln w="18801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Google Shape;359;p16">
            <a:extLst>
              <a:ext uri="{FF2B5EF4-FFF2-40B4-BE49-F238E27FC236}">
                <a16:creationId xmlns:a16="http://schemas.microsoft.com/office/drawing/2014/main" id="{BA8A9896-49E5-7B51-DC6E-881F9210E548}"/>
              </a:ext>
            </a:extLst>
          </p:cNvPr>
          <p:cNvSpPr txBox="1"/>
          <p:nvPr/>
        </p:nvSpPr>
        <p:spPr>
          <a:xfrm>
            <a:off x="13912463" y="7014289"/>
            <a:ext cx="1575672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운영자차원</a:t>
            </a:r>
            <a:endParaRPr sz="24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80B6A4E-4DB7-A2F9-A2A2-C7BE2B24DCFA}"/>
              </a:ext>
            </a:extLst>
          </p:cNvPr>
          <p:cNvSpPr txBox="1"/>
          <p:nvPr/>
        </p:nvSpPr>
        <p:spPr>
          <a:xfrm>
            <a:off x="13179948" y="7579549"/>
            <a:ext cx="4383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 운영 업무 효율 증대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 진행 및 리스크 실시간 관리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성과 리포트 자동 생성</a:t>
            </a:r>
          </a:p>
        </p:txBody>
      </p:sp>
    </p:spTree>
    <p:extLst>
      <p:ext uri="{BB962C8B-B14F-4D97-AF65-F5344CB8AC3E}">
        <p14:creationId xmlns:p14="http://schemas.microsoft.com/office/powerpoint/2010/main" val="1358744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97CC7CA-F926-1AE1-1BE3-A0A3BDE61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359;p16">
            <a:extLst>
              <a:ext uri="{FF2B5EF4-FFF2-40B4-BE49-F238E27FC236}">
                <a16:creationId xmlns:a16="http://schemas.microsoft.com/office/drawing/2014/main" id="{AB903B82-F95B-0B71-DA00-1A6223EBA3A5}"/>
              </a:ext>
            </a:extLst>
          </p:cNvPr>
          <p:cNvSpPr txBox="1"/>
          <p:nvPr/>
        </p:nvSpPr>
        <p:spPr>
          <a:xfrm>
            <a:off x="1233772" y="797928"/>
            <a:ext cx="10623439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시나리오 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sz="28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A381B67D-D9D6-4E2F-C9F9-1E4DAB3AD261}"/>
              </a:ext>
            </a:extLst>
          </p:cNvPr>
          <p:cNvSpPr/>
          <p:nvPr/>
        </p:nvSpPr>
        <p:spPr>
          <a:xfrm flipV="1">
            <a:off x="3433604" y="5516671"/>
            <a:ext cx="3077498" cy="586824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98B5E2B-B23A-2D65-BF90-67D695A3BB01}"/>
              </a:ext>
            </a:extLst>
          </p:cNvPr>
          <p:cNvSpPr/>
          <p:nvPr/>
        </p:nvSpPr>
        <p:spPr>
          <a:xfrm>
            <a:off x="6751933" y="6712270"/>
            <a:ext cx="4789578" cy="1036605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B7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컨설턴트 </a:t>
            </a:r>
            <a:r>
              <a:rPr lang="en-US" altLang="ko-KR" sz="2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  <a:endParaRPr lang="ko-KR" altLang="en-US" sz="28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6BEA9AF-1334-83EF-40C4-E139C8ACB6AE}"/>
              </a:ext>
            </a:extLst>
          </p:cNvPr>
          <p:cNvSpPr/>
          <p:nvPr/>
        </p:nvSpPr>
        <p:spPr>
          <a:xfrm>
            <a:off x="1233772" y="6675899"/>
            <a:ext cx="4789578" cy="1036605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B7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</a:t>
            </a:r>
            <a:r>
              <a:rPr lang="en-US" altLang="ko-KR" sz="2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  <a:endParaRPr lang="ko-KR" altLang="en-US" sz="28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4C814B6-5DB1-64AF-F9E1-AC659469C5E9}"/>
              </a:ext>
            </a:extLst>
          </p:cNvPr>
          <p:cNvSpPr/>
          <p:nvPr/>
        </p:nvSpPr>
        <p:spPr>
          <a:xfrm>
            <a:off x="12016472" y="6627124"/>
            <a:ext cx="4789578" cy="1036605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B7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교육운영 </a:t>
            </a:r>
            <a:r>
              <a:rPr lang="en-US" altLang="ko-KR" sz="28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  <a:endParaRPr lang="ko-KR" altLang="en-US" sz="28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8EEA42-DCA3-2045-FD9F-C24B4056A17D}"/>
              </a:ext>
            </a:extLst>
          </p:cNvPr>
          <p:cNvSpPr txBox="1"/>
          <p:nvPr/>
        </p:nvSpPr>
        <p:spPr>
          <a:xfrm>
            <a:off x="6969511" y="8025722"/>
            <a:ext cx="4974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ko-KR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 내 역할을 고려한</a:t>
            </a:r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커리큘럼 추천</a:t>
            </a:r>
            <a:endParaRPr lang="en-US" altLang="ko-KR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05414-3862-9C2A-E2DC-2A010DD33C76}"/>
              </a:ext>
            </a:extLst>
          </p:cNvPr>
          <p:cNvSpPr txBox="1"/>
          <p:nvPr/>
        </p:nvSpPr>
        <p:spPr>
          <a:xfrm>
            <a:off x="1479783" y="8010897"/>
            <a:ext cx="596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ko-KR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</a:t>
            </a: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조직내 </a:t>
            </a:r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</a:t>
            </a: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역량 </a:t>
            </a:r>
            <a:r>
              <a:rPr lang="ko-KR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수준</a:t>
            </a:r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학습수준</a:t>
            </a:r>
            <a:endParaRPr lang="en-US" altLang="ko-KR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5A6B0C6F-9AEC-5D88-4BB0-E9FAB4A1C67C}"/>
              </a:ext>
            </a:extLst>
          </p:cNvPr>
          <p:cNvSpPr/>
          <p:nvPr/>
        </p:nvSpPr>
        <p:spPr>
          <a:xfrm flipV="1">
            <a:off x="11420790" y="5490077"/>
            <a:ext cx="3077498" cy="586824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D7231EE-CEE9-CE4A-78D1-AEE2B611AED0}"/>
              </a:ext>
            </a:extLst>
          </p:cNvPr>
          <p:cNvGrpSpPr/>
          <p:nvPr/>
        </p:nvGrpSpPr>
        <p:grpSpPr>
          <a:xfrm>
            <a:off x="9755483" y="1872236"/>
            <a:ext cx="7778319" cy="3414612"/>
            <a:chOff x="1136275" y="2574708"/>
            <a:chExt cx="7778319" cy="3414612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51353CE8-19D9-168D-BD4B-F8CB7A347F99}"/>
                </a:ext>
              </a:extLst>
            </p:cNvPr>
            <p:cNvSpPr/>
            <p:nvPr/>
          </p:nvSpPr>
          <p:spPr>
            <a:xfrm>
              <a:off x="1184580" y="3417938"/>
              <a:ext cx="7441260" cy="25713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736B74-D51A-28FE-B6DE-95E96EDF6AB1}"/>
                </a:ext>
              </a:extLst>
            </p:cNvPr>
            <p:cNvSpPr txBox="1"/>
            <p:nvPr/>
          </p:nvSpPr>
          <p:spPr>
            <a:xfrm>
              <a:off x="1582148" y="3515776"/>
              <a:ext cx="6721834" cy="2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1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업무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학습수준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(AX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역량 진단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2 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현재 공정 데이터 유형점검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진단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b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3 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이상 탐지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예측에 필요한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AI 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개념 이해도 학습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노드추천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b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4 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공정 데이터 기반 실습 과제 추천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컨텐츠 생성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b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5 PoC 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실행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가이드제공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 -&gt; AX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진단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D9E252-92C4-EE79-A858-D302234930B8}"/>
                </a:ext>
              </a:extLst>
            </p:cNvPr>
            <p:cNvSpPr txBox="1"/>
            <p:nvPr/>
          </p:nvSpPr>
          <p:spPr>
            <a:xfrm>
              <a:off x="2103464" y="2574708"/>
              <a:ext cx="6811130" cy="664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ko-KR" altLang="en-US" sz="2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우리 공정에서 불량 원인을 </a:t>
              </a:r>
              <a:r>
                <a:rPr lang="en-US" altLang="ko-KR" sz="2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AI</a:t>
              </a:r>
              <a:r>
                <a:rPr lang="ko-KR" altLang="en-US" sz="2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 예측하고 싶다</a:t>
              </a:r>
              <a:endPara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3" name="Google Shape;380;p16">
              <a:extLst>
                <a:ext uri="{FF2B5EF4-FFF2-40B4-BE49-F238E27FC236}">
                  <a16:creationId xmlns:a16="http://schemas.microsoft.com/office/drawing/2014/main" id="{66DF7699-0B65-5417-4EE9-E1B9D078BD25}"/>
                </a:ext>
              </a:extLst>
            </p:cNvPr>
            <p:cNvSpPr/>
            <p:nvPr/>
          </p:nvSpPr>
          <p:spPr>
            <a:xfrm>
              <a:off x="1136275" y="2646733"/>
              <a:ext cx="891746" cy="572292"/>
            </a:xfrm>
            <a:prstGeom prst="roundRect">
              <a:avLst>
                <a:gd name="adj" fmla="val 24013"/>
              </a:avLst>
            </a:prstGeom>
            <a:solidFill>
              <a:srgbClr val="00B7C6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1270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 dirty="0">
                  <a:solidFill>
                    <a:schemeClr val="lt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</a:rPr>
                <a:t>예시</a:t>
              </a:r>
              <a:r>
                <a:rPr lang="en-US" altLang="ko-KR" sz="1800" b="1" dirty="0">
                  <a:solidFill>
                    <a:schemeClr val="lt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</a:rPr>
                <a:t>2</a:t>
              </a:r>
              <a:endParaRPr sz="1800" b="1" i="0" u="none" strike="noStrike" cap="none" dirty="0">
                <a:solidFill>
                  <a:schemeClr val="lt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5533C5B-185E-99CF-45AB-753A8DDDC564}"/>
              </a:ext>
            </a:extLst>
          </p:cNvPr>
          <p:cNvGrpSpPr/>
          <p:nvPr/>
        </p:nvGrpSpPr>
        <p:grpSpPr>
          <a:xfrm>
            <a:off x="1233772" y="1873111"/>
            <a:ext cx="8661570" cy="3459951"/>
            <a:chOff x="9275910" y="2529369"/>
            <a:chExt cx="8661570" cy="3459951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345B5746-1488-457B-45BE-0CC01C39D57D}"/>
                </a:ext>
              </a:extLst>
            </p:cNvPr>
            <p:cNvSpPr/>
            <p:nvPr/>
          </p:nvSpPr>
          <p:spPr>
            <a:xfrm>
              <a:off x="9373407" y="3379386"/>
              <a:ext cx="6721834" cy="26099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5A958CD-96A0-A881-4FFD-2AC7543C4021}"/>
                </a:ext>
              </a:extLst>
            </p:cNvPr>
            <p:cNvSpPr txBox="1"/>
            <p:nvPr/>
          </p:nvSpPr>
          <p:spPr>
            <a:xfrm>
              <a:off x="9721783" y="3477224"/>
              <a:ext cx="5975890" cy="2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1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업무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학습수준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(AX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역량 진단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2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보유 고객 데이터 구조 점검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진단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b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3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예측 모델에 필요한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AI 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개념 이해도 학습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노드추천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b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4 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고객 세그먼트 분석 실습 과제추천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컨텐츠 생성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b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Step 5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PoC 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실행 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가이드제공</a:t>
              </a:r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 -&gt; AX</a:t>
              </a:r>
              <a:r>
                <a: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진단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DA03E19-EF39-9351-286B-C0789ED12C49}"/>
                </a:ext>
              </a:extLst>
            </p:cNvPr>
            <p:cNvSpPr txBox="1"/>
            <p:nvPr/>
          </p:nvSpPr>
          <p:spPr>
            <a:xfrm>
              <a:off x="10210800" y="2529369"/>
              <a:ext cx="7726680" cy="662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ko-KR" altLang="en-US" sz="2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고객 이탈을 미리 예측하고 대응하고 싶다</a:t>
              </a:r>
              <a:endPara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9" name="Google Shape;380;p16">
              <a:extLst>
                <a:ext uri="{FF2B5EF4-FFF2-40B4-BE49-F238E27FC236}">
                  <a16:creationId xmlns:a16="http://schemas.microsoft.com/office/drawing/2014/main" id="{D057D701-6EFF-13E4-BC96-0DECA614CAC7}"/>
                </a:ext>
              </a:extLst>
            </p:cNvPr>
            <p:cNvSpPr/>
            <p:nvPr/>
          </p:nvSpPr>
          <p:spPr>
            <a:xfrm>
              <a:off x="9275910" y="2600650"/>
              <a:ext cx="891746" cy="572292"/>
            </a:xfrm>
            <a:prstGeom prst="roundRect">
              <a:avLst>
                <a:gd name="adj" fmla="val 24013"/>
              </a:avLst>
            </a:prstGeom>
            <a:solidFill>
              <a:srgbClr val="00B7C6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1270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 dirty="0">
                  <a:solidFill>
                    <a:schemeClr val="lt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</a:rPr>
                <a:t>예시</a:t>
              </a:r>
              <a:r>
                <a:rPr lang="en-US" altLang="ko-KR" sz="1800" b="1" dirty="0">
                  <a:solidFill>
                    <a:schemeClr val="lt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</a:rPr>
                <a:t>1</a:t>
              </a:r>
              <a:endParaRPr sz="1800" b="1" i="0" u="none" strike="noStrike" cap="none" dirty="0">
                <a:solidFill>
                  <a:schemeClr val="lt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1DF5CDF-056D-5183-6C1C-CFC5DDA18654}"/>
              </a:ext>
            </a:extLst>
          </p:cNvPr>
          <p:cNvSpPr txBox="1"/>
          <p:nvPr/>
        </p:nvSpPr>
        <p:spPr>
          <a:xfrm>
            <a:off x="12189991" y="8025722"/>
            <a:ext cx="4974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학습관리 </a:t>
            </a:r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운영관리</a:t>
            </a:r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평가 업무효율</a:t>
            </a:r>
            <a:r>
              <a:rPr lang="ko-KR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증강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C78504-B7A1-A972-BA88-08B6D19266DB}"/>
              </a:ext>
            </a:extLst>
          </p:cNvPr>
          <p:cNvSpPr txBox="1"/>
          <p:nvPr/>
        </p:nvSpPr>
        <p:spPr>
          <a:xfrm>
            <a:off x="3387730" y="5718483"/>
            <a:ext cx="11798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온톨로지 위에서 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특화된 멀티 에이전트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들이 기업의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실행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85F8152-518D-6E85-D842-13F44484F151}"/>
              </a:ext>
            </a:extLst>
          </p:cNvPr>
          <p:cNvSpPr/>
          <p:nvPr/>
        </p:nvSpPr>
        <p:spPr>
          <a:xfrm>
            <a:off x="1233772" y="8564753"/>
            <a:ext cx="15930249" cy="55523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바이브코딩용 실습환경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(CLI)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72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E9C6114-4612-C452-CE9D-6BD88FBB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그룹 89">
            <a:extLst>
              <a:ext uri="{FF2B5EF4-FFF2-40B4-BE49-F238E27FC236}">
                <a16:creationId xmlns:a16="http://schemas.microsoft.com/office/drawing/2014/main" id="{9594A641-14C0-CC2A-42A0-41936377AFAE}"/>
              </a:ext>
            </a:extLst>
          </p:cNvPr>
          <p:cNvGrpSpPr/>
          <p:nvPr/>
        </p:nvGrpSpPr>
        <p:grpSpPr>
          <a:xfrm>
            <a:off x="491191" y="563631"/>
            <a:ext cx="9224309" cy="9603449"/>
            <a:chOff x="1733550" y="1453678"/>
            <a:chExt cx="7981950" cy="7747472"/>
          </a:xfrm>
        </p:grpSpPr>
        <p:sp>
          <p:nvSpPr>
            <p:cNvPr id="33" name="Google Shape;400;p16">
              <a:extLst>
                <a:ext uri="{FF2B5EF4-FFF2-40B4-BE49-F238E27FC236}">
                  <a16:creationId xmlns:a16="http://schemas.microsoft.com/office/drawing/2014/main" id="{C6923A86-B0F9-34E7-9E61-A4CF0E2CCDEF}"/>
                </a:ext>
              </a:extLst>
            </p:cNvPr>
            <p:cNvSpPr/>
            <p:nvPr/>
          </p:nvSpPr>
          <p:spPr>
            <a:xfrm>
              <a:off x="1733550" y="1453678"/>
              <a:ext cx="7981950" cy="719686"/>
            </a:xfrm>
            <a:prstGeom prst="roundRect">
              <a:avLst>
                <a:gd name="adj" fmla="val 16667"/>
              </a:avLst>
            </a:prstGeom>
            <a:solidFill>
              <a:srgbClr val="DCE6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4" name="Google Shape;401;p16">
              <a:extLst>
                <a:ext uri="{FF2B5EF4-FFF2-40B4-BE49-F238E27FC236}">
                  <a16:creationId xmlns:a16="http://schemas.microsoft.com/office/drawing/2014/main" id="{AEE1E0D0-89B0-F2EA-4874-916577323FB7}"/>
                </a:ext>
              </a:extLst>
            </p:cNvPr>
            <p:cNvSpPr txBox="1"/>
            <p:nvPr/>
          </p:nvSpPr>
          <p:spPr>
            <a:xfrm>
              <a:off x="3724958" y="1622443"/>
              <a:ext cx="3849233" cy="382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sz="2400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</a:rPr>
                <a:t>자연어기반 학습자 문제인식</a:t>
              </a:r>
              <a:endParaRPr sz="2400" b="0" i="0" u="none" strike="noStrike" cap="none" dirty="0">
                <a:solidFill>
                  <a:schemeClr val="dk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0" name="Google Shape;400;p16">
              <a:extLst>
                <a:ext uri="{FF2B5EF4-FFF2-40B4-BE49-F238E27FC236}">
                  <a16:creationId xmlns:a16="http://schemas.microsoft.com/office/drawing/2014/main" id="{7975E8BA-6B3C-36AC-039F-B1B359B81F42}"/>
                </a:ext>
              </a:extLst>
            </p:cNvPr>
            <p:cNvSpPr/>
            <p:nvPr/>
          </p:nvSpPr>
          <p:spPr>
            <a:xfrm>
              <a:off x="1733550" y="2459395"/>
              <a:ext cx="7981950" cy="751488"/>
            </a:xfrm>
            <a:prstGeom prst="roundRect">
              <a:avLst>
                <a:gd name="adj" fmla="val 16667"/>
              </a:avLst>
            </a:prstGeom>
            <a:solidFill>
              <a:srgbClr val="DCE6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1" name="Google Shape;401;p16">
              <a:extLst>
                <a:ext uri="{FF2B5EF4-FFF2-40B4-BE49-F238E27FC236}">
                  <a16:creationId xmlns:a16="http://schemas.microsoft.com/office/drawing/2014/main" id="{32D0B8A1-E805-6CEB-8359-F0096F5C09BA}"/>
                </a:ext>
              </a:extLst>
            </p:cNvPr>
            <p:cNvSpPr txBox="1"/>
            <p:nvPr/>
          </p:nvSpPr>
          <p:spPr>
            <a:xfrm>
              <a:off x="2762250" y="2629007"/>
              <a:ext cx="5894883" cy="382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rPr>
                <a:t>API</a:t>
              </a:r>
              <a:r>
                <a:rPr lang="ko-KR" altLang="en-US" sz="2400" b="0" i="0" u="none" strike="noStrike" cap="none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rPr>
                <a:t>호출</a:t>
              </a:r>
              <a:r>
                <a:rPr lang="en-US" altLang="ko-KR" sz="2400" b="0" i="0" u="none" strike="noStrike" cap="none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rPr>
                <a:t>(LMS</a:t>
              </a:r>
              <a:r>
                <a:rPr lang="ko-KR" altLang="en-US" sz="2400" b="0" i="0" u="none" strike="noStrike" cap="none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rPr>
                <a:t>플랫폼</a:t>
              </a:r>
              <a:r>
                <a:rPr lang="en-US" altLang="ko-KR" sz="2400" b="0" i="0" u="none" strike="noStrike" cap="none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rPr>
                <a:t>)</a:t>
              </a:r>
              <a:endParaRPr sz="2400" b="0" i="0" u="none" strike="noStrike" cap="none" dirty="0">
                <a:solidFill>
                  <a:schemeClr val="dk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5" name="Google Shape;400;p16">
              <a:extLst>
                <a:ext uri="{FF2B5EF4-FFF2-40B4-BE49-F238E27FC236}">
                  <a16:creationId xmlns:a16="http://schemas.microsoft.com/office/drawing/2014/main" id="{7BD8A045-8D6F-78AA-BFD0-EFEEFC47411B}"/>
                </a:ext>
              </a:extLst>
            </p:cNvPr>
            <p:cNvSpPr/>
            <p:nvPr/>
          </p:nvSpPr>
          <p:spPr>
            <a:xfrm>
              <a:off x="1733550" y="3678594"/>
              <a:ext cx="7981950" cy="3033676"/>
            </a:xfrm>
            <a:prstGeom prst="roundRect">
              <a:avLst>
                <a:gd name="adj" fmla="val 8504"/>
              </a:avLst>
            </a:prstGeom>
            <a:solidFill>
              <a:srgbClr val="DCE6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21" name="Google Shape;401;p16">
              <a:extLst>
                <a:ext uri="{FF2B5EF4-FFF2-40B4-BE49-F238E27FC236}">
                  <a16:creationId xmlns:a16="http://schemas.microsoft.com/office/drawing/2014/main" id="{0C95A4BC-0EB4-030E-0945-9467658EF2E6}"/>
                </a:ext>
              </a:extLst>
            </p:cNvPr>
            <p:cNvSpPr txBox="1"/>
            <p:nvPr/>
          </p:nvSpPr>
          <p:spPr>
            <a:xfrm>
              <a:off x="2772162" y="3803589"/>
              <a:ext cx="5894883" cy="382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sz="2400" b="0" i="0" u="none" strike="noStrike" cap="none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rPr>
                <a:t>멀티에이전트 협업</a:t>
              </a:r>
              <a:endParaRPr sz="2400" b="0" i="0" u="none" strike="noStrike" cap="none" dirty="0">
                <a:solidFill>
                  <a:schemeClr val="dk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561CC027-875D-60F7-6B0A-8F6E6888D59E}"/>
                </a:ext>
              </a:extLst>
            </p:cNvPr>
            <p:cNvGrpSpPr/>
            <p:nvPr/>
          </p:nvGrpSpPr>
          <p:grpSpPr>
            <a:xfrm>
              <a:off x="2217604" y="4405228"/>
              <a:ext cx="2354396" cy="1999458"/>
              <a:chOff x="2217604" y="4405228"/>
              <a:chExt cx="1692810" cy="1119271"/>
            </a:xfrm>
          </p:grpSpPr>
          <p:sp>
            <p:nvSpPr>
              <p:cNvPr id="16" name="Google Shape;400;p16">
                <a:extLst>
                  <a:ext uri="{FF2B5EF4-FFF2-40B4-BE49-F238E27FC236}">
                    <a16:creationId xmlns:a16="http://schemas.microsoft.com/office/drawing/2014/main" id="{9E1EF616-4F6D-7E18-276A-A968C730DC22}"/>
                  </a:ext>
                </a:extLst>
              </p:cNvPr>
              <p:cNvSpPr/>
              <p:nvPr/>
            </p:nvSpPr>
            <p:spPr>
              <a:xfrm>
                <a:off x="2310359" y="4419600"/>
                <a:ext cx="1537742" cy="1104899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endParaRPr>
              </a:p>
            </p:txBody>
          </p:sp>
          <p:sp>
            <p:nvSpPr>
              <p:cNvPr id="22" name="Google Shape;400;p16">
                <a:extLst>
                  <a:ext uri="{FF2B5EF4-FFF2-40B4-BE49-F238E27FC236}">
                    <a16:creationId xmlns:a16="http://schemas.microsoft.com/office/drawing/2014/main" id="{21EB47BE-7C1B-5B5D-A4CD-7E8A0B2D677B}"/>
                  </a:ext>
                </a:extLst>
              </p:cNvPr>
              <p:cNvSpPr/>
              <p:nvPr/>
            </p:nvSpPr>
            <p:spPr>
              <a:xfrm>
                <a:off x="2310359" y="4405228"/>
                <a:ext cx="1537742" cy="382156"/>
              </a:xfrm>
              <a:prstGeom prst="roundRect">
                <a:avLst>
                  <a:gd name="adj" fmla="val 16667"/>
                </a:avLst>
              </a:prstGeom>
              <a:solidFill>
                <a:srgbClr val="00B7C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buSzPts val="1800"/>
                </a:pPr>
                <a:r>
                  <a:rPr lang="ko-KR" altLang="en-US" sz="20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진단 </a:t>
                </a:r>
                <a:r>
                  <a:rPr lang="en-US" altLang="ko-KR" sz="20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Agent</a:t>
                </a:r>
                <a:endParaRPr lang="ko-KR" altLang="en-US" sz="20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EE814F6-970B-7D29-A14C-138B1C31D9BF}"/>
                  </a:ext>
                </a:extLst>
              </p:cNvPr>
              <p:cNvSpPr txBox="1"/>
              <p:nvPr/>
            </p:nvSpPr>
            <p:spPr>
              <a:xfrm>
                <a:off x="2217604" y="4917569"/>
                <a:ext cx="1692810" cy="396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ko-KR" altLang="en-US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조직 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AX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역량 </a:t>
                </a:r>
                <a:r>
                  <a:rPr lang="ko-KR" altLang="ko-KR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수준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/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학습수준</a:t>
                </a:r>
                <a:endParaRPr lang="en-US" altLang="ko-KR" sz="20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6C1CC00-1BC9-297B-B6B1-9793213B0CE1}"/>
                </a:ext>
              </a:extLst>
            </p:cNvPr>
            <p:cNvGrpSpPr/>
            <p:nvPr/>
          </p:nvGrpSpPr>
          <p:grpSpPr>
            <a:xfrm>
              <a:off x="4485334" y="4405228"/>
              <a:ext cx="2354396" cy="1999458"/>
              <a:chOff x="2217604" y="4405228"/>
              <a:chExt cx="1692810" cy="1119271"/>
            </a:xfrm>
          </p:grpSpPr>
          <p:sp>
            <p:nvSpPr>
              <p:cNvPr id="32" name="Google Shape;400;p16">
                <a:extLst>
                  <a:ext uri="{FF2B5EF4-FFF2-40B4-BE49-F238E27FC236}">
                    <a16:creationId xmlns:a16="http://schemas.microsoft.com/office/drawing/2014/main" id="{124022A3-9B04-6CCF-DF58-E66949B6AD75}"/>
                  </a:ext>
                </a:extLst>
              </p:cNvPr>
              <p:cNvSpPr/>
              <p:nvPr/>
            </p:nvSpPr>
            <p:spPr>
              <a:xfrm>
                <a:off x="2310359" y="4419600"/>
                <a:ext cx="1537742" cy="1104899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endParaRPr>
              </a:p>
            </p:txBody>
          </p:sp>
          <p:sp>
            <p:nvSpPr>
              <p:cNvPr id="53" name="Google Shape;400;p16">
                <a:extLst>
                  <a:ext uri="{FF2B5EF4-FFF2-40B4-BE49-F238E27FC236}">
                    <a16:creationId xmlns:a16="http://schemas.microsoft.com/office/drawing/2014/main" id="{E1160BEC-AD13-6AF1-6C9E-D0789ECBE2B7}"/>
                  </a:ext>
                </a:extLst>
              </p:cNvPr>
              <p:cNvSpPr/>
              <p:nvPr/>
            </p:nvSpPr>
            <p:spPr>
              <a:xfrm>
                <a:off x="2310359" y="4405228"/>
                <a:ext cx="1537742" cy="382156"/>
              </a:xfrm>
              <a:prstGeom prst="roundRect">
                <a:avLst>
                  <a:gd name="adj" fmla="val 16667"/>
                </a:avLst>
              </a:prstGeom>
              <a:solidFill>
                <a:srgbClr val="00B7C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altLang="ko-KR" sz="20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AX </a:t>
                </a:r>
                <a:r>
                  <a:rPr lang="ko-KR" altLang="en-US" sz="20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컨설턴트 </a:t>
                </a:r>
                <a:r>
                  <a:rPr lang="en-US" altLang="ko-KR" sz="20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Agent</a:t>
                </a:r>
                <a:endParaRPr lang="ko-KR" altLang="en-US" sz="20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364559-A32E-736B-FC8E-887396C577F2}"/>
                  </a:ext>
                </a:extLst>
              </p:cNvPr>
              <p:cNvSpPr txBox="1"/>
              <p:nvPr/>
            </p:nvSpPr>
            <p:spPr>
              <a:xfrm>
                <a:off x="2217604" y="4850965"/>
                <a:ext cx="1692810" cy="568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ko-KR" altLang="ko-KR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조직 내 역할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별</a:t>
                </a:r>
                <a:endParaRPr lang="en-US" altLang="ko-KR" sz="20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ko-KR" altLang="en-US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커리큘럼 추천 및 </a:t>
                </a:r>
                <a:endParaRPr lang="en-US" altLang="ko-KR" sz="20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ko-KR" altLang="en-US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실습 컨텐츠 생성</a:t>
                </a:r>
                <a:endParaRPr lang="en-US" altLang="ko-KR" sz="20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3E7B211D-0FD1-B37F-84D1-AED891602447}"/>
                </a:ext>
              </a:extLst>
            </p:cNvPr>
            <p:cNvGrpSpPr/>
            <p:nvPr/>
          </p:nvGrpSpPr>
          <p:grpSpPr>
            <a:xfrm>
              <a:off x="6751933" y="4426599"/>
              <a:ext cx="2354396" cy="1999458"/>
              <a:chOff x="2217604" y="4405228"/>
              <a:chExt cx="1692810" cy="1119271"/>
            </a:xfrm>
          </p:grpSpPr>
          <p:sp>
            <p:nvSpPr>
              <p:cNvPr id="56" name="Google Shape;400;p16">
                <a:extLst>
                  <a:ext uri="{FF2B5EF4-FFF2-40B4-BE49-F238E27FC236}">
                    <a16:creationId xmlns:a16="http://schemas.microsoft.com/office/drawing/2014/main" id="{917A8203-AA8B-6352-E3E6-8DE2E76C6EC4}"/>
                  </a:ext>
                </a:extLst>
              </p:cNvPr>
              <p:cNvSpPr/>
              <p:nvPr/>
            </p:nvSpPr>
            <p:spPr>
              <a:xfrm>
                <a:off x="2310359" y="4419600"/>
                <a:ext cx="1537742" cy="1104899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endParaRPr>
              </a:p>
            </p:txBody>
          </p:sp>
          <p:sp>
            <p:nvSpPr>
              <p:cNvPr id="57" name="Google Shape;400;p16">
                <a:extLst>
                  <a:ext uri="{FF2B5EF4-FFF2-40B4-BE49-F238E27FC236}">
                    <a16:creationId xmlns:a16="http://schemas.microsoft.com/office/drawing/2014/main" id="{AAEEC200-E777-7023-B0FA-7A5181A5F248}"/>
                  </a:ext>
                </a:extLst>
              </p:cNvPr>
              <p:cNvSpPr/>
              <p:nvPr/>
            </p:nvSpPr>
            <p:spPr>
              <a:xfrm>
                <a:off x="2310359" y="4405228"/>
                <a:ext cx="1537742" cy="382156"/>
              </a:xfrm>
              <a:prstGeom prst="roundRect">
                <a:avLst>
                  <a:gd name="adj" fmla="val 16667"/>
                </a:avLst>
              </a:prstGeom>
              <a:solidFill>
                <a:srgbClr val="00B7C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ko-KR" altLang="en-US" sz="20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교육운영 </a:t>
                </a:r>
                <a:r>
                  <a:rPr lang="en-US" altLang="ko-KR" sz="20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Agent</a:t>
                </a:r>
                <a:endParaRPr lang="ko-KR" altLang="en-US" sz="20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BC2B2FC-808B-3686-6CD9-EA8911B01347}"/>
                  </a:ext>
                </a:extLst>
              </p:cNvPr>
              <p:cNvSpPr txBox="1"/>
              <p:nvPr/>
            </p:nvSpPr>
            <p:spPr>
              <a:xfrm>
                <a:off x="2217604" y="4857625"/>
                <a:ext cx="1692810" cy="45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ko-KR" altLang="en-US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학습관리 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</a:t>
                </a: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ko-KR" altLang="en-US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운영관리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</a:t>
                </a: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ko-KR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평가 업무효율</a:t>
                </a:r>
                <a:r>
                  <a:rPr lang="ko-KR" altLang="ko-KR" sz="20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증강</a:t>
                </a:r>
              </a:p>
            </p:txBody>
          </p:sp>
        </p:grpSp>
        <p:sp>
          <p:nvSpPr>
            <p:cNvPr id="59" name="Google Shape;400;p16">
              <a:extLst>
                <a:ext uri="{FF2B5EF4-FFF2-40B4-BE49-F238E27FC236}">
                  <a16:creationId xmlns:a16="http://schemas.microsoft.com/office/drawing/2014/main" id="{A64D0FC6-B4B8-0303-BE8C-64882D2F2C8B}"/>
                </a:ext>
              </a:extLst>
            </p:cNvPr>
            <p:cNvSpPr/>
            <p:nvPr/>
          </p:nvSpPr>
          <p:spPr>
            <a:xfrm>
              <a:off x="1733550" y="8412644"/>
              <a:ext cx="7981950" cy="788506"/>
            </a:xfrm>
            <a:prstGeom prst="roundRect">
              <a:avLst>
                <a:gd name="adj" fmla="val 8504"/>
              </a:avLst>
            </a:prstGeom>
            <a:solidFill>
              <a:srgbClr val="DCE6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65" name="Google Shape;401;p16">
              <a:extLst>
                <a:ext uri="{FF2B5EF4-FFF2-40B4-BE49-F238E27FC236}">
                  <a16:creationId xmlns:a16="http://schemas.microsoft.com/office/drawing/2014/main" id="{13554EEF-DAFF-1495-3FEE-271108822A69}"/>
                </a:ext>
              </a:extLst>
            </p:cNvPr>
            <p:cNvSpPr txBox="1"/>
            <p:nvPr/>
          </p:nvSpPr>
          <p:spPr>
            <a:xfrm>
              <a:off x="2580413" y="8657363"/>
              <a:ext cx="5894883" cy="382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sz="2400" b="0" i="0" u="none" strike="noStrike" cap="none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rPr>
                <a:t>온톨로지 기반 </a:t>
              </a:r>
              <a:r>
                <a:rPr lang="ko-KR" altLang="en-US" sz="2400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</a:rPr>
                <a:t>기업 </a:t>
              </a:r>
              <a:r>
                <a:rPr lang="en-US" altLang="ko-KR" sz="2400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</a:rPr>
                <a:t>AX</a:t>
              </a:r>
              <a:r>
                <a:rPr lang="ko-KR" altLang="en-US" sz="2400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</a:rPr>
                <a:t>전환</a:t>
              </a:r>
              <a:r>
                <a:rPr lang="ko-KR" altLang="en-US" sz="2400" b="0" i="0" u="none" strike="noStrike" cap="none" dirty="0">
                  <a:solidFill>
                    <a:schemeClr val="dk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Pretendard" panose="02000503000000020004" pitchFamily="50" charset="-127"/>
                  <a:sym typeface="Arial"/>
                </a:rPr>
                <a:t> 액션 플랜 제공</a:t>
              </a:r>
              <a:endParaRPr sz="2400" b="0" i="0" u="none" strike="noStrike" cap="none" dirty="0">
                <a:solidFill>
                  <a:schemeClr val="dk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68" name="Google Shape;400;p16">
              <a:extLst>
                <a:ext uri="{FF2B5EF4-FFF2-40B4-BE49-F238E27FC236}">
                  <a16:creationId xmlns:a16="http://schemas.microsoft.com/office/drawing/2014/main" id="{97785AF8-7CC4-954F-1674-B263B089CEA5}"/>
                </a:ext>
              </a:extLst>
            </p:cNvPr>
            <p:cNvSpPr/>
            <p:nvPr/>
          </p:nvSpPr>
          <p:spPr>
            <a:xfrm>
              <a:off x="1733550" y="6931753"/>
              <a:ext cx="7981950" cy="1267720"/>
            </a:xfrm>
            <a:prstGeom prst="roundRect">
              <a:avLst>
                <a:gd name="adj" fmla="val 11509"/>
              </a:avLst>
            </a:prstGeom>
            <a:solidFill>
              <a:srgbClr val="DCE6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69" name="Google Shape;400;p16">
              <a:extLst>
                <a:ext uri="{FF2B5EF4-FFF2-40B4-BE49-F238E27FC236}">
                  <a16:creationId xmlns:a16="http://schemas.microsoft.com/office/drawing/2014/main" id="{36ED91FB-0F76-1905-9E61-C318602D2883}"/>
                </a:ext>
              </a:extLst>
            </p:cNvPr>
            <p:cNvSpPr/>
            <p:nvPr/>
          </p:nvSpPr>
          <p:spPr>
            <a:xfrm>
              <a:off x="2447428" y="7204254"/>
              <a:ext cx="6544047" cy="682681"/>
            </a:xfrm>
            <a:prstGeom prst="roundRect">
              <a:avLst>
                <a:gd name="adj" fmla="val 16667"/>
              </a:avLst>
            </a:prstGeom>
            <a:solidFill>
              <a:srgbClr val="00B7C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800"/>
              </a:pPr>
              <a:r>
                <a:rPr lang="en-US" altLang="ko-KR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PoC</a:t>
              </a:r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결과물 플랫폼 </a:t>
              </a:r>
              <a:r>
                <a:rPr lang="en-US" altLang="ko-KR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학습결과물 모음</a:t>
              </a:r>
              <a:r>
                <a:rPr lang="en-US" altLang="ko-KR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ko-KR" altLang="en-US" sz="2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1" name="이등변 삼각형 70">
              <a:extLst>
                <a:ext uri="{FF2B5EF4-FFF2-40B4-BE49-F238E27FC236}">
                  <a16:creationId xmlns:a16="http://schemas.microsoft.com/office/drawing/2014/main" id="{B37F09A7-F7A5-E179-1968-1E0BC7A645CD}"/>
                </a:ext>
              </a:extLst>
            </p:cNvPr>
            <p:cNvSpPr/>
            <p:nvPr/>
          </p:nvSpPr>
          <p:spPr>
            <a:xfrm flipV="1">
              <a:off x="3520395" y="2115524"/>
              <a:ext cx="4258358" cy="20899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이등변 삼각형 71">
              <a:extLst>
                <a:ext uri="{FF2B5EF4-FFF2-40B4-BE49-F238E27FC236}">
                  <a16:creationId xmlns:a16="http://schemas.microsoft.com/office/drawing/2014/main" id="{17CAF496-35C3-1718-E348-9D9F3664041F}"/>
                </a:ext>
              </a:extLst>
            </p:cNvPr>
            <p:cNvSpPr/>
            <p:nvPr/>
          </p:nvSpPr>
          <p:spPr>
            <a:xfrm flipV="1">
              <a:off x="3616977" y="3183384"/>
              <a:ext cx="4258358" cy="20899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이등변 삼각형 72">
              <a:extLst>
                <a:ext uri="{FF2B5EF4-FFF2-40B4-BE49-F238E27FC236}">
                  <a16:creationId xmlns:a16="http://schemas.microsoft.com/office/drawing/2014/main" id="{E23B8325-E3A6-CAD0-6784-668E665F2B07}"/>
                </a:ext>
              </a:extLst>
            </p:cNvPr>
            <p:cNvSpPr/>
            <p:nvPr/>
          </p:nvSpPr>
          <p:spPr>
            <a:xfrm flipV="1">
              <a:off x="3554523" y="6707508"/>
              <a:ext cx="4258358" cy="20899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이등변 삼각형 73">
              <a:extLst>
                <a:ext uri="{FF2B5EF4-FFF2-40B4-BE49-F238E27FC236}">
                  <a16:creationId xmlns:a16="http://schemas.microsoft.com/office/drawing/2014/main" id="{08470F54-10EE-5744-39B5-B22F947973BA}"/>
                </a:ext>
              </a:extLst>
            </p:cNvPr>
            <p:cNvSpPr/>
            <p:nvPr/>
          </p:nvSpPr>
          <p:spPr>
            <a:xfrm flipV="1">
              <a:off x="3580512" y="8199473"/>
              <a:ext cx="4258358" cy="20899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B3DD49B3-48B1-F2DF-2780-E822A0E859FC}"/>
              </a:ext>
            </a:extLst>
          </p:cNvPr>
          <p:cNvSpPr txBox="1"/>
          <p:nvPr/>
        </p:nvSpPr>
        <p:spPr>
          <a:xfrm>
            <a:off x="9986001" y="486186"/>
            <a:ext cx="72532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상황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“나는 제조업 세일즈 부서 담당자야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최근 고객 이탈이 늘고 있는데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이탈을 미리 예측하고 대응하고 싶어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.” </a:t>
            </a:r>
          </a:p>
          <a:p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비개발 직군의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현업 문제 인식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자연어로 입력</a:t>
            </a:r>
          </a:p>
        </p:txBody>
      </p:sp>
      <p:sp>
        <p:nvSpPr>
          <p:cNvPr id="80" name="Google Shape;400;p16">
            <a:extLst>
              <a:ext uri="{FF2B5EF4-FFF2-40B4-BE49-F238E27FC236}">
                <a16:creationId xmlns:a16="http://schemas.microsoft.com/office/drawing/2014/main" id="{BDD05902-3C73-66CD-54C9-EE31DECD30D5}"/>
              </a:ext>
            </a:extLst>
          </p:cNvPr>
          <p:cNvSpPr/>
          <p:nvPr/>
        </p:nvSpPr>
        <p:spPr>
          <a:xfrm>
            <a:off x="10059222" y="2798436"/>
            <a:ext cx="7559860" cy="4102502"/>
          </a:xfrm>
          <a:prstGeom prst="roundRect">
            <a:avLst>
              <a:gd name="adj" fmla="val 3460"/>
            </a:avLst>
          </a:prstGeom>
          <a:solidFill>
            <a:schemeClr val="bg1"/>
          </a:solidFill>
          <a:ln>
            <a:solidFill>
              <a:srgbClr val="00B7C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1B3E2F-7876-C7D3-6BB3-ED6E4CF167C0}"/>
              </a:ext>
            </a:extLst>
          </p:cNvPr>
          <p:cNvSpPr txBox="1"/>
          <p:nvPr/>
        </p:nvSpPr>
        <p:spPr>
          <a:xfrm>
            <a:off x="10034846" y="2275843"/>
            <a:ext cx="7253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동작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456254-4EBF-A4B4-FEBB-EDC9B82F43CE}"/>
              </a:ext>
            </a:extLst>
          </p:cNvPr>
          <p:cNvSpPr txBox="1"/>
          <p:nvPr/>
        </p:nvSpPr>
        <p:spPr>
          <a:xfrm>
            <a:off x="10200532" y="2948622"/>
            <a:ext cx="74532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 (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 데이터 기반으로 진단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buNone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세일즈 조직은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성숙도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Level 2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이며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b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 이탈 예측을 위한 데이터 활용 역량이 부족합니다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buNone/>
            </a:pP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컨설턴트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Agent(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조직에 필요한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전환 과제 도출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 이탈 예측을 위해 ① 고객 행동 데이터 이해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 이탈 신호 정의 </a:t>
            </a:r>
            <a:b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 간단한 예측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PoC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실행이 필요합니다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.”</a:t>
            </a:r>
          </a:p>
          <a:p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 → 실습 →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PoC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이어지는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Level-up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경로설계  및 컨텐츠 생성</a:t>
            </a:r>
            <a:endParaRPr lang="en-US" altLang="ko-KR" sz="2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2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교육운영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 (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경로에 맞춰 학습 진행 관리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/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 실습 수행 모니터링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PoC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 수집</a:t>
            </a:r>
          </a:p>
          <a:p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“현재 실습 수행률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80%,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이탈 예측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PoC 1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 결과 생성 완료”</a:t>
            </a:r>
            <a:endParaRPr lang="en-US" altLang="ko-KR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Google Shape;400;p16">
            <a:extLst>
              <a:ext uri="{FF2B5EF4-FFF2-40B4-BE49-F238E27FC236}">
                <a16:creationId xmlns:a16="http://schemas.microsoft.com/office/drawing/2014/main" id="{F68C4464-2417-0E7D-049E-3D6275D80081}"/>
              </a:ext>
            </a:extLst>
          </p:cNvPr>
          <p:cNvSpPr/>
          <p:nvPr/>
        </p:nvSpPr>
        <p:spPr>
          <a:xfrm>
            <a:off x="10117653" y="7691809"/>
            <a:ext cx="7559860" cy="788506"/>
          </a:xfrm>
          <a:prstGeom prst="roundRect">
            <a:avLst>
              <a:gd name="adj" fmla="val 3460"/>
            </a:avLst>
          </a:prstGeom>
          <a:solidFill>
            <a:schemeClr val="bg1"/>
          </a:solidFill>
          <a:ln>
            <a:solidFill>
              <a:srgbClr val="00B7C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401F47-8DC1-DEF3-4C45-BF64FC27B759}"/>
              </a:ext>
            </a:extLst>
          </p:cNvPr>
          <p:cNvSpPr txBox="1"/>
          <p:nvPr/>
        </p:nvSpPr>
        <p:spPr>
          <a:xfrm>
            <a:off x="10190294" y="7751492"/>
            <a:ext cx="74532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 기반 실행 환경에서 자연어 프롬프트로 고객 이탈 분석 실행</a:t>
            </a:r>
          </a:p>
          <a:p>
            <a:pPr lvl="1"/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간단한 이탈 예측 프로세스 프로토타잎 생성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08866B0-B080-F8F6-5CCE-D7C9C2AF2D64}"/>
              </a:ext>
            </a:extLst>
          </p:cNvPr>
          <p:cNvSpPr txBox="1"/>
          <p:nvPr/>
        </p:nvSpPr>
        <p:spPr>
          <a:xfrm>
            <a:off x="9986001" y="7123195"/>
            <a:ext cx="7253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 결과가 실제 업무 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PoC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결과물로 저장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1" name="Google Shape;400;p16">
            <a:extLst>
              <a:ext uri="{FF2B5EF4-FFF2-40B4-BE49-F238E27FC236}">
                <a16:creationId xmlns:a16="http://schemas.microsoft.com/office/drawing/2014/main" id="{7E2E65F5-88C1-68BF-97A9-B51E0405E56A}"/>
              </a:ext>
            </a:extLst>
          </p:cNvPr>
          <p:cNvSpPr/>
          <p:nvPr/>
        </p:nvSpPr>
        <p:spPr>
          <a:xfrm>
            <a:off x="10166498" y="9291455"/>
            <a:ext cx="7559860" cy="788506"/>
          </a:xfrm>
          <a:prstGeom prst="roundRect">
            <a:avLst>
              <a:gd name="adj" fmla="val 3460"/>
            </a:avLst>
          </a:prstGeom>
          <a:solidFill>
            <a:schemeClr val="bg1"/>
          </a:solidFill>
          <a:ln>
            <a:solidFill>
              <a:srgbClr val="00B7C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517950D-5CF2-5C38-8701-967F342670D2}"/>
              </a:ext>
            </a:extLst>
          </p:cNvPr>
          <p:cNvSpPr txBox="1"/>
          <p:nvPr/>
        </p:nvSpPr>
        <p:spPr>
          <a:xfrm>
            <a:off x="10239139" y="9351138"/>
            <a:ext cx="74532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“다음 단계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전환 액션 플랜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이탈 위험 고객군 세분화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대응 시나리오 자동 추천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PoC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확장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세일즈 조직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Level 3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전환 권장”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E36E74D-0BEF-9A11-A19A-CDF7AE50D7E1}"/>
              </a:ext>
            </a:extLst>
          </p:cNvPr>
          <p:cNvSpPr txBox="1"/>
          <p:nvPr/>
        </p:nvSpPr>
        <p:spPr>
          <a:xfrm>
            <a:off x="10034846" y="8722841"/>
            <a:ext cx="7253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[AX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다음단계 제안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4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49AEA2A-8FD3-0A3F-13B8-139508CAB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400;p16">
            <a:extLst>
              <a:ext uri="{FF2B5EF4-FFF2-40B4-BE49-F238E27FC236}">
                <a16:creationId xmlns:a16="http://schemas.microsoft.com/office/drawing/2014/main" id="{299F694B-FB80-2A53-0673-9BB4A3072ED4}"/>
              </a:ext>
            </a:extLst>
          </p:cNvPr>
          <p:cNvSpPr/>
          <p:nvPr/>
        </p:nvSpPr>
        <p:spPr>
          <a:xfrm>
            <a:off x="13240994" y="1735913"/>
            <a:ext cx="4482497" cy="6398598"/>
          </a:xfrm>
          <a:prstGeom prst="roundRect">
            <a:avLst>
              <a:gd name="adj" fmla="val 8504"/>
            </a:avLst>
          </a:prstGeom>
          <a:solidFill>
            <a:schemeClr val="accent5">
              <a:lumMod val="20000"/>
              <a:lumOff val="80000"/>
              <a:alpha val="50196"/>
            </a:schemeClr>
          </a:solidFill>
          <a:ln w="28575">
            <a:solidFill>
              <a:schemeClr val="accent5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Google Shape;400;p16">
            <a:extLst>
              <a:ext uri="{FF2B5EF4-FFF2-40B4-BE49-F238E27FC236}">
                <a16:creationId xmlns:a16="http://schemas.microsoft.com/office/drawing/2014/main" id="{405E4B99-54E5-913B-2795-3B5797C16C62}"/>
              </a:ext>
            </a:extLst>
          </p:cNvPr>
          <p:cNvSpPr/>
          <p:nvPr/>
        </p:nvSpPr>
        <p:spPr>
          <a:xfrm>
            <a:off x="490440" y="1735912"/>
            <a:ext cx="4499766" cy="6350804"/>
          </a:xfrm>
          <a:prstGeom prst="roundRect">
            <a:avLst>
              <a:gd name="adj" fmla="val 8504"/>
            </a:avLst>
          </a:prstGeom>
          <a:solidFill>
            <a:schemeClr val="tx2">
              <a:lumMod val="10000"/>
              <a:lumOff val="90000"/>
              <a:alpha val="50196"/>
            </a:schemeClr>
          </a:solidFill>
          <a:ln w="28575">
            <a:solidFill>
              <a:srgbClr val="DCEAF7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Google Shape;400;p16">
            <a:extLst>
              <a:ext uri="{FF2B5EF4-FFF2-40B4-BE49-F238E27FC236}">
                <a16:creationId xmlns:a16="http://schemas.microsoft.com/office/drawing/2014/main" id="{EEE0C030-138D-90F2-ACA4-FE6B65470A3C}"/>
              </a:ext>
            </a:extLst>
          </p:cNvPr>
          <p:cNvSpPr/>
          <p:nvPr/>
        </p:nvSpPr>
        <p:spPr>
          <a:xfrm>
            <a:off x="793412" y="2741229"/>
            <a:ext cx="3833838" cy="1859717"/>
          </a:xfrm>
          <a:prstGeom prst="roundRect">
            <a:avLst>
              <a:gd name="adj" fmla="val 8504"/>
            </a:avLst>
          </a:prstGeom>
          <a:solidFill>
            <a:schemeClr val="bg1"/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Google Shape;400;p16">
            <a:extLst>
              <a:ext uri="{FF2B5EF4-FFF2-40B4-BE49-F238E27FC236}">
                <a16:creationId xmlns:a16="http://schemas.microsoft.com/office/drawing/2014/main" id="{C026B4A3-C82F-145C-543F-13A01EF6E780}"/>
              </a:ext>
            </a:extLst>
          </p:cNvPr>
          <p:cNvSpPr/>
          <p:nvPr/>
        </p:nvSpPr>
        <p:spPr>
          <a:xfrm>
            <a:off x="804158" y="4786411"/>
            <a:ext cx="3833838" cy="1839953"/>
          </a:xfrm>
          <a:prstGeom prst="roundRect">
            <a:avLst>
              <a:gd name="adj" fmla="val 8504"/>
            </a:avLst>
          </a:prstGeom>
          <a:solidFill>
            <a:schemeClr val="bg1"/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십자형 4">
            <a:extLst>
              <a:ext uri="{FF2B5EF4-FFF2-40B4-BE49-F238E27FC236}">
                <a16:creationId xmlns:a16="http://schemas.microsoft.com/office/drawing/2014/main" id="{785DC1E3-5CD6-28A6-A17D-92F676DD4E3D}"/>
              </a:ext>
            </a:extLst>
          </p:cNvPr>
          <p:cNvSpPr/>
          <p:nvPr/>
        </p:nvSpPr>
        <p:spPr>
          <a:xfrm>
            <a:off x="2385435" y="6663242"/>
            <a:ext cx="491301" cy="486696"/>
          </a:xfrm>
          <a:prstGeom prst="plus">
            <a:avLst>
              <a:gd name="adj" fmla="val 492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Google Shape;400;p16">
            <a:extLst>
              <a:ext uri="{FF2B5EF4-FFF2-40B4-BE49-F238E27FC236}">
                <a16:creationId xmlns:a16="http://schemas.microsoft.com/office/drawing/2014/main" id="{58125197-2D17-00AA-AF13-94311542CE1B}"/>
              </a:ext>
            </a:extLst>
          </p:cNvPr>
          <p:cNvSpPr/>
          <p:nvPr/>
        </p:nvSpPr>
        <p:spPr>
          <a:xfrm>
            <a:off x="5955253" y="890809"/>
            <a:ext cx="6256412" cy="7137981"/>
          </a:xfrm>
          <a:prstGeom prst="roundRect">
            <a:avLst>
              <a:gd name="adj" fmla="val 8504"/>
            </a:avLst>
          </a:prstGeom>
          <a:solidFill>
            <a:srgbClr val="4DCDD7">
              <a:alpha val="20000"/>
            </a:srgbClr>
          </a:solidFill>
          <a:ln w="28575">
            <a:solidFill>
              <a:srgbClr val="00B7C6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Google Shape;400;p16">
            <a:extLst>
              <a:ext uri="{FF2B5EF4-FFF2-40B4-BE49-F238E27FC236}">
                <a16:creationId xmlns:a16="http://schemas.microsoft.com/office/drawing/2014/main" id="{E1B0F972-D01B-12A0-0B1F-B3DE4336A017}"/>
              </a:ext>
            </a:extLst>
          </p:cNvPr>
          <p:cNvSpPr/>
          <p:nvPr/>
        </p:nvSpPr>
        <p:spPr>
          <a:xfrm>
            <a:off x="6302469" y="1841852"/>
            <a:ext cx="5614227" cy="2900874"/>
          </a:xfrm>
          <a:prstGeom prst="roundRect">
            <a:avLst>
              <a:gd name="adj" fmla="val 8504"/>
            </a:avLst>
          </a:prstGeom>
          <a:solidFill>
            <a:schemeClr val="bg1"/>
          </a:solidFill>
          <a:ln w="28575">
            <a:solidFill>
              <a:srgbClr val="00B7C6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Google Shape;400;p16">
            <a:extLst>
              <a:ext uri="{FF2B5EF4-FFF2-40B4-BE49-F238E27FC236}">
                <a16:creationId xmlns:a16="http://schemas.microsoft.com/office/drawing/2014/main" id="{4589064F-73F7-1FFB-0D12-3480A48A6C52}"/>
              </a:ext>
            </a:extLst>
          </p:cNvPr>
          <p:cNvSpPr/>
          <p:nvPr/>
        </p:nvSpPr>
        <p:spPr>
          <a:xfrm>
            <a:off x="6302469" y="5294670"/>
            <a:ext cx="5614227" cy="2289098"/>
          </a:xfrm>
          <a:prstGeom prst="roundRect">
            <a:avLst>
              <a:gd name="adj" fmla="val 8504"/>
            </a:avLst>
          </a:prstGeom>
          <a:solidFill>
            <a:schemeClr val="bg1"/>
          </a:solidFill>
          <a:ln w="28575">
            <a:solidFill>
              <a:srgbClr val="00B7C6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Google Shape;400;p16">
            <a:extLst>
              <a:ext uri="{FF2B5EF4-FFF2-40B4-BE49-F238E27FC236}">
                <a16:creationId xmlns:a16="http://schemas.microsoft.com/office/drawing/2014/main" id="{AA187447-A49A-4498-D652-52FC211F6C9E}"/>
              </a:ext>
            </a:extLst>
          </p:cNvPr>
          <p:cNvSpPr/>
          <p:nvPr/>
        </p:nvSpPr>
        <p:spPr>
          <a:xfrm>
            <a:off x="13624456" y="2864585"/>
            <a:ext cx="3675350" cy="1499808"/>
          </a:xfrm>
          <a:prstGeom prst="roundRect">
            <a:avLst>
              <a:gd name="adj" fmla="val 8504"/>
            </a:avLst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Google Shape;400;p16">
            <a:extLst>
              <a:ext uri="{FF2B5EF4-FFF2-40B4-BE49-F238E27FC236}">
                <a16:creationId xmlns:a16="http://schemas.microsoft.com/office/drawing/2014/main" id="{97D9D51E-B165-69C7-D59F-E6A918EA4EF4}"/>
              </a:ext>
            </a:extLst>
          </p:cNvPr>
          <p:cNvSpPr/>
          <p:nvPr/>
        </p:nvSpPr>
        <p:spPr>
          <a:xfrm>
            <a:off x="13635202" y="4584151"/>
            <a:ext cx="3675350" cy="1499808"/>
          </a:xfrm>
          <a:prstGeom prst="roundRect">
            <a:avLst>
              <a:gd name="adj" fmla="val 8504"/>
            </a:avLst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Google Shape;401;p16">
            <a:extLst>
              <a:ext uri="{FF2B5EF4-FFF2-40B4-BE49-F238E27FC236}">
                <a16:creationId xmlns:a16="http://schemas.microsoft.com/office/drawing/2014/main" id="{78131CC2-F766-ED74-4C7C-BBBB53C92158}"/>
              </a:ext>
            </a:extLst>
          </p:cNvPr>
          <p:cNvSpPr txBox="1"/>
          <p:nvPr/>
        </p:nvSpPr>
        <p:spPr>
          <a:xfrm>
            <a:off x="7522882" y="5829698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Core Technology Engine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Google Shape;400;p16">
            <a:extLst>
              <a:ext uri="{FF2B5EF4-FFF2-40B4-BE49-F238E27FC236}">
                <a16:creationId xmlns:a16="http://schemas.microsoft.com/office/drawing/2014/main" id="{AFF07DA4-69BC-FAC4-2241-4DE9AA694963}"/>
              </a:ext>
            </a:extLst>
          </p:cNvPr>
          <p:cNvSpPr/>
          <p:nvPr/>
        </p:nvSpPr>
        <p:spPr>
          <a:xfrm>
            <a:off x="6605528" y="6547860"/>
            <a:ext cx="2423397" cy="643160"/>
          </a:xfrm>
          <a:prstGeom prst="roundRect">
            <a:avLst>
              <a:gd name="adj" fmla="val 8504"/>
            </a:avLst>
          </a:prstGeom>
          <a:solidFill>
            <a:schemeClr val="bg1"/>
          </a:solidFill>
          <a:ln w="28575">
            <a:solidFill>
              <a:srgbClr val="00B7C6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Google Shape;400;p16">
            <a:extLst>
              <a:ext uri="{FF2B5EF4-FFF2-40B4-BE49-F238E27FC236}">
                <a16:creationId xmlns:a16="http://schemas.microsoft.com/office/drawing/2014/main" id="{48753C5A-179A-F1D0-2685-55479F334D2D}"/>
              </a:ext>
            </a:extLst>
          </p:cNvPr>
          <p:cNvSpPr/>
          <p:nvPr/>
        </p:nvSpPr>
        <p:spPr>
          <a:xfrm>
            <a:off x="9183579" y="6547860"/>
            <a:ext cx="2423397" cy="643160"/>
          </a:xfrm>
          <a:prstGeom prst="roundRect">
            <a:avLst>
              <a:gd name="adj" fmla="val 8504"/>
            </a:avLst>
          </a:prstGeom>
          <a:solidFill>
            <a:schemeClr val="bg1"/>
          </a:solidFill>
          <a:ln w="28575">
            <a:solidFill>
              <a:srgbClr val="00B7C6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Google Shape;400;p16">
            <a:extLst>
              <a:ext uri="{FF2B5EF4-FFF2-40B4-BE49-F238E27FC236}">
                <a16:creationId xmlns:a16="http://schemas.microsoft.com/office/drawing/2014/main" id="{50EEF4A2-3ECA-1F8A-CD74-B7552AFB467B}"/>
              </a:ext>
            </a:extLst>
          </p:cNvPr>
          <p:cNvSpPr/>
          <p:nvPr/>
        </p:nvSpPr>
        <p:spPr>
          <a:xfrm>
            <a:off x="6451163" y="2887281"/>
            <a:ext cx="1655760" cy="1420676"/>
          </a:xfrm>
          <a:prstGeom prst="roundRect">
            <a:avLst>
              <a:gd name="adj" fmla="val 16667"/>
            </a:avLst>
          </a:prstGeom>
          <a:solidFill>
            <a:srgbClr val="00B7C6"/>
          </a:solidFill>
          <a:ln>
            <a:noFill/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SzPts val="1800"/>
            </a:pPr>
            <a:r>
              <a:rPr lang="ko-KR" altLang="en-US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</a:t>
            </a:r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</a:p>
          <a:p>
            <a:pPr algn="ctr">
              <a:buSzPts val="1800"/>
            </a:pPr>
            <a:endParaRPr lang="en-US" altLang="ko-KR"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buSzPts val="1800"/>
            </a:pPr>
            <a:endParaRPr lang="ko-KR" altLang="en-US"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Google Shape;400;p16">
            <a:extLst>
              <a:ext uri="{FF2B5EF4-FFF2-40B4-BE49-F238E27FC236}">
                <a16:creationId xmlns:a16="http://schemas.microsoft.com/office/drawing/2014/main" id="{33CA1CFB-6612-E5D8-6071-8AC4CDA423EB}"/>
              </a:ext>
            </a:extLst>
          </p:cNvPr>
          <p:cNvSpPr/>
          <p:nvPr/>
        </p:nvSpPr>
        <p:spPr>
          <a:xfrm>
            <a:off x="8301068" y="2890681"/>
            <a:ext cx="1655760" cy="1420676"/>
          </a:xfrm>
          <a:prstGeom prst="roundRect">
            <a:avLst>
              <a:gd name="adj" fmla="val 16667"/>
            </a:avLst>
          </a:prstGeom>
          <a:solidFill>
            <a:srgbClr val="00B7C6"/>
          </a:solidFill>
          <a:ln>
            <a:noFill/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SzPts val="1800"/>
            </a:pPr>
            <a:r>
              <a:rPr lang="ko-KR" altLang="en-US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경로 </a:t>
            </a:r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</a:p>
          <a:p>
            <a:pPr algn="ctr">
              <a:buSzPts val="1800"/>
            </a:pPr>
            <a:endParaRPr lang="en-US" altLang="ko-KR"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buSzPts val="1800"/>
            </a:pPr>
            <a:endParaRPr lang="ko-KR" altLang="en-US"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Google Shape;400;p16">
            <a:extLst>
              <a:ext uri="{FF2B5EF4-FFF2-40B4-BE49-F238E27FC236}">
                <a16:creationId xmlns:a16="http://schemas.microsoft.com/office/drawing/2014/main" id="{0629187C-9075-73A5-AE69-DC90E9752BCF}"/>
              </a:ext>
            </a:extLst>
          </p:cNvPr>
          <p:cNvSpPr/>
          <p:nvPr/>
        </p:nvSpPr>
        <p:spPr>
          <a:xfrm>
            <a:off x="10113450" y="2869287"/>
            <a:ext cx="1655760" cy="1420676"/>
          </a:xfrm>
          <a:prstGeom prst="roundRect">
            <a:avLst>
              <a:gd name="adj" fmla="val 16667"/>
            </a:avLst>
          </a:prstGeom>
          <a:solidFill>
            <a:srgbClr val="00B7C6"/>
          </a:solidFill>
          <a:ln>
            <a:noFill/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SzPts val="1800"/>
            </a:pPr>
            <a:r>
              <a:rPr lang="ko-KR" altLang="en-US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평가 </a:t>
            </a:r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</a:t>
            </a:r>
          </a:p>
          <a:p>
            <a:pPr algn="ctr">
              <a:buSzPts val="1800"/>
            </a:pPr>
            <a:endParaRPr lang="en-US" altLang="ko-KR"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buSzPts val="1800"/>
            </a:pPr>
            <a:endParaRPr lang="ko-KR" altLang="en-US"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Google Shape;400;p16">
            <a:extLst>
              <a:ext uri="{FF2B5EF4-FFF2-40B4-BE49-F238E27FC236}">
                <a16:creationId xmlns:a16="http://schemas.microsoft.com/office/drawing/2014/main" id="{27EAC766-3AC9-C3A0-492E-D19CD17846E7}"/>
              </a:ext>
            </a:extLst>
          </p:cNvPr>
          <p:cNvSpPr/>
          <p:nvPr/>
        </p:nvSpPr>
        <p:spPr>
          <a:xfrm>
            <a:off x="13668700" y="6303716"/>
            <a:ext cx="3675350" cy="1499808"/>
          </a:xfrm>
          <a:prstGeom prst="roundRect">
            <a:avLst>
              <a:gd name="adj" fmla="val 8504"/>
            </a:avLst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Google Shape;400;p16">
            <a:extLst>
              <a:ext uri="{FF2B5EF4-FFF2-40B4-BE49-F238E27FC236}">
                <a16:creationId xmlns:a16="http://schemas.microsoft.com/office/drawing/2014/main" id="{3A4A75DD-8761-A300-DC0B-CAFDE300FB49}"/>
              </a:ext>
            </a:extLst>
          </p:cNvPr>
          <p:cNvSpPr/>
          <p:nvPr/>
        </p:nvSpPr>
        <p:spPr>
          <a:xfrm>
            <a:off x="682167" y="8901902"/>
            <a:ext cx="16551264" cy="1129644"/>
          </a:xfrm>
          <a:prstGeom prst="roundRect">
            <a:avLst>
              <a:gd name="adj" fmla="val 22933"/>
            </a:avLst>
          </a:prstGeom>
          <a:solidFill>
            <a:srgbClr val="FBE3D6">
              <a:alpha val="50196"/>
            </a:srgbClr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spcFirstLastPara="1" wrap="square" lIns="91425" tIns="45701" rIns="91425" bIns="45701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80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Google Shape;401;p16">
            <a:extLst>
              <a:ext uri="{FF2B5EF4-FFF2-40B4-BE49-F238E27FC236}">
                <a16:creationId xmlns:a16="http://schemas.microsoft.com/office/drawing/2014/main" id="{56EA0DED-54D7-F979-1811-7C81D3F33C79}"/>
              </a:ext>
            </a:extLst>
          </p:cNvPr>
          <p:cNvSpPr txBox="1"/>
          <p:nvPr/>
        </p:nvSpPr>
        <p:spPr>
          <a:xfrm>
            <a:off x="1079629" y="2070352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Strategic Resources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Google Shape;401;p16">
            <a:extLst>
              <a:ext uri="{FF2B5EF4-FFF2-40B4-BE49-F238E27FC236}">
                <a16:creationId xmlns:a16="http://schemas.microsoft.com/office/drawing/2014/main" id="{60806350-DDDA-8035-14ED-8D54468F6947}"/>
              </a:ext>
            </a:extLst>
          </p:cNvPr>
          <p:cNvSpPr txBox="1"/>
          <p:nvPr/>
        </p:nvSpPr>
        <p:spPr>
          <a:xfrm>
            <a:off x="954656" y="4976115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endParaRPr lang="ko-KR" altLang="en-US"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Google Shape;401;p16">
            <a:extLst>
              <a:ext uri="{FF2B5EF4-FFF2-40B4-BE49-F238E27FC236}">
                <a16:creationId xmlns:a16="http://schemas.microsoft.com/office/drawing/2014/main" id="{F87B9991-97AC-0538-734D-C326ECBCB25B}"/>
              </a:ext>
            </a:extLst>
          </p:cNvPr>
          <p:cNvSpPr txBox="1"/>
          <p:nvPr/>
        </p:nvSpPr>
        <p:spPr>
          <a:xfrm>
            <a:off x="988946" y="5392414"/>
            <a:ext cx="3811848" cy="112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>
              <a:buSzPts val="1600"/>
            </a:pP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- 10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이상 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커뮤니티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 운영 경험</a:t>
            </a:r>
            <a:endParaRPr lang="en-US" altLang="ko-KR" sz="1800" spc="-12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>
              <a:buSzPts val="1600"/>
            </a:pP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AI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모임 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1,000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+,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커리큘럼 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650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노드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b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 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114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실무 중심 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네트워크</a:t>
            </a:r>
            <a:endParaRPr lang="en-US" altLang="ko-KR" sz="1800" spc="-12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>
              <a:buSzPts val="1600"/>
            </a:pP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제조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공공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·IT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중심 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B2B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 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500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여 건</a:t>
            </a:r>
            <a:endParaRPr sz="1800" spc="-12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Google Shape;401;p16">
            <a:extLst>
              <a:ext uri="{FF2B5EF4-FFF2-40B4-BE49-F238E27FC236}">
                <a16:creationId xmlns:a16="http://schemas.microsoft.com/office/drawing/2014/main" id="{774B1237-C1ED-9306-B406-A33D4B80B638}"/>
              </a:ext>
            </a:extLst>
          </p:cNvPr>
          <p:cNvSpPr txBox="1"/>
          <p:nvPr/>
        </p:nvSpPr>
        <p:spPr>
          <a:xfrm>
            <a:off x="988946" y="3271375"/>
            <a:ext cx="3638304" cy="112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>
              <a:buSzPts val="1600"/>
            </a:pP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산업 도메인 온톨로지 빌더 기술 보유 및 </a:t>
            </a:r>
            <a:b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레퍼런스 보유</a:t>
            </a:r>
            <a:endParaRPr lang="en-US" altLang="ko-KR" sz="1800" spc="-12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>
              <a:buSzPts val="1600"/>
            </a:pP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다중 에이전트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(A2A)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추론</a:t>
            </a: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</a:t>
            </a:r>
            <a:b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1800" spc="-12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오케스트레이션 엔진 보유</a:t>
            </a:r>
            <a:endParaRPr sz="1800" spc="-12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Google Shape;401;p16">
            <a:extLst>
              <a:ext uri="{FF2B5EF4-FFF2-40B4-BE49-F238E27FC236}">
                <a16:creationId xmlns:a16="http://schemas.microsoft.com/office/drawing/2014/main" id="{EB48BDF9-7C40-75B2-B1F2-C1F16EF57905}"/>
              </a:ext>
            </a:extLst>
          </p:cNvPr>
          <p:cNvSpPr txBox="1"/>
          <p:nvPr/>
        </p:nvSpPr>
        <p:spPr>
          <a:xfrm>
            <a:off x="914462" y="2932782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Google Shape;401;p16">
            <a:extLst>
              <a:ext uri="{FF2B5EF4-FFF2-40B4-BE49-F238E27FC236}">
                <a16:creationId xmlns:a16="http://schemas.microsoft.com/office/drawing/2014/main" id="{89654959-5AC5-76BE-8EB0-0336401BA7CA}"/>
              </a:ext>
            </a:extLst>
          </p:cNvPr>
          <p:cNvSpPr txBox="1"/>
          <p:nvPr/>
        </p:nvSpPr>
        <p:spPr>
          <a:xfrm>
            <a:off x="645667" y="7327501"/>
            <a:ext cx="3992330" cy="566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18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온톨로지</a:t>
            </a:r>
            <a:r>
              <a:rPr lang="en-US" altLang="ko-KR" sz="18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·A2A·</a:t>
            </a:r>
            <a:r>
              <a:rPr lang="ko-KR" altLang="en-US" sz="18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추론 기술</a:t>
            </a:r>
            <a:endParaRPr lang="en-US" altLang="ko-KR" sz="1800" b="1" spc="-15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 algn="ctr">
              <a:buSzPts val="1600"/>
            </a:pPr>
            <a:r>
              <a:rPr lang="en-US" altLang="ko-KR" sz="18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sz="18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산업 도메인 지식</a:t>
            </a:r>
            <a:r>
              <a:rPr lang="en-US" altLang="ko-KR" sz="18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8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온톨로지</a:t>
            </a:r>
            <a:r>
              <a:rPr lang="en-US" altLang="ko-KR" sz="18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8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융합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Google Shape;401;p16">
            <a:extLst>
              <a:ext uri="{FF2B5EF4-FFF2-40B4-BE49-F238E27FC236}">
                <a16:creationId xmlns:a16="http://schemas.microsoft.com/office/drawing/2014/main" id="{0ACC25AC-8D5A-DF9E-E435-A12E6746C6DB}"/>
              </a:ext>
            </a:extLst>
          </p:cNvPr>
          <p:cNvSpPr txBox="1"/>
          <p:nvPr/>
        </p:nvSpPr>
        <p:spPr>
          <a:xfrm>
            <a:off x="7448888" y="2051614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Multi-Agent System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Google Shape;401;p16">
            <a:extLst>
              <a:ext uri="{FF2B5EF4-FFF2-40B4-BE49-F238E27FC236}">
                <a16:creationId xmlns:a16="http://schemas.microsoft.com/office/drawing/2014/main" id="{07660D97-FE31-AE91-C457-7EA444484673}"/>
              </a:ext>
            </a:extLst>
          </p:cNvPr>
          <p:cNvSpPr txBox="1"/>
          <p:nvPr/>
        </p:nvSpPr>
        <p:spPr>
          <a:xfrm>
            <a:off x="6524012" y="3522474"/>
            <a:ext cx="1429730" cy="636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lnSpc>
                <a:spcPct val="150000"/>
              </a:lnSpc>
              <a:buSzPts val="1600"/>
            </a:pPr>
            <a:r>
              <a:rPr lang="ko-KR" altLang="en-US" sz="135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온톨로지</a:t>
            </a:r>
            <a:endParaRPr lang="en-US" altLang="ko-KR" sz="135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 algn="ctr">
              <a:lnSpc>
                <a:spcPct val="150000"/>
              </a:lnSpc>
              <a:buSzPts val="1600"/>
            </a:pPr>
            <a:r>
              <a:rPr lang="ko-KR" altLang="en-US" sz="135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진단분석</a:t>
            </a:r>
            <a:endParaRPr sz="135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0" name="Google Shape;401;p16">
            <a:extLst>
              <a:ext uri="{FF2B5EF4-FFF2-40B4-BE49-F238E27FC236}">
                <a16:creationId xmlns:a16="http://schemas.microsoft.com/office/drawing/2014/main" id="{CB3FA2B5-F78D-96EA-D5C0-22B9C1B02D69}"/>
              </a:ext>
            </a:extLst>
          </p:cNvPr>
          <p:cNvSpPr txBox="1"/>
          <p:nvPr/>
        </p:nvSpPr>
        <p:spPr>
          <a:xfrm>
            <a:off x="8415671" y="3503634"/>
            <a:ext cx="1429730" cy="636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lnSpc>
                <a:spcPct val="150000"/>
              </a:lnSpc>
              <a:buSzPts val="1600"/>
            </a:pPr>
            <a:r>
              <a:rPr lang="ko-KR" altLang="en-US" sz="135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지식차이</a:t>
            </a:r>
            <a:r>
              <a:rPr lang="en-US" altLang="ko-KR" sz="135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(KD)</a:t>
            </a:r>
            <a:r>
              <a:rPr lang="ko-KR" altLang="en-US" sz="135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산출</a:t>
            </a:r>
            <a:endParaRPr lang="en-US" altLang="ko-KR" sz="135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 algn="ctr">
              <a:lnSpc>
                <a:spcPct val="150000"/>
              </a:lnSpc>
              <a:buSzPts val="1600"/>
            </a:pPr>
            <a:r>
              <a:rPr lang="ko-KR" altLang="en-US" sz="135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지식역량분석</a:t>
            </a:r>
            <a:r>
              <a:rPr lang="en-US" altLang="ko-KR" sz="135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(KGA)</a:t>
            </a:r>
            <a:endParaRPr sz="135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5" name="Google Shape;401;p16">
            <a:extLst>
              <a:ext uri="{FF2B5EF4-FFF2-40B4-BE49-F238E27FC236}">
                <a16:creationId xmlns:a16="http://schemas.microsoft.com/office/drawing/2014/main" id="{CA96E426-5085-B8E3-086D-1F71AAF467F8}"/>
              </a:ext>
            </a:extLst>
          </p:cNvPr>
          <p:cNvSpPr txBox="1"/>
          <p:nvPr/>
        </p:nvSpPr>
        <p:spPr>
          <a:xfrm>
            <a:off x="10259800" y="3496588"/>
            <a:ext cx="1429730" cy="636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lnSpc>
                <a:spcPct val="150000"/>
              </a:lnSpc>
              <a:buSzPts val="1600"/>
            </a:pPr>
            <a:r>
              <a:rPr lang="ko-KR" altLang="en-US" sz="135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 보상체계</a:t>
            </a:r>
            <a:endParaRPr lang="en-US" altLang="ko-KR" sz="135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 algn="ctr">
              <a:lnSpc>
                <a:spcPct val="150000"/>
              </a:lnSpc>
              <a:buSzPts val="1600"/>
            </a:pPr>
            <a:r>
              <a:rPr lang="ko-KR" altLang="en-US" sz="135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 온톨로지</a:t>
            </a:r>
            <a:endParaRPr sz="135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7" name="Google Shape;401;p16">
            <a:extLst>
              <a:ext uri="{FF2B5EF4-FFF2-40B4-BE49-F238E27FC236}">
                <a16:creationId xmlns:a16="http://schemas.microsoft.com/office/drawing/2014/main" id="{C88363C5-629F-7F51-6C7A-B3EEAF6CD46D}"/>
              </a:ext>
            </a:extLst>
          </p:cNvPr>
          <p:cNvSpPr txBox="1"/>
          <p:nvPr/>
        </p:nvSpPr>
        <p:spPr>
          <a:xfrm>
            <a:off x="1076695" y="2884807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커먼컴퓨터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8" name="Google Shape;401;p16">
            <a:extLst>
              <a:ext uri="{FF2B5EF4-FFF2-40B4-BE49-F238E27FC236}">
                <a16:creationId xmlns:a16="http://schemas.microsoft.com/office/drawing/2014/main" id="{18BE090F-3D83-8814-FE07-F5A13E2E8380}"/>
              </a:ext>
            </a:extLst>
          </p:cNvPr>
          <p:cNvSpPr txBox="1"/>
          <p:nvPr/>
        </p:nvSpPr>
        <p:spPr>
          <a:xfrm>
            <a:off x="13845679" y="3049686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엔터프라이즈</a:t>
            </a: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(B2B)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Google Shape;401;p16">
            <a:extLst>
              <a:ext uri="{FF2B5EF4-FFF2-40B4-BE49-F238E27FC236}">
                <a16:creationId xmlns:a16="http://schemas.microsoft.com/office/drawing/2014/main" id="{5240B74F-80D6-7D0C-F024-F72FE6B89A47}"/>
              </a:ext>
            </a:extLst>
          </p:cNvPr>
          <p:cNvSpPr txBox="1"/>
          <p:nvPr/>
        </p:nvSpPr>
        <p:spPr>
          <a:xfrm>
            <a:off x="13812181" y="4720135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</a:t>
            </a: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연구기관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Google Shape;401;p16">
            <a:extLst>
              <a:ext uri="{FF2B5EF4-FFF2-40B4-BE49-F238E27FC236}">
                <a16:creationId xmlns:a16="http://schemas.microsoft.com/office/drawing/2014/main" id="{9E32A6B6-71CF-4818-7D4B-43F946509CD7}"/>
              </a:ext>
            </a:extLst>
          </p:cNvPr>
          <p:cNvSpPr txBox="1"/>
          <p:nvPr/>
        </p:nvSpPr>
        <p:spPr>
          <a:xfrm>
            <a:off x="13812181" y="6516186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글로벌 </a:t>
            </a: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LXP </a:t>
            </a:r>
            <a:r>
              <a:rPr lang="ko-KR" altLang="en-US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1" name="Google Shape;401;p16">
            <a:extLst>
              <a:ext uri="{FF2B5EF4-FFF2-40B4-BE49-F238E27FC236}">
                <a16:creationId xmlns:a16="http://schemas.microsoft.com/office/drawing/2014/main" id="{4E43FCBD-1421-A7DB-2332-4B7E528E6046}"/>
              </a:ext>
            </a:extLst>
          </p:cNvPr>
          <p:cNvSpPr txBox="1"/>
          <p:nvPr/>
        </p:nvSpPr>
        <p:spPr>
          <a:xfrm>
            <a:off x="13801435" y="6975610"/>
            <a:ext cx="3321389" cy="566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 algn="ctr">
              <a:buSzPts val="1600"/>
            </a:pP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콘텐츠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 수출</a:t>
            </a:r>
            <a:endParaRPr sz="18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Google Shape;401;p16">
            <a:extLst>
              <a:ext uri="{FF2B5EF4-FFF2-40B4-BE49-F238E27FC236}">
                <a16:creationId xmlns:a16="http://schemas.microsoft.com/office/drawing/2014/main" id="{3507E792-1EE7-711E-2D29-EBCF0BD36A35}"/>
              </a:ext>
            </a:extLst>
          </p:cNvPr>
          <p:cNvSpPr txBox="1"/>
          <p:nvPr/>
        </p:nvSpPr>
        <p:spPr>
          <a:xfrm>
            <a:off x="13801433" y="5156944"/>
            <a:ext cx="3321389" cy="566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SW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중심대학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특성화대학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 algn="ctr">
              <a:buSzPts val="1600"/>
            </a:pPr>
            <a:r>
              <a:rPr lang="ko-KR" altLang="en-US" sz="18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미래인재 부트캠프</a:t>
            </a:r>
            <a:endParaRPr sz="180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Google Shape;401;p16">
            <a:extLst>
              <a:ext uri="{FF2B5EF4-FFF2-40B4-BE49-F238E27FC236}">
                <a16:creationId xmlns:a16="http://schemas.microsoft.com/office/drawing/2014/main" id="{AEF49B3F-3532-BB9D-DEEC-C7FCA94A1092}"/>
              </a:ext>
            </a:extLst>
          </p:cNvPr>
          <p:cNvSpPr txBox="1"/>
          <p:nvPr/>
        </p:nvSpPr>
        <p:spPr>
          <a:xfrm>
            <a:off x="13812181" y="3679773"/>
            <a:ext cx="3321389" cy="289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제조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금융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공공 기업 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전환</a:t>
            </a:r>
            <a:endParaRPr sz="180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4" name="Google Shape;401;p16">
            <a:extLst>
              <a:ext uri="{FF2B5EF4-FFF2-40B4-BE49-F238E27FC236}">
                <a16:creationId xmlns:a16="http://schemas.microsoft.com/office/drawing/2014/main" id="{00D13F2B-2377-F85E-40AF-C135D0C44349}"/>
              </a:ext>
            </a:extLst>
          </p:cNvPr>
          <p:cNvSpPr txBox="1"/>
          <p:nvPr/>
        </p:nvSpPr>
        <p:spPr>
          <a:xfrm>
            <a:off x="6150982" y="6717631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사용자온톨로지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Google Shape;401;p16">
            <a:extLst>
              <a:ext uri="{FF2B5EF4-FFF2-40B4-BE49-F238E27FC236}">
                <a16:creationId xmlns:a16="http://schemas.microsoft.com/office/drawing/2014/main" id="{8C7D5115-1707-3486-D2C2-E87C6C0EBBBB}"/>
              </a:ext>
            </a:extLst>
          </p:cNvPr>
          <p:cNvSpPr txBox="1"/>
          <p:nvPr/>
        </p:nvSpPr>
        <p:spPr>
          <a:xfrm>
            <a:off x="8734162" y="6717631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전문가온톨로지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Google Shape;401;p16">
            <a:extLst>
              <a:ext uri="{FF2B5EF4-FFF2-40B4-BE49-F238E27FC236}">
                <a16:creationId xmlns:a16="http://schemas.microsoft.com/office/drawing/2014/main" id="{C4AE06BD-01E9-78FD-BF19-AA13DF826B2E}"/>
              </a:ext>
            </a:extLst>
          </p:cNvPr>
          <p:cNvSpPr txBox="1"/>
          <p:nvPr/>
        </p:nvSpPr>
        <p:spPr>
          <a:xfrm>
            <a:off x="7100255" y="1239478"/>
            <a:ext cx="4166645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Intelligent AX Platform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Google Shape;401;p16">
            <a:extLst>
              <a:ext uri="{FF2B5EF4-FFF2-40B4-BE49-F238E27FC236}">
                <a16:creationId xmlns:a16="http://schemas.microsoft.com/office/drawing/2014/main" id="{9E2189FA-9DB4-C77A-D633-E578035DE714}"/>
              </a:ext>
            </a:extLst>
          </p:cNvPr>
          <p:cNvSpPr txBox="1"/>
          <p:nvPr/>
        </p:nvSpPr>
        <p:spPr>
          <a:xfrm>
            <a:off x="13698193" y="2070350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Target Customers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071641AD-F46E-1CCA-6293-F8A611C28E1E}"/>
              </a:ext>
            </a:extLst>
          </p:cNvPr>
          <p:cNvCxnSpPr>
            <a:cxnSpLocks/>
            <a:stCxn id="111" idx="2"/>
            <a:endCxn id="7" idx="2"/>
          </p:cNvCxnSpPr>
          <p:nvPr/>
        </p:nvCxnSpPr>
        <p:spPr>
          <a:xfrm rot="5400000" flipH="1">
            <a:off x="12229990" y="4882259"/>
            <a:ext cx="105722" cy="6398784"/>
          </a:xfrm>
          <a:prstGeom prst="bentConnector3">
            <a:avLst>
              <a:gd name="adj1" fmla="val -505695"/>
            </a:avLst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Google Shape;401;p16">
            <a:extLst>
              <a:ext uri="{FF2B5EF4-FFF2-40B4-BE49-F238E27FC236}">
                <a16:creationId xmlns:a16="http://schemas.microsoft.com/office/drawing/2014/main" id="{2DE56885-01FE-AF4F-2AD2-CB9B9EA976F1}"/>
              </a:ext>
            </a:extLst>
          </p:cNvPr>
          <p:cNvSpPr txBox="1"/>
          <p:nvPr/>
        </p:nvSpPr>
        <p:spPr>
          <a:xfrm>
            <a:off x="8943336" y="8160704"/>
            <a:ext cx="468111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실습데이터 피드백</a:t>
            </a:r>
            <a:r>
              <a:rPr lang="en-US" altLang="ko-KR" sz="2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(Ontology</a:t>
            </a:r>
            <a:r>
              <a:rPr lang="ko-KR" altLang="en-US" sz="2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고도화</a:t>
            </a:r>
            <a:r>
              <a:rPr lang="en-US" altLang="ko-KR" sz="2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2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sz="210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C3A74A75-6D10-F03D-2F95-A24F1EFF6E7D}"/>
              </a:ext>
            </a:extLst>
          </p:cNvPr>
          <p:cNvCxnSpPr/>
          <p:nvPr/>
        </p:nvCxnSpPr>
        <p:spPr>
          <a:xfrm>
            <a:off x="5235680" y="4742726"/>
            <a:ext cx="47194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C52300D8-A282-A8CB-EF0E-8FDE72B0BD51}"/>
              </a:ext>
            </a:extLst>
          </p:cNvPr>
          <p:cNvCxnSpPr/>
          <p:nvPr/>
        </p:nvCxnSpPr>
        <p:spPr>
          <a:xfrm>
            <a:off x="12525060" y="4600945"/>
            <a:ext cx="47194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Google Shape;401;p16">
            <a:extLst>
              <a:ext uri="{FF2B5EF4-FFF2-40B4-BE49-F238E27FC236}">
                <a16:creationId xmlns:a16="http://schemas.microsoft.com/office/drawing/2014/main" id="{7A376A38-1BBA-5BFB-0D7D-D1BF2ED5975A}"/>
              </a:ext>
            </a:extLst>
          </p:cNvPr>
          <p:cNvSpPr txBox="1"/>
          <p:nvPr/>
        </p:nvSpPr>
        <p:spPr>
          <a:xfrm>
            <a:off x="4698368" y="4949705"/>
            <a:ext cx="1452614" cy="6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리소스</a:t>
            </a:r>
            <a:endParaRPr lang="en-US" altLang="ko-KR" sz="2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 algn="ctr">
              <a:buSzPts val="1600"/>
            </a:pPr>
            <a:r>
              <a:rPr lang="ko-KR" altLang="en-US" sz="21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투입</a:t>
            </a:r>
            <a:endParaRPr sz="210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3" name="Google Shape;401;p16">
            <a:extLst>
              <a:ext uri="{FF2B5EF4-FFF2-40B4-BE49-F238E27FC236}">
                <a16:creationId xmlns:a16="http://schemas.microsoft.com/office/drawing/2014/main" id="{F9F3CA66-687F-EDD8-677F-1142B8E5A2B0}"/>
              </a:ext>
            </a:extLst>
          </p:cNvPr>
          <p:cNvSpPr txBox="1"/>
          <p:nvPr/>
        </p:nvSpPr>
        <p:spPr>
          <a:xfrm>
            <a:off x="12010436" y="4768648"/>
            <a:ext cx="1452614" cy="6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ko-KR" altLang="en-US" sz="2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endParaRPr lang="en-US" altLang="ko-KR" sz="2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1" algn="ctr">
              <a:buSzPts val="1600"/>
            </a:pPr>
            <a:r>
              <a:rPr lang="ko-KR" altLang="en-US" sz="21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제공</a:t>
            </a:r>
            <a:endParaRPr sz="210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9" name="Google Shape;401;p16">
            <a:extLst>
              <a:ext uri="{FF2B5EF4-FFF2-40B4-BE49-F238E27FC236}">
                <a16:creationId xmlns:a16="http://schemas.microsoft.com/office/drawing/2014/main" id="{646097E7-7009-E7A0-FB1B-336A95BFFD01}"/>
              </a:ext>
            </a:extLst>
          </p:cNvPr>
          <p:cNvSpPr txBox="1"/>
          <p:nvPr/>
        </p:nvSpPr>
        <p:spPr>
          <a:xfrm>
            <a:off x="2545660" y="9027078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Revenue Model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Google Shape;401;p16">
            <a:extLst>
              <a:ext uri="{FF2B5EF4-FFF2-40B4-BE49-F238E27FC236}">
                <a16:creationId xmlns:a16="http://schemas.microsoft.com/office/drawing/2014/main" id="{C9A57AD1-7EC9-090E-3B7C-FFD0E3089645}"/>
              </a:ext>
            </a:extLst>
          </p:cNvPr>
          <p:cNvSpPr txBox="1"/>
          <p:nvPr/>
        </p:nvSpPr>
        <p:spPr>
          <a:xfrm>
            <a:off x="12008005" y="9044501"/>
            <a:ext cx="3321389" cy="3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marL="12701" algn="ctr">
              <a:buSzPts val="1600"/>
            </a:pPr>
            <a:r>
              <a:rPr lang="en-US" altLang="ko-KR" sz="2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Value Proposition</a:t>
            </a:r>
            <a:endParaRPr sz="21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1" name="Google Shape;401;p16">
            <a:extLst>
              <a:ext uri="{FF2B5EF4-FFF2-40B4-BE49-F238E27FC236}">
                <a16:creationId xmlns:a16="http://schemas.microsoft.com/office/drawing/2014/main" id="{F1043B21-9EC3-B7B9-D2A4-3211A382BD39}"/>
              </a:ext>
            </a:extLst>
          </p:cNvPr>
          <p:cNvSpPr txBox="1"/>
          <p:nvPr/>
        </p:nvSpPr>
        <p:spPr>
          <a:xfrm>
            <a:off x="652023" y="9416960"/>
            <a:ext cx="7492119" cy="566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algn="ctr"/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경로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평가 에이전트를 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API·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 형태로 제공하고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pPr algn="ctr"/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사용량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(GPU·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온톨로지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기반으로 과금</a:t>
            </a:r>
          </a:p>
        </p:txBody>
      </p:sp>
      <p:sp>
        <p:nvSpPr>
          <p:cNvPr id="122" name="Google Shape;401;p16">
            <a:extLst>
              <a:ext uri="{FF2B5EF4-FFF2-40B4-BE49-F238E27FC236}">
                <a16:creationId xmlns:a16="http://schemas.microsoft.com/office/drawing/2014/main" id="{E53150DA-4581-AF11-3F42-9C09CF0A0FCC}"/>
              </a:ext>
            </a:extLst>
          </p:cNvPr>
          <p:cNvSpPr txBox="1"/>
          <p:nvPr/>
        </p:nvSpPr>
        <p:spPr>
          <a:xfrm>
            <a:off x="10259799" y="9373469"/>
            <a:ext cx="6376320" cy="566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1" rIns="0" bIns="0" anchor="t" anchorCtr="0">
            <a:spAutoFit/>
          </a:bodyPr>
          <a:lstStyle/>
          <a:p>
            <a:pPr algn="ctr"/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온톨로지와 다중 에이전트 협업을 통해 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기업 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전환의 실행 속도와 성과를 동시에 향상하는 운영 플랫폼</a:t>
            </a: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A99668F2-51A5-220C-354A-2E9EC5BF87EF}"/>
              </a:ext>
            </a:extLst>
          </p:cNvPr>
          <p:cNvCxnSpPr/>
          <p:nvPr/>
        </p:nvCxnSpPr>
        <p:spPr>
          <a:xfrm>
            <a:off x="8852145" y="9000257"/>
            <a:ext cx="0" cy="939282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Google Shape;359;p16">
            <a:extLst>
              <a:ext uri="{FF2B5EF4-FFF2-40B4-BE49-F238E27FC236}">
                <a16:creationId xmlns:a16="http://schemas.microsoft.com/office/drawing/2014/main" id="{D8A590B4-9BE6-00DD-EC21-31544B9F97DB}"/>
              </a:ext>
            </a:extLst>
          </p:cNvPr>
          <p:cNvSpPr txBox="1"/>
          <p:nvPr/>
        </p:nvSpPr>
        <p:spPr>
          <a:xfrm>
            <a:off x="555329" y="279654"/>
            <a:ext cx="10623439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en-US" sz="2800" b="1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AX-IP</a:t>
            </a:r>
            <a:r>
              <a:rPr lang="ko-KR" altLang="en-US" sz="2800" b="1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비즈니스모델</a:t>
            </a:r>
            <a:endParaRPr sz="28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8692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82F98A8-8CB8-BF49-B63E-7A357CDE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그룹 59">
            <a:extLst>
              <a:ext uri="{FF2B5EF4-FFF2-40B4-BE49-F238E27FC236}">
                <a16:creationId xmlns:a16="http://schemas.microsoft.com/office/drawing/2014/main" id="{4EBBD3C2-7C0C-7C6A-52ED-8F8A336E42B4}"/>
              </a:ext>
            </a:extLst>
          </p:cNvPr>
          <p:cNvGrpSpPr/>
          <p:nvPr/>
        </p:nvGrpSpPr>
        <p:grpSpPr>
          <a:xfrm>
            <a:off x="1767840" y="2092036"/>
            <a:ext cx="14721840" cy="7017328"/>
            <a:chOff x="5116899" y="2993429"/>
            <a:chExt cx="8054202" cy="430014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DC78DC1-4ED4-995D-5DF9-42FEE38F9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 flipV="1">
              <a:off x="7258737" y="5605034"/>
              <a:ext cx="1843599" cy="539105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680D3F1-E6C4-9FD9-8345-57A219930109}"/>
                </a:ext>
              </a:extLst>
            </p:cNvPr>
            <p:cNvSpPr/>
            <p:nvPr/>
          </p:nvSpPr>
          <p:spPr>
            <a:xfrm>
              <a:off x="5116899" y="6396096"/>
              <a:ext cx="1646236" cy="331829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0188" tIns="0" rIns="80188" bIns="400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직무 융합형 </a:t>
              </a:r>
              <a: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AI ∙ </a:t>
              </a: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트랜드 보완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C627A97-7B48-629F-8F1B-894EBB2307AE}"/>
                </a:ext>
              </a:extLst>
            </p:cNvPr>
            <p:cNvSpPr/>
            <p:nvPr/>
          </p:nvSpPr>
          <p:spPr>
            <a:xfrm>
              <a:off x="11447933" y="6379944"/>
              <a:ext cx="1646236" cy="331829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0188" tIns="0" rIns="80188" bIns="400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요구사항 개선사항 보완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F720182-2016-81EC-3BF4-51A3EA3D5183}"/>
                </a:ext>
              </a:extLst>
            </p:cNvPr>
            <p:cNvSpPr/>
            <p:nvPr/>
          </p:nvSpPr>
          <p:spPr>
            <a:xfrm>
              <a:off x="5163106" y="4724165"/>
              <a:ext cx="1646236" cy="1115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9" name="사각형: 둥근 위쪽 모서리 38">
              <a:extLst>
                <a:ext uri="{FF2B5EF4-FFF2-40B4-BE49-F238E27FC236}">
                  <a16:creationId xmlns:a16="http://schemas.microsoft.com/office/drawing/2014/main" id="{DDFCF937-3483-C68D-42C0-3A9D02D91FC8}"/>
                </a:ext>
              </a:extLst>
            </p:cNvPr>
            <p:cNvSpPr/>
            <p:nvPr/>
          </p:nvSpPr>
          <p:spPr>
            <a:xfrm>
              <a:off x="5144099" y="4412035"/>
              <a:ext cx="1680665" cy="3689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B7C6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AX </a:t>
              </a:r>
              <a:r>
                <a:rPr lang="ko-KR" altLang="en-US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수요</a:t>
              </a:r>
              <a:r>
                <a:rPr lang="en-US" altLang="ko-KR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</a:t>
              </a:r>
              <a:r>
                <a:rPr lang="ko-KR" altLang="en-US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요구 분석</a:t>
              </a:r>
              <a:endPara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A858514-E03A-0078-862B-76D2D36CA730}"/>
                </a:ext>
              </a:extLst>
            </p:cNvPr>
            <p:cNvSpPr/>
            <p:nvPr/>
          </p:nvSpPr>
          <p:spPr>
            <a:xfrm>
              <a:off x="5170149" y="4833942"/>
              <a:ext cx="1646236" cy="989101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0188" tIns="0" rIns="80188" bIns="400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AX </a:t>
              </a:r>
              <a:r>
                <a:rPr lang="ko-KR" altLang="en-US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담당자</a:t>
              </a:r>
              <a:r>
                <a:rPr lang="en-US" altLang="ko-KR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</a:t>
              </a:r>
              <a:r>
                <a:rPr lang="ko-KR" altLang="en-US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운영자 수요 수집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비개발 직군 </a:t>
              </a:r>
              <a:r>
                <a:rPr lang="en-US" altLang="ko-KR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AI </a:t>
              </a:r>
              <a:r>
                <a:rPr lang="ko-KR" altLang="en-US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활용 요구 구조화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실행</a:t>
              </a:r>
              <a:r>
                <a:rPr lang="en-US" altLang="ko-KR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·PoC </a:t>
              </a:r>
              <a:r>
                <a:rPr lang="ko-KR" altLang="en-US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가능 과제 도출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13DD790-2780-F342-7567-D95D21CCB6A7}"/>
                </a:ext>
              </a:extLst>
            </p:cNvPr>
            <p:cNvSpPr/>
            <p:nvPr/>
          </p:nvSpPr>
          <p:spPr>
            <a:xfrm>
              <a:off x="11509442" y="4753507"/>
              <a:ext cx="1646236" cy="1115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3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2" name="사각형: 둥근 위쪽 모서리 41">
              <a:extLst>
                <a:ext uri="{FF2B5EF4-FFF2-40B4-BE49-F238E27FC236}">
                  <a16:creationId xmlns:a16="http://schemas.microsoft.com/office/drawing/2014/main" id="{F4B90301-BA0F-7EFA-E7CC-37DF4C3961FC}"/>
                </a:ext>
              </a:extLst>
            </p:cNvPr>
            <p:cNvSpPr/>
            <p:nvPr/>
          </p:nvSpPr>
          <p:spPr>
            <a:xfrm>
              <a:off x="11490436" y="4412035"/>
              <a:ext cx="1680665" cy="3689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B7C6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훈련모니터링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DDF5AD5-D35F-6AC7-ACAE-2E2B67A6550A}"/>
                </a:ext>
              </a:extLst>
            </p:cNvPr>
            <p:cNvSpPr/>
            <p:nvPr/>
          </p:nvSpPr>
          <p:spPr>
            <a:xfrm>
              <a:off x="11516489" y="4828268"/>
              <a:ext cx="1616015" cy="976291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0188" tIns="0" rIns="80188" bIns="400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만족도</a:t>
              </a:r>
              <a: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현업적용도 진단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만족도</a:t>
              </a:r>
              <a: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현업적용도 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결과 분석 및</a:t>
              </a:r>
              <a: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</a:t>
              </a: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개선사항 도출</a:t>
              </a:r>
            </a:p>
          </p:txBody>
        </p:sp>
        <p:sp>
          <p:nvSpPr>
            <p:cNvPr id="44" name="모서리가 둥근 직사각형 27">
              <a:extLst>
                <a:ext uri="{FF2B5EF4-FFF2-40B4-BE49-F238E27FC236}">
                  <a16:creationId xmlns:a16="http://schemas.microsoft.com/office/drawing/2014/main" id="{B5F96FA5-53EA-517A-490D-224F28048D62}"/>
                </a:ext>
              </a:extLst>
            </p:cNvPr>
            <p:cNvSpPr/>
            <p:nvPr/>
          </p:nvSpPr>
          <p:spPr>
            <a:xfrm>
              <a:off x="6927310" y="3753038"/>
              <a:ext cx="4381499" cy="44516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 latinLnBrk="0"/>
              <a:r>
                <a:rPr lang="en-US" altLang="ko-KR" sz="3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AX </a:t>
              </a:r>
              <a:r>
                <a:rPr lang="ko-KR" altLang="en-US" sz="3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전환 플랫폼 추진방법</a:t>
              </a:r>
            </a:p>
          </p:txBody>
        </p:sp>
        <p:sp>
          <p:nvSpPr>
            <p:cNvPr id="45" name="사다리꼴 44">
              <a:extLst>
                <a:ext uri="{FF2B5EF4-FFF2-40B4-BE49-F238E27FC236}">
                  <a16:creationId xmlns:a16="http://schemas.microsoft.com/office/drawing/2014/main" id="{E877C937-0A8E-3920-D337-5249E17CF003}"/>
                </a:ext>
              </a:extLst>
            </p:cNvPr>
            <p:cNvSpPr/>
            <p:nvPr/>
          </p:nvSpPr>
          <p:spPr>
            <a:xfrm>
              <a:off x="7874845" y="3337933"/>
              <a:ext cx="2486427" cy="385033"/>
            </a:xfrm>
            <a:prstGeom prst="trapezoid">
              <a:avLst>
                <a:gd name="adj" fmla="val 301451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3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6" name="모서리가 둥근 직사각형 27">
              <a:extLst>
                <a:ext uri="{FF2B5EF4-FFF2-40B4-BE49-F238E27FC236}">
                  <a16:creationId xmlns:a16="http://schemas.microsoft.com/office/drawing/2014/main" id="{88968575-FE39-ECDE-8DC3-2DCF9CFA35E0}"/>
                </a:ext>
              </a:extLst>
            </p:cNvPr>
            <p:cNvSpPr/>
            <p:nvPr/>
          </p:nvSpPr>
          <p:spPr>
            <a:xfrm>
              <a:off x="7987072" y="6871831"/>
              <a:ext cx="2387603" cy="421740"/>
            </a:xfrm>
            <a:prstGeom prst="roundRect">
              <a:avLst>
                <a:gd name="adj" fmla="val 50000"/>
              </a:avLst>
            </a:prstGeom>
            <a:solidFill>
              <a:srgbClr val="00B7C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산업별 기업</a:t>
              </a:r>
              <a:endParaRPr lang="en-US" altLang="ko-KR" sz="2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7" name="모서리가 둥근 직사각형 27">
              <a:extLst>
                <a:ext uri="{FF2B5EF4-FFF2-40B4-BE49-F238E27FC236}">
                  <a16:creationId xmlns:a16="http://schemas.microsoft.com/office/drawing/2014/main" id="{9A001EBE-DDD8-4CD0-5833-BA137800EE84}"/>
                </a:ext>
              </a:extLst>
            </p:cNvPr>
            <p:cNvSpPr/>
            <p:nvPr/>
          </p:nvSpPr>
          <p:spPr>
            <a:xfrm>
              <a:off x="6927310" y="6156542"/>
              <a:ext cx="4381499" cy="44516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 latinLnBrk="0"/>
              <a:r>
                <a:rPr lang="ko-KR" altLang="en-US" sz="24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우수사례 도출</a:t>
              </a:r>
            </a:p>
          </p:txBody>
        </p:sp>
        <p:cxnSp>
          <p:nvCxnSpPr>
            <p:cNvPr id="48" name="꺾인 연결선 33">
              <a:extLst>
                <a:ext uri="{FF2B5EF4-FFF2-40B4-BE49-F238E27FC236}">
                  <a16:creationId xmlns:a16="http://schemas.microsoft.com/office/drawing/2014/main" id="{65AEAA7F-3FAC-94CA-97D5-031E8E7A12B3}"/>
                </a:ext>
              </a:extLst>
            </p:cNvPr>
            <p:cNvCxnSpPr>
              <a:stCxn id="42" idx="3"/>
              <a:endCxn id="44" idx="3"/>
            </p:cNvCxnSpPr>
            <p:nvPr/>
          </p:nvCxnSpPr>
          <p:spPr>
            <a:xfrm rot="16200000" flipV="1">
              <a:off x="11601580" y="3682847"/>
              <a:ext cx="436416" cy="1021960"/>
            </a:xfrm>
            <a:prstGeom prst="bentConnector2">
              <a:avLst/>
            </a:prstGeom>
            <a:ln w="31750">
              <a:headEnd w="sm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꺾인 연결선 82">
              <a:extLst>
                <a:ext uri="{FF2B5EF4-FFF2-40B4-BE49-F238E27FC236}">
                  <a16:creationId xmlns:a16="http://schemas.microsoft.com/office/drawing/2014/main" id="{0C1BFED9-F74A-F39D-DF4C-236FEA8C20AA}"/>
                </a:ext>
              </a:extLst>
            </p:cNvPr>
            <p:cNvCxnSpPr>
              <a:cxnSpLocks/>
              <a:stCxn id="41" idx="2"/>
              <a:endCxn id="47" idx="3"/>
            </p:cNvCxnSpPr>
            <p:nvPr/>
          </p:nvCxnSpPr>
          <p:spPr>
            <a:xfrm rot="5400000">
              <a:off x="11565802" y="5612365"/>
              <a:ext cx="509764" cy="1023752"/>
            </a:xfrm>
            <a:prstGeom prst="bentConnector2">
              <a:avLst/>
            </a:prstGeom>
            <a:ln w="31750">
              <a:headEnd w="sm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꺾인 연결선 84">
              <a:extLst>
                <a:ext uri="{FF2B5EF4-FFF2-40B4-BE49-F238E27FC236}">
                  <a16:creationId xmlns:a16="http://schemas.microsoft.com/office/drawing/2014/main" id="{82B73B64-8168-63B7-D625-360C8D7D63AC}"/>
                </a:ext>
              </a:extLst>
            </p:cNvPr>
            <p:cNvCxnSpPr>
              <a:stCxn id="38" idx="2"/>
              <a:endCxn id="47" idx="1"/>
            </p:cNvCxnSpPr>
            <p:nvPr/>
          </p:nvCxnSpPr>
          <p:spPr>
            <a:xfrm rot="16200000" flipH="1">
              <a:off x="6187213" y="5639028"/>
              <a:ext cx="539106" cy="941085"/>
            </a:xfrm>
            <a:prstGeom prst="bentConnector2">
              <a:avLst/>
            </a:prstGeom>
            <a:ln w="31750">
              <a:headEnd w="sm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꺾인 연결선 89">
              <a:extLst>
                <a:ext uri="{FF2B5EF4-FFF2-40B4-BE49-F238E27FC236}">
                  <a16:creationId xmlns:a16="http://schemas.microsoft.com/office/drawing/2014/main" id="{6113BDA4-6183-7FD6-6AC9-43CAC0073098}"/>
                </a:ext>
              </a:extLst>
            </p:cNvPr>
            <p:cNvCxnSpPr>
              <a:stCxn id="39" idx="3"/>
              <a:endCxn id="44" idx="1"/>
            </p:cNvCxnSpPr>
            <p:nvPr/>
          </p:nvCxnSpPr>
          <p:spPr>
            <a:xfrm rot="5400000" flipH="1" flipV="1">
              <a:off x="6237662" y="3722389"/>
              <a:ext cx="436416" cy="942878"/>
            </a:xfrm>
            <a:prstGeom prst="bentConnector2">
              <a:avLst/>
            </a:prstGeom>
            <a:ln w="31750">
              <a:headEnd w="sm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6AC3EE0-D602-C89F-F5D3-1102CF31C94E}"/>
                </a:ext>
              </a:extLst>
            </p:cNvPr>
            <p:cNvSpPr/>
            <p:nvPr/>
          </p:nvSpPr>
          <p:spPr>
            <a:xfrm>
              <a:off x="7286600" y="4728135"/>
              <a:ext cx="1646236" cy="1115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84F70B13-04A1-D105-5F7D-5FB96D863C88}"/>
                </a:ext>
              </a:extLst>
            </p:cNvPr>
            <p:cNvSpPr/>
            <p:nvPr/>
          </p:nvSpPr>
          <p:spPr>
            <a:xfrm>
              <a:off x="7267593" y="4416005"/>
              <a:ext cx="1680665" cy="3689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B7C6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수요조사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C2FE16B-117D-C2B7-A00D-FBF781EFF71A}"/>
                </a:ext>
              </a:extLst>
            </p:cNvPr>
            <p:cNvSpPr/>
            <p:nvPr/>
          </p:nvSpPr>
          <p:spPr>
            <a:xfrm>
              <a:off x="7293643" y="4837913"/>
              <a:ext cx="1646236" cy="989101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0188" tIns="0" rIns="80188" bIns="400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수요기업 및 수료생 </a:t>
              </a:r>
              <a:b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대상 설문 설계</a:t>
              </a:r>
              <a:endParaRPr lang="en-US" altLang="ko-KR" spc="-8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수요조사 결과 분석</a:t>
              </a:r>
              <a:b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및 시사점 도출 </a:t>
              </a:r>
            </a:p>
          </p:txBody>
        </p: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94655836-02C1-A7B7-7F32-963F84006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 flipV="1">
              <a:off x="9452876" y="5608408"/>
              <a:ext cx="1843599" cy="539105"/>
            </a:xfrm>
            <a:prstGeom prst="rect">
              <a:avLst/>
            </a:prstGeom>
          </p:spPr>
        </p:pic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496D553-25C7-966D-284D-423417742803}"/>
                </a:ext>
              </a:extLst>
            </p:cNvPr>
            <p:cNvSpPr/>
            <p:nvPr/>
          </p:nvSpPr>
          <p:spPr>
            <a:xfrm>
              <a:off x="9480739" y="4731509"/>
              <a:ext cx="1646236" cy="1115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7" name="사각형: 둥근 위쪽 모서리 56">
              <a:extLst>
                <a:ext uri="{FF2B5EF4-FFF2-40B4-BE49-F238E27FC236}">
                  <a16:creationId xmlns:a16="http://schemas.microsoft.com/office/drawing/2014/main" id="{CA1D0B61-28DC-62AA-8B62-26938A36911F}"/>
                </a:ext>
              </a:extLst>
            </p:cNvPr>
            <p:cNvSpPr/>
            <p:nvPr/>
          </p:nvSpPr>
          <p:spPr>
            <a:xfrm>
              <a:off x="9461732" y="4419379"/>
              <a:ext cx="1680665" cy="3689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B7C6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교육훈련개발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F763DE0-F5D2-FD10-C76F-AFF1108DBC56}"/>
                </a:ext>
              </a:extLst>
            </p:cNvPr>
            <p:cNvSpPr/>
            <p:nvPr/>
          </p:nvSpPr>
          <p:spPr>
            <a:xfrm>
              <a:off x="9487782" y="4841286"/>
              <a:ext cx="1646236" cy="989101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0188" tIns="0" rIns="80188" bIns="400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수준별 </a:t>
              </a:r>
              <a:r>
                <a:rPr lang="en-US" altLang="ko-KR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직무별 훈련 설계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핵심 업무 영역 기반 설계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pc="-8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직무 기반 교육훈련  운영</a:t>
              </a:r>
            </a:p>
          </p:txBody>
        </p:sp>
        <p:sp>
          <p:nvSpPr>
            <p:cNvPr id="59" name="모서리가 둥근 직사각형 27">
              <a:extLst>
                <a:ext uri="{FF2B5EF4-FFF2-40B4-BE49-F238E27FC236}">
                  <a16:creationId xmlns:a16="http://schemas.microsoft.com/office/drawing/2014/main" id="{2ED44FEF-4548-2479-7E92-5A9CFDDEA7C4}"/>
                </a:ext>
              </a:extLst>
            </p:cNvPr>
            <p:cNvSpPr/>
            <p:nvPr/>
          </p:nvSpPr>
          <p:spPr>
            <a:xfrm>
              <a:off x="5329648" y="2993429"/>
              <a:ext cx="7576820" cy="452775"/>
            </a:xfrm>
            <a:prstGeom prst="roundRect">
              <a:avLst>
                <a:gd name="adj" fmla="val 50000"/>
              </a:avLst>
            </a:prstGeom>
            <a:solidFill>
              <a:srgbClr val="00B7C6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 latinLnBrk="0"/>
              <a:r>
                <a:rPr lang="ko-KR" altLang="en-US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기업 </a:t>
              </a:r>
              <a:r>
                <a:rPr lang="en-US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AI Transformation</a:t>
              </a:r>
              <a:r>
                <a:rPr lang="ko-KR" altLang="en-US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을 위한 </a:t>
              </a:r>
              <a:r>
                <a:rPr lang="en-US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AX</a:t>
              </a:r>
              <a:r>
                <a:rPr lang="ko-KR" altLang="en-US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플랫폼</a:t>
              </a:r>
              <a:endParaRPr lang="ko-KR" altLang="en-US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" name="Google Shape;359;p16">
            <a:extLst>
              <a:ext uri="{FF2B5EF4-FFF2-40B4-BE49-F238E27FC236}">
                <a16:creationId xmlns:a16="http://schemas.microsoft.com/office/drawing/2014/main" id="{5EED2835-1039-3B3E-4827-C8731CD0CEA6}"/>
              </a:ext>
            </a:extLst>
          </p:cNvPr>
          <p:cNvSpPr txBox="1"/>
          <p:nvPr/>
        </p:nvSpPr>
        <p:spPr>
          <a:xfrm>
            <a:off x="555329" y="279654"/>
            <a:ext cx="10623439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en-US" altLang="ko-KR" sz="2800" b="1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800" b="1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전환 플랫폼 추진방법</a:t>
            </a:r>
            <a:endParaRPr sz="28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14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0392C2B-E061-E32E-623C-C9F5B612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B807190-5F6E-96A2-E72C-66424F775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683231"/>
              </p:ext>
            </p:extLst>
          </p:nvPr>
        </p:nvGraphicFramePr>
        <p:xfrm>
          <a:off x="1296110" y="3402251"/>
          <a:ext cx="4682477" cy="3636243"/>
        </p:xfrm>
        <a:graphic>
          <a:graphicData uri="http://schemas.openxmlformats.org/drawingml/2006/table">
            <a:tbl>
              <a:tblPr>
                <a:tableStyleId>{E4471A5B-356D-4816-B887-930DB0A71829}</a:tableStyleId>
              </a:tblPr>
              <a:tblGrid>
                <a:gridCol w="1557926">
                  <a:extLst>
                    <a:ext uri="{9D8B030D-6E8A-4147-A177-3AD203B41FA5}">
                      <a16:colId xmlns:a16="http://schemas.microsoft.com/office/drawing/2014/main" val="3037475857"/>
                    </a:ext>
                  </a:extLst>
                </a:gridCol>
                <a:gridCol w="3124551">
                  <a:extLst>
                    <a:ext uri="{9D8B030D-6E8A-4147-A177-3AD203B41FA5}">
                      <a16:colId xmlns:a16="http://schemas.microsoft.com/office/drawing/2014/main" val="1483783412"/>
                    </a:ext>
                  </a:extLst>
                </a:gridCol>
              </a:tblGrid>
              <a:tr h="658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항목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주요 질문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776132"/>
                  </a:ext>
                </a:extLst>
              </a:tr>
              <a:tr h="6886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활용 역량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업무에 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도구를 쓰고 있는가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907953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자산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사내 데이터가 구조화되어 있는가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444445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자동화 수준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반복 업무가 자동화되어 있는가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800222"/>
                  </a:ext>
                </a:extLst>
              </a:tr>
              <a:tr h="6886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판단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추천을 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 수행하는가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279827"/>
                  </a:ext>
                </a:extLst>
              </a:tr>
              <a:tr h="4095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BM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혁신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 수익 구조를 바꾸고 있는가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453751"/>
                  </a:ext>
                </a:extLst>
              </a:tr>
            </a:tbl>
          </a:graphicData>
        </a:graphic>
      </p:graphicFrame>
      <p:sp>
        <p:nvSpPr>
          <p:cNvPr id="42" name="Google Shape;360;p16">
            <a:extLst>
              <a:ext uri="{FF2B5EF4-FFF2-40B4-BE49-F238E27FC236}">
                <a16:creationId xmlns:a16="http://schemas.microsoft.com/office/drawing/2014/main" id="{F16AFCE0-4F68-C4C9-2461-E568AF86205E}"/>
              </a:ext>
            </a:extLst>
          </p:cNvPr>
          <p:cNvSpPr txBox="1"/>
          <p:nvPr/>
        </p:nvSpPr>
        <p:spPr>
          <a:xfrm>
            <a:off x="7081404" y="680964"/>
            <a:ext cx="4946774" cy="43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175" rIns="0" bIns="0" anchor="t" anchorCtr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 직무 특성 진단 </a:t>
            </a:r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사분면 매핑</a:t>
            </a:r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Google Shape;359;p16">
            <a:extLst>
              <a:ext uri="{FF2B5EF4-FFF2-40B4-BE49-F238E27FC236}">
                <a16:creationId xmlns:a16="http://schemas.microsoft.com/office/drawing/2014/main" id="{C7FF5094-4736-3937-B144-23A38A0BE03A}"/>
              </a:ext>
            </a:extLst>
          </p:cNvPr>
          <p:cNvSpPr txBox="1"/>
          <p:nvPr/>
        </p:nvSpPr>
        <p:spPr>
          <a:xfrm>
            <a:off x="6703028" y="2494018"/>
            <a:ext cx="5124783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직무는 ① 심층기술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②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전략활용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③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효율개선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④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자동화 구축 중 어디인가</a:t>
            </a:r>
            <a:endParaRPr sz="2000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6" name="Google Shape;359;p16">
            <a:extLst>
              <a:ext uri="{FF2B5EF4-FFF2-40B4-BE49-F238E27FC236}">
                <a16:creationId xmlns:a16="http://schemas.microsoft.com/office/drawing/2014/main" id="{EC4ED1AE-4213-616A-5CEB-ACBC3CC4BA45}"/>
              </a:ext>
            </a:extLst>
          </p:cNvPr>
          <p:cNvSpPr txBox="1"/>
          <p:nvPr/>
        </p:nvSpPr>
        <p:spPr>
          <a:xfrm>
            <a:off x="1296110" y="2437319"/>
            <a:ext cx="5700435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“이 기업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여정의 어디에 있는가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?”</a:t>
            </a:r>
            <a:endParaRPr sz="20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pic>
        <p:nvPicPr>
          <p:cNvPr id="48" name="그림 4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96AFD1-A335-7F1B-6732-8C61F20FF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411" y="5688183"/>
            <a:ext cx="4829089" cy="4238671"/>
          </a:xfrm>
          <a:prstGeom prst="rect">
            <a:avLst/>
          </a:prstGeom>
        </p:spPr>
      </p:pic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817A126D-A792-D313-2ABA-1D5BA1C03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635978"/>
              </p:ext>
            </p:extLst>
          </p:nvPr>
        </p:nvGraphicFramePr>
        <p:xfrm>
          <a:off x="6703029" y="3402251"/>
          <a:ext cx="5770336" cy="3636243"/>
        </p:xfrm>
        <a:graphic>
          <a:graphicData uri="http://schemas.openxmlformats.org/drawingml/2006/table">
            <a:tbl>
              <a:tblPr>
                <a:tableStyleId>{E4471A5B-356D-4816-B887-930DB0A71829}</a:tableStyleId>
              </a:tblPr>
              <a:tblGrid>
                <a:gridCol w="1337006">
                  <a:extLst>
                    <a:ext uri="{9D8B030D-6E8A-4147-A177-3AD203B41FA5}">
                      <a16:colId xmlns:a16="http://schemas.microsoft.com/office/drawing/2014/main" val="3037475857"/>
                    </a:ext>
                  </a:extLst>
                </a:gridCol>
                <a:gridCol w="4433330">
                  <a:extLst>
                    <a:ext uri="{9D8B030D-6E8A-4147-A177-3AD203B41FA5}">
                      <a16:colId xmlns:a16="http://schemas.microsoft.com/office/drawing/2014/main" val="1483783412"/>
                    </a:ext>
                  </a:extLst>
                </a:gridCol>
              </a:tblGrid>
              <a:tr h="34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주요 질문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776132"/>
                  </a:ext>
                </a:extLst>
              </a:tr>
              <a:tr h="4279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solidFill>
                            <a:srgbClr val="43434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Noto Sans KR"/>
                        </a:rPr>
                        <a:t>심층 기술 개발 중심</a:t>
                      </a:r>
                      <a:endParaRPr lang="ko-KR" altLang="en-US" sz="16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복잡한 문제 해결을 위한 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모델링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알고리즘 최적화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신기술 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R&amp;D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등 심도 있는 기술 역량 강화에 초점을 맞춥니다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ko-KR" altLang="en-US" sz="16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907953"/>
                  </a:ext>
                </a:extLst>
              </a:tr>
              <a:tr h="344403">
                <a:tc>
                  <a:txBody>
                    <a:bodyPr/>
                    <a:lstStyle/>
                    <a:p>
                      <a:pPr lvl="0" algn="ctr">
                        <a:lnSpc>
                          <a:spcPct val="115000"/>
                        </a:lnSpc>
                      </a:pPr>
                      <a:r>
                        <a:rPr lang="ko-KR" altLang="en-US" sz="1600" b="0" dirty="0">
                          <a:solidFill>
                            <a:srgbClr val="43434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Noto Sans KR"/>
                        </a:rPr>
                        <a:t>전략 수립 및 활용 중심</a:t>
                      </a:r>
                      <a:endParaRPr lang="ko-KR" altLang="en-US" sz="500" b="0" dirty="0">
                        <a:solidFill>
                          <a:srgbClr val="43434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Noto Sans K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툴을 활용한 창의적 문제 해결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기반의 전략 수립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인간의 협업 방식 등을 배웁니다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ko-KR" altLang="en-US" sz="16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444445"/>
                  </a:ext>
                </a:extLst>
              </a:tr>
              <a:tr h="34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solidFill>
                            <a:srgbClr val="43434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Noto Sans KR"/>
                        </a:rPr>
                        <a:t>효율성 및 </a:t>
                      </a:r>
                      <a:r>
                        <a:rPr lang="en-US" altLang="ko-KR" sz="1600" b="0" dirty="0">
                          <a:solidFill>
                            <a:srgbClr val="43434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Noto Sans KR"/>
                        </a:rPr>
                        <a:t>AI </a:t>
                      </a:r>
                      <a:br>
                        <a:rPr lang="en-US" altLang="ko-KR" sz="1600" b="0" dirty="0">
                          <a:solidFill>
                            <a:srgbClr val="43434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Noto Sans KR"/>
                        </a:rPr>
                      </a:br>
                      <a:r>
                        <a:rPr lang="ko-KR" altLang="en-US" sz="1600" b="0" dirty="0">
                          <a:solidFill>
                            <a:srgbClr val="43434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Noto Sans KR"/>
                        </a:rPr>
                        <a:t>솔루션 활용 중심</a:t>
                      </a:r>
                      <a:endParaRPr lang="ko-KR" altLang="en-US" sz="16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솔루션 도입 및 활용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업무 프로세스 자동화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정리 및 분석 등 실무 효율을 높이는 데 집중합니다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ko-KR" altLang="en-US" sz="16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800222"/>
                  </a:ext>
                </a:extLst>
              </a:tr>
              <a:tr h="344403">
                <a:tc>
                  <a:txBody>
                    <a:bodyPr/>
                    <a:lstStyle/>
                    <a:p>
                      <a:pPr lvl="0" algn="ctr">
                        <a:lnSpc>
                          <a:spcPct val="115000"/>
                        </a:lnSpc>
                      </a:pPr>
                      <a:r>
                        <a:rPr lang="ko-KR" altLang="en-US" sz="1600" b="0" dirty="0">
                          <a:solidFill>
                            <a:srgbClr val="43434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Noto Sans KR"/>
                        </a:rPr>
                        <a:t>자동화 시스템 구축 중심</a:t>
                      </a:r>
                      <a:endParaRPr lang="ko-KR" altLang="en-US" sz="500" b="0" dirty="0">
                        <a:solidFill>
                          <a:srgbClr val="43434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Noto Sans K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 시스템 설계 및 구축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파이프라인 관리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자동화된 생산 공정 제어 등 시스템 구현 능력을 기릅니다</a:t>
                      </a:r>
                      <a:r>
                        <a:rPr lang="en-US" altLang="ko-KR" sz="16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ko-KR" altLang="en-US" sz="16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279827"/>
                  </a:ext>
                </a:extLst>
              </a:tr>
            </a:tbl>
          </a:graphicData>
        </a:graphic>
      </p:graphicFrame>
      <p:sp>
        <p:nvSpPr>
          <p:cNvPr id="51" name="Google Shape;380;p16">
            <a:extLst>
              <a:ext uri="{FF2B5EF4-FFF2-40B4-BE49-F238E27FC236}">
                <a16:creationId xmlns:a16="http://schemas.microsoft.com/office/drawing/2014/main" id="{FDD5F211-E964-A7B7-61CB-9A8FA35BD579}"/>
              </a:ext>
            </a:extLst>
          </p:cNvPr>
          <p:cNvSpPr/>
          <p:nvPr/>
        </p:nvSpPr>
        <p:spPr>
          <a:xfrm>
            <a:off x="1247268" y="1743575"/>
            <a:ext cx="4003963" cy="572292"/>
          </a:xfrm>
          <a:prstGeom prst="roundRect">
            <a:avLst>
              <a:gd name="adj" fmla="val 24013"/>
            </a:avLst>
          </a:prstGeom>
          <a:solidFill>
            <a:srgbClr val="00B7C6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12700" lvl="0" algn="ctr">
              <a:lnSpc>
                <a:spcPct val="150000"/>
              </a:lnSpc>
              <a:buSzPts val="1800"/>
            </a:pPr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 기업 </a:t>
            </a:r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AX </a:t>
            </a:r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성숙도 진단 </a:t>
            </a:r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(Level 1~5)</a:t>
            </a:r>
            <a:endParaRPr sz="1800" b="1" i="0" u="none" strike="noStrike" cap="none" dirty="0">
              <a:solidFill>
                <a:schemeClr val="lt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2" name="Google Shape;380;p16">
            <a:extLst>
              <a:ext uri="{FF2B5EF4-FFF2-40B4-BE49-F238E27FC236}">
                <a16:creationId xmlns:a16="http://schemas.microsoft.com/office/drawing/2014/main" id="{05BD350F-A6A4-84D6-D574-E826ED159FBE}"/>
              </a:ext>
            </a:extLst>
          </p:cNvPr>
          <p:cNvSpPr/>
          <p:nvPr/>
        </p:nvSpPr>
        <p:spPr>
          <a:xfrm>
            <a:off x="6616133" y="1743575"/>
            <a:ext cx="4003963" cy="572292"/>
          </a:xfrm>
          <a:prstGeom prst="roundRect">
            <a:avLst>
              <a:gd name="adj" fmla="val 24013"/>
            </a:avLst>
          </a:prstGeom>
          <a:solidFill>
            <a:srgbClr val="00B7C6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 직무 특성 진단 </a:t>
            </a:r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사분면 매핑</a:t>
            </a:r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2C7C0E2-9879-BB79-F3AC-4660B3C37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31450"/>
              </p:ext>
            </p:extLst>
          </p:nvPr>
        </p:nvGraphicFramePr>
        <p:xfrm>
          <a:off x="12951929" y="3402251"/>
          <a:ext cx="4476343" cy="2149945"/>
        </p:xfrm>
        <a:graphic>
          <a:graphicData uri="http://schemas.openxmlformats.org/drawingml/2006/table">
            <a:tbl>
              <a:tblPr>
                <a:tableStyleId>{E4471A5B-356D-4816-B887-930DB0A71829}</a:tableStyleId>
              </a:tblPr>
              <a:tblGrid>
                <a:gridCol w="1023928">
                  <a:extLst>
                    <a:ext uri="{9D8B030D-6E8A-4147-A177-3AD203B41FA5}">
                      <a16:colId xmlns:a16="http://schemas.microsoft.com/office/drawing/2014/main" val="3037475857"/>
                    </a:ext>
                  </a:extLst>
                </a:gridCol>
                <a:gridCol w="3452415">
                  <a:extLst>
                    <a:ext uri="{9D8B030D-6E8A-4147-A177-3AD203B41FA5}">
                      <a16:colId xmlns:a16="http://schemas.microsoft.com/office/drawing/2014/main" val="1483783412"/>
                    </a:ext>
                  </a:extLst>
                </a:gridCol>
              </a:tblGrid>
              <a:tr h="34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예시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776132"/>
                  </a:ext>
                </a:extLst>
              </a:tr>
              <a:tr h="4279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직무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기획 </a:t>
                      </a:r>
                      <a:r>
                        <a:rPr lang="en-US" altLang="ko-KR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 </a:t>
                      </a:r>
                      <a:r>
                        <a:rPr lang="en-US" altLang="ko-KR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 </a:t>
                      </a:r>
                      <a:r>
                        <a:rPr lang="en-US" altLang="ko-KR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907953"/>
                  </a:ext>
                </a:extLst>
              </a:tr>
              <a:tr h="34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비개발</a:t>
                      </a:r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비개발자 </a:t>
                      </a:r>
                      <a:r>
                        <a:rPr lang="en-US" altLang="ko-KR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혼합 </a:t>
                      </a:r>
                      <a:r>
                        <a:rPr lang="en-US" altLang="ko-KR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444445"/>
                  </a:ext>
                </a:extLst>
              </a:tr>
              <a:tr h="34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실행 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현업 적용 과제 있음</a:t>
                      </a:r>
                      <a:r>
                        <a:rPr lang="en-US" altLang="ko-KR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800222"/>
                  </a:ext>
                </a:extLst>
              </a:tr>
              <a:tr h="34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협업 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</a:t>
                      </a:r>
                      <a:r>
                        <a:rPr lang="en-US" altLang="ko-KR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팀</a:t>
                      </a:r>
                      <a:r>
                        <a:rPr lang="en-US" altLang="ko-KR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부서 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279827"/>
                  </a:ext>
                </a:extLst>
              </a:tr>
              <a:tr h="34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453751"/>
                  </a:ext>
                </a:extLst>
              </a:tr>
            </a:tbl>
          </a:graphicData>
        </a:graphic>
      </p:graphicFrame>
      <p:sp>
        <p:nvSpPr>
          <p:cNvPr id="54" name="Google Shape;380;p16">
            <a:extLst>
              <a:ext uri="{FF2B5EF4-FFF2-40B4-BE49-F238E27FC236}">
                <a16:creationId xmlns:a16="http://schemas.microsoft.com/office/drawing/2014/main" id="{6DB7BD9B-F76B-C7E3-F8C8-7A5287A80338}"/>
              </a:ext>
            </a:extLst>
          </p:cNvPr>
          <p:cNvSpPr/>
          <p:nvPr/>
        </p:nvSpPr>
        <p:spPr>
          <a:xfrm>
            <a:off x="12951929" y="1699914"/>
            <a:ext cx="4003963" cy="572292"/>
          </a:xfrm>
          <a:prstGeom prst="roundRect">
            <a:avLst>
              <a:gd name="adj" fmla="val 24013"/>
            </a:avLst>
          </a:prstGeom>
          <a:solidFill>
            <a:srgbClr val="00B7C6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12700" lvl="0" algn="ctr">
              <a:lnSpc>
                <a:spcPct val="150000"/>
              </a:lnSpc>
              <a:buSzPts val="1800"/>
            </a:pPr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 개인</a:t>
            </a:r>
            <a:r>
              <a:rPr lang="en-US" altLang="ko-KR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 실행 준비도 진단</a:t>
            </a:r>
            <a:endParaRPr sz="1800" b="1" i="0" u="none" strike="noStrike" cap="none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5" name="Google Shape;359;p16">
            <a:extLst>
              <a:ext uri="{FF2B5EF4-FFF2-40B4-BE49-F238E27FC236}">
                <a16:creationId xmlns:a16="http://schemas.microsoft.com/office/drawing/2014/main" id="{054DCF5E-8570-A443-6A7A-E9C679212710}"/>
              </a:ext>
            </a:extLst>
          </p:cNvPr>
          <p:cNvSpPr txBox="1"/>
          <p:nvPr/>
        </p:nvSpPr>
        <p:spPr>
          <a:xfrm>
            <a:off x="13063507" y="2479481"/>
            <a:ext cx="4829089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“실제로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활용해서 바꿀 수 있는가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?”</a:t>
            </a:r>
            <a:endParaRPr sz="20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pic>
        <p:nvPicPr>
          <p:cNvPr id="57" name="그림 5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652E67-602F-29DD-E3F2-34A4F2A43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028" y="7246743"/>
            <a:ext cx="5717820" cy="2829818"/>
          </a:xfrm>
          <a:prstGeom prst="rect">
            <a:avLst/>
          </a:prstGeom>
        </p:spPr>
      </p:pic>
      <p:sp>
        <p:nvSpPr>
          <p:cNvPr id="4" name="Google Shape;359;p16">
            <a:extLst>
              <a:ext uri="{FF2B5EF4-FFF2-40B4-BE49-F238E27FC236}">
                <a16:creationId xmlns:a16="http://schemas.microsoft.com/office/drawing/2014/main" id="{A0C2E075-EB63-C185-FC84-A95C3F6498D7}"/>
              </a:ext>
            </a:extLst>
          </p:cNvPr>
          <p:cNvSpPr txBox="1"/>
          <p:nvPr/>
        </p:nvSpPr>
        <p:spPr>
          <a:xfrm>
            <a:off x="555329" y="279654"/>
            <a:ext cx="10623439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2800"/>
            </a:pPr>
            <a:r>
              <a:rPr lang="ko-KR" altLang="en-US" sz="2800" b="1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</a:t>
            </a:r>
            <a:r>
              <a:rPr lang="en-US" altLang="ko-KR" sz="2800" b="1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 </a:t>
            </a:r>
            <a:r>
              <a:rPr lang="ko-KR" altLang="en-US" sz="2800" b="1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방향</a:t>
            </a:r>
            <a:endParaRPr sz="2800" b="1" i="0" u="none" strike="noStrike" cap="none" dirty="0">
              <a:solidFill>
                <a:srgbClr val="23232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1999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9213</TotalTime>
  <Words>1414</Words>
  <Application>Microsoft Office PowerPoint</Application>
  <PresentationFormat>사용자 지정</PresentationFormat>
  <Paragraphs>258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Noto Sans KR Medium</vt:lpstr>
      <vt:lpstr>Pretendard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notebook_017</dc:creator>
  <cp:lastModifiedBy>권지선</cp:lastModifiedBy>
  <cp:revision>28</cp:revision>
  <dcterms:created xsi:type="dcterms:W3CDTF">2024-09-25T03:30:08Z</dcterms:created>
  <dcterms:modified xsi:type="dcterms:W3CDTF">2026-02-09T02:19:26Z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2024-08-06T00:00:00Z</vt:filetime>
  </property>
  <property fmtid="{D5CDD505-2E9C-101B-9397-08002B2CF9AE}" pid="3" name="Creator">
    <vt:lpwstr>Keynote</vt:lpwstr>
  </property>
  <property fmtid="{D5CDD505-2E9C-101B-9397-08002B2CF9AE}" pid="4" name="LastSaved">
    <vt:filetime>2024-09-25T00:00:00Z</vt:filetime>
  </property>
  <property fmtid="{D5CDD505-2E9C-101B-9397-08002B2CF9AE}" pid="5" name="Producer">
    <vt:lpwstr>macOS 버전 14.4.1(빌드 23E224) Quartz PDFContext</vt:lpwstr>
  </property>
</Properties>
</file>